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ontserrat Bold" charset="1" panose="00000800000000000000"/>
      <p:regular r:id="rId28"/>
    </p:embeddedFont>
    <p:embeddedFont>
      <p:font typeface="Quicksand Bold" charset="1" panose="00000000000000000000"/>
      <p:regular r:id="rId29"/>
    </p:embeddedFont>
    <p:embeddedFont>
      <p:font typeface="Quicksand" charset="1" panose="00000000000000000000"/>
      <p:regular r:id="rId30"/>
    </p:embeddedFont>
    <p:embeddedFont>
      <p:font typeface="Montserrat" charset="1" panose="00000500000000000000"/>
      <p:regular r:id="rId31"/>
    </p:embeddedFont>
    <p:embeddedFont>
      <p:font typeface="Roboto Bold" charset="1" panose="02000000000000000000"/>
      <p:regular r:id="rId32"/>
    </p:embeddedFont>
    <p:embeddedFont>
      <p:font typeface="Roboto" charset="1" panose="02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https://www.coursera.org/learn/future-education/lecture/jOklE/lecture-1-how-do-we-learn"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sv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13.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32.png" Type="http://schemas.openxmlformats.org/officeDocument/2006/relationships/image"/><Relationship Id="rId2" Target="../media/image18.png" Type="http://schemas.openxmlformats.org/officeDocument/2006/relationships/image"/><Relationship Id="rId3" Target="../media/image19.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svg" Type="http://schemas.openxmlformats.org/officeDocument/2006/relationships/image"/><Relationship Id="rId12" Target="../media/image42.png" Type="http://schemas.openxmlformats.org/officeDocument/2006/relationships/image"/><Relationship Id="rId13" Target="../media/image43.svg" Type="http://schemas.openxmlformats.org/officeDocument/2006/relationships/image"/><Relationship Id="rId14" Target="../media/image44.svg" Type="http://schemas.openxmlformats.org/officeDocument/2006/relationships/image"/><Relationship Id="rId15" Target="../media/image45.png" Type="http://schemas.openxmlformats.org/officeDocument/2006/relationships/image"/><Relationship Id="rId16" Target="../media/image46.svg" Type="http://schemas.openxmlformats.org/officeDocument/2006/relationships/image"/><Relationship Id="rId17" Target="../media/image47.png" Type="http://schemas.openxmlformats.org/officeDocument/2006/relationships/image"/><Relationship Id="rId18" Target="../media/image48.svg" Type="http://schemas.openxmlformats.org/officeDocument/2006/relationships/image"/><Relationship Id="rId19" Target="../media/image49.png" Type="http://schemas.openxmlformats.org/officeDocument/2006/relationships/image"/><Relationship Id="rId2" Target="../media/image18.png" Type="http://schemas.openxmlformats.org/officeDocument/2006/relationships/image"/><Relationship Id="rId20" Target="../media/image50.svg" Type="http://schemas.openxmlformats.org/officeDocument/2006/relationships/image"/><Relationship Id="rId21" Target="../media/image51.png" Type="http://schemas.openxmlformats.org/officeDocument/2006/relationships/image"/><Relationship Id="rId22" Target="../media/image52.svg" Type="http://schemas.openxmlformats.org/officeDocument/2006/relationships/image"/><Relationship Id="rId3" Target="../media/image19.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55.jpeg" Type="http://schemas.openxmlformats.org/officeDocument/2006/relationships/image"/><Relationship Id="rId7" Target="../media/image56.jpeg" Type="http://schemas.openxmlformats.org/officeDocument/2006/relationships/image"/><Relationship Id="rId8" Target="../media/image5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svg" Type="http://schemas.openxmlformats.org/officeDocument/2006/relationships/image"/><Relationship Id="rId11" Target="../media/image62.png" Type="http://schemas.openxmlformats.org/officeDocument/2006/relationships/image"/><Relationship Id="rId12" Target="../media/image63.png" Type="http://schemas.openxmlformats.org/officeDocument/2006/relationships/image"/><Relationship Id="rId13" Target="https://vjol.info.vn/ngonngu/article/view/22478/19230" TargetMode="External" Type="http://schemas.openxmlformats.org/officeDocument/2006/relationships/hyperlink"/><Relationship Id="rId14" Target="https://vjol.info.vn/ngonngu/article/view/22478/19230"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https://unesdoc.unesco.org/ark:/48223/pf0000109590" TargetMode="External" Type="http://schemas.openxmlformats.org/officeDocument/2006/relationships/hyperlink"/><Relationship Id="rId5" Target="../media/image58.png" Type="http://schemas.openxmlformats.org/officeDocument/2006/relationships/image"/><Relationship Id="rId6" Target="../media/image59.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6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64.png" Type="http://schemas.openxmlformats.org/officeDocument/2006/relationships/image"/><Relationship Id="rId7" Target="../media/image65.png" Type="http://schemas.openxmlformats.org/officeDocument/2006/relationships/image"/><Relationship Id="rId8" Target="../media/image6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7.png" Type="http://schemas.openxmlformats.org/officeDocument/2006/relationships/image"/><Relationship Id="rId11" Target="../media/image68.png" Type="http://schemas.openxmlformats.org/officeDocument/2006/relationships/image"/><Relationship Id="rId12" Target="../media/image6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60.png" Type="http://schemas.openxmlformats.org/officeDocument/2006/relationships/image"/><Relationship Id="rId9" Target="../media/image6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70.png" Type="http://schemas.openxmlformats.org/officeDocument/2006/relationships/image"/><Relationship Id="rId5" Target="../media/image71.png" Type="http://schemas.openxmlformats.org/officeDocument/2006/relationships/image"/><Relationship Id="rId6" Target="../media/image7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73.png" Type="http://schemas.openxmlformats.org/officeDocument/2006/relationships/image"/><Relationship Id="rId5" Target="../media/image67.png" Type="http://schemas.openxmlformats.org/officeDocument/2006/relationships/image"/><Relationship Id="rId6" Target="../media/image6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74.jpeg" Type="http://schemas.openxmlformats.org/officeDocument/2006/relationships/image"/><Relationship Id="rId5" Target="../media/image75.png" Type="http://schemas.openxmlformats.org/officeDocument/2006/relationships/image"/><Relationship Id="rId6" Target="../media/image76.svg" Type="http://schemas.openxmlformats.org/officeDocument/2006/relationships/image"/><Relationship Id="rId7" Target="../media/image77.png" Type="http://schemas.openxmlformats.org/officeDocument/2006/relationships/image"/><Relationship Id="rId8" Target="https://app.lumi.education/run/bJmNzq"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8.png" Type="http://schemas.openxmlformats.org/officeDocument/2006/relationships/image"/><Relationship Id="rId5" Target="../media/image79.svg" Type="http://schemas.openxmlformats.org/officeDocument/2006/relationships/image"/><Relationship Id="rId6" Target="../media/image80.png" Type="http://schemas.openxmlformats.org/officeDocument/2006/relationships/image"/><Relationship Id="rId7" Target="../media/image81.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B89"/>
        </a:solidFill>
      </p:bgPr>
    </p:bg>
    <p:spTree>
      <p:nvGrpSpPr>
        <p:cNvPr id="1" name=""/>
        <p:cNvGrpSpPr/>
        <p:nvPr/>
      </p:nvGrpSpPr>
      <p:grpSpPr>
        <a:xfrm>
          <a:off x="0" y="0"/>
          <a:ext cx="0" cy="0"/>
          <a:chOff x="0" y="0"/>
          <a:chExt cx="0" cy="0"/>
        </a:xfrm>
      </p:grpSpPr>
      <p:sp>
        <p:nvSpPr>
          <p:cNvPr name="Freeform 2" id="2"/>
          <p:cNvSpPr/>
          <p:nvPr/>
        </p:nvSpPr>
        <p:spPr>
          <a:xfrm flipH="false" flipV="false" rot="0">
            <a:off x="645595" y="746312"/>
            <a:ext cx="8511988" cy="8511988"/>
          </a:xfrm>
          <a:custGeom>
            <a:avLst/>
            <a:gdLst/>
            <a:ahLst/>
            <a:cxnLst/>
            <a:rect r="r" b="b" t="t" l="l"/>
            <a:pathLst>
              <a:path h="8511988" w="8511988">
                <a:moveTo>
                  <a:pt x="0" y="0"/>
                </a:moveTo>
                <a:lnTo>
                  <a:pt x="8511989" y="0"/>
                </a:lnTo>
                <a:lnTo>
                  <a:pt x="8511989"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8625" y="746312"/>
            <a:ext cx="8483779" cy="8511988"/>
          </a:xfrm>
          <a:custGeom>
            <a:avLst/>
            <a:gdLst/>
            <a:ahLst/>
            <a:cxnLst/>
            <a:rect r="r" b="b" t="t" l="l"/>
            <a:pathLst>
              <a:path h="8511988" w="8483779">
                <a:moveTo>
                  <a:pt x="0" y="0"/>
                </a:moveTo>
                <a:lnTo>
                  <a:pt x="8483780" y="0"/>
                </a:lnTo>
                <a:lnTo>
                  <a:pt x="8483780"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332" t="0" r="0" b="0"/>
            </a:stretch>
          </a:blipFill>
          <a:ln cap="sq">
            <a:noFill/>
            <a:prstDash val="solid"/>
            <a:miter/>
          </a:ln>
        </p:spPr>
      </p:sp>
      <p:sp>
        <p:nvSpPr>
          <p:cNvPr name="Freeform 4" id="4"/>
          <p:cNvSpPr/>
          <p:nvPr/>
        </p:nvSpPr>
        <p:spPr>
          <a:xfrm flipH="false" flipV="false" rot="-1251651">
            <a:off x="11512023" y="859068"/>
            <a:ext cx="6617654" cy="5822826"/>
          </a:xfrm>
          <a:custGeom>
            <a:avLst/>
            <a:gdLst/>
            <a:ahLst/>
            <a:cxnLst/>
            <a:rect r="r" b="b" t="t" l="l"/>
            <a:pathLst>
              <a:path h="5822826" w="6617654">
                <a:moveTo>
                  <a:pt x="0" y="0"/>
                </a:moveTo>
                <a:lnTo>
                  <a:pt x="6617654" y="0"/>
                </a:lnTo>
                <a:lnTo>
                  <a:pt x="6617654" y="5822825"/>
                </a:lnTo>
                <a:lnTo>
                  <a:pt x="0" y="58228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358588" y="6330991"/>
            <a:ext cx="17570824" cy="5205862"/>
            <a:chOff x="0" y="0"/>
            <a:chExt cx="4627707" cy="1371091"/>
          </a:xfrm>
        </p:grpSpPr>
        <p:sp>
          <p:nvSpPr>
            <p:cNvPr name="Freeform 6" id="6"/>
            <p:cNvSpPr/>
            <p:nvPr/>
          </p:nvSpPr>
          <p:spPr>
            <a:xfrm flipH="false" flipV="false" rot="0">
              <a:off x="0" y="0"/>
              <a:ext cx="4627707" cy="1371091"/>
            </a:xfrm>
            <a:custGeom>
              <a:avLst/>
              <a:gdLst/>
              <a:ahLst/>
              <a:cxnLst/>
              <a:rect r="r" b="b" t="t" l="l"/>
              <a:pathLst>
                <a:path h="1371091" w="4627707">
                  <a:moveTo>
                    <a:pt x="30843" y="0"/>
                  </a:moveTo>
                  <a:lnTo>
                    <a:pt x="4596864" y="0"/>
                  </a:lnTo>
                  <a:cubicBezTo>
                    <a:pt x="4613898" y="0"/>
                    <a:pt x="4627707" y="13809"/>
                    <a:pt x="4627707" y="30843"/>
                  </a:cubicBezTo>
                  <a:lnTo>
                    <a:pt x="4627707" y="1340248"/>
                  </a:lnTo>
                  <a:cubicBezTo>
                    <a:pt x="4627707" y="1357282"/>
                    <a:pt x="4613898" y="1371091"/>
                    <a:pt x="4596864" y="1371091"/>
                  </a:cubicBezTo>
                  <a:lnTo>
                    <a:pt x="30843" y="1371091"/>
                  </a:lnTo>
                  <a:cubicBezTo>
                    <a:pt x="13809" y="1371091"/>
                    <a:pt x="0" y="1357282"/>
                    <a:pt x="0" y="1340248"/>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1409191"/>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868801" y="1028700"/>
            <a:ext cx="5390499" cy="5302291"/>
          </a:xfrm>
          <a:custGeom>
            <a:avLst/>
            <a:gdLst/>
            <a:ahLst/>
            <a:cxnLst/>
            <a:rect r="r" b="b" t="t" l="l"/>
            <a:pathLst>
              <a:path h="5302291" w="5390499">
                <a:moveTo>
                  <a:pt x="0" y="0"/>
                </a:moveTo>
                <a:lnTo>
                  <a:pt x="5390499" y="0"/>
                </a:lnTo>
                <a:lnTo>
                  <a:pt x="5390499" y="5302291"/>
                </a:lnTo>
                <a:lnTo>
                  <a:pt x="0" y="53022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028700" y="8402214"/>
            <a:ext cx="11958548" cy="880656"/>
            <a:chOff x="0" y="0"/>
            <a:chExt cx="3149576" cy="231942"/>
          </a:xfrm>
        </p:grpSpPr>
        <p:sp>
          <p:nvSpPr>
            <p:cNvPr name="Freeform 10" id="10"/>
            <p:cNvSpPr/>
            <p:nvPr/>
          </p:nvSpPr>
          <p:spPr>
            <a:xfrm flipH="false" flipV="false" rot="0">
              <a:off x="0" y="0"/>
              <a:ext cx="3149577" cy="231942"/>
            </a:xfrm>
            <a:custGeom>
              <a:avLst/>
              <a:gdLst/>
              <a:ahLst/>
              <a:cxnLst/>
              <a:rect r="r" b="b" t="t" l="l"/>
              <a:pathLst>
                <a:path h="231942" w="3149577">
                  <a:moveTo>
                    <a:pt x="6474" y="0"/>
                  </a:moveTo>
                  <a:lnTo>
                    <a:pt x="3143103" y="0"/>
                  </a:lnTo>
                  <a:cubicBezTo>
                    <a:pt x="3144820" y="0"/>
                    <a:pt x="3146466" y="682"/>
                    <a:pt x="3147680" y="1896"/>
                  </a:cubicBezTo>
                  <a:cubicBezTo>
                    <a:pt x="3148894" y="3110"/>
                    <a:pt x="3149577" y="4757"/>
                    <a:pt x="3149577" y="6474"/>
                  </a:cubicBezTo>
                  <a:lnTo>
                    <a:pt x="3149577" y="225468"/>
                  </a:lnTo>
                  <a:cubicBezTo>
                    <a:pt x="3149577" y="229044"/>
                    <a:pt x="3146678" y="231942"/>
                    <a:pt x="3143103" y="231942"/>
                  </a:cubicBezTo>
                  <a:lnTo>
                    <a:pt x="6474" y="231942"/>
                  </a:lnTo>
                  <a:cubicBezTo>
                    <a:pt x="4757" y="231942"/>
                    <a:pt x="3110" y="231260"/>
                    <a:pt x="1896" y="230046"/>
                  </a:cubicBezTo>
                  <a:cubicBezTo>
                    <a:pt x="682" y="228832"/>
                    <a:pt x="0" y="227185"/>
                    <a:pt x="0" y="225468"/>
                  </a:cubicBezTo>
                  <a:lnTo>
                    <a:pt x="0" y="6474"/>
                  </a:lnTo>
                  <a:cubicBezTo>
                    <a:pt x="0" y="2898"/>
                    <a:pt x="2898" y="0"/>
                    <a:pt x="6474" y="0"/>
                  </a:cubicBezTo>
                  <a:close/>
                </a:path>
              </a:pathLst>
            </a:custGeom>
            <a:solidFill>
              <a:srgbClr val="D1D0D5"/>
            </a:solidFill>
            <a:ln cap="sq">
              <a:noFill/>
              <a:prstDash val="solid"/>
              <a:miter/>
            </a:ln>
          </p:spPr>
        </p:sp>
        <p:sp>
          <p:nvSpPr>
            <p:cNvPr name="TextBox 11" id="11"/>
            <p:cNvSpPr txBox="true"/>
            <p:nvPr/>
          </p:nvSpPr>
          <p:spPr>
            <a:xfrm>
              <a:off x="0" y="-38100"/>
              <a:ext cx="3149576" cy="27004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2363889" y="8402214"/>
            <a:ext cx="4895411" cy="880656"/>
            <a:chOff x="0" y="0"/>
            <a:chExt cx="1289326" cy="231942"/>
          </a:xfrm>
        </p:grpSpPr>
        <p:sp>
          <p:nvSpPr>
            <p:cNvPr name="Freeform 13" id="13"/>
            <p:cNvSpPr/>
            <p:nvPr/>
          </p:nvSpPr>
          <p:spPr>
            <a:xfrm flipH="false" flipV="false" rot="0">
              <a:off x="0" y="0"/>
              <a:ext cx="1289326" cy="231942"/>
            </a:xfrm>
            <a:custGeom>
              <a:avLst/>
              <a:gdLst/>
              <a:ahLst/>
              <a:cxnLst/>
              <a:rect r="r" b="b" t="t" l="l"/>
              <a:pathLst>
                <a:path h="231942" w="1289326">
                  <a:moveTo>
                    <a:pt x="115971" y="0"/>
                  </a:moveTo>
                  <a:lnTo>
                    <a:pt x="1173355" y="0"/>
                  </a:lnTo>
                  <a:cubicBezTo>
                    <a:pt x="1237404" y="0"/>
                    <a:pt x="1289326" y="51922"/>
                    <a:pt x="1289326" y="115971"/>
                  </a:cubicBezTo>
                  <a:lnTo>
                    <a:pt x="1289326" y="115971"/>
                  </a:lnTo>
                  <a:cubicBezTo>
                    <a:pt x="1289326" y="146729"/>
                    <a:pt x="1277108" y="176226"/>
                    <a:pt x="1255359" y="197975"/>
                  </a:cubicBezTo>
                  <a:cubicBezTo>
                    <a:pt x="1233610" y="219724"/>
                    <a:pt x="1204113" y="231942"/>
                    <a:pt x="1173355" y="231942"/>
                  </a:cubicBezTo>
                  <a:lnTo>
                    <a:pt x="115971" y="231942"/>
                  </a:lnTo>
                  <a:cubicBezTo>
                    <a:pt x="85214" y="231942"/>
                    <a:pt x="55716" y="219724"/>
                    <a:pt x="33967" y="197975"/>
                  </a:cubicBezTo>
                  <a:cubicBezTo>
                    <a:pt x="12218" y="176226"/>
                    <a:pt x="0" y="146729"/>
                    <a:pt x="0" y="115971"/>
                  </a:cubicBezTo>
                  <a:lnTo>
                    <a:pt x="0" y="115971"/>
                  </a:lnTo>
                  <a:cubicBezTo>
                    <a:pt x="0" y="85214"/>
                    <a:pt x="12218" y="55716"/>
                    <a:pt x="33967" y="33967"/>
                  </a:cubicBezTo>
                  <a:cubicBezTo>
                    <a:pt x="55716" y="12218"/>
                    <a:pt x="85214" y="0"/>
                    <a:pt x="115971" y="0"/>
                  </a:cubicBezTo>
                  <a:close/>
                </a:path>
              </a:pathLst>
            </a:custGeom>
            <a:solidFill>
              <a:srgbClr val="023AC7"/>
            </a:solidFill>
            <a:ln cap="rnd">
              <a:noFill/>
              <a:prstDash val="solid"/>
              <a:round/>
            </a:ln>
          </p:spPr>
        </p:sp>
        <p:sp>
          <p:nvSpPr>
            <p:cNvPr name="TextBox 14" id="14"/>
            <p:cNvSpPr txBox="true"/>
            <p:nvPr/>
          </p:nvSpPr>
          <p:spPr>
            <a:xfrm>
              <a:off x="0" y="47625"/>
              <a:ext cx="1289326" cy="184317"/>
            </a:xfrm>
            <a:prstGeom prst="rect">
              <a:avLst/>
            </a:prstGeom>
          </p:spPr>
          <p:txBody>
            <a:bodyPr anchor="ctr" rtlCol="false" tIns="50800" lIns="50800" bIns="50800" rIns="50800"/>
            <a:lstStyle/>
            <a:p>
              <a:pPr algn="ctr" marL="0" indent="0" lvl="0">
                <a:lnSpc>
                  <a:spcPts val="2502"/>
                </a:lnSpc>
                <a:spcBef>
                  <a:spcPct val="0"/>
                </a:spcBef>
              </a:pPr>
            </a:p>
          </p:txBody>
        </p:sp>
      </p:grpSp>
      <p:grpSp>
        <p:nvGrpSpPr>
          <p:cNvPr name="Group 15" id="15"/>
          <p:cNvGrpSpPr/>
          <p:nvPr/>
        </p:nvGrpSpPr>
        <p:grpSpPr>
          <a:xfrm rot="0">
            <a:off x="868689" y="8653601"/>
            <a:ext cx="362712" cy="362712"/>
            <a:chOff x="0" y="0"/>
            <a:chExt cx="812800" cy="812800"/>
          </a:xfrm>
        </p:grpSpPr>
        <p:sp>
          <p:nvSpPr>
            <p:cNvPr name="Freeform 16" id="16"/>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17" id="17"/>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5958919" y="8701059"/>
            <a:ext cx="620199" cy="282966"/>
          </a:xfrm>
          <a:custGeom>
            <a:avLst/>
            <a:gdLst/>
            <a:ahLst/>
            <a:cxnLst/>
            <a:rect r="r" b="b" t="t" l="l"/>
            <a:pathLst>
              <a:path h="282966" w="620199">
                <a:moveTo>
                  <a:pt x="0" y="0"/>
                </a:moveTo>
                <a:lnTo>
                  <a:pt x="620199" y="0"/>
                </a:lnTo>
                <a:lnTo>
                  <a:pt x="620199" y="282966"/>
                </a:lnTo>
                <a:lnTo>
                  <a:pt x="0" y="28296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2114334">
            <a:off x="9927247" y="4088003"/>
            <a:ext cx="2328988" cy="2878524"/>
          </a:xfrm>
          <a:custGeom>
            <a:avLst/>
            <a:gdLst/>
            <a:ahLst/>
            <a:cxnLst/>
            <a:rect r="r" b="b" t="t" l="l"/>
            <a:pathLst>
              <a:path h="2878524" w="2328988">
                <a:moveTo>
                  <a:pt x="0" y="0"/>
                </a:moveTo>
                <a:lnTo>
                  <a:pt x="2328988" y="0"/>
                </a:lnTo>
                <a:lnTo>
                  <a:pt x="2328988" y="2878525"/>
                </a:lnTo>
                <a:lnTo>
                  <a:pt x="0" y="287852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5698120" y="6925605"/>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1" id="21"/>
          <p:cNvSpPr txBox="true"/>
          <p:nvPr/>
        </p:nvSpPr>
        <p:spPr>
          <a:xfrm rot="0">
            <a:off x="1028700" y="2028928"/>
            <a:ext cx="11534822" cy="2973378"/>
          </a:xfrm>
          <a:prstGeom prst="rect">
            <a:avLst/>
          </a:prstGeom>
        </p:spPr>
        <p:txBody>
          <a:bodyPr anchor="t" rtlCol="false" tIns="0" lIns="0" bIns="0" rIns="0">
            <a:spAutoFit/>
          </a:bodyPr>
          <a:lstStyle/>
          <a:p>
            <a:pPr algn="l">
              <a:lnSpc>
                <a:spcPts val="11287"/>
              </a:lnSpc>
            </a:pPr>
            <a:r>
              <a:rPr lang="en-US" sz="12541" spc="-275" b="true">
                <a:solidFill>
                  <a:srgbClr val="FEFEFE"/>
                </a:solidFill>
                <a:latin typeface="Montserrat Bold"/>
                <a:ea typeface="Montserrat Bold"/>
                <a:cs typeface="Montserrat Bold"/>
                <a:sym typeface="Montserrat Bold"/>
              </a:rPr>
              <a:t>What future for education</a:t>
            </a:r>
          </a:p>
        </p:txBody>
      </p:sp>
      <p:sp>
        <p:nvSpPr>
          <p:cNvPr name="TextBox 22" id="22"/>
          <p:cNvSpPr txBox="true"/>
          <p:nvPr/>
        </p:nvSpPr>
        <p:spPr>
          <a:xfrm rot="0">
            <a:off x="1050045" y="6715674"/>
            <a:ext cx="7792412"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Nhóm</a:t>
            </a:r>
            <a:r>
              <a:rPr lang="en-US" b="true" sz="2400" spc="72">
                <a:solidFill>
                  <a:srgbClr val="082064"/>
                </a:solidFill>
                <a:latin typeface="Quicksand Bold"/>
                <a:ea typeface="Quicksand Bold"/>
                <a:cs typeface="Quicksand Bold"/>
                <a:sym typeface="Quicksand Bold"/>
              </a:rPr>
              <a:t> 13 - Trần Phương Thảo - Hoàng Thị Thảo</a:t>
            </a:r>
          </a:p>
        </p:txBody>
      </p:sp>
      <p:sp>
        <p:nvSpPr>
          <p:cNvPr name="TextBox 23" id="23"/>
          <p:cNvSpPr txBox="true"/>
          <p:nvPr/>
        </p:nvSpPr>
        <p:spPr>
          <a:xfrm rot="0">
            <a:off x="1428271" y="8434526"/>
            <a:ext cx="9663470" cy="772287"/>
          </a:xfrm>
          <a:prstGeom prst="rect">
            <a:avLst/>
          </a:prstGeom>
        </p:spPr>
        <p:txBody>
          <a:bodyPr anchor="t" rtlCol="false" tIns="0" lIns="0" bIns="0" rIns="0">
            <a:spAutoFit/>
          </a:bodyPr>
          <a:lstStyle/>
          <a:p>
            <a:pPr algn="l">
              <a:lnSpc>
                <a:spcPts val="3024"/>
              </a:lnSpc>
            </a:pPr>
            <a:r>
              <a:rPr lang="en-US" sz="2400" spc="72" b="true">
                <a:solidFill>
                  <a:srgbClr val="082064"/>
                </a:solidFill>
                <a:latin typeface="Quicksand Bold"/>
                <a:ea typeface="Quicksand Bold"/>
                <a:cs typeface="Quicksand Bold"/>
                <a:sym typeface="Quicksand Bold"/>
              </a:rPr>
              <a:t>Phân tích và Đánh giá video bài giảng: How do we learn?</a:t>
            </a:r>
          </a:p>
          <a:p>
            <a:pPr algn="l">
              <a:lnSpc>
                <a:spcPts val="3024"/>
              </a:lnSpc>
            </a:pPr>
            <a:r>
              <a:rPr lang="en-US" sz="2400" spc="72" b="true">
                <a:solidFill>
                  <a:srgbClr val="082064"/>
                </a:solidFill>
                <a:latin typeface="Quicksand Bold"/>
                <a:ea typeface="Quicksand Bold"/>
                <a:cs typeface="Quicksand Bold"/>
                <a:sym typeface="Quicksand Bold"/>
              </a:rPr>
              <a:t>Khoá học “What future for education” - Coursera</a:t>
            </a:r>
          </a:p>
        </p:txBody>
      </p:sp>
      <p:sp>
        <p:nvSpPr>
          <p:cNvPr name="TextBox 24" id="24"/>
          <p:cNvSpPr txBox="true"/>
          <p:nvPr/>
        </p:nvSpPr>
        <p:spPr>
          <a:xfrm rot="0">
            <a:off x="13044071" y="8701226"/>
            <a:ext cx="2914847" cy="330256"/>
          </a:xfrm>
          <a:prstGeom prst="rect">
            <a:avLst/>
          </a:prstGeom>
        </p:spPr>
        <p:txBody>
          <a:bodyPr anchor="t" rtlCol="false" tIns="0" lIns="0" bIns="0" rIns="0">
            <a:spAutoFit/>
          </a:bodyPr>
          <a:lstStyle/>
          <a:p>
            <a:pPr algn="l" marL="0" indent="0" lvl="0">
              <a:lnSpc>
                <a:spcPts val="2502"/>
              </a:lnSpc>
              <a:spcBef>
                <a:spcPct val="0"/>
              </a:spcBef>
            </a:pPr>
            <a:r>
              <a:rPr lang="en-US" b="true" sz="2502" spc="75">
                <a:solidFill>
                  <a:srgbClr val="FEFEFE"/>
                </a:solidFill>
                <a:latin typeface="Montserrat Bold"/>
                <a:ea typeface="Montserrat Bold"/>
                <a:cs typeface="Montserrat Bold"/>
                <a:sym typeface="Montserrat Bold"/>
              </a:rPr>
              <a:t>GET STARTED</a:t>
            </a:r>
          </a:p>
        </p:txBody>
      </p:sp>
      <p:sp>
        <p:nvSpPr>
          <p:cNvPr name="TextBox 25" id="25"/>
          <p:cNvSpPr txBox="true"/>
          <p:nvPr/>
        </p:nvSpPr>
        <p:spPr>
          <a:xfrm rot="0">
            <a:off x="1154170" y="5174520"/>
            <a:ext cx="9159421" cy="417109"/>
          </a:xfrm>
          <a:prstGeom prst="rect">
            <a:avLst/>
          </a:prstGeom>
        </p:spPr>
        <p:txBody>
          <a:bodyPr anchor="t" rtlCol="false" tIns="0" lIns="0" bIns="0" rIns="0">
            <a:spAutoFit/>
          </a:bodyPr>
          <a:lstStyle/>
          <a:p>
            <a:pPr algn="l" marL="0" indent="0" lvl="0">
              <a:lnSpc>
                <a:spcPts val="3318"/>
              </a:lnSpc>
              <a:spcBef>
                <a:spcPct val="0"/>
              </a:spcBef>
            </a:pPr>
            <a:r>
              <a:rPr lang="en-US" b="true" sz="2633" spc="79">
                <a:solidFill>
                  <a:srgbClr val="FEFEFE"/>
                </a:solidFill>
                <a:latin typeface="Quicksand Bold"/>
                <a:ea typeface="Quicksand Bold"/>
                <a:cs typeface="Quicksand Bold"/>
                <a:sym typeface="Quicksand Bold"/>
              </a:rPr>
              <a:t>GIÁO </a:t>
            </a:r>
            <a:r>
              <a:rPr lang="en-US" b="true" sz="2633" spc="79" strike="noStrike" u="none">
                <a:solidFill>
                  <a:srgbClr val="FEFEFE"/>
                </a:solidFill>
                <a:latin typeface="Quicksand Bold"/>
                <a:ea typeface="Quicksand Bold"/>
                <a:cs typeface="Quicksand Bold"/>
                <a:sym typeface="Quicksand Bold"/>
              </a:rPr>
              <a:t>D</a:t>
            </a:r>
            <a:r>
              <a:rPr lang="en-US" b="true" sz="2633" spc="79" strike="noStrike" u="none">
                <a:solidFill>
                  <a:srgbClr val="FEFEFE"/>
                </a:solidFill>
                <a:latin typeface="Quicksand Bold"/>
                <a:ea typeface="Quicksand Bold"/>
                <a:cs typeface="Quicksand Bold"/>
                <a:sym typeface="Quicksand Bold"/>
              </a:rPr>
              <a:t>ỤC</a:t>
            </a:r>
            <a:r>
              <a:rPr lang="en-US" b="true" sz="2633" spc="79" strike="noStrike" u="none">
                <a:solidFill>
                  <a:srgbClr val="FEFEFE"/>
                </a:solidFill>
                <a:latin typeface="Quicksand Bold"/>
                <a:ea typeface="Quicksand Bold"/>
                <a:cs typeface="Quicksand Bold"/>
                <a:sym typeface="Quicksand Bold"/>
              </a:rPr>
              <a:t> </a:t>
            </a:r>
            <a:r>
              <a:rPr lang="en-US" b="true" sz="2633" spc="79" strike="noStrike" u="none">
                <a:solidFill>
                  <a:srgbClr val="FEFEFE"/>
                </a:solidFill>
                <a:latin typeface="Quicksand Bold"/>
                <a:ea typeface="Quicksand Bold"/>
                <a:cs typeface="Quicksand Bold"/>
                <a:sym typeface="Quicksand Bold"/>
              </a:rPr>
              <a:t>TRONG</a:t>
            </a:r>
            <a:r>
              <a:rPr lang="en-US" b="true" sz="2633" spc="79" strike="noStrike" u="none">
                <a:solidFill>
                  <a:srgbClr val="FEFEFE"/>
                </a:solidFill>
                <a:latin typeface="Quicksand Bold"/>
                <a:ea typeface="Quicksand Bold"/>
                <a:cs typeface="Quicksand Bold"/>
                <a:sym typeface="Quicksand Bold"/>
              </a:rPr>
              <a:t> </a:t>
            </a:r>
            <a:r>
              <a:rPr lang="en-US" b="true" sz="2633" spc="79" strike="noStrike" u="none">
                <a:solidFill>
                  <a:srgbClr val="FEFEFE"/>
                </a:solidFill>
                <a:latin typeface="Quicksand Bold"/>
                <a:ea typeface="Quicksand Bold"/>
                <a:cs typeface="Quicksand Bold"/>
                <a:sym typeface="Quicksand Bold"/>
              </a:rPr>
              <a:t>TƯƠNG L</a:t>
            </a:r>
            <a:r>
              <a:rPr lang="en-US" b="true" sz="2633" spc="79" strike="noStrike" u="none">
                <a:solidFill>
                  <a:srgbClr val="FEFEFE"/>
                </a:solidFill>
                <a:latin typeface="Quicksand Bold"/>
                <a:ea typeface="Quicksand Bold"/>
                <a:cs typeface="Quicksand Bold"/>
                <a:sym typeface="Quicksand Bold"/>
              </a:rPr>
              <a:t>A</a:t>
            </a:r>
            <a:r>
              <a:rPr lang="en-US" b="true" sz="2633" spc="79" strike="noStrike" u="none">
                <a:solidFill>
                  <a:srgbClr val="FEFEFE"/>
                </a:solidFill>
                <a:latin typeface="Quicksand Bold"/>
                <a:ea typeface="Quicksand Bold"/>
                <a:cs typeface="Quicksand Bold"/>
                <a:sym typeface="Quicksand Bold"/>
              </a:rPr>
              <a:t>I: HƯỚNG ĐI</a:t>
            </a:r>
            <a:r>
              <a:rPr lang="en-US" b="true" sz="2633" spc="79" strike="noStrike" u="none">
                <a:solidFill>
                  <a:srgbClr val="FEFEFE"/>
                </a:solidFill>
                <a:latin typeface="Quicksand Bold"/>
                <a:ea typeface="Quicksand Bold"/>
                <a:cs typeface="Quicksand Bold"/>
                <a:sym typeface="Quicksand Bold"/>
              </a:rPr>
              <a:t> </a:t>
            </a:r>
            <a:r>
              <a:rPr lang="en-US" b="true" sz="2633" spc="79" strike="noStrike" u="none">
                <a:solidFill>
                  <a:srgbClr val="FEFEFE"/>
                </a:solidFill>
                <a:latin typeface="Quicksand Bold"/>
                <a:ea typeface="Quicksand Bold"/>
                <a:cs typeface="Quicksand Bold"/>
                <a:sym typeface="Quicksand Bold"/>
              </a:rPr>
              <a:t>NÀ</a:t>
            </a:r>
            <a:r>
              <a:rPr lang="en-US" b="true" sz="2633" spc="79" strike="noStrike" u="none">
                <a:solidFill>
                  <a:srgbClr val="FEFEFE"/>
                </a:solidFill>
                <a:latin typeface="Quicksand Bold"/>
                <a:ea typeface="Quicksand Bold"/>
                <a:cs typeface="Quicksand Bold"/>
                <a:sym typeface="Quicksand Bold"/>
              </a:rPr>
              <a:t>O</a:t>
            </a:r>
            <a:r>
              <a:rPr lang="en-US" b="true" sz="2633" spc="79" strike="noStrike" u="none">
                <a:solidFill>
                  <a:srgbClr val="FEFEFE"/>
                </a:solidFill>
                <a:latin typeface="Quicksand Bold"/>
                <a:ea typeface="Quicksand Bold"/>
                <a:cs typeface="Quicksand Bold"/>
                <a:sym typeface="Quicksand Bold"/>
              </a:rPr>
              <a:t>?</a:t>
            </a:r>
          </a:p>
        </p:txBody>
      </p:sp>
      <p:sp>
        <p:nvSpPr>
          <p:cNvPr name="TextBox 26" id="26"/>
          <p:cNvSpPr txBox="true"/>
          <p:nvPr/>
        </p:nvSpPr>
        <p:spPr>
          <a:xfrm rot="0">
            <a:off x="1700194" y="679331"/>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FEFEFE"/>
                </a:solidFill>
                <a:latin typeface="Quicksand Bold"/>
                <a:ea typeface="Quicksand Bold"/>
                <a:cs typeface="Quicksand Bold"/>
                <a:sym typeface="Quicksand Bold"/>
              </a:rPr>
              <a:t>HỆ THỐNG QUẢN LÝ HỌC TẬP THẾ HỆ TƯƠNG LAI</a:t>
            </a:r>
          </a:p>
        </p:txBody>
      </p:sp>
      <p:sp>
        <p:nvSpPr>
          <p:cNvPr name="TextBox 27" id="27"/>
          <p:cNvSpPr txBox="true"/>
          <p:nvPr/>
        </p:nvSpPr>
        <p:spPr>
          <a:xfrm rot="0">
            <a:off x="1050045" y="7178208"/>
            <a:ext cx="8567575"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Học phần: Hệ thống quản lý học tập thế hệ tương lai</a:t>
            </a:r>
          </a:p>
        </p:txBody>
      </p:sp>
      <p:sp>
        <p:nvSpPr>
          <p:cNvPr name="TextBox 28" id="28"/>
          <p:cNvSpPr txBox="true"/>
          <p:nvPr/>
        </p:nvSpPr>
        <p:spPr>
          <a:xfrm rot="0">
            <a:off x="1050045" y="7640742"/>
            <a:ext cx="8567575"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Giảng viên: Vũ Đình Minh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grpSp>
        <p:nvGrpSpPr>
          <p:cNvPr name="Group 2" id="2"/>
          <p:cNvGrpSpPr/>
          <p:nvPr/>
        </p:nvGrpSpPr>
        <p:grpSpPr>
          <a:xfrm rot="0">
            <a:off x="453249" y="1656258"/>
            <a:ext cx="17570824" cy="10453710"/>
            <a:chOff x="0" y="0"/>
            <a:chExt cx="4627707" cy="2753241"/>
          </a:xfrm>
        </p:grpSpPr>
        <p:sp>
          <p:nvSpPr>
            <p:cNvPr name="Freeform 3" id="3"/>
            <p:cNvSpPr/>
            <p:nvPr/>
          </p:nvSpPr>
          <p:spPr>
            <a:xfrm flipH="false" flipV="false" rot="0">
              <a:off x="0" y="0"/>
              <a:ext cx="4627707" cy="2753240"/>
            </a:xfrm>
            <a:custGeom>
              <a:avLst/>
              <a:gdLst/>
              <a:ahLst/>
              <a:cxnLst/>
              <a:rect r="r" b="b" t="t" l="l"/>
              <a:pathLst>
                <a:path h="2753240" w="4627707">
                  <a:moveTo>
                    <a:pt x="30843" y="0"/>
                  </a:moveTo>
                  <a:lnTo>
                    <a:pt x="4596864" y="0"/>
                  </a:lnTo>
                  <a:cubicBezTo>
                    <a:pt x="4613898" y="0"/>
                    <a:pt x="4627707" y="13809"/>
                    <a:pt x="4627707" y="30843"/>
                  </a:cubicBezTo>
                  <a:lnTo>
                    <a:pt x="4627707" y="2722398"/>
                  </a:lnTo>
                  <a:cubicBezTo>
                    <a:pt x="4627707" y="2739432"/>
                    <a:pt x="4613898" y="2753240"/>
                    <a:pt x="4596864" y="2753240"/>
                  </a:cubicBezTo>
                  <a:lnTo>
                    <a:pt x="30843" y="2753240"/>
                  </a:lnTo>
                  <a:cubicBezTo>
                    <a:pt x="13809" y="2753240"/>
                    <a:pt x="0" y="2739432"/>
                    <a:pt x="0" y="2722398"/>
                  </a:cubicBezTo>
                  <a:lnTo>
                    <a:pt x="0" y="30843"/>
                  </a:lnTo>
                  <a:cubicBezTo>
                    <a:pt x="0" y="13809"/>
                    <a:pt x="13809" y="0"/>
                    <a:pt x="30843" y="0"/>
                  </a:cubicBezTo>
                  <a:close/>
                </a:path>
              </a:pathLst>
            </a:custGeom>
            <a:solidFill>
              <a:srgbClr val="0A2B89"/>
            </a:solidFill>
          </p:spPr>
        </p:sp>
        <p:sp>
          <p:nvSpPr>
            <p:cNvPr name="TextBox 4" id="4"/>
            <p:cNvSpPr txBox="true"/>
            <p:nvPr/>
          </p:nvSpPr>
          <p:spPr>
            <a:xfrm>
              <a:off x="0" y="-38100"/>
              <a:ext cx="4627707" cy="279134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218021" y="2236857"/>
            <a:ext cx="16041279" cy="8913782"/>
          </a:xfrm>
          <a:custGeom>
            <a:avLst/>
            <a:gdLst/>
            <a:ahLst/>
            <a:cxnLst/>
            <a:rect r="r" b="b" t="t" l="l"/>
            <a:pathLst>
              <a:path h="8913782" w="16041279">
                <a:moveTo>
                  <a:pt x="0" y="0"/>
                </a:moveTo>
                <a:lnTo>
                  <a:pt x="16041279" y="0"/>
                </a:lnTo>
                <a:lnTo>
                  <a:pt x="16041279" y="8913782"/>
                </a:lnTo>
                <a:lnTo>
                  <a:pt x="0" y="8913782"/>
                </a:lnTo>
                <a:lnTo>
                  <a:pt x="0" y="0"/>
                </a:lnTo>
                <a:close/>
              </a:path>
            </a:pathLst>
          </a:custGeom>
          <a:blipFill>
            <a:blip r:embed="rId2"/>
            <a:stretch>
              <a:fillRect l="-24" t="0" r="-24" b="-1227"/>
            </a:stretch>
          </a:blipFill>
        </p:spPr>
      </p:sp>
      <p:sp>
        <p:nvSpPr>
          <p:cNvPr name="Freeform 6" id="6"/>
          <p:cNvSpPr/>
          <p:nvPr/>
        </p:nvSpPr>
        <p:spPr>
          <a:xfrm flipH="false" flipV="false" rot="0">
            <a:off x="549350" y="489554"/>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404776" y="549196"/>
            <a:ext cx="15216681"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LECTURE 1 HOW DO WE LEARN? - WHAT FUTURE FOR EDUCATION? - DR CLARE BROOKS</a:t>
            </a:r>
          </a:p>
        </p:txBody>
      </p:sp>
      <p:sp>
        <p:nvSpPr>
          <p:cNvPr name="TextBox 8" id="8"/>
          <p:cNvSpPr txBox="true"/>
          <p:nvPr/>
        </p:nvSpPr>
        <p:spPr>
          <a:xfrm rot="0">
            <a:off x="1404776" y="1028700"/>
            <a:ext cx="16883224" cy="271892"/>
          </a:xfrm>
          <a:prstGeom prst="rect">
            <a:avLst/>
          </a:prstGeom>
        </p:spPr>
        <p:txBody>
          <a:bodyPr anchor="t" rtlCol="false" tIns="0" lIns="0" bIns="0" rIns="0">
            <a:spAutoFit/>
          </a:bodyPr>
          <a:lstStyle/>
          <a:p>
            <a:pPr algn="l" marL="0" indent="0" lvl="0">
              <a:lnSpc>
                <a:spcPts val="2291"/>
              </a:lnSpc>
              <a:spcBef>
                <a:spcPct val="0"/>
              </a:spcBef>
            </a:pPr>
            <a:r>
              <a:rPr lang="en-US" b="true" sz="1818" spc="54" u="sng">
                <a:solidFill>
                  <a:srgbClr val="082064"/>
                </a:solidFill>
                <a:latin typeface="Quicksand Bold"/>
                <a:ea typeface="Quicksand Bold"/>
                <a:cs typeface="Quicksand Bold"/>
                <a:sym typeface="Quicksand Bold"/>
                <a:hlinkClick r:id="rId5" tooltip="https://www.coursera.org/learn/future-education/lecture/jOklE/lecture-1-how-do-we-learn"/>
              </a:rPr>
              <a:t>HTTPS://WWW.COURSERA.ORG/LEARN/FUTURE-EDUCATION/LECTURE/JOKLE/LECTURE-1-HOW-DO-WE-LEARN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400938"/>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1329270">
            <a:off x="1160867" y="2899970"/>
            <a:ext cx="8354768" cy="11873702"/>
          </a:xfrm>
          <a:custGeom>
            <a:avLst/>
            <a:gdLst/>
            <a:ahLst/>
            <a:cxnLst/>
            <a:rect r="r" b="b" t="t" l="l"/>
            <a:pathLst>
              <a:path h="11873702" w="8354768">
                <a:moveTo>
                  <a:pt x="0" y="0"/>
                </a:moveTo>
                <a:lnTo>
                  <a:pt x="8354768" y="0"/>
                </a:lnTo>
                <a:lnTo>
                  <a:pt x="8354768" y="11873702"/>
                </a:lnTo>
                <a:lnTo>
                  <a:pt x="0" y="118737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5400000">
            <a:off x="12775622" y="-117499"/>
            <a:ext cx="960331" cy="9347248"/>
            <a:chOff x="0" y="0"/>
            <a:chExt cx="749984" cy="7299872"/>
          </a:xfrm>
        </p:grpSpPr>
        <p:sp>
          <p:nvSpPr>
            <p:cNvPr name="Freeform 11" id="11"/>
            <p:cNvSpPr/>
            <p:nvPr/>
          </p:nvSpPr>
          <p:spPr>
            <a:xfrm flipH="false" flipV="false" rot="0">
              <a:off x="0" y="0"/>
              <a:ext cx="749984" cy="7299872"/>
            </a:xfrm>
            <a:custGeom>
              <a:avLst/>
              <a:gdLst/>
              <a:ahLst/>
              <a:cxnLst/>
              <a:rect r="r" b="b" t="t" l="l"/>
              <a:pathLst>
                <a:path h="7299872" w="749984">
                  <a:moveTo>
                    <a:pt x="250130" y="7280803"/>
                  </a:moveTo>
                  <a:cubicBezTo>
                    <a:pt x="288580" y="7292317"/>
                    <a:pt x="332292" y="7299872"/>
                    <a:pt x="375194" y="7299872"/>
                  </a:cubicBezTo>
                  <a:cubicBezTo>
                    <a:pt x="418098" y="7299872"/>
                    <a:pt x="459381" y="7293395"/>
                    <a:pt x="497426" y="7281881"/>
                  </a:cubicBezTo>
                  <a:cubicBezTo>
                    <a:pt x="498236" y="7281521"/>
                    <a:pt x="499045" y="7281521"/>
                    <a:pt x="499855" y="7281163"/>
                  </a:cubicBezTo>
                  <a:cubicBezTo>
                    <a:pt x="642728" y="7235107"/>
                    <a:pt x="747961" y="7113493"/>
                    <a:pt x="749984" y="6827274"/>
                  </a:cubicBezTo>
                  <a:lnTo>
                    <a:pt x="749984" y="0"/>
                  </a:lnTo>
                  <a:lnTo>
                    <a:pt x="0" y="0"/>
                  </a:lnTo>
                  <a:lnTo>
                    <a:pt x="0" y="6822207"/>
                  </a:lnTo>
                  <a:cubicBezTo>
                    <a:pt x="2024" y="7114212"/>
                    <a:pt x="105637" y="7235827"/>
                    <a:pt x="250130" y="7280803"/>
                  </a:cubicBezTo>
                  <a:close/>
                </a:path>
              </a:pathLst>
            </a:custGeom>
            <a:solidFill>
              <a:srgbClr val="0A2B89"/>
            </a:solidFill>
          </p:spPr>
        </p:sp>
        <p:sp>
          <p:nvSpPr>
            <p:cNvPr name="TextBox 12" id="12"/>
            <p:cNvSpPr txBox="true"/>
            <p:nvPr/>
          </p:nvSpPr>
          <p:spPr>
            <a:xfrm>
              <a:off x="0" y="-38100"/>
              <a:ext cx="749984" cy="721097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5400000">
            <a:off x="12775622" y="1017819"/>
            <a:ext cx="960331" cy="9347248"/>
            <a:chOff x="0" y="0"/>
            <a:chExt cx="749984" cy="7299872"/>
          </a:xfrm>
        </p:grpSpPr>
        <p:sp>
          <p:nvSpPr>
            <p:cNvPr name="Freeform 14" id="14"/>
            <p:cNvSpPr/>
            <p:nvPr/>
          </p:nvSpPr>
          <p:spPr>
            <a:xfrm flipH="false" flipV="false" rot="0">
              <a:off x="0" y="0"/>
              <a:ext cx="749984" cy="7299872"/>
            </a:xfrm>
            <a:custGeom>
              <a:avLst/>
              <a:gdLst/>
              <a:ahLst/>
              <a:cxnLst/>
              <a:rect r="r" b="b" t="t" l="l"/>
              <a:pathLst>
                <a:path h="7299872" w="749984">
                  <a:moveTo>
                    <a:pt x="250130" y="7280803"/>
                  </a:moveTo>
                  <a:cubicBezTo>
                    <a:pt x="288580" y="7292317"/>
                    <a:pt x="332292" y="7299872"/>
                    <a:pt x="375194" y="7299872"/>
                  </a:cubicBezTo>
                  <a:cubicBezTo>
                    <a:pt x="418098" y="7299872"/>
                    <a:pt x="459381" y="7293395"/>
                    <a:pt x="497426" y="7281881"/>
                  </a:cubicBezTo>
                  <a:cubicBezTo>
                    <a:pt x="498236" y="7281521"/>
                    <a:pt x="499045" y="7281521"/>
                    <a:pt x="499855" y="7281163"/>
                  </a:cubicBezTo>
                  <a:cubicBezTo>
                    <a:pt x="642728" y="7235107"/>
                    <a:pt x="747961" y="7113493"/>
                    <a:pt x="749984" y="6827274"/>
                  </a:cubicBezTo>
                  <a:lnTo>
                    <a:pt x="749984" y="0"/>
                  </a:lnTo>
                  <a:lnTo>
                    <a:pt x="0" y="0"/>
                  </a:lnTo>
                  <a:lnTo>
                    <a:pt x="0" y="6822207"/>
                  </a:lnTo>
                  <a:cubicBezTo>
                    <a:pt x="2024" y="7114212"/>
                    <a:pt x="105637" y="7235827"/>
                    <a:pt x="250130" y="7280803"/>
                  </a:cubicBezTo>
                  <a:close/>
                </a:path>
              </a:pathLst>
            </a:custGeom>
            <a:solidFill>
              <a:srgbClr val="0A2B89"/>
            </a:solidFill>
          </p:spPr>
        </p:sp>
        <p:sp>
          <p:nvSpPr>
            <p:cNvPr name="TextBox 15" id="15"/>
            <p:cNvSpPr txBox="true"/>
            <p:nvPr/>
          </p:nvSpPr>
          <p:spPr>
            <a:xfrm>
              <a:off x="0" y="-38100"/>
              <a:ext cx="749984" cy="721097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5400000">
            <a:off x="12775622" y="2153624"/>
            <a:ext cx="960331" cy="9347248"/>
            <a:chOff x="0" y="0"/>
            <a:chExt cx="749984" cy="7299872"/>
          </a:xfrm>
        </p:grpSpPr>
        <p:sp>
          <p:nvSpPr>
            <p:cNvPr name="Freeform 17" id="17"/>
            <p:cNvSpPr/>
            <p:nvPr/>
          </p:nvSpPr>
          <p:spPr>
            <a:xfrm flipH="false" flipV="false" rot="0">
              <a:off x="0" y="0"/>
              <a:ext cx="749984" cy="7299872"/>
            </a:xfrm>
            <a:custGeom>
              <a:avLst/>
              <a:gdLst/>
              <a:ahLst/>
              <a:cxnLst/>
              <a:rect r="r" b="b" t="t" l="l"/>
              <a:pathLst>
                <a:path h="7299872" w="749984">
                  <a:moveTo>
                    <a:pt x="250130" y="7280803"/>
                  </a:moveTo>
                  <a:cubicBezTo>
                    <a:pt x="288580" y="7292317"/>
                    <a:pt x="332292" y="7299872"/>
                    <a:pt x="375194" y="7299872"/>
                  </a:cubicBezTo>
                  <a:cubicBezTo>
                    <a:pt x="418098" y="7299872"/>
                    <a:pt x="459381" y="7293395"/>
                    <a:pt x="497426" y="7281881"/>
                  </a:cubicBezTo>
                  <a:cubicBezTo>
                    <a:pt x="498236" y="7281521"/>
                    <a:pt x="499045" y="7281521"/>
                    <a:pt x="499855" y="7281163"/>
                  </a:cubicBezTo>
                  <a:cubicBezTo>
                    <a:pt x="642728" y="7235107"/>
                    <a:pt x="747961" y="7113493"/>
                    <a:pt x="749984" y="6827274"/>
                  </a:cubicBezTo>
                  <a:lnTo>
                    <a:pt x="749984" y="0"/>
                  </a:lnTo>
                  <a:lnTo>
                    <a:pt x="0" y="0"/>
                  </a:lnTo>
                  <a:lnTo>
                    <a:pt x="0" y="6822207"/>
                  </a:lnTo>
                  <a:cubicBezTo>
                    <a:pt x="2024" y="7114212"/>
                    <a:pt x="105637" y="7235827"/>
                    <a:pt x="250130" y="7280803"/>
                  </a:cubicBezTo>
                  <a:close/>
                </a:path>
              </a:pathLst>
            </a:custGeom>
            <a:solidFill>
              <a:srgbClr val="0A2B89"/>
            </a:solidFill>
          </p:spPr>
        </p:sp>
        <p:sp>
          <p:nvSpPr>
            <p:cNvPr name="TextBox 18" id="18"/>
            <p:cNvSpPr txBox="true"/>
            <p:nvPr/>
          </p:nvSpPr>
          <p:spPr>
            <a:xfrm>
              <a:off x="0" y="-38100"/>
              <a:ext cx="749984" cy="7210972"/>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5400000">
            <a:off x="12775622" y="3288942"/>
            <a:ext cx="960331" cy="9347248"/>
            <a:chOff x="0" y="0"/>
            <a:chExt cx="749984" cy="7299872"/>
          </a:xfrm>
        </p:grpSpPr>
        <p:sp>
          <p:nvSpPr>
            <p:cNvPr name="Freeform 20" id="20"/>
            <p:cNvSpPr/>
            <p:nvPr/>
          </p:nvSpPr>
          <p:spPr>
            <a:xfrm flipH="false" flipV="false" rot="0">
              <a:off x="0" y="0"/>
              <a:ext cx="749984" cy="7299872"/>
            </a:xfrm>
            <a:custGeom>
              <a:avLst/>
              <a:gdLst/>
              <a:ahLst/>
              <a:cxnLst/>
              <a:rect r="r" b="b" t="t" l="l"/>
              <a:pathLst>
                <a:path h="7299872" w="749984">
                  <a:moveTo>
                    <a:pt x="250130" y="7280803"/>
                  </a:moveTo>
                  <a:cubicBezTo>
                    <a:pt x="288580" y="7292317"/>
                    <a:pt x="332292" y="7299872"/>
                    <a:pt x="375194" y="7299872"/>
                  </a:cubicBezTo>
                  <a:cubicBezTo>
                    <a:pt x="418098" y="7299872"/>
                    <a:pt x="459381" y="7293395"/>
                    <a:pt x="497426" y="7281881"/>
                  </a:cubicBezTo>
                  <a:cubicBezTo>
                    <a:pt x="498236" y="7281521"/>
                    <a:pt x="499045" y="7281521"/>
                    <a:pt x="499855" y="7281163"/>
                  </a:cubicBezTo>
                  <a:cubicBezTo>
                    <a:pt x="642728" y="7235107"/>
                    <a:pt x="747961" y="7113493"/>
                    <a:pt x="749984" y="6827274"/>
                  </a:cubicBezTo>
                  <a:lnTo>
                    <a:pt x="749984" y="0"/>
                  </a:lnTo>
                  <a:lnTo>
                    <a:pt x="0" y="0"/>
                  </a:lnTo>
                  <a:lnTo>
                    <a:pt x="0" y="6822207"/>
                  </a:lnTo>
                  <a:cubicBezTo>
                    <a:pt x="2024" y="7114212"/>
                    <a:pt x="105637" y="7235827"/>
                    <a:pt x="250130" y="7280803"/>
                  </a:cubicBezTo>
                  <a:close/>
                </a:path>
              </a:pathLst>
            </a:custGeom>
            <a:solidFill>
              <a:srgbClr val="0A2B89"/>
            </a:solidFill>
          </p:spPr>
        </p:sp>
        <p:sp>
          <p:nvSpPr>
            <p:cNvPr name="TextBox 21" id="21"/>
            <p:cNvSpPr txBox="true"/>
            <p:nvPr/>
          </p:nvSpPr>
          <p:spPr>
            <a:xfrm>
              <a:off x="0" y="-38100"/>
              <a:ext cx="749984" cy="7210972"/>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8400808" y="4374769"/>
            <a:ext cx="362712" cy="362712"/>
            <a:chOff x="0" y="0"/>
            <a:chExt cx="812800" cy="812800"/>
          </a:xfrm>
        </p:grpSpPr>
        <p:sp>
          <p:nvSpPr>
            <p:cNvPr name="Freeform 23" id="23"/>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4" id="24"/>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8400808" y="5510087"/>
            <a:ext cx="362712" cy="362712"/>
            <a:chOff x="0" y="0"/>
            <a:chExt cx="812800" cy="812800"/>
          </a:xfrm>
        </p:grpSpPr>
        <p:sp>
          <p:nvSpPr>
            <p:cNvPr name="Freeform 26" id="26"/>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7" id="27"/>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400808" y="6647859"/>
            <a:ext cx="362712" cy="362712"/>
            <a:chOff x="0" y="0"/>
            <a:chExt cx="812800" cy="812800"/>
          </a:xfrm>
        </p:grpSpPr>
        <p:sp>
          <p:nvSpPr>
            <p:cNvPr name="Freeform 29" id="29"/>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30" id="30"/>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8400808" y="7783177"/>
            <a:ext cx="362712" cy="362712"/>
            <a:chOff x="0" y="0"/>
            <a:chExt cx="812800" cy="812800"/>
          </a:xfrm>
        </p:grpSpPr>
        <p:sp>
          <p:nvSpPr>
            <p:cNvPr name="Freeform 32" id="32"/>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33" id="33"/>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Freeform 34" id="34"/>
          <p:cNvSpPr/>
          <p:nvPr/>
        </p:nvSpPr>
        <p:spPr>
          <a:xfrm flipH="false" flipV="false" rot="0">
            <a:off x="1028700" y="2061416"/>
            <a:ext cx="7191294" cy="10167639"/>
          </a:xfrm>
          <a:custGeom>
            <a:avLst/>
            <a:gdLst/>
            <a:ahLst/>
            <a:cxnLst/>
            <a:rect r="r" b="b" t="t" l="l"/>
            <a:pathLst>
              <a:path h="10167639" w="7191294">
                <a:moveTo>
                  <a:pt x="0" y="0"/>
                </a:moveTo>
                <a:lnTo>
                  <a:pt x="7191294" y="0"/>
                </a:lnTo>
                <a:lnTo>
                  <a:pt x="7191294" y="10167639"/>
                </a:lnTo>
                <a:lnTo>
                  <a:pt x="0" y="101676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35" id="35"/>
          <p:cNvSpPr/>
          <p:nvPr/>
        </p:nvSpPr>
        <p:spPr>
          <a:xfrm flipH="false" flipV="false" rot="0">
            <a:off x="15698120" y="9043638"/>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6" id="36"/>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1</a:t>
            </a:r>
          </a:p>
        </p:txBody>
      </p:sp>
      <p:sp>
        <p:nvSpPr>
          <p:cNvPr name="TextBox 37" id="37"/>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TextBox 38" id="38"/>
          <p:cNvSpPr txBox="true"/>
          <p:nvPr/>
        </p:nvSpPr>
        <p:spPr>
          <a:xfrm rot="0">
            <a:off x="8582164" y="2524593"/>
            <a:ext cx="9347248" cy="1075117"/>
          </a:xfrm>
          <a:prstGeom prst="rect">
            <a:avLst/>
          </a:prstGeom>
        </p:spPr>
        <p:txBody>
          <a:bodyPr anchor="t" rtlCol="false" tIns="0" lIns="0" bIns="0" rIns="0">
            <a:spAutoFit/>
          </a:bodyPr>
          <a:lstStyle/>
          <a:p>
            <a:pPr algn="l">
              <a:lnSpc>
                <a:spcPts val="7831"/>
              </a:lnSpc>
            </a:pPr>
            <a:r>
              <a:rPr lang="en-US" sz="8701" spc="-191" b="true">
                <a:solidFill>
                  <a:srgbClr val="171718"/>
                </a:solidFill>
                <a:latin typeface="Montserrat Bold"/>
                <a:ea typeface="Montserrat Bold"/>
                <a:cs typeface="Montserrat Bold"/>
                <a:sym typeface="Montserrat Bold"/>
              </a:rPr>
              <a:t>List of Contents</a:t>
            </a:r>
          </a:p>
        </p:txBody>
      </p:sp>
      <p:sp>
        <p:nvSpPr>
          <p:cNvPr name="TextBox 39" id="39"/>
          <p:cNvSpPr txBox="true"/>
          <p:nvPr/>
        </p:nvSpPr>
        <p:spPr>
          <a:xfrm rot="0">
            <a:off x="9144000" y="4414809"/>
            <a:ext cx="8115300" cy="330256"/>
          </a:xfrm>
          <a:prstGeom prst="rect">
            <a:avLst/>
          </a:prstGeom>
        </p:spPr>
        <p:txBody>
          <a:bodyPr anchor="t" rtlCol="false" tIns="0" lIns="0" bIns="0" rIns="0">
            <a:spAutoFit/>
          </a:bodyPr>
          <a:lstStyle/>
          <a:p>
            <a:pPr algn="l" marL="0" indent="0" lvl="0">
              <a:lnSpc>
                <a:spcPts val="2502"/>
              </a:lnSpc>
              <a:spcBef>
                <a:spcPct val="0"/>
              </a:spcBef>
            </a:pPr>
            <a:r>
              <a:rPr lang="en-US" b="true" sz="2502" spc="75">
                <a:solidFill>
                  <a:srgbClr val="FEFEFE"/>
                </a:solidFill>
                <a:latin typeface="Montserrat Bold"/>
                <a:ea typeface="Montserrat Bold"/>
                <a:cs typeface="Montserrat Bold"/>
                <a:sym typeface="Montserrat Bold"/>
              </a:rPr>
              <a:t> ĐỐI TƯỢNG NGƯỜI HỌC &amp; NỘI DUNG CHÍNH</a:t>
            </a:r>
          </a:p>
        </p:txBody>
      </p:sp>
      <p:sp>
        <p:nvSpPr>
          <p:cNvPr name="TextBox 40" id="40"/>
          <p:cNvSpPr txBox="true"/>
          <p:nvPr/>
        </p:nvSpPr>
        <p:spPr>
          <a:xfrm rot="0">
            <a:off x="9144000" y="5550128"/>
            <a:ext cx="8115300" cy="330256"/>
          </a:xfrm>
          <a:prstGeom prst="rect">
            <a:avLst/>
          </a:prstGeom>
        </p:spPr>
        <p:txBody>
          <a:bodyPr anchor="t" rtlCol="false" tIns="0" lIns="0" bIns="0" rIns="0">
            <a:spAutoFit/>
          </a:bodyPr>
          <a:lstStyle/>
          <a:p>
            <a:pPr algn="l" marL="0" indent="0" lvl="0">
              <a:lnSpc>
                <a:spcPts val="2502"/>
              </a:lnSpc>
              <a:spcBef>
                <a:spcPct val="0"/>
              </a:spcBef>
            </a:pPr>
            <a:r>
              <a:rPr lang="en-US" b="true" sz="2502" spc="75">
                <a:solidFill>
                  <a:srgbClr val="FEFEFE"/>
                </a:solidFill>
                <a:latin typeface="Montserrat Bold"/>
                <a:ea typeface="Montserrat Bold"/>
                <a:cs typeface="Montserrat Bold"/>
                <a:sym typeface="Montserrat Bold"/>
              </a:rPr>
              <a:t>PHÂN TÍCH HẠN CHẾ</a:t>
            </a:r>
          </a:p>
        </p:txBody>
      </p:sp>
      <p:sp>
        <p:nvSpPr>
          <p:cNvPr name="TextBox 41" id="41"/>
          <p:cNvSpPr txBox="true"/>
          <p:nvPr/>
        </p:nvSpPr>
        <p:spPr>
          <a:xfrm rot="0">
            <a:off x="9144000" y="6685975"/>
            <a:ext cx="8115300" cy="330256"/>
          </a:xfrm>
          <a:prstGeom prst="rect">
            <a:avLst/>
          </a:prstGeom>
        </p:spPr>
        <p:txBody>
          <a:bodyPr anchor="t" rtlCol="false" tIns="0" lIns="0" bIns="0" rIns="0">
            <a:spAutoFit/>
          </a:bodyPr>
          <a:lstStyle/>
          <a:p>
            <a:pPr algn="l" marL="0" indent="0" lvl="0">
              <a:lnSpc>
                <a:spcPts val="2502"/>
              </a:lnSpc>
              <a:spcBef>
                <a:spcPct val="0"/>
              </a:spcBef>
            </a:pPr>
            <a:r>
              <a:rPr lang="en-US" b="true" sz="2502" spc="75">
                <a:solidFill>
                  <a:srgbClr val="FEFEFE"/>
                </a:solidFill>
                <a:latin typeface="Montserrat Bold"/>
                <a:ea typeface="Montserrat Bold"/>
                <a:cs typeface="Montserrat Bold"/>
                <a:sym typeface="Montserrat Bold"/>
              </a:rPr>
              <a:t>GIẢI PHÁP CẢI THIỆN</a:t>
            </a:r>
          </a:p>
        </p:txBody>
      </p:sp>
      <p:sp>
        <p:nvSpPr>
          <p:cNvPr name="TextBox 42" id="42"/>
          <p:cNvSpPr txBox="true"/>
          <p:nvPr/>
        </p:nvSpPr>
        <p:spPr>
          <a:xfrm rot="0">
            <a:off x="9144000" y="7821234"/>
            <a:ext cx="8115300" cy="330289"/>
          </a:xfrm>
          <a:prstGeom prst="rect">
            <a:avLst/>
          </a:prstGeom>
        </p:spPr>
        <p:txBody>
          <a:bodyPr anchor="t" rtlCol="false" tIns="0" lIns="0" bIns="0" rIns="0">
            <a:spAutoFit/>
          </a:bodyPr>
          <a:lstStyle/>
          <a:p>
            <a:pPr algn="l" marL="0" indent="0" lvl="0">
              <a:lnSpc>
                <a:spcPts val="2502"/>
              </a:lnSpc>
              <a:spcBef>
                <a:spcPct val="0"/>
              </a:spcBef>
            </a:pPr>
            <a:r>
              <a:rPr lang="en-US" b="true" sz="2502" spc="75">
                <a:solidFill>
                  <a:srgbClr val="FEFEFE"/>
                </a:solidFill>
                <a:latin typeface="Montserrat Bold"/>
                <a:ea typeface="Montserrat Bold"/>
                <a:cs typeface="Montserrat Bold"/>
                <a:sym typeface="Montserrat Bold"/>
              </a:rPr>
              <a:t>HÌNH ẢNH TRÌNH BÀY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772548">
            <a:off x="3202909" y="5204851"/>
            <a:ext cx="6048645" cy="8596265"/>
          </a:xfrm>
          <a:custGeom>
            <a:avLst/>
            <a:gdLst/>
            <a:ahLst/>
            <a:cxnLst/>
            <a:rect r="r" b="b" t="t" l="l"/>
            <a:pathLst>
              <a:path h="8596265" w="6048645">
                <a:moveTo>
                  <a:pt x="0" y="0"/>
                </a:moveTo>
                <a:lnTo>
                  <a:pt x="6048645" y="0"/>
                </a:lnTo>
                <a:lnTo>
                  <a:pt x="6048645" y="8596265"/>
                </a:lnTo>
                <a:lnTo>
                  <a:pt x="0" y="85962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9043638"/>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0172700" y="1901832"/>
            <a:ext cx="7086600" cy="3241668"/>
            <a:chOff x="0" y="0"/>
            <a:chExt cx="1866430" cy="853773"/>
          </a:xfrm>
        </p:grpSpPr>
        <p:sp>
          <p:nvSpPr>
            <p:cNvPr name="Freeform 12" id="12"/>
            <p:cNvSpPr/>
            <p:nvPr/>
          </p:nvSpPr>
          <p:spPr>
            <a:xfrm flipH="false" flipV="false" rot="0">
              <a:off x="0" y="0"/>
              <a:ext cx="1866430" cy="853772"/>
            </a:xfrm>
            <a:custGeom>
              <a:avLst/>
              <a:gdLst/>
              <a:ahLst/>
              <a:cxnLst/>
              <a:rect r="r" b="b" t="t" l="l"/>
              <a:pathLst>
                <a:path h="853772" w="1866430">
                  <a:moveTo>
                    <a:pt x="32774" y="0"/>
                  </a:moveTo>
                  <a:lnTo>
                    <a:pt x="1833656" y="0"/>
                  </a:lnTo>
                  <a:cubicBezTo>
                    <a:pt x="1842348" y="0"/>
                    <a:pt x="1850684" y="3453"/>
                    <a:pt x="1856830" y="9599"/>
                  </a:cubicBezTo>
                  <a:cubicBezTo>
                    <a:pt x="1862977" y="15746"/>
                    <a:pt x="1866430" y="24082"/>
                    <a:pt x="1866430" y="32774"/>
                  </a:cubicBezTo>
                  <a:lnTo>
                    <a:pt x="1866430" y="820998"/>
                  </a:lnTo>
                  <a:cubicBezTo>
                    <a:pt x="1866430" y="839099"/>
                    <a:pt x="1851756" y="853772"/>
                    <a:pt x="1833656" y="853772"/>
                  </a:cubicBezTo>
                  <a:lnTo>
                    <a:pt x="32774" y="853772"/>
                  </a:lnTo>
                  <a:cubicBezTo>
                    <a:pt x="24082" y="853772"/>
                    <a:pt x="15746" y="850320"/>
                    <a:pt x="9599" y="844173"/>
                  </a:cubicBezTo>
                  <a:cubicBezTo>
                    <a:pt x="3453" y="838027"/>
                    <a:pt x="0" y="829691"/>
                    <a:pt x="0" y="820998"/>
                  </a:cubicBezTo>
                  <a:lnTo>
                    <a:pt x="0" y="32774"/>
                  </a:lnTo>
                  <a:cubicBezTo>
                    <a:pt x="0" y="24082"/>
                    <a:pt x="3453" y="15746"/>
                    <a:pt x="9599" y="9599"/>
                  </a:cubicBezTo>
                  <a:cubicBezTo>
                    <a:pt x="15746" y="3453"/>
                    <a:pt x="24082" y="0"/>
                    <a:pt x="32774" y="0"/>
                  </a:cubicBezTo>
                  <a:close/>
                </a:path>
              </a:pathLst>
            </a:custGeom>
            <a:solidFill>
              <a:srgbClr val="D1D0D5">
                <a:alpha val="19608"/>
              </a:srgbClr>
            </a:solidFill>
            <a:ln cap="rnd">
              <a:noFill/>
              <a:prstDash val="solid"/>
              <a:round/>
            </a:ln>
          </p:spPr>
        </p:sp>
        <p:sp>
          <p:nvSpPr>
            <p:cNvPr name="TextBox 13" id="13"/>
            <p:cNvSpPr txBox="true"/>
            <p:nvPr/>
          </p:nvSpPr>
          <p:spPr>
            <a:xfrm>
              <a:off x="0" y="-38100"/>
              <a:ext cx="1866430" cy="89187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310904" y="2342544"/>
            <a:ext cx="362712" cy="362712"/>
            <a:chOff x="0" y="0"/>
            <a:chExt cx="812800" cy="812800"/>
          </a:xfrm>
        </p:grpSpPr>
        <p:sp>
          <p:nvSpPr>
            <p:cNvPr name="Freeform 15" id="15"/>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16" id="16"/>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172700" y="5514975"/>
            <a:ext cx="7086600" cy="4572373"/>
            <a:chOff x="0" y="0"/>
            <a:chExt cx="1866430" cy="1204246"/>
          </a:xfrm>
        </p:grpSpPr>
        <p:sp>
          <p:nvSpPr>
            <p:cNvPr name="Freeform 18" id="18"/>
            <p:cNvSpPr/>
            <p:nvPr/>
          </p:nvSpPr>
          <p:spPr>
            <a:xfrm flipH="false" flipV="false" rot="0">
              <a:off x="0" y="0"/>
              <a:ext cx="1866430" cy="1204246"/>
            </a:xfrm>
            <a:custGeom>
              <a:avLst/>
              <a:gdLst/>
              <a:ahLst/>
              <a:cxnLst/>
              <a:rect r="r" b="b" t="t" l="l"/>
              <a:pathLst>
                <a:path h="1204246" w="1866430">
                  <a:moveTo>
                    <a:pt x="32774" y="0"/>
                  </a:moveTo>
                  <a:lnTo>
                    <a:pt x="1833656" y="0"/>
                  </a:lnTo>
                  <a:cubicBezTo>
                    <a:pt x="1842348" y="0"/>
                    <a:pt x="1850684" y="3453"/>
                    <a:pt x="1856830" y="9599"/>
                  </a:cubicBezTo>
                  <a:cubicBezTo>
                    <a:pt x="1862977" y="15746"/>
                    <a:pt x="1866430" y="24082"/>
                    <a:pt x="1866430" y="32774"/>
                  </a:cubicBezTo>
                  <a:lnTo>
                    <a:pt x="1866430" y="1171472"/>
                  </a:lnTo>
                  <a:cubicBezTo>
                    <a:pt x="1866430" y="1189573"/>
                    <a:pt x="1851756" y="1204246"/>
                    <a:pt x="1833656" y="1204246"/>
                  </a:cubicBezTo>
                  <a:lnTo>
                    <a:pt x="32774" y="1204246"/>
                  </a:lnTo>
                  <a:cubicBezTo>
                    <a:pt x="24082" y="1204246"/>
                    <a:pt x="15746" y="1200793"/>
                    <a:pt x="9599" y="1194647"/>
                  </a:cubicBezTo>
                  <a:cubicBezTo>
                    <a:pt x="3453" y="1188501"/>
                    <a:pt x="0" y="1180164"/>
                    <a:pt x="0" y="1171472"/>
                  </a:cubicBezTo>
                  <a:lnTo>
                    <a:pt x="0" y="32774"/>
                  </a:lnTo>
                  <a:cubicBezTo>
                    <a:pt x="0" y="24082"/>
                    <a:pt x="3453" y="15746"/>
                    <a:pt x="9599" y="9599"/>
                  </a:cubicBezTo>
                  <a:cubicBezTo>
                    <a:pt x="15746" y="3453"/>
                    <a:pt x="24082" y="0"/>
                    <a:pt x="32774" y="0"/>
                  </a:cubicBezTo>
                  <a:close/>
                </a:path>
              </a:pathLst>
            </a:custGeom>
            <a:solidFill>
              <a:srgbClr val="D1D0D5">
                <a:alpha val="19608"/>
              </a:srgbClr>
            </a:solidFill>
            <a:ln cap="rnd">
              <a:noFill/>
              <a:prstDash val="solid"/>
              <a:round/>
            </a:ln>
          </p:spPr>
        </p:sp>
        <p:sp>
          <p:nvSpPr>
            <p:cNvPr name="TextBox 19" id="19"/>
            <p:cNvSpPr txBox="true"/>
            <p:nvPr/>
          </p:nvSpPr>
          <p:spPr>
            <a:xfrm>
              <a:off x="0" y="-38100"/>
              <a:ext cx="1866430" cy="124234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0" id="20"/>
          <p:cNvGrpSpPr/>
          <p:nvPr/>
        </p:nvGrpSpPr>
        <p:grpSpPr>
          <a:xfrm rot="0">
            <a:off x="10492260" y="5829917"/>
            <a:ext cx="362712" cy="362712"/>
            <a:chOff x="0" y="0"/>
            <a:chExt cx="812800" cy="812800"/>
          </a:xfrm>
        </p:grpSpPr>
        <p:sp>
          <p:nvSpPr>
            <p:cNvPr name="Freeform 21" id="21"/>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2" id="22"/>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true" rot="-3952739">
            <a:off x="15877072" y="1745121"/>
            <a:ext cx="1155365" cy="614615"/>
          </a:xfrm>
          <a:custGeom>
            <a:avLst/>
            <a:gdLst/>
            <a:ahLst/>
            <a:cxnLst/>
            <a:rect r="r" b="b" t="t" l="l"/>
            <a:pathLst>
              <a:path h="614615" w="1155365">
                <a:moveTo>
                  <a:pt x="0" y="614615"/>
                </a:moveTo>
                <a:lnTo>
                  <a:pt x="1155365" y="614615"/>
                </a:lnTo>
                <a:lnTo>
                  <a:pt x="1155365" y="0"/>
                </a:lnTo>
                <a:lnTo>
                  <a:pt x="0" y="0"/>
                </a:lnTo>
                <a:lnTo>
                  <a:pt x="0" y="61461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0">
            <a:off x="8965733" y="7985686"/>
            <a:ext cx="1617195" cy="670401"/>
          </a:xfrm>
          <a:custGeom>
            <a:avLst/>
            <a:gdLst/>
            <a:ahLst/>
            <a:cxnLst/>
            <a:rect r="r" b="b" t="t" l="l"/>
            <a:pathLst>
              <a:path h="670401" w="1617195">
                <a:moveTo>
                  <a:pt x="0" y="0"/>
                </a:moveTo>
                <a:lnTo>
                  <a:pt x="1617195" y="0"/>
                </a:lnTo>
                <a:lnTo>
                  <a:pt x="1617195" y="670400"/>
                </a:lnTo>
                <a:lnTo>
                  <a:pt x="0" y="670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25" id="25"/>
          <p:cNvSpPr/>
          <p:nvPr/>
        </p:nvSpPr>
        <p:spPr>
          <a:xfrm flipH="false" flipV="false" rot="0">
            <a:off x="3291051" y="4962820"/>
            <a:ext cx="4772756" cy="4295480"/>
          </a:xfrm>
          <a:custGeom>
            <a:avLst/>
            <a:gdLst/>
            <a:ahLst/>
            <a:cxnLst/>
            <a:rect r="r" b="b" t="t" l="l"/>
            <a:pathLst>
              <a:path h="4295480" w="4772756">
                <a:moveTo>
                  <a:pt x="0" y="0"/>
                </a:moveTo>
                <a:lnTo>
                  <a:pt x="4772755" y="0"/>
                </a:lnTo>
                <a:lnTo>
                  <a:pt x="4772755" y="4295480"/>
                </a:lnTo>
                <a:lnTo>
                  <a:pt x="0" y="429548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26" id="26"/>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2</a:t>
            </a:r>
          </a:p>
        </p:txBody>
      </p:sp>
      <p:sp>
        <p:nvSpPr>
          <p:cNvPr name="TextBox 27" id="27"/>
          <p:cNvSpPr txBox="true"/>
          <p:nvPr/>
        </p:nvSpPr>
        <p:spPr>
          <a:xfrm rot="0">
            <a:off x="978085" y="2390169"/>
            <a:ext cx="9155213" cy="2005400"/>
          </a:xfrm>
          <a:prstGeom prst="rect">
            <a:avLst/>
          </a:prstGeom>
        </p:spPr>
        <p:txBody>
          <a:bodyPr anchor="t" rtlCol="false" tIns="0" lIns="0" bIns="0" rIns="0">
            <a:spAutoFit/>
          </a:bodyPr>
          <a:lstStyle/>
          <a:p>
            <a:pPr algn="l">
              <a:lnSpc>
                <a:spcPts val="7895"/>
              </a:lnSpc>
            </a:pPr>
            <a:r>
              <a:rPr lang="en-US" sz="6925" spc="-152" b="true">
                <a:solidFill>
                  <a:srgbClr val="171718"/>
                </a:solidFill>
                <a:latin typeface="Montserrat Bold"/>
                <a:ea typeface="Montserrat Bold"/>
                <a:cs typeface="Montserrat Bold"/>
                <a:sym typeface="Montserrat Bold"/>
              </a:rPr>
              <a:t>Đối tượng người học</a:t>
            </a:r>
          </a:p>
          <a:p>
            <a:pPr algn="l">
              <a:lnSpc>
                <a:spcPts val="7895"/>
              </a:lnSpc>
            </a:pPr>
            <a:r>
              <a:rPr lang="en-US" sz="6925" spc="-152" b="true">
                <a:solidFill>
                  <a:srgbClr val="171718"/>
                </a:solidFill>
                <a:latin typeface="Montserrat Bold"/>
                <a:ea typeface="Montserrat Bold"/>
                <a:cs typeface="Montserrat Bold"/>
                <a:sym typeface="Montserrat Bold"/>
              </a:rPr>
              <a:t>Nội dung chính</a:t>
            </a:r>
          </a:p>
        </p:txBody>
      </p:sp>
      <p:sp>
        <p:nvSpPr>
          <p:cNvPr name="TextBox 28" id="28"/>
          <p:cNvSpPr txBox="true"/>
          <p:nvPr/>
        </p:nvSpPr>
        <p:spPr>
          <a:xfrm rot="0">
            <a:off x="10886541" y="2341345"/>
            <a:ext cx="6084767" cy="363911"/>
          </a:xfrm>
          <a:prstGeom prst="rect">
            <a:avLst/>
          </a:prstGeom>
        </p:spPr>
        <p:txBody>
          <a:bodyPr anchor="t" rtlCol="false" tIns="0" lIns="0" bIns="0" rIns="0">
            <a:spAutoFit/>
          </a:bodyPr>
          <a:lstStyle/>
          <a:p>
            <a:pPr algn="l" marL="0" indent="0" lvl="0">
              <a:lnSpc>
                <a:spcPts val="2702"/>
              </a:lnSpc>
              <a:spcBef>
                <a:spcPct val="0"/>
              </a:spcBef>
            </a:pPr>
            <a:r>
              <a:rPr lang="en-US" b="true" sz="2702" spc="81">
                <a:solidFill>
                  <a:srgbClr val="023AC7"/>
                </a:solidFill>
                <a:latin typeface="Montserrat Bold"/>
                <a:ea typeface="Montserrat Bold"/>
                <a:cs typeface="Montserrat Bold"/>
                <a:sym typeface="Montserrat Bold"/>
              </a:rPr>
              <a:t>ĐỐI TƯỢNG NGƯỜI HỌC</a:t>
            </a:r>
          </a:p>
        </p:txBody>
      </p:sp>
      <p:sp>
        <p:nvSpPr>
          <p:cNvPr name="TextBox 29" id="29"/>
          <p:cNvSpPr txBox="true"/>
          <p:nvPr/>
        </p:nvSpPr>
        <p:spPr>
          <a:xfrm rot="0">
            <a:off x="10582928" y="2847213"/>
            <a:ext cx="5227629" cy="772287"/>
          </a:xfrm>
          <a:prstGeom prst="rect">
            <a:avLst/>
          </a:prstGeom>
        </p:spPr>
        <p:txBody>
          <a:bodyPr anchor="t" rtlCol="false" tIns="0" lIns="0" bIns="0" rIns="0">
            <a:spAutoFit/>
          </a:bodyPr>
          <a:lstStyle/>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Nhà giáo dục, giáo viên và nhà quản lý.</a:t>
            </a:r>
          </a:p>
        </p:txBody>
      </p:sp>
      <p:sp>
        <p:nvSpPr>
          <p:cNvPr name="TextBox 30" id="30"/>
          <p:cNvSpPr txBox="true"/>
          <p:nvPr/>
        </p:nvSpPr>
        <p:spPr>
          <a:xfrm rot="0">
            <a:off x="10582928" y="3962400"/>
            <a:ext cx="6010047" cy="772287"/>
          </a:xfrm>
          <a:prstGeom prst="rect">
            <a:avLst/>
          </a:prstGeom>
        </p:spPr>
        <p:txBody>
          <a:bodyPr anchor="t" rtlCol="false" tIns="0" lIns="0" bIns="0" rIns="0">
            <a:spAutoFit/>
          </a:bodyPr>
          <a:lstStyle/>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Sinh viên ngành giáo dục và sư phạm.</a:t>
            </a:r>
          </a:p>
        </p:txBody>
      </p:sp>
      <p:sp>
        <p:nvSpPr>
          <p:cNvPr name="TextBox 31" id="31"/>
          <p:cNvSpPr txBox="true"/>
          <p:nvPr/>
        </p:nvSpPr>
        <p:spPr>
          <a:xfrm rot="0">
            <a:off x="10764284" y="6335504"/>
            <a:ext cx="6388380" cy="3058287"/>
          </a:xfrm>
          <a:prstGeom prst="rect">
            <a:avLst/>
          </a:prstGeom>
        </p:spPr>
        <p:txBody>
          <a:bodyPr anchor="t" rtlCol="false" tIns="0" lIns="0" bIns="0" rIns="0">
            <a:spAutoFit/>
          </a:bodyPr>
          <a:lstStyle/>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 Một </a:t>
            </a:r>
            <a:r>
              <a:rPr lang="en-US" sz="2400" spc="72">
                <a:solidFill>
                  <a:srgbClr val="082064"/>
                </a:solidFill>
                <a:latin typeface="Quicksand"/>
                <a:ea typeface="Quicksand"/>
                <a:cs typeface="Quicksand"/>
                <a:sym typeface="Quicksand"/>
              </a:rPr>
              <a:t>cuộc thả</a:t>
            </a:r>
            <a:r>
              <a:rPr lang="en-US" sz="2400" spc="72">
                <a:solidFill>
                  <a:srgbClr val="082064"/>
                </a:solidFill>
                <a:latin typeface="Quicksand"/>
                <a:ea typeface="Quicksand"/>
                <a:cs typeface="Quicksand"/>
                <a:sym typeface="Quicksand"/>
              </a:rPr>
              <a:t>o luận giữa Eleanore Hargreaves và người dẫn chương trình tập trung vào câu hỏi cốt lõi: "Chúng ta học tập như thế nào?".</a:t>
            </a:r>
          </a:p>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Phân tích các mục đích khác nhau của việc học, các phương pháp tương ứng và những điều kiện môi trường, tâm lý cần thiết để việc học diễn ra hiệu quả.</a:t>
            </a:r>
          </a:p>
        </p:txBody>
      </p:sp>
      <p:sp>
        <p:nvSpPr>
          <p:cNvPr name="TextBox 32" id="32"/>
          <p:cNvSpPr txBox="true"/>
          <p:nvPr/>
        </p:nvSpPr>
        <p:spPr>
          <a:xfrm rot="0">
            <a:off x="1809290"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TextBox 33" id="33"/>
          <p:cNvSpPr txBox="true"/>
          <p:nvPr/>
        </p:nvSpPr>
        <p:spPr>
          <a:xfrm rot="0">
            <a:off x="11067897" y="5828718"/>
            <a:ext cx="6084767" cy="363911"/>
          </a:xfrm>
          <a:prstGeom prst="rect">
            <a:avLst/>
          </a:prstGeom>
        </p:spPr>
        <p:txBody>
          <a:bodyPr anchor="t" rtlCol="false" tIns="0" lIns="0" bIns="0" rIns="0">
            <a:spAutoFit/>
          </a:bodyPr>
          <a:lstStyle/>
          <a:p>
            <a:pPr algn="l" marL="0" indent="0" lvl="0">
              <a:lnSpc>
                <a:spcPts val="2702"/>
              </a:lnSpc>
              <a:spcBef>
                <a:spcPct val="0"/>
              </a:spcBef>
            </a:pPr>
            <a:r>
              <a:rPr lang="en-US" b="true" sz="2702" spc="81">
                <a:solidFill>
                  <a:srgbClr val="023AC7"/>
                </a:solidFill>
                <a:latin typeface="Montserrat Bold"/>
                <a:ea typeface="Montserrat Bold"/>
                <a:cs typeface="Montserrat Bold"/>
                <a:sym typeface="Montserrat Bold"/>
              </a:rPr>
              <a:t>NỘI DUNG CHÍNH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0A2B89"/>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175311" y="1776963"/>
            <a:ext cx="11937377" cy="11937377"/>
          </a:xfrm>
          <a:custGeom>
            <a:avLst/>
            <a:gdLst/>
            <a:ahLst/>
            <a:cxnLst/>
            <a:rect r="r" b="b" t="t" l="l"/>
            <a:pathLst>
              <a:path h="11937377" w="11937377">
                <a:moveTo>
                  <a:pt x="0" y="0"/>
                </a:moveTo>
                <a:lnTo>
                  <a:pt x="11937378" y="0"/>
                </a:lnTo>
                <a:lnTo>
                  <a:pt x="11937378" y="11937378"/>
                </a:lnTo>
                <a:lnTo>
                  <a:pt x="0" y="11937378"/>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2700000">
            <a:off x="5304701" y="-771323"/>
            <a:ext cx="7949993" cy="8457439"/>
          </a:xfrm>
          <a:custGeom>
            <a:avLst/>
            <a:gdLst/>
            <a:ahLst/>
            <a:cxnLst/>
            <a:rect r="r" b="b" t="t" l="l"/>
            <a:pathLst>
              <a:path h="8457439" w="7949993">
                <a:moveTo>
                  <a:pt x="0" y="0"/>
                </a:moveTo>
                <a:lnTo>
                  <a:pt x="7949993" y="0"/>
                </a:lnTo>
                <a:lnTo>
                  <a:pt x="7949993" y="8457439"/>
                </a:lnTo>
                <a:lnTo>
                  <a:pt x="0" y="8457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666692" y="5747818"/>
            <a:ext cx="16954616" cy="3855064"/>
            <a:chOff x="0" y="0"/>
            <a:chExt cx="4465413" cy="1015325"/>
          </a:xfrm>
        </p:grpSpPr>
        <p:sp>
          <p:nvSpPr>
            <p:cNvPr name="Freeform 12" id="12"/>
            <p:cNvSpPr/>
            <p:nvPr/>
          </p:nvSpPr>
          <p:spPr>
            <a:xfrm flipH="false" flipV="false" rot="0">
              <a:off x="0" y="0"/>
              <a:ext cx="4465413" cy="1015325"/>
            </a:xfrm>
            <a:custGeom>
              <a:avLst/>
              <a:gdLst/>
              <a:ahLst/>
              <a:cxnLst/>
              <a:rect r="r" b="b" t="t" l="l"/>
              <a:pathLst>
                <a:path h="1015325" w="4465413">
                  <a:moveTo>
                    <a:pt x="31964" y="0"/>
                  </a:moveTo>
                  <a:lnTo>
                    <a:pt x="4433449" y="0"/>
                  </a:lnTo>
                  <a:cubicBezTo>
                    <a:pt x="4451102" y="0"/>
                    <a:pt x="4465413" y="14311"/>
                    <a:pt x="4465413" y="31964"/>
                  </a:cubicBezTo>
                  <a:lnTo>
                    <a:pt x="4465413" y="983362"/>
                  </a:lnTo>
                  <a:cubicBezTo>
                    <a:pt x="4465413" y="991839"/>
                    <a:pt x="4462045" y="999969"/>
                    <a:pt x="4456051" y="1005963"/>
                  </a:cubicBezTo>
                  <a:cubicBezTo>
                    <a:pt x="4450057" y="1011958"/>
                    <a:pt x="4441927" y="1015325"/>
                    <a:pt x="4433449" y="1015325"/>
                  </a:cubicBezTo>
                  <a:lnTo>
                    <a:pt x="31964" y="1015325"/>
                  </a:lnTo>
                  <a:cubicBezTo>
                    <a:pt x="23486" y="1015325"/>
                    <a:pt x="15356" y="1011958"/>
                    <a:pt x="9362" y="1005963"/>
                  </a:cubicBezTo>
                  <a:cubicBezTo>
                    <a:pt x="3368" y="999969"/>
                    <a:pt x="0" y="991839"/>
                    <a:pt x="0" y="983362"/>
                  </a:cubicBezTo>
                  <a:lnTo>
                    <a:pt x="0" y="31964"/>
                  </a:lnTo>
                  <a:cubicBezTo>
                    <a:pt x="0" y="23486"/>
                    <a:pt x="3368" y="15356"/>
                    <a:pt x="9362" y="9362"/>
                  </a:cubicBezTo>
                  <a:cubicBezTo>
                    <a:pt x="15356" y="3368"/>
                    <a:pt x="23486" y="0"/>
                    <a:pt x="31964" y="0"/>
                  </a:cubicBezTo>
                  <a:close/>
                </a:path>
              </a:pathLst>
            </a:custGeom>
            <a:solidFill>
              <a:srgbClr val="FEFEFE"/>
            </a:solidFill>
          </p:spPr>
        </p:sp>
        <p:sp>
          <p:nvSpPr>
            <p:cNvPr name="TextBox 13" id="13"/>
            <p:cNvSpPr txBox="true"/>
            <p:nvPr/>
          </p:nvSpPr>
          <p:spPr>
            <a:xfrm>
              <a:off x="0" y="-38100"/>
              <a:ext cx="4465413" cy="1053425"/>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8602888" y="4901132"/>
            <a:ext cx="1762673" cy="242368"/>
          </a:xfrm>
          <a:custGeom>
            <a:avLst/>
            <a:gdLst/>
            <a:ahLst/>
            <a:cxnLst/>
            <a:rect r="r" b="b" t="t" l="l"/>
            <a:pathLst>
              <a:path h="242368" w="1762673">
                <a:moveTo>
                  <a:pt x="0" y="0"/>
                </a:moveTo>
                <a:lnTo>
                  <a:pt x="1762673" y="0"/>
                </a:lnTo>
                <a:lnTo>
                  <a:pt x="1762673" y="242368"/>
                </a:lnTo>
                <a:lnTo>
                  <a:pt x="0" y="242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828359" y="6327220"/>
            <a:ext cx="3750300" cy="2719513"/>
            <a:chOff x="0" y="0"/>
            <a:chExt cx="987733" cy="716250"/>
          </a:xfrm>
        </p:grpSpPr>
        <p:sp>
          <p:nvSpPr>
            <p:cNvPr name="Freeform 16" id="16"/>
            <p:cNvSpPr/>
            <p:nvPr/>
          </p:nvSpPr>
          <p:spPr>
            <a:xfrm flipH="false" flipV="false" rot="0">
              <a:off x="0" y="0"/>
              <a:ext cx="987733" cy="716250"/>
            </a:xfrm>
            <a:custGeom>
              <a:avLst/>
              <a:gdLst/>
              <a:ahLst/>
              <a:cxnLst/>
              <a:rect r="r" b="b" t="t" l="l"/>
              <a:pathLst>
                <a:path h="716250" w="987733">
                  <a:moveTo>
                    <a:pt x="61930" y="0"/>
                  </a:moveTo>
                  <a:lnTo>
                    <a:pt x="925803" y="0"/>
                  </a:lnTo>
                  <a:cubicBezTo>
                    <a:pt x="960006" y="0"/>
                    <a:pt x="987733" y="27727"/>
                    <a:pt x="987733" y="61930"/>
                  </a:cubicBezTo>
                  <a:lnTo>
                    <a:pt x="987733" y="654320"/>
                  </a:lnTo>
                  <a:cubicBezTo>
                    <a:pt x="987733" y="688523"/>
                    <a:pt x="960006" y="716250"/>
                    <a:pt x="925803" y="716250"/>
                  </a:cubicBezTo>
                  <a:lnTo>
                    <a:pt x="61930" y="716250"/>
                  </a:lnTo>
                  <a:cubicBezTo>
                    <a:pt x="27727" y="716250"/>
                    <a:pt x="0" y="688523"/>
                    <a:pt x="0" y="654320"/>
                  </a:cubicBezTo>
                  <a:lnTo>
                    <a:pt x="0" y="61930"/>
                  </a:lnTo>
                  <a:cubicBezTo>
                    <a:pt x="0" y="27727"/>
                    <a:pt x="27727" y="0"/>
                    <a:pt x="61930" y="0"/>
                  </a:cubicBezTo>
                  <a:close/>
                </a:path>
              </a:pathLst>
            </a:custGeom>
            <a:solidFill>
              <a:srgbClr val="F4F4ED"/>
            </a:solidFill>
            <a:ln cap="rnd">
              <a:noFill/>
              <a:prstDash val="solid"/>
              <a:round/>
            </a:ln>
          </p:spPr>
        </p:sp>
        <p:sp>
          <p:nvSpPr>
            <p:cNvPr name="TextBox 17" id="17"/>
            <p:cNvSpPr txBox="true"/>
            <p:nvPr/>
          </p:nvSpPr>
          <p:spPr>
            <a:xfrm>
              <a:off x="0" y="-38100"/>
              <a:ext cx="987733" cy="75435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828359" y="7056925"/>
            <a:ext cx="362712" cy="362712"/>
            <a:chOff x="0" y="0"/>
            <a:chExt cx="812800" cy="812800"/>
          </a:xfrm>
        </p:grpSpPr>
        <p:sp>
          <p:nvSpPr>
            <p:cNvPr name="Freeform 19" id="19"/>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0" id="20"/>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493565" y="6875569"/>
            <a:ext cx="362712" cy="362712"/>
            <a:chOff x="0" y="0"/>
            <a:chExt cx="812800" cy="812800"/>
          </a:xfrm>
        </p:grpSpPr>
        <p:sp>
          <p:nvSpPr>
            <p:cNvPr name="Freeform 22" id="22"/>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3" id="23"/>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2127429" y="6875569"/>
            <a:ext cx="362712" cy="362712"/>
            <a:chOff x="0" y="0"/>
            <a:chExt cx="812800" cy="812800"/>
          </a:xfrm>
        </p:grpSpPr>
        <p:sp>
          <p:nvSpPr>
            <p:cNvPr name="Freeform 25" id="25"/>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6" id="26"/>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3</a:t>
            </a:r>
          </a:p>
        </p:txBody>
      </p:sp>
      <p:sp>
        <p:nvSpPr>
          <p:cNvPr name="TextBox 28" id="28"/>
          <p:cNvSpPr txBox="true"/>
          <p:nvPr/>
        </p:nvSpPr>
        <p:spPr>
          <a:xfrm rot="0">
            <a:off x="4614164" y="2463689"/>
            <a:ext cx="9740121" cy="2437443"/>
          </a:xfrm>
          <a:prstGeom prst="rect">
            <a:avLst/>
          </a:prstGeom>
        </p:spPr>
        <p:txBody>
          <a:bodyPr anchor="t" rtlCol="false" tIns="0" lIns="0" bIns="0" rIns="0">
            <a:spAutoFit/>
          </a:bodyPr>
          <a:lstStyle/>
          <a:p>
            <a:pPr algn="ctr">
              <a:lnSpc>
                <a:spcPts val="9641"/>
              </a:lnSpc>
            </a:pPr>
            <a:r>
              <a:rPr lang="en-US" b="true" sz="7902" spc="-173">
                <a:solidFill>
                  <a:srgbClr val="FEFEFE"/>
                </a:solidFill>
                <a:latin typeface="Montserrat Bold"/>
                <a:ea typeface="Montserrat Bold"/>
                <a:cs typeface="Montserrat Bold"/>
                <a:sym typeface="Montserrat Bold"/>
              </a:rPr>
              <a:t>Phân tích hạn chế của video</a:t>
            </a:r>
          </a:p>
        </p:txBody>
      </p:sp>
      <p:sp>
        <p:nvSpPr>
          <p:cNvPr name="TextBox 29" id="29"/>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TextBox 30" id="30"/>
          <p:cNvSpPr txBox="true"/>
          <p:nvPr/>
        </p:nvSpPr>
        <p:spPr>
          <a:xfrm rot="0">
            <a:off x="1191071" y="6717327"/>
            <a:ext cx="3060209" cy="1939298"/>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PHƯƠNG PHÁP GIẢNG DẠY CHƯA PHÙ HỢP</a:t>
            </a:r>
          </a:p>
        </p:txBody>
      </p:sp>
      <p:grpSp>
        <p:nvGrpSpPr>
          <p:cNvPr name="Group 31" id="31"/>
          <p:cNvGrpSpPr/>
          <p:nvPr/>
        </p:nvGrpSpPr>
        <p:grpSpPr>
          <a:xfrm rot="0">
            <a:off x="4981127" y="6327220"/>
            <a:ext cx="3750300" cy="2719513"/>
            <a:chOff x="0" y="0"/>
            <a:chExt cx="987733" cy="716250"/>
          </a:xfrm>
        </p:grpSpPr>
        <p:sp>
          <p:nvSpPr>
            <p:cNvPr name="Freeform 32" id="32"/>
            <p:cNvSpPr/>
            <p:nvPr/>
          </p:nvSpPr>
          <p:spPr>
            <a:xfrm flipH="false" flipV="false" rot="0">
              <a:off x="0" y="0"/>
              <a:ext cx="987733" cy="716250"/>
            </a:xfrm>
            <a:custGeom>
              <a:avLst/>
              <a:gdLst/>
              <a:ahLst/>
              <a:cxnLst/>
              <a:rect r="r" b="b" t="t" l="l"/>
              <a:pathLst>
                <a:path h="716250" w="987733">
                  <a:moveTo>
                    <a:pt x="61930" y="0"/>
                  </a:moveTo>
                  <a:lnTo>
                    <a:pt x="925803" y="0"/>
                  </a:lnTo>
                  <a:cubicBezTo>
                    <a:pt x="960006" y="0"/>
                    <a:pt x="987733" y="27727"/>
                    <a:pt x="987733" y="61930"/>
                  </a:cubicBezTo>
                  <a:lnTo>
                    <a:pt x="987733" y="654320"/>
                  </a:lnTo>
                  <a:cubicBezTo>
                    <a:pt x="987733" y="688523"/>
                    <a:pt x="960006" y="716250"/>
                    <a:pt x="925803" y="716250"/>
                  </a:cubicBezTo>
                  <a:lnTo>
                    <a:pt x="61930" y="716250"/>
                  </a:lnTo>
                  <a:cubicBezTo>
                    <a:pt x="27727" y="716250"/>
                    <a:pt x="0" y="688523"/>
                    <a:pt x="0" y="654320"/>
                  </a:cubicBezTo>
                  <a:lnTo>
                    <a:pt x="0" y="61930"/>
                  </a:lnTo>
                  <a:cubicBezTo>
                    <a:pt x="0" y="27727"/>
                    <a:pt x="27727" y="0"/>
                    <a:pt x="61930" y="0"/>
                  </a:cubicBezTo>
                  <a:close/>
                </a:path>
              </a:pathLst>
            </a:custGeom>
            <a:solidFill>
              <a:srgbClr val="F4F4ED"/>
            </a:solidFill>
            <a:ln cap="rnd">
              <a:noFill/>
              <a:prstDash val="solid"/>
              <a:round/>
            </a:ln>
          </p:spPr>
        </p:sp>
        <p:sp>
          <p:nvSpPr>
            <p:cNvPr name="TextBox 33" id="33"/>
            <p:cNvSpPr txBox="true"/>
            <p:nvPr/>
          </p:nvSpPr>
          <p:spPr>
            <a:xfrm>
              <a:off x="0" y="-38100"/>
              <a:ext cx="987733" cy="75435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9312452" y="6327220"/>
            <a:ext cx="3750300" cy="2719513"/>
            <a:chOff x="0" y="0"/>
            <a:chExt cx="987733" cy="716250"/>
          </a:xfrm>
        </p:grpSpPr>
        <p:sp>
          <p:nvSpPr>
            <p:cNvPr name="Freeform 35" id="35"/>
            <p:cNvSpPr/>
            <p:nvPr/>
          </p:nvSpPr>
          <p:spPr>
            <a:xfrm flipH="false" flipV="false" rot="0">
              <a:off x="0" y="0"/>
              <a:ext cx="987733" cy="716250"/>
            </a:xfrm>
            <a:custGeom>
              <a:avLst/>
              <a:gdLst/>
              <a:ahLst/>
              <a:cxnLst/>
              <a:rect r="r" b="b" t="t" l="l"/>
              <a:pathLst>
                <a:path h="716250" w="987733">
                  <a:moveTo>
                    <a:pt x="61930" y="0"/>
                  </a:moveTo>
                  <a:lnTo>
                    <a:pt x="925803" y="0"/>
                  </a:lnTo>
                  <a:cubicBezTo>
                    <a:pt x="960006" y="0"/>
                    <a:pt x="987733" y="27727"/>
                    <a:pt x="987733" y="61930"/>
                  </a:cubicBezTo>
                  <a:lnTo>
                    <a:pt x="987733" y="654320"/>
                  </a:lnTo>
                  <a:cubicBezTo>
                    <a:pt x="987733" y="688523"/>
                    <a:pt x="960006" y="716250"/>
                    <a:pt x="925803" y="716250"/>
                  </a:cubicBezTo>
                  <a:lnTo>
                    <a:pt x="61930" y="716250"/>
                  </a:lnTo>
                  <a:cubicBezTo>
                    <a:pt x="27727" y="716250"/>
                    <a:pt x="0" y="688523"/>
                    <a:pt x="0" y="654320"/>
                  </a:cubicBezTo>
                  <a:lnTo>
                    <a:pt x="0" y="61930"/>
                  </a:lnTo>
                  <a:cubicBezTo>
                    <a:pt x="0" y="27727"/>
                    <a:pt x="27727" y="0"/>
                    <a:pt x="61930" y="0"/>
                  </a:cubicBezTo>
                  <a:close/>
                </a:path>
              </a:pathLst>
            </a:custGeom>
            <a:solidFill>
              <a:srgbClr val="F4F4ED"/>
            </a:solidFill>
            <a:ln cap="rnd">
              <a:noFill/>
              <a:prstDash val="solid"/>
              <a:round/>
            </a:ln>
          </p:spPr>
        </p:sp>
        <p:sp>
          <p:nvSpPr>
            <p:cNvPr name="TextBox 36" id="36"/>
            <p:cNvSpPr txBox="true"/>
            <p:nvPr/>
          </p:nvSpPr>
          <p:spPr>
            <a:xfrm>
              <a:off x="0" y="-38100"/>
              <a:ext cx="987733" cy="754350"/>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643777" y="6327220"/>
            <a:ext cx="3750300" cy="2719513"/>
            <a:chOff x="0" y="0"/>
            <a:chExt cx="987733" cy="716250"/>
          </a:xfrm>
        </p:grpSpPr>
        <p:sp>
          <p:nvSpPr>
            <p:cNvPr name="Freeform 38" id="38"/>
            <p:cNvSpPr/>
            <p:nvPr/>
          </p:nvSpPr>
          <p:spPr>
            <a:xfrm flipH="false" flipV="false" rot="0">
              <a:off x="0" y="0"/>
              <a:ext cx="987733" cy="716250"/>
            </a:xfrm>
            <a:custGeom>
              <a:avLst/>
              <a:gdLst/>
              <a:ahLst/>
              <a:cxnLst/>
              <a:rect r="r" b="b" t="t" l="l"/>
              <a:pathLst>
                <a:path h="716250" w="987733">
                  <a:moveTo>
                    <a:pt x="61930" y="0"/>
                  </a:moveTo>
                  <a:lnTo>
                    <a:pt x="925803" y="0"/>
                  </a:lnTo>
                  <a:cubicBezTo>
                    <a:pt x="960006" y="0"/>
                    <a:pt x="987733" y="27727"/>
                    <a:pt x="987733" y="61930"/>
                  </a:cubicBezTo>
                  <a:lnTo>
                    <a:pt x="987733" y="654320"/>
                  </a:lnTo>
                  <a:cubicBezTo>
                    <a:pt x="987733" y="688523"/>
                    <a:pt x="960006" y="716250"/>
                    <a:pt x="925803" y="716250"/>
                  </a:cubicBezTo>
                  <a:lnTo>
                    <a:pt x="61930" y="716250"/>
                  </a:lnTo>
                  <a:cubicBezTo>
                    <a:pt x="27727" y="716250"/>
                    <a:pt x="0" y="688523"/>
                    <a:pt x="0" y="654320"/>
                  </a:cubicBezTo>
                  <a:lnTo>
                    <a:pt x="0" y="61930"/>
                  </a:lnTo>
                  <a:cubicBezTo>
                    <a:pt x="0" y="27727"/>
                    <a:pt x="27727" y="0"/>
                    <a:pt x="61930" y="0"/>
                  </a:cubicBezTo>
                  <a:close/>
                </a:path>
              </a:pathLst>
            </a:custGeom>
            <a:solidFill>
              <a:srgbClr val="F4F4ED"/>
            </a:solidFill>
            <a:ln cap="rnd">
              <a:noFill/>
              <a:prstDash val="solid"/>
              <a:round/>
            </a:ln>
          </p:spPr>
        </p:sp>
        <p:sp>
          <p:nvSpPr>
            <p:cNvPr name="TextBox 39" id="39"/>
            <p:cNvSpPr txBox="true"/>
            <p:nvPr/>
          </p:nvSpPr>
          <p:spPr>
            <a:xfrm>
              <a:off x="0" y="-38100"/>
              <a:ext cx="987733" cy="75435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4978328" y="7056925"/>
            <a:ext cx="362712" cy="362712"/>
            <a:chOff x="0" y="0"/>
            <a:chExt cx="812800" cy="812800"/>
          </a:xfrm>
        </p:grpSpPr>
        <p:sp>
          <p:nvSpPr>
            <p:cNvPr name="Freeform 41" id="41"/>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42" id="42"/>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9279698" y="7056925"/>
            <a:ext cx="362712" cy="362712"/>
            <a:chOff x="0" y="0"/>
            <a:chExt cx="812800" cy="812800"/>
          </a:xfrm>
        </p:grpSpPr>
        <p:sp>
          <p:nvSpPr>
            <p:cNvPr name="Freeform 44" id="44"/>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45" id="45"/>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13643777" y="7056925"/>
            <a:ext cx="362712" cy="362712"/>
            <a:chOff x="0" y="0"/>
            <a:chExt cx="812800" cy="812800"/>
          </a:xfrm>
        </p:grpSpPr>
        <p:sp>
          <p:nvSpPr>
            <p:cNvPr name="Freeform 47" id="47"/>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48" id="48"/>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TextBox 49" id="49"/>
          <p:cNvSpPr txBox="true"/>
          <p:nvPr/>
        </p:nvSpPr>
        <p:spPr>
          <a:xfrm rot="0">
            <a:off x="5518437" y="6776135"/>
            <a:ext cx="2675680" cy="1453457"/>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THIẾU TÍNH TRỰC QUAN</a:t>
            </a:r>
          </a:p>
        </p:txBody>
      </p:sp>
      <p:sp>
        <p:nvSpPr>
          <p:cNvPr name="TextBox 50" id="50"/>
          <p:cNvSpPr txBox="true"/>
          <p:nvPr/>
        </p:nvSpPr>
        <p:spPr>
          <a:xfrm rot="0">
            <a:off x="9849762" y="6776135"/>
            <a:ext cx="2675680" cy="1453258"/>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ÍT TƯƠNG TÁC VỚI NGƯỜI HỌC</a:t>
            </a:r>
          </a:p>
        </p:txBody>
      </p:sp>
      <p:sp>
        <p:nvSpPr>
          <p:cNvPr name="TextBox 51" id="51"/>
          <p:cNvSpPr txBox="true"/>
          <p:nvPr/>
        </p:nvSpPr>
        <p:spPr>
          <a:xfrm rot="0">
            <a:off x="14354285" y="6776135"/>
            <a:ext cx="2675680" cy="1453457"/>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QUÁ TẢI NHẬN THỨC</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9043638"/>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028700" y="5114925"/>
            <a:ext cx="8483986" cy="3538198"/>
          </a:xfrm>
          <a:prstGeom prst="rect">
            <a:avLst/>
          </a:prstGeom>
        </p:spPr>
        <p:txBody>
          <a:bodyPr anchor="t" rtlCol="false" tIns="0" lIns="0" bIns="0" rIns="0">
            <a:spAutoFit/>
          </a:bodyPr>
          <a:lstStyle/>
          <a:p>
            <a:pPr algn="l" marL="0" indent="0" lvl="0">
              <a:lnSpc>
                <a:spcPts val="4031"/>
              </a:lnSpc>
            </a:pPr>
            <a:r>
              <a:rPr lang="en-US" sz="3199" spc="95">
                <a:solidFill>
                  <a:srgbClr val="082064"/>
                </a:solidFill>
                <a:latin typeface="Quicksand"/>
                <a:ea typeface="Quicksand"/>
                <a:cs typeface="Quicksand"/>
                <a:sym typeface="Quicksand"/>
              </a:rPr>
              <a:t>Phương pháp đàm thoại, </a:t>
            </a:r>
            <a:r>
              <a:rPr lang="en-US" sz="3199" spc="95">
                <a:solidFill>
                  <a:srgbClr val="082064"/>
                </a:solidFill>
                <a:latin typeface="Quicksand"/>
                <a:ea typeface="Quicksand"/>
                <a:cs typeface="Quicksand"/>
                <a:sym typeface="Quicksand"/>
              </a:rPr>
              <a:t>chưa phù hợp với nội dung giảng dạy</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Nội dung nói về học chủ động</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Nhưng cách dạy lại thụ động</a:t>
            </a:r>
          </a:p>
          <a:p>
            <a:pPr algn="l" marL="0" indent="0" lvl="0">
              <a:lnSpc>
                <a:spcPts val="4031"/>
              </a:lnSpc>
            </a:pPr>
            <a:r>
              <a:rPr lang="en-US" sz="3199" spc="95">
                <a:solidFill>
                  <a:srgbClr val="082064"/>
                </a:solidFill>
                <a:latin typeface="Quicksand"/>
                <a:ea typeface="Quicksand"/>
                <a:cs typeface="Quicksand"/>
                <a:sym typeface="Quicksand"/>
              </a:rPr>
              <a:t>   </a:t>
            </a:r>
            <a:r>
              <a:rPr lang="en-US" sz="3199" spc="95">
                <a:solidFill>
                  <a:srgbClr val="082064"/>
                </a:solidFill>
                <a:latin typeface="Quicksand"/>
                <a:ea typeface="Quicksand"/>
                <a:cs typeface="Quicksand"/>
                <a:sym typeface="Quicksand"/>
              </a:rPr>
              <a:t>Mâu thuẫn:</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Không có thực hành</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Không có trải nghiệm dành người học</a:t>
            </a:r>
          </a:p>
        </p:txBody>
      </p:sp>
      <p:sp>
        <p:nvSpPr>
          <p:cNvPr name="Freeform 11" id="11"/>
          <p:cNvSpPr/>
          <p:nvPr/>
        </p:nvSpPr>
        <p:spPr>
          <a:xfrm flipH="false" flipV="false" rot="0">
            <a:off x="709530" y="7214414"/>
            <a:ext cx="638340" cy="517967"/>
          </a:xfrm>
          <a:custGeom>
            <a:avLst/>
            <a:gdLst/>
            <a:ahLst/>
            <a:cxnLst/>
            <a:rect r="r" b="b" t="t" l="l"/>
            <a:pathLst>
              <a:path h="517967" w="638340">
                <a:moveTo>
                  <a:pt x="0" y="0"/>
                </a:moveTo>
                <a:lnTo>
                  <a:pt x="638340" y="0"/>
                </a:lnTo>
                <a:lnTo>
                  <a:pt x="638340" y="517968"/>
                </a:lnTo>
                <a:lnTo>
                  <a:pt x="0" y="5179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4</a:t>
            </a:r>
          </a:p>
        </p:txBody>
      </p:sp>
      <p:sp>
        <p:nvSpPr>
          <p:cNvPr name="TextBox 13" id="13"/>
          <p:cNvSpPr txBox="true"/>
          <p:nvPr/>
        </p:nvSpPr>
        <p:spPr>
          <a:xfrm rot="0">
            <a:off x="1028700" y="2467443"/>
            <a:ext cx="8115300" cy="2197260"/>
          </a:xfrm>
          <a:prstGeom prst="rect">
            <a:avLst/>
          </a:prstGeom>
        </p:spPr>
        <p:txBody>
          <a:bodyPr anchor="t" rtlCol="false" tIns="0" lIns="0" bIns="0" rIns="0">
            <a:spAutoFit/>
          </a:bodyPr>
          <a:lstStyle/>
          <a:p>
            <a:pPr algn="l">
              <a:lnSpc>
                <a:spcPts val="8440"/>
              </a:lnSpc>
            </a:pPr>
            <a:r>
              <a:rPr lang="en-US" sz="8701" spc="-191" b="true">
                <a:solidFill>
                  <a:srgbClr val="171718"/>
                </a:solidFill>
                <a:latin typeface="Montserrat Bold"/>
                <a:ea typeface="Montserrat Bold"/>
                <a:cs typeface="Montserrat Bold"/>
                <a:sym typeface="Montserrat Bold"/>
              </a:rPr>
              <a:t>Phương pháp giảng dạy</a:t>
            </a:r>
          </a:p>
        </p:txBody>
      </p:sp>
      <p:sp>
        <p:nvSpPr>
          <p:cNvPr name="TextBox 14" id="14"/>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Freeform 15" id="15"/>
          <p:cNvSpPr/>
          <p:nvPr/>
        </p:nvSpPr>
        <p:spPr>
          <a:xfrm flipH="false" flipV="false" rot="0">
            <a:off x="10813397" y="6200018"/>
            <a:ext cx="6217726" cy="3497471"/>
          </a:xfrm>
          <a:custGeom>
            <a:avLst/>
            <a:gdLst/>
            <a:ahLst/>
            <a:cxnLst/>
            <a:rect r="r" b="b" t="t" l="l"/>
            <a:pathLst>
              <a:path h="3497471" w="6217726">
                <a:moveTo>
                  <a:pt x="0" y="0"/>
                </a:moveTo>
                <a:lnTo>
                  <a:pt x="6217726" y="0"/>
                </a:lnTo>
                <a:lnTo>
                  <a:pt x="6217726" y="3497471"/>
                </a:lnTo>
                <a:lnTo>
                  <a:pt x="0" y="3497471"/>
                </a:lnTo>
                <a:lnTo>
                  <a:pt x="0" y="0"/>
                </a:lnTo>
                <a:close/>
              </a:path>
            </a:pathLst>
          </a:custGeom>
          <a:blipFill>
            <a:blip r:embed="rId8"/>
            <a:stretch>
              <a:fillRect l="0" t="0" r="0" b="0"/>
            </a:stretch>
          </a:blipFill>
        </p:spPr>
      </p:sp>
      <p:sp>
        <p:nvSpPr>
          <p:cNvPr name="Freeform 16" id="16"/>
          <p:cNvSpPr/>
          <p:nvPr/>
        </p:nvSpPr>
        <p:spPr>
          <a:xfrm flipH="false" flipV="false" rot="0">
            <a:off x="10813397" y="2354451"/>
            <a:ext cx="6194936" cy="3442388"/>
          </a:xfrm>
          <a:custGeom>
            <a:avLst/>
            <a:gdLst/>
            <a:ahLst/>
            <a:cxnLst/>
            <a:rect r="r" b="b" t="t" l="l"/>
            <a:pathLst>
              <a:path h="3442388" w="6194936">
                <a:moveTo>
                  <a:pt x="0" y="0"/>
                </a:moveTo>
                <a:lnTo>
                  <a:pt x="6194935" y="0"/>
                </a:lnTo>
                <a:lnTo>
                  <a:pt x="6194935" y="3442388"/>
                </a:lnTo>
                <a:lnTo>
                  <a:pt x="0" y="3442388"/>
                </a:lnTo>
                <a:lnTo>
                  <a:pt x="0" y="0"/>
                </a:lnTo>
                <a:close/>
              </a:path>
            </a:pathLst>
          </a:custGeom>
          <a:blipFill>
            <a:blip r:embed="rId9"/>
            <a:stretch>
              <a:fillRect l="-24" t="0" r="-24" b="-1227"/>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9472943"/>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374311">
            <a:off x="7675660" y="4882811"/>
            <a:ext cx="11441307" cy="7579866"/>
          </a:xfrm>
          <a:custGeom>
            <a:avLst/>
            <a:gdLst/>
            <a:ahLst/>
            <a:cxnLst/>
            <a:rect r="r" b="b" t="t" l="l"/>
            <a:pathLst>
              <a:path h="7579866" w="11441307">
                <a:moveTo>
                  <a:pt x="0" y="0"/>
                </a:moveTo>
                <a:lnTo>
                  <a:pt x="11441307" y="0"/>
                </a:lnTo>
                <a:lnTo>
                  <a:pt x="11441307" y="7579866"/>
                </a:lnTo>
                <a:lnTo>
                  <a:pt x="0" y="75798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1" id="11"/>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4</a:t>
            </a:r>
          </a:p>
        </p:txBody>
      </p:sp>
      <p:sp>
        <p:nvSpPr>
          <p:cNvPr name="TextBox 12" id="12"/>
          <p:cNvSpPr txBox="true"/>
          <p:nvPr/>
        </p:nvSpPr>
        <p:spPr>
          <a:xfrm rot="0">
            <a:off x="1028700" y="2524593"/>
            <a:ext cx="8115300" cy="2065063"/>
          </a:xfrm>
          <a:prstGeom prst="rect">
            <a:avLst/>
          </a:prstGeom>
        </p:spPr>
        <p:txBody>
          <a:bodyPr anchor="t" rtlCol="false" tIns="0" lIns="0" bIns="0" rIns="0">
            <a:spAutoFit/>
          </a:bodyPr>
          <a:lstStyle/>
          <a:p>
            <a:pPr algn="l">
              <a:lnSpc>
                <a:spcPts val="7831"/>
              </a:lnSpc>
            </a:pPr>
            <a:r>
              <a:rPr lang="en-US" sz="8701" spc="-191" b="true">
                <a:solidFill>
                  <a:srgbClr val="171718"/>
                </a:solidFill>
                <a:latin typeface="Montserrat Bold"/>
                <a:ea typeface="Montserrat Bold"/>
                <a:cs typeface="Montserrat Bold"/>
                <a:sym typeface="Montserrat Bold"/>
              </a:rPr>
              <a:t>Thiếu tính trực quan</a:t>
            </a:r>
          </a:p>
        </p:txBody>
      </p:sp>
      <p:sp>
        <p:nvSpPr>
          <p:cNvPr name="TextBox 13" id="13"/>
          <p:cNvSpPr txBox="true"/>
          <p:nvPr/>
        </p:nvSpPr>
        <p:spPr>
          <a:xfrm rot="0">
            <a:off x="1028700" y="4925029"/>
            <a:ext cx="9352709" cy="4547914"/>
          </a:xfrm>
          <a:prstGeom prst="rect">
            <a:avLst/>
          </a:prstGeom>
        </p:spPr>
        <p:txBody>
          <a:bodyPr anchor="t" rtlCol="false" tIns="0" lIns="0" bIns="0" rIns="0">
            <a:spAutoFit/>
          </a:bodyPr>
          <a:lstStyle/>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Nội dung chỉ truyền đạt bằng lời nói, những ý chính chưa được highline.</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Không có sơ đồ, hình ảnh minh họa</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Các k</a:t>
            </a:r>
            <a:r>
              <a:rPr lang="en-US" sz="3199" spc="95">
                <a:solidFill>
                  <a:srgbClr val="082064"/>
                </a:solidFill>
                <a:latin typeface="Quicksand"/>
                <a:ea typeface="Quicksand"/>
                <a:cs typeface="Quicksand"/>
                <a:sym typeface="Quicksand"/>
              </a:rPr>
              <a:t>hái niệm trừu tượng khó hình dung.</a:t>
            </a:r>
          </a:p>
          <a:p>
            <a:pPr algn="l" marL="0" indent="0" lvl="0">
              <a:lnSpc>
                <a:spcPts val="4031"/>
              </a:lnSpc>
            </a:pPr>
            <a:r>
              <a:rPr lang="en-US" sz="3199" spc="95">
                <a:solidFill>
                  <a:srgbClr val="082064"/>
                </a:solidFill>
                <a:latin typeface="Quicksand"/>
                <a:ea typeface="Quicksand"/>
                <a:cs typeface="Quicksand"/>
                <a:sym typeface="Quicksand"/>
              </a:rPr>
              <a:t>     </a:t>
            </a:r>
            <a:r>
              <a:rPr lang="en-US" sz="3199" spc="95">
                <a:solidFill>
                  <a:srgbClr val="082064"/>
                </a:solidFill>
                <a:latin typeface="Quicksand"/>
                <a:ea typeface="Quicksand"/>
                <a:cs typeface="Quicksand"/>
                <a:sym typeface="Quicksand"/>
              </a:rPr>
              <a:t>Ảnh hưởng:</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Khó ghi nhớ nội dung kiến thức, người học sẽ bị quả tải nhận thức khi vừa nghe, ghi chú, tổng hợp kiến thức và gây</a:t>
            </a:r>
            <a:r>
              <a:rPr lang="en-US" sz="3199" spc="95">
                <a:solidFill>
                  <a:srgbClr val="082064"/>
                </a:solidFill>
                <a:latin typeface="Quicksand"/>
                <a:ea typeface="Quicksand"/>
                <a:cs typeface="Quicksand"/>
                <a:sym typeface="Quicksand"/>
              </a:rPr>
              <a:t> mất</a:t>
            </a:r>
            <a:r>
              <a:rPr lang="en-US" sz="3199" spc="95">
                <a:solidFill>
                  <a:srgbClr val="082064"/>
                </a:solidFill>
                <a:latin typeface="Quicksand"/>
                <a:ea typeface="Quicksand"/>
                <a:cs typeface="Quicksand"/>
                <a:sym typeface="Quicksand"/>
              </a:rPr>
              <a:t> tập trung</a:t>
            </a:r>
          </a:p>
        </p:txBody>
      </p:sp>
      <p:sp>
        <p:nvSpPr>
          <p:cNvPr name="TextBox 14" id="14"/>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Freeform 15" id="15"/>
          <p:cNvSpPr/>
          <p:nvPr/>
        </p:nvSpPr>
        <p:spPr>
          <a:xfrm flipH="false" flipV="false" rot="0">
            <a:off x="869710" y="7040815"/>
            <a:ext cx="638340" cy="517967"/>
          </a:xfrm>
          <a:custGeom>
            <a:avLst/>
            <a:gdLst/>
            <a:ahLst/>
            <a:cxnLst/>
            <a:rect r="r" b="b" t="t" l="l"/>
            <a:pathLst>
              <a:path h="517967" w="638340">
                <a:moveTo>
                  <a:pt x="0" y="0"/>
                </a:moveTo>
                <a:lnTo>
                  <a:pt x="638340" y="0"/>
                </a:lnTo>
                <a:lnTo>
                  <a:pt x="638340" y="517968"/>
                </a:lnTo>
                <a:lnTo>
                  <a:pt x="0" y="5179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0813397" y="6200018"/>
            <a:ext cx="6217726" cy="3497471"/>
          </a:xfrm>
          <a:custGeom>
            <a:avLst/>
            <a:gdLst/>
            <a:ahLst/>
            <a:cxnLst/>
            <a:rect r="r" b="b" t="t" l="l"/>
            <a:pathLst>
              <a:path h="3497471" w="6217726">
                <a:moveTo>
                  <a:pt x="0" y="0"/>
                </a:moveTo>
                <a:lnTo>
                  <a:pt x="6217726" y="0"/>
                </a:lnTo>
                <a:lnTo>
                  <a:pt x="6217726" y="3497471"/>
                </a:lnTo>
                <a:lnTo>
                  <a:pt x="0" y="3497471"/>
                </a:lnTo>
                <a:lnTo>
                  <a:pt x="0" y="0"/>
                </a:lnTo>
                <a:close/>
              </a:path>
            </a:pathLst>
          </a:custGeom>
          <a:blipFill>
            <a:blip r:embed="rId10"/>
            <a:stretch>
              <a:fillRect l="0" t="0" r="0" b="0"/>
            </a:stretch>
          </a:blipFill>
        </p:spPr>
      </p:sp>
      <p:sp>
        <p:nvSpPr>
          <p:cNvPr name="Freeform 17" id="17"/>
          <p:cNvSpPr/>
          <p:nvPr/>
        </p:nvSpPr>
        <p:spPr>
          <a:xfrm flipH="false" flipV="false" rot="0">
            <a:off x="10813397" y="2354451"/>
            <a:ext cx="6194936" cy="3442388"/>
          </a:xfrm>
          <a:custGeom>
            <a:avLst/>
            <a:gdLst/>
            <a:ahLst/>
            <a:cxnLst/>
            <a:rect r="r" b="b" t="t" l="l"/>
            <a:pathLst>
              <a:path h="3442388" w="6194936">
                <a:moveTo>
                  <a:pt x="0" y="0"/>
                </a:moveTo>
                <a:lnTo>
                  <a:pt x="6194935" y="0"/>
                </a:lnTo>
                <a:lnTo>
                  <a:pt x="6194935" y="3442388"/>
                </a:lnTo>
                <a:lnTo>
                  <a:pt x="0" y="3442388"/>
                </a:lnTo>
                <a:lnTo>
                  <a:pt x="0" y="0"/>
                </a:lnTo>
                <a:close/>
              </a:path>
            </a:pathLst>
          </a:custGeom>
          <a:blipFill>
            <a:blip r:embed="rId11"/>
            <a:stretch>
              <a:fillRect l="-24" t="0" r="-24" b="-1227"/>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27460" y="9697489"/>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374311">
            <a:off x="7675660" y="4882811"/>
            <a:ext cx="11441307" cy="7579866"/>
          </a:xfrm>
          <a:custGeom>
            <a:avLst/>
            <a:gdLst/>
            <a:ahLst/>
            <a:cxnLst/>
            <a:rect r="r" b="b" t="t" l="l"/>
            <a:pathLst>
              <a:path h="7579866" w="11441307">
                <a:moveTo>
                  <a:pt x="0" y="0"/>
                </a:moveTo>
                <a:lnTo>
                  <a:pt x="11441307" y="0"/>
                </a:lnTo>
                <a:lnTo>
                  <a:pt x="11441307" y="7579866"/>
                </a:lnTo>
                <a:lnTo>
                  <a:pt x="0" y="75798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11" id="11"/>
          <p:cNvSpPr txBox="true"/>
          <p:nvPr/>
        </p:nvSpPr>
        <p:spPr>
          <a:xfrm rot="0">
            <a:off x="1028700" y="5114925"/>
            <a:ext cx="9784697" cy="4043056"/>
          </a:xfrm>
          <a:prstGeom prst="rect">
            <a:avLst/>
          </a:prstGeom>
        </p:spPr>
        <p:txBody>
          <a:bodyPr anchor="t" rtlCol="false" tIns="0" lIns="0" bIns="0" rIns="0">
            <a:spAutoFit/>
          </a:bodyPr>
          <a:lstStyle/>
          <a:p>
            <a:pPr algn="l" marL="0" indent="0" lvl="0">
              <a:lnSpc>
                <a:spcPts val="4031"/>
              </a:lnSpc>
            </a:pPr>
            <a:r>
              <a:rPr lang="en-US" sz="3199" spc="95">
                <a:solidFill>
                  <a:srgbClr val="082064"/>
                </a:solidFill>
                <a:latin typeface="Quicksand"/>
                <a:ea typeface="Quicksand"/>
                <a:cs typeface="Quicksand"/>
                <a:sym typeface="Quicksand"/>
              </a:rPr>
              <a:t>Thiếu</a:t>
            </a:r>
            <a:r>
              <a:rPr lang="en-US" sz="3199" spc="95">
                <a:solidFill>
                  <a:srgbClr val="082064"/>
                </a:solidFill>
                <a:latin typeface="Quicksand"/>
                <a:ea typeface="Quicksand"/>
                <a:cs typeface="Quicksand"/>
                <a:sym typeface="Quicksand"/>
              </a:rPr>
              <a:t> tương tác</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Người học chỉ nghe thụ động</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Không có câu hỏi hoặc hoạt động tương tác.</a:t>
            </a:r>
          </a:p>
          <a:p>
            <a:pPr algn="l" marL="0" indent="0" lvl="0">
              <a:lnSpc>
                <a:spcPts val="4031"/>
              </a:lnSpc>
            </a:pPr>
            <a:r>
              <a:rPr lang="en-US" sz="3199" spc="95">
                <a:solidFill>
                  <a:srgbClr val="082064"/>
                </a:solidFill>
                <a:latin typeface="Quicksand"/>
                <a:ea typeface="Quicksand"/>
                <a:cs typeface="Quicksand"/>
                <a:sym typeface="Quicksand"/>
              </a:rPr>
              <a:t>    </a:t>
            </a:r>
            <a:r>
              <a:rPr lang="en-US" sz="3199" spc="95">
                <a:solidFill>
                  <a:srgbClr val="082064"/>
                </a:solidFill>
                <a:latin typeface="Quicksand"/>
                <a:ea typeface="Quicksand"/>
                <a:cs typeface="Quicksand"/>
                <a:sym typeface="Quicksand"/>
              </a:rPr>
              <a:t>Ảnh hưởng:</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Không có môi trường để người học phát triển tư duy tự chủ</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Dễ </a:t>
            </a:r>
            <a:r>
              <a:rPr lang="en-US" sz="3199" spc="95">
                <a:solidFill>
                  <a:srgbClr val="082064"/>
                </a:solidFill>
                <a:latin typeface="Quicksand"/>
                <a:ea typeface="Quicksand"/>
                <a:cs typeface="Quicksand"/>
                <a:sym typeface="Quicksand"/>
              </a:rPr>
              <a:t>gây nhàm chán làm giảm động lực học tập.</a:t>
            </a:r>
          </a:p>
        </p:txBody>
      </p:sp>
      <p:sp>
        <p:nvSpPr>
          <p:cNvPr name="Freeform 12" id="12"/>
          <p:cNvSpPr/>
          <p:nvPr/>
        </p:nvSpPr>
        <p:spPr>
          <a:xfrm flipH="false" flipV="false" rot="0">
            <a:off x="788614" y="6740074"/>
            <a:ext cx="638340" cy="517967"/>
          </a:xfrm>
          <a:custGeom>
            <a:avLst/>
            <a:gdLst/>
            <a:ahLst/>
            <a:cxnLst/>
            <a:rect r="r" b="b" t="t" l="l"/>
            <a:pathLst>
              <a:path h="517967" w="638340">
                <a:moveTo>
                  <a:pt x="0" y="0"/>
                </a:moveTo>
                <a:lnTo>
                  <a:pt x="638340" y="0"/>
                </a:lnTo>
                <a:lnTo>
                  <a:pt x="638340" y="517968"/>
                </a:lnTo>
                <a:lnTo>
                  <a:pt x="0" y="5179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0813397" y="2354451"/>
            <a:ext cx="6194936" cy="3442388"/>
          </a:xfrm>
          <a:custGeom>
            <a:avLst/>
            <a:gdLst/>
            <a:ahLst/>
            <a:cxnLst/>
            <a:rect r="r" b="b" t="t" l="l"/>
            <a:pathLst>
              <a:path h="3442388" w="6194936">
                <a:moveTo>
                  <a:pt x="0" y="0"/>
                </a:moveTo>
                <a:lnTo>
                  <a:pt x="6194935" y="0"/>
                </a:lnTo>
                <a:lnTo>
                  <a:pt x="6194935" y="3442388"/>
                </a:lnTo>
                <a:lnTo>
                  <a:pt x="0" y="3442388"/>
                </a:lnTo>
                <a:lnTo>
                  <a:pt x="0" y="0"/>
                </a:lnTo>
                <a:close/>
              </a:path>
            </a:pathLst>
          </a:custGeom>
          <a:blipFill>
            <a:blip r:embed="rId10"/>
            <a:stretch>
              <a:fillRect l="-24" t="0" r="-24" b="-1227"/>
            </a:stretch>
          </a:blipFill>
        </p:spPr>
      </p:sp>
      <p:sp>
        <p:nvSpPr>
          <p:cNvPr name="Freeform 14" id="14"/>
          <p:cNvSpPr/>
          <p:nvPr/>
        </p:nvSpPr>
        <p:spPr>
          <a:xfrm flipH="false" flipV="false" rot="0">
            <a:off x="10813397" y="6200018"/>
            <a:ext cx="6217726" cy="3497471"/>
          </a:xfrm>
          <a:custGeom>
            <a:avLst/>
            <a:gdLst/>
            <a:ahLst/>
            <a:cxnLst/>
            <a:rect r="r" b="b" t="t" l="l"/>
            <a:pathLst>
              <a:path h="3497471" w="6217726">
                <a:moveTo>
                  <a:pt x="0" y="0"/>
                </a:moveTo>
                <a:lnTo>
                  <a:pt x="6217726" y="0"/>
                </a:lnTo>
                <a:lnTo>
                  <a:pt x="6217726" y="3497471"/>
                </a:lnTo>
                <a:lnTo>
                  <a:pt x="0" y="3497471"/>
                </a:lnTo>
                <a:lnTo>
                  <a:pt x="0" y="0"/>
                </a:lnTo>
                <a:close/>
              </a:path>
            </a:pathLst>
          </a:custGeom>
          <a:blipFill>
            <a:blip r:embed="rId11"/>
            <a:stretch>
              <a:fillRect l="0" t="0" r="0" b="0"/>
            </a:stretch>
          </a:blipFill>
        </p:spPr>
      </p:sp>
      <p:sp>
        <p:nvSpPr>
          <p:cNvPr name="TextBox 15" id="15"/>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5</a:t>
            </a:r>
          </a:p>
        </p:txBody>
      </p:sp>
      <p:sp>
        <p:nvSpPr>
          <p:cNvPr name="TextBox 16" id="16"/>
          <p:cNvSpPr txBox="true"/>
          <p:nvPr/>
        </p:nvSpPr>
        <p:spPr>
          <a:xfrm rot="0">
            <a:off x="1028700" y="2544951"/>
            <a:ext cx="8115300" cy="2197194"/>
          </a:xfrm>
          <a:prstGeom prst="rect">
            <a:avLst/>
          </a:prstGeom>
        </p:spPr>
        <p:txBody>
          <a:bodyPr anchor="t" rtlCol="false" tIns="0" lIns="0" bIns="0" rIns="0">
            <a:spAutoFit/>
          </a:bodyPr>
          <a:lstStyle/>
          <a:p>
            <a:pPr algn="l">
              <a:lnSpc>
                <a:spcPts val="8440"/>
              </a:lnSpc>
            </a:pPr>
            <a:r>
              <a:rPr lang="en-US" sz="8701" spc="-191" b="true">
                <a:solidFill>
                  <a:srgbClr val="171718"/>
                </a:solidFill>
                <a:latin typeface="Montserrat Bold"/>
                <a:ea typeface="Montserrat Bold"/>
                <a:cs typeface="Montserrat Bold"/>
                <a:sym typeface="Montserrat Bold"/>
              </a:rPr>
              <a:t>Ít tương tác với người học</a:t>
            </a:r>
          </a:p>
        </p:txBody>
      </p:sp>
      <p:sp>
        <p:nvSpPr>
          <p:cNvPr name="TextBox 17" id="17"/>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27460" y="9697489"/>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6</a:t>
            </a:r>
          </a:p>
        </p:txBody>
      </p:sp>
      <p:sp>
        <p:nvSpPr>
          <p:cNvPr name="TextBox 11" id="11"/>
          <p:cNvSpPr txBox="true"/>
          <p:nvPr/>
        </p:nvSpPr>
        <p:spPr>
          <a:xfrm rot="0">
            <a:off x="1028700" y="2286569"/>
            <a:ext cx="11078708" cy="2340684"/>
          </a:xfrm>
          <a:prstGeom prst="rect">
            <a:avLst/>
          </a:prstGeom>
        </p:spPr>
        <p:txBody>
          <a:bodyPr anchor="t" rtlCol="false" tIns="0" lIns="0" bIns="0" rIns="0">
            <a:spAutoFit/>
          </a:bodyPr>
          <a:lstStyle/>
          <a:p>
            <a:pPr algn="l">
              <a:lnSpc>
                <a:spcPts val="9185"/>
              </a:lnSpc>
            </a:pPr>
            <a:r>
              <a:rPr lang="en-US" sz="8201" spc="-180" b="true">
                <a:solidFill>
                  <a:srgbClr val="171718"/>
                </a:solidFill>
                <a:latin typeface="Montserrat Bold"/>
                <a:ea typeface="Montserrat Bold"/>
                <a:cs typeface="Montserrat Bold"/>
                <a:sym typeface="Montserrat Bold"/>
              </a:rPr>
              <a:t>Cognitive Overload Quá tải nhận thức</a:t>
            </a:r>
          </a:p>
        </p:txBody>
      </p:sp>
      <p:sp>
        <p:nvSpPr>
          <p:cNvPr name="TextBox 12" id="12"/>
          <p:cNvSpPr txBox="true"/>
          <p:nvPr/>
        </p:nvSpPr>
        <p:spPr>
          <a:xfrm rot="0">
            <a:off x="1107784" y="4874902"/>
            <a:ext cx="15754909" cy="4547914"/>
          </a:xfrm>
          <a:prstGeom prst="rect">
            <a:avLst/>
          </a:prstGeom>
        </p:spPr>
        <p:txBody>
          <a:bodyPr anchor="t" rtlCol="false" tIns="0" lIns="0" bIns="0" rIns="0">
            <a:spAutoFit/>
          </a:bodyPr>
          <a:lstStyle/>
          <a:p>
            <a:pPr algn="l">
              <a:lnSpc>
                <a:spcPts val="4031"/>
              </a:lnSpc>
            </a:pPr>
            <a:r>
              <a:rPr lang="en-US" sz="3199" spc="95">
                <a:solidFill>
                  <a:srgbClr val="082064"/>
                </a:solidFill>
                <a:latin typeface="Quicksand"/>
                <a:ea typeface="Quicksand"/>
                <a:cs typeface="Quicksand"/>
                <a:sym typeface="Quicksand"/>
              </a:rPr>
              <a:t>Thiếu các “</a:t>
            </a:r>
            <a:r>
              <a:rPr lang="en-US" sz="3199" spc="95" b="true">
                <a:solidFill>
                  <a:srgbClr val="082064"/>
                </a:solidFill>
                <a:latin typeface="Quicksand Bold"/>
                <a:ea typeface="Quicksand Bold"/>
                <a:cs typeface="Quicksand Bold"/>
                <a:sym typeface="Quicksand Bold"/>
              </a:rPr>
              <a:t>attention reset moments”</a:t>
            </a:r>
            <a:r>
              <a:rPr lang="en-US" sz="3199" spc="95">
                <a:solidFill>
                  <a:srgbClr val="082064"/>
                </a:solidFill>
                <a:latin typeface="Quicksand"/>
                <a:ea typeface="Quicksand"/>
                <a:cs typeface="Quicksand"/>
                <a:sym typeface="Quicksand"/>
              </a:rPr>
              <a:t> (điểm kéo lại sự chú ý): </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Video tương đối dài với thời lượng 11p, nội dung trình bày liền mạch.</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Ít thay đổi hoạt động, ít tín hiệu yêu cầu người học dừng suy nghĩ.</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Góc quay cố định, ít sự thay đổi, không kết hợp nhạc hay hiệu ứng âm thanh</a:t>
            </a:r>
          </a:p>
          <a:p>
            <a:pPr algn="l" marL="0" indent="0" lvl="0">
              <a:lnSpc>
                <a:spcPts val="4031"/>
              </a:lnSpc>
            </a:pPr>
            <a:r>
              <a:rPr lang="en-US" sz="3199" spc="95">
                <a:solidFill>
                  <a:srgbClr val="082064"/>
                </a:solidFill>
                <a:latin typeface="Quicksand"/>
                <a:ea typeface="Quicksand"/>
                <a:cs typeface="Quicksand"/>
                <a:sym typeface="Quicksand"/>
              </a:rPr>
              <a:t>    </a:t>
            </a:r>
            <a:r>
              <a:rPr lang="en-US" sz="3199" spc="95">
                <a:solidFill>
                  <a:srgbClr val="082064"/>
                </a:solidFill>
                <a:latin typeface="Quicksand"/>
                <a:ea typeface="Quicksand"/>
                <a:cs typeface="Quicksand"/>
                <a:sym typeface="Quicksand"/>
              </a:rPr>
              <a:t>Ảnh hưởng: </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Khiến Người học phụ thuộc nhiều vào auditory processing (xử lý bằng nghe).</a:t>
            </a:r>
          </a:p>
          <a:p>
            <a:pPr algn="l" marL="690876" indent="-345438" lvl="1">
              <a:lnSpc>
                <a:spcPts val="4031"/>
              </a:lnSpc>
              <a:buFont typeface="Arial"/>
              <a:buChar char="•"/>
            </a:pPr>
            <a:r>
              <a:rPr lang="en-US" sz="3199" spc="95">
                <a:solidFill>
                  <a:srgbClr val="082064"/>
                </a:solidFill>
                <a:latin typeface="Quicksand"/>
                <a:ea typeface="Quicksand"/>
                <a:cs typeface="Quicksand"/>
                <a:sym typeface="Quicksand"/>
              </a:rPr>
              <a:t>Dễ </a:t>
            </a:r>
            <a:r>
              <a:rPr lang="en-US" sz="3199" spc="95">
                <a:solidFill>
                  <a:srgbClr val="082064"/>
                </a:solidFill>
                <a:latin typeface="Quicksand"/>
                <a:ea typeface="Quicksand"/>
                <a:cs typeface="Quicksand"/>
                <a:sym typeface="Quicksand"/>
              </a:rPr>
              <a:t>gây nản khi phải thụ dộng và tiếp nhận nhiều thông tin cũng một lúc.</a:t>
            </a:r>
          </a:p>
        </p:txBody>
      </p:sp>
      <p:sp>
        <p:nvSpPr>
          <p:cNvPr name="TextBox 13" id="13"/>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Freeform 14" id="14"/>
          <p:cNvSpPr/>
          <p:nvPr/>
        </p:nvSpPr>
        <p:spPr>
          <a:xfrm flipH="false" flipV="false" rot="0">
            <a:off x="788614" y="7452167"/>
            <a:ext cx="638340" cy="517967"/>
          </a:xfrm>
          <a:custGeom>
            <a:avLst/>
            <a:gdLst/>
            <a:ahLst/>
            <a:cxnLst/>
            <a:rect r="r" b="b" t="t" l="l"/>
            <a:pathLst>
              <a:path h="517967" w="638340">
                <a:moveTo>
                  <a:pt x="0" y="0"/>
                </a:moveTo>
                <a:lnTo>
                  <a:pt x="638340" y="0"/>
                </a:lnTo>
                <a:lnTo>
                  <a:pt x="638340" y="517967"/>
                </a:lnTo>
                <a:lnTo>
                  <a:pt x="0" y="5179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0A2B89"/>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3175311" y="1776963"/>
            <a:ext cx="11937377" cy="11937377"/>
          </a:xfrm>
          <a:custGeom>
            <a:avLst/>
            <a:gdLst/>
            <a:ahLst/>
            <a:cxnLst/>
            <a:rect r="r" b="b" t="t" l="l"/>
            <a:pathLst>
              <a:path h="11937377" w="11937377">
                <a:moveTo>
                  <a:pt x="0" y="0"/>
                </a:moveTo>
                <a:lnTo>
                  <a:pt x="11937378" y="0"/>
                </a:lnTo>
                <a:lnTo>
                  <a:pt x="11937378" y="11937378"/>
                </a:lnTo>
                <a:lnTo>
                  <a:pt x="0" y="11937378"/>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2700000">
            <a:off x="5304701" y="-771323"/>
            <a:ext cx="7949993" cy="8457439"/>
          </a:xfrm>
          <a:custGeom>
            <a:avLst/>
            <a:gdLst/>
            <a:ahLst/>
            <a:cxnLst/>
            <a:rect r="r" b="b" t="t" l="l"/>
            <a:pathLst>
              <a:path h="8457439" w="7949993">
                <a:moveTo>
                  <a:pt x="0" y="0"/>
                </a:moveTo>
                <a:lnTo>
                  <a:pt x="7949993" y="0"/>
                </a:lnTo>
                <a:lnTo>
                  <a:pt x="7949993" y="8457439"/>
                </a:lnTo>
                <a:lnTo>
                  <a:pt x="0" y="84574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666692" y="5747818"/>
            <a:ext cx="16954616" cy="3855064"/>
            <a:chOff x="0" y="0"/>
            <a:chExt cx="4465413" cy="1015325"/>
          </a:xfrm>
        </p:grpSpPr>
        <p:sp>
          <p:nvSpPr>
            <p:cNvPr name="Freeform 12" id="12"/>
            <p:cNvSpPr/>
            <p:nvPr/>
          </p:nvSpPr>
          <p:spPr>
            <a:xfrm flipH="false" flipV="false" rot="0">
              <a:off x="0" y="0"/>
              <a:ext cx="4465413" cy="1015325"/>
            </a:xfrm>
            <a:custGeom>
              <a:avLst/>
              <a:gdLst/>
              <a:ahLst/>
              <a:cxnLst/>
              <a:rect r="r" b="b" t="t" l="l"/>
              <a:pathLst>
                <a:path h="1015325" w="4465413">
                  <a:moveTo>
                    <a:pt x="31964" y="0"/>
                  </a:moveTo>
                  <a:lnTo>
                    <a:pt x="4433449" y="0"/>
                  </a:lnTo>
                  <a:cubicBezTo>
                    <a:pt x="4451102" y="0"/>
                    <a:pt x="4465413" y="14311"/>
                    <a:pt x="4465413" y="31964"/>
                  </a:cubicBezTo>
                  <a:lnTo>
                    <a:pt x="4465413" y="983362"/>
                  </a:lnTo>
                  <a:cubicBezTo>
                    <a:pt x="4465413" y="991839"/>
                    <a:pt x="4462045" y="999969"/>
                    <a:pt x="4456051" y="1005963"/>
                  </a:cubicBezTo>
                  <a:cubicBezTo>
                    <a:pt x="4450057" y="1011958"/>
                    <a:pt x="4441927" y="1015325"/>
                    <a:pt x="4433449" y="1015325"/>
                  </a:cubicBezTo>
                  <a:lnTo>
                    <a:pt x="31964" y="1015325"/>
                  </a:lnTo>
                  <a:cubicBezTo>
                    <a:pt x="23486" y="1015325"/>
                    <a:pt x="15356" y="1011958"/>
                    <a:pt x="9362" y="1005963"/>
                  </a:cubicBezTo>
                  <a:cubicBezTo>
                    <a:pt x="3368" y="999969"/>
                    <a:pt x="0" y="991839"/>
                    <a:pt x="0" y="983362"/>
                  </a:cubicBezTo>
                  <a:lnTo>
                    <a:pt x="0" y="31964"/>
                  </a:lnTo>
                  <a:cubicBezTo>
                    <a:pt x="0" y="23486"/>
                    <a:pt x="3368" y="15356"/>
                    <a:pt x="9362" y="9362"/>
                  </a:cubicBezTo>
                  <a:cubicBezTo>
                    <a:pt x="15356" y="3368"/>
                    <a:pt x="23486" y="0"/>
                    <a:pt x="31964" y="0"/>
                  </a:cubicBezTo>
                  <a:close/>
                </a:path>
              </a:pathLst>
            </a:custGeom>
            <a:solidFill>
              <a:srgbClr val="FEFEFE"/>
            </a:solidFill>
          </p:spPr>
        </p:sp>
        <p:sp>
          <p:nvSpPr>
            <p:cNvPr name="TextBox 13" id="13"/>
            <p:cNvSpPr txBox="true"/>
            <p:nvPr/>
          </p:nvSpPr>
          <p:spPr>
            <a:xfrm>
              <a:off x="0" y="-38100"/>
              <a:ext cx="4465413" cy="1053425"/>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8602888" y="4792916"/>
            <a:ext cx="1762673" cy="242368"/>
          </a:xfrm>
          <a:custGeom>
            <a:avLst/>
            <a:gdLst/>
            <a:ahLst/>
            <a:cxnLst/>
            <a:rect r="r" b="b" t="t" l="l"/>
            <a:pathLst>
              <a:path h="242368" w="1762673">
                <a:moveTo>
                  <a:pt x="0" y="0"/>
                </a:moveTo>
                <a:lnTo>
                  <a:pt x="1762673" y="0"/>
                </a:lnTo>
                <a:lnTo>
                  <a:pt x="1762673" y="242368"/>
                </a:lnTo>
                <a:lnTo>
                  <a:pt x="0" y="2423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1508050" y="6291944"/>
            <a:ext cx="4399444" cy="2872404"/>
            <a:chOff x="0" y="0"/>
            <a:chExt cx="1158701" cy="756518"/>
          </a:xfrm>
        </p:grpSpPr>
        <p:sp>
          <p:nvSpPr>
            <p:cNvPr name="Freeform 16" id="16"/>
            <p:cNvSpPr/>
            <p:nvPr/>
          </p:nvSpPr>
          <p:spPr>
            <a:xfrm flipH="false" flipV="false" rot="0">
              <a:off x="0" y="0"/>
              <a:ext cx="1158701" cy="756518"/>
            </a:xfrm>
            <a:custGeom>
              <a:avLst/>
              <a:gdLst/>
              <a:ahLst/>
              <a:cxnLst/>
              <a:rect r="r" b="b" t="t" l="l"/>
              <a:pathLst>
                <a:path h="756518" w="1158701">
                  <a:moveTo>
                    <a:pt x="52792" y="0"/>
                  </a:moveTo>
                  <a:lnTo>
                    <a:pt x="1105909" y="0"/>
                  </a:lnTo>
                  <a:cubicBezTo>
                    <a:pt x="1119910" y="0"/>
                    <a:pt x="1133338" y="5562"/>
                    <a:pt x="1143239" y="15463"/>
                  </a:cubicBezTo>
                  <a:cubicBezTo>
                    <a:pt x="1153139" y="25363"/>
                    <a:pt x="1158701" y="38791"/>
                    <a:pt x="1158701" y="52792"/>
                  </a:cubicBezTo>
                  <a:lnTo>
                    <a:pt x="1158701" y="703726"/>
                  </a:lnTo>
                  <a:cubicBezTo>
                    <a:pt x="1158701" y="717727"/>
                    <a:pt x="1153139" y="731155"/>
                    <a:pt x="1143239" y="741055"/>
                  </a:cubicBezTo>
                  <a:cubicBezTo>
                    <a:pt x="1133338" y="750956"/>
                    <a:pt x="1119910" y="756518"/>
                    <a:pt x="1105909" y="756518"/>
                  </a:cubicBezTo>
                  <a:lnTo>
                    <a:pt x="52792" y="756518"/>
                  </a:lnTo>
                  <a:cubicBezTo>
                    <a:pt x="38791" y="756518"/>
                    <a:pt x="25363" y="750956"/>
                    <a:pt x="15463" y="741055"/>
                  </a:cubicBezTo>
                  <a:cubicBezTo>
                    <a:pt x="5562" y="731155"/>
                    <a:pt x="0" y="717727"/>
                    <a:pt x="0" y="703726"/>
                  </a:cubicBezTo>
                  <a:lnTo>
                    <a:pt x="0" y="52792"/>
                  </a:lnTo>
                  <a:cubicBezTo>
                    <a:pt x="0" y="38791"/>
                    <a:pt x="5562" y="25363"/>
                    <a:pt x="15463" y="15463"/>
                  </a:cubicBezTo>
                  <a:cubicBezTo>
                    <a:pt x="25363" y="5562"/>
                    <a:pt x="38791" y="0"/>
                    <a:pt x="52792" y="0"/>
                  </a:cubicBezTo>
                  <a:close/>
                </a:path>
              </a:pathLst>
            </a:custGeom>
            <a:solidFill>
              <a:srgbClr val="F4F4ED"/>
            </a:solidFill>
            <a:ln cap="rnd">
              <a:noFill/>
              <a:prstDash val="solid"/>
              <a:round/>
            </a:ln>
          </p:spPr>
        </p:sp>
        <p:sp>
          <p:nvSpPr>
            <p:cNvPr name="TextBox 17" id="17"/>
            <p:cNvSpPr txBox="true"/>
            <p:nvPr/>
          </p:nvSpPr>
          <p:spPr>
            <a:xfrm>
              <a:off x="0" y="-38100"/>
              <a:ext cx="1158701" cy="79461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326694" y="7009949"/>
            <a:ext cx="362712" cy="362712"/>
            <a:chOff x="0" y="0"/>
            <a:chExt cx="812800" cy="812800"/>
          </a:xfrm>
        </p:grpSpPr>
        <p:sp>
          <p:nvSpPr>
            <p:cNvPr name="Freeform 19" id="19"/>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0" id="20"/>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8319459" y="6875569"/>
            <a:ext cx="362712" cy="362712"/>
            <a:chOff x="0" y="0"/>
            <a:chExt cx="812800" cy="812800"/>
          </a:xfrm>
        </p:grpSpPr>
        <p:sp>
          <p:nvSpPr>
            <p:cNvPr name="Freeform 22" id="22"/>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23" id="23"/>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100281" y="6810955"/>
            <a:ext cx="426197" cy="362712"/>
            <a:chOff x="0" y="0"/>
            <a:chExt cx="955064" cy="812800"/>
          </a:xfrm>
        </p:grpSpPr>
        <p:sp>
          <p:nvSpPr>
            <p:cNvPr name="Freeform 25" id="25"/>
            <p:cNvSpPr/>
            <p:nvPr/>
          </p:nvSpPr>
          <p:spPr>
            <a:xfrm flipH="false" flipV="false" rot="0">
              <a:off x="83936" y="66833"/>
              <a:ext cx="787192" cy="679134"/>
            </a:xfrm>
            <a:custGeom>
              <a:avLst/>
              <a:gdLst/>
              <a:ahLst/>
              <a:cxnLst/>
              <a:rect r="r" b="b" t="t" l="l"/>
              <a:pathLst>
                <a:path h="679134" w="787192">
                  <a:moveTo>
                    <a:pt x="531932" y="50897"/>
                  </a:moveTo>
                  <a:lnTo>
                    <a:pt x="732793" y="221837"/>
                  </a:lnTo>
                  <a:cubicBezTo>
                    <a:pt x="767306" y="251210"/>
                    <a:pt x="787192" y="294247"/>
                    <a:pt x="787192" y="339567"/>
                  </a:cubicBezTo>
                  <a:cubicBezTo>
                    <a:pt x="787192" y="384887"/>
                    <a:pt x="767306" y="427924"/>
                    <a:pt x="732793" y="457297"/>
                  </a:cubicBezTo>
                  <a:lnTo>
                    <a:pt x="531932" y="628237"/>
                  </a:lnTo>
                  <a:cubicBezTo>
                    <a:pt x="452192" y="696099"/>
                    <a:pt x="335000" y="696099"/>
                    <a:pt x="255260" y="628237"/>
                  </a:cubicBezTo>
                  <a:lnTo>
                    <a:pt x="54400" y="457297"/>
                  </a:lnTo>
                  <a:cubicBezTo>
                    <a:pt x="19887" y="427924"/>
                    <a:pt x="0" y="384887"/>
                    <a:pt x="0" y="339567"/>
                  </a:cubicBezTo>
                  <a:cubicBezTo>
                    <a:pt x="0" y="294247"/>
                    <a:pt x="19887" y="251210"/>
                    <a:pt x="54400" y="221837"/>
                  </a:cubicBezTo>
                  <a:lnTo>
                    <a:pt x="255260" y="50897"/>
                  </a:lnTo>
                  <a:cubicBezTo>
                    <a:pt x="335000" y="-16965"/>
                    <a:pt x="452192" y="-16965"/>
                    <a:pt x="531932" y="50897"/>
                  </a:cubicBezTo>
                  <a:close/>
                </a:path>
              </a:pathLst>
            </a:custGeom>
            <a:solidFill>
              <a:srgbClr val="A9EF2C"/>
            </a:solidFill>
          </p:spPr>
        </p:sp>
        <p:sp>
          <p:nvSpPr>
            <p:cNvPr name="TextBox 26" id="26"/>
            <p:cNvSpPr txBox="true"/>
            <p:nvPr/>
          </p:nvSpPr>
          <p:spPr>
            <a:xfrm>
              <a:off x="164152" y="101600"/>
              <a:ext cx="626761" cy="571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7</a:t>
            </a:r>
          </a:p>
        </p:txBody>
      </p:sp>
      <p:sp>
        <p:nvSpPr>
          <p:cNvPr name="TextBox 28" id="28"/>
          <p:cNvSpPr txBox="true"/>
          <p:nvPr/>
        </p:nvSpPr>
        <p:spPr>
          <a:xfrm rot="0">
            <a:off x="4614164" y="3072536"/>
            <a:ext cx="9740121" cy="1007847"/>
          </a:xfrm>
          <a:prstGeom prst="rect">
            <a:avLst/>
          </a:prstGeom>
        </p:spPr>
        <p:txBody>
          <a:bodyPr anchor="t" rtlCol="false" tIns="0" lIns="0" bIns="0" rIns="0">
            <a:spAutoFit/>
          </a:bodyPr>
          <a:lstStyle/>
          <a:p>
            <a:pPr algn="ctr">
              <a:lnSpc>
                <a:spcPts val="7382"/>
              </a:lnSpc>
            </a:pPr>
            <a:r>
              <a:rPr lang="en-US" b="true" sz="8202" spc="-180">
                <a:solidFill>
                  <a:srgbClr val="FEFEFE"/>
                </a:solidFill>
                <a:latin typeface="Montserrat Bold"/>
                <a:ea typeface="Montserrat Bold"/>
                <a:cs typeface="Montserrat Bold"/>
                <a:sym typeface="Montserrat Bold"/>
              </a:rPr>
              <a:t>Giải pháp cải tiến</a:t>
            </a:r>
          </a:p>
        </p:txBody>
      </p:sp>
      <p:sp>
        <p:nvSpPr>
          <p:cNvPr name="TextBox 29" id="29"/>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TextBox 30" id="30"/>
          <p:cNvSpPr txBox="true"/>
          <p:nvPr/>
        </p:nvSpPr>
        <p:spPr>
          <a:xfrm rot="0">
            <a:off x="2347018" y="6875569"/>
            <a:ext cx="3031634" cy="1939298"/>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VẬN DỤNG CÁC LÝ THUYẾT HỌC TẬP</a:t>
            </a:r>
          </a:p>
        </p:txBody>
      </p:sp>
      <p:grpSp>
        <p:nvGrpSpPr>
          <p:cNvPr name="Group 31" id="31"/>
          <p:cNvGrpSpPr/>
          <p:nvPr/>
        </p:nvGrpSpPr>
        <p:grpSpPr>
          <a:xfrm rot="0">
            <a:off x="6988377" y="6309582"/>
            <a:ext cx="4580800" cy="2948718"/>
            <a:chOff x="0" y="0"/>
            <a:chExt cx="1206466" cy="776617"/>
          </a:xfrm>
        </p:grpSpPr>
        <p:sp>
          <p:nvSpPr>
            <p:cNvPr name="Freeform 32" id="32"/>
            <p:cNvSpPr/>
            <p:nvPr/>
          </p:nvSpPr>
          <p:spPr>
            <a:xfrm flipH="false" flipV="false" rot="0">
              <a:off x="0" y="0"/>
              <a:ext cx="1206466" cy="776617"/>
            </a:xfrm>
            <a:custGeom>
              <a:avLst/>
              <a:gdLst/>
              <a:ahLst/>
              <a:cxnLst/>
              <a:rect r="r" b="b" t="t" l="l"/>
              <a:pathLst>
                <a:path h="776617" w="1206466">
                  <a:moveTo>
                    <a:pt x="50702" y="0"/>
                  </a:moveTo>
                  <a:lnTo>
                    <a:pt x="1155763" y="0"/>
                  </a:lnTo>
                  <a:cubicBezTo>
                    <a:pt x="1183766" y="0"/>
                    <a:pt x="1206466" y="22700"/>
                    <a:pt x="1206466" y="50702"/>
                  </a:cubicBezTo>
                  <a:lnTo>
                    <a:pt x="1206466" y="725915"/>
                  </a:lnTo>
                  <a:cubicBezTo>
                    <a:pt x="1206466" y="753917"/>
                    <a:pt x="1183766" y="776617"/>
                    <a:pt x="1155763" y="776617"/>
                  </a:cubicBezTo>
                  <a:lnTo>
                    <a:pt x="50702" y="776617"/>
                  </a:lnTo>
                  <a:cubicBezTo>
                    <a:pt x="22700" y="776617"/>
                    <a:pt x="0" y="753917"/>
                    <a:pt x="0" y="725915"/>
                  </a:cubicBezTo>
                  <a:lnTo>
                    <a:pt x="0" y="50702"/>
                  </a:lnTo>
                  <a:cubicBezTo>
                    <a:pt x="0" y="22700"/>
                    <a:pt x="22700" y="0"/>
                    <a:pt x="50702" y="0"/>
                  </a:cubicBezTo>
                  <a:close/>
                </a:path>
              </a:pathLst>
            </a:custGeom>
            <a:solidFill>
              <a:srgbClr val="F4F4ED"/>
            </a:solidFill>
            <a:ln cap="rnd">
              <a:noFill/>
              <a:prstDash val="solid"/>
              <a:round/>
            </a:ln>
          </p:spPr>
        </p:sp>
        <p:sp>
          <p:nvSpPr>
            <p:cNvPr name="TextBox 33" id="33"/>
            <p:cNvSpPr txBox="true"/>
            <p:nvPr/>
          </p:nvSpPr>
          <p:spPr>
            <a:xfrm>
              <a:off x="0" y="-38100"/>
              <a:ext cx="1206466" cy="814717"/>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2361879" y="6291944"/>
            <a:ext cx="4580800" cy="2872404"/>
            <a:chOff x="0" y="0"/>
            <a:chExt cx="1206466" cy="756518"/>
          </a:xfrm>
        </p:grpSpPr>
        <p:sp>
          <p:nvSpPr>
            <p:cNvPr name="Freeform 35" id="35"/>
            <p:cNvSpPr/>
            <p:nvPr/>
          </p:nvSpPr>
          <p:spPr>
            <a:xfrm flipH="false" flipV="false" rot="0">
              <a:off x="0" y="0"/>
              <a:ext cx="1206466" cy="756518"/>
            </a:xfrm>
            <a:custGeom>
              <a:avLst/>
              <a:gdLst/>
              <a:ahLst/>
              <a:cxnLst/>
              <a:rect r="r" b="b" t="t" l="l"/>
              <a:pathLst>
                <a:path h="756518" w="1206466">
                  <a:moveTo>
                    <a:pt x="50702" y="0"/>
                  </a:moveTo>
                  <a:lnTo>
                    <a:pt x="1155763" y="0"/>
                  </a:lnTo>
                  <a:cubicBezTo>
                    <a:pt x="1183766" y="0"/>
                    <a:pt x="1206466" y="22700"/>
                    <a:pt x="1206466" y="50702"/>
                  </a:cubicBezTo>
                  <a:lnTo>
                    <a:pt x="1206466" y="705816"/>
                  </a:lnTo>
                  <a:cubicBezTo>
                    <a:pt x="1206466" y="733818"/>
                    <a:pt x="1183766" y="756518"/>
                    <a:pt x="1155763" y="756518"/>
                  </a:cubicBezTo>
                  <a:lnTo>
                    <a:pt x="50702" y="756518"/>
                  </a:lnTo>
                  <a:cubicBezTo>
                    <a:pt x="22700" y="756518"/>
                    <a:pt x="0" y="733818"/>
                    <a:pt x="0" y="705816"/>
                  </a:cubicBezTo>
                  <a:lnTo>
                    <a:pt x="0" y="50702"/>
                  </a:lnTo>
                  <a:cubicBezTo>
                    <a:pt x="0" y="22700"/>
                    <a:pt x="22700" y="0"/>
                    <a:pt x="50702" y="0"/>
                  </a:cubicBezTo>
                  <a:close/>
                </a:path>
              </a:pathLst>
            </a:custGeom>
            <a:solidFill>
              <a:srgbClr val="F4F4ED"/>
            </a:solidFill>
            <a:ln cap="rnd">
              <a:noFill/>
              <a:prstDash val="solid"/>
              <a:round/>
            </a:ln>
          </p:spPr>
        </p:sp>
        <p:sp>
          <p:nvSpPr>
            <p:cNvPr name="TextBox 36" id="36"/>
            <p:cNvSpPr txBox="true"/>
            <p:nvPr/>
          </p:nvSpPr>
          <p:spPr>
            <a:xfrm>
              <a:off x="0" y="-38100"/>
              <a:ext cx="1206466" cy="79461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6807021" y="7009949"/>
            <a:ext cx="362712" cy="362712"/>
            <a:chOff x="0" y="0"/>
            <a:chExt cx="812800" cy="812800"/>
          </a:xfrm>
        </p:grpSpPr>
        <p:sp>
          <p:nvSpPr>
            <p:cNvPr name="Freeform 38" id="38"/>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39" id="39"/>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2148780" y="7009949"/>
            <a:ext cx="426197" cy="362712"/>
            <a:chOff x="0" y="0"/>
            <a:chExt cx="955064" cy="812800"/>
          </a:xfrm>
        </p:grpSpPr>
        <p:sp>
          <p:nvSpPr>
            <p:cNvPr name="Freeform 41" id="41"/>
            <p:cNvSpPr/>
            <p:nvPr/>
          </p:nvSpPr>
          <p:spPr>
            <a:xfrm flipH="false" flipV="false" rot="0">
              <a:off x="83936" y="66833"/>
              <a:ext cx="787192" cy="679134"/>
            </a:xfrm>
            <a:custGeom>
              <a:avLst/>
              <a:gdLst/>
              <a:ahLst/>
              <a:cxnLst/>
              <a:rect r="r" b="b" t="t" l="l"/>
              <a:pathLst>
                <a:path h="679134" w="787192">
                  <a:moveTo>
                    <a:pt x="531932" y="50897"/>
                  </a:moveTo>
                  <a:lnTo>
                    <a:pt x="732793" y="221837"/>
                  </a:lnTo>
                  <a:cubicBezTo>
                    <a:pt x="767306" y="251210"/>
                    <a:pt x="787192" y="294247"/>
                    <a:pt x="787192" y="339567"/>
                  </a:cubicBezTo>
                  <a:cubicBezTo>
                    <a:pt x="787192" y="384887"/>
                    <a:pt x="767306" y="427924"/>
                    <a:pt x="732793" y="457297"/>
                  </a:cubicBezTo>
                  <a:lnTo>
                    <a:pt x="531932" y="628237"/>
                  </a:lnTo>
                  <a:cubicBezTo>
                    <a:pt x="452192" y="696099"/>
                    <a:pt x="335000" y="696099"/>
                    <a:pt x="255260" y="628237"/>
                  </a:cubicBezTo>
                  <a:lnTo>
                    <a:pt x="54400" y="457297"/>
                  </a:lnTo>
                  <a:cubicBezTo>
                    <a:pt x="19887" y="427924"/>
                    <a:pt x="0" y="384887"/>
                    <a:pt x="0" y="339567"/>
                  </a:cubicBezTo>
                  <a:cubicBezTo>
                    <a:pt x="0" y="294247"/>
                    <a:pt x="19887" y="251210"/>
                    <a:pt x="54400" y="221837"/>
                  </a:cubicBezTo>
                  <a:lnTo>
                    <a:pt x="255260" y="50897"/>
                  </a:lnTo>
                  <a:cubicBezTo>
                    <a:pt x="335000" y="-16965"/>
                    <a:pt x="452192" y="-16965"/>
                    <a:pt x="531932" y="50897"/>
                  </a:cubicBezTo>
                  <a:close/>
                </a:path>
              </a:pathLst>
            </a:custGeom>
            <a:solidFill>
              <a:srgbClr val="A9EF2C"/>
            </a:solidFill>
          </p:spPr>
        </p:sp>
        <p:sp>
          <p:nvSpPr>
            <p:cNvPr name="TextBox 42" id="42"/>
            <p:cNvSpPr txBox="true"/>
            <p:nvPr/>
          </p:nvSpPr>
          <p:spPr>
            <a:xfrm>
              <a:off x="164152" y="101600"/>
              <a:ext cx="626761" cy="571500"/>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7748185" y="6776003"/>
            <a:ext cx="3180236" cy="1939298"/>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 ÁP DỤNG PHONG CÁCH HỌC TẬP LINH HOẠT</a:t>
            </a:r>
          </a:p>
        </p:txBody>
      </p:sp>
      <p:sp>
        <p:nvSpPr>
          <p:cNvPr name="TextBox 44" id="44"/>
          <p:cNvSpPr txBox="true"/>
          <p:nvPr/>
        </p:nvSpPr>
        <p:spPr>
          <a:xfrm rot="0">
            <a:off x="12845526" y="6705833"/>
            <a:ext cx="3748399" cy="1939033"/>
          </a:xfrm>
          <a:prstGeom prst="rect">
            <a:avLst/>
          </a:prstGeom>
        </p:spPr>
        <p:txBody>
          <a:bodyPr anchor="t" rtlCol="false" tIns="0" lIns="0" bIns="0" rIns="0">
            <a:spAutoFit/>
          </a:bodyPr>
          <a:lstStyle/>
          <a:p>
            <a:pPr algn="ctr">
              <a:lnSpc>
                <a:spcPts val="3874"/>
              </a:lnSpc>
            </a:pPr>
            <a:r>
              <a:rPr lang="en-US" b="true" sz="3202" spc="96">
                <a:solidFill>
                  <a:srgbClr val="171718"/>
                </a:solidFill>
                <a:latin typeface="Montserrat Bold"/>
                <a:ea typeface="Montserrat Bold"/>
                <a:cs typeface="Montserrat Bold"/>
                <a:sym typeface="Montserrat Bold"/>
              </a:rPr>
              <a:t> PHƯƠNG PHÁP </a:t>
            </a:r>
          </a:p>
          <a:p>
            <a:pPr algn="ctr">
              <a:lnSpc>
                <a:spcPts val="3874"/>
              </a:lnSpc>
            </a:pPr>
            <a:r>
              <a:rPr lang="en-US" b="true" sz="3202" spc="96">
                <a:solidFill>
                  <a:srgbClr val="171718"/>
                </a:solidFill>
                <a:latin typeface="Montserrat Bold"/>
                <a:ea typeface="Montserrat Bold"/>
                <a:cs typeface="Montserrat Bold"/>
                <a:sym typeface="Montserrat Bold"/>
              </a:rPr>
              <a:t>LẤY NGƯỜI HỌC LÀM TRUNG TÂM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97210" y="1116917"/>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482040" y="4620622"/>
            <a:ext cx="7990090" cy="746403"/>
            <a:chOff x="0" y="0"/>
            <a:chExt cx="2104386" cy="196584"/>
          </a:xfrm>
        </p:grpSpPr>
        <p:sp>
          <p:nvSpPr>
            <p:cNvPr name="Freeform 10" id="10"/>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solidFill>
            <a:ln cap="sq">
              <a:noFill/>
              <a:prstDash val="solid"/>
              <a:miter/>
            </a:ln>
          </p:spPr>
        </p:sp>
        <p:sp>
          <p:nvSpPr>
            <p:cNvPr name="TextBox 11" id="11"/>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bằng thị</a:t>
              </a:r>
              <a:r>
                <a:rPr lang="en-US" b="true" sz="1899">
                  <a:solidFill>
                    <a:srgbClr val="FEFEFE"/>
                  </a:solidFill>
                  <a:latin typeface="Montserrat Bold"/>
                  <a:ea typeface="Montserrat Bold"/>
                  <a:cs typeface="Montserrat Bold"/>
                  <a:sym typeface="Montserrat Bold"/>
                </a:rPr>
                <a:t> giác </a:t>
              </a:r>
              <a:r>
                <a:rPr lang="en-US" b="true" sz="1899">
                  <a:solidFill>
                    <a:srgbClr val="FEFEFE"/>
                  </a:solidFill>
                  <a:latin typeface="Montserrat Bold"/>
                  <a:ea typeface="Montserrat Bold"/>
                  <a:cs typeface="Montserrat Bold"/>
                  <a:sym typeface="Montserrat Bold"/>
                </a:rPr>
                <a:t>(hình ảnh, video, sơ đồ,...)</a:t>
              </a:r>
            </a:p>
          </p:txBody>
        </p:sp>
      </p:grpSp>
      <p:sp>
        <p:nvSpPr>
          <p:cNvPr name="Freeform 12" id="12"/>
          <p:cNvSpPr/>
          <p:nvPr/>
        </p:nvSpPr>
        <p:spPr>
          <a:xfrm flipH="false" flipV="true" rot="-7619986">
            <a:off x="11673782" y="1829504"/>
            <a:ext cx="1155365" cy="614615"/>
          </a:xfrm>
          <a:custGeom>
            <a:avLst/>
            <a:gdLst/>
            <a:ahLst/>
            <a:cxnLst/>
            <a:rect r="r" b="b" t="t" l="l"/>
            <a:pathLst>
              <a:path h="614615" w="1155365">
                <a:moveTo>
                  <a:pt x="0" y="614615"/>
                </a:moveTo>
                <a:lnTo>
                  <a:pt x="1155365" y="614615"/>
                </a:lnTo>
                <a:lnTo>
                  <a:pt x="1155365" y="0"/>
                </a:lnTo>
                <a:lnTo>
                  <a:pt x="0" y="0"/>
                </a:lnTo>
                <a:lnTo>
                  <a:pt x="0" y="61461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4839933"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8</a:t>
            </a:r>
          </a:p>
        </p:txBody>
      </p:sp>
      <p:sp>
        <p:nvSpPr>
          <p:cNvPr name="TextBox 14" id="14"/>
          <p:cNvSpPr txBox="true"/>
          <p:nvPr/>
        </p:nvSpPr>
        <p:spPr>
          <a:xfrm rot="0">
            <a:off x="1722385" y="2044060"/>
            <a:ext cx="11598745" cy="933504"/>
          </a:xfrm>
          <a:prstGeom prst="rect">
            <a:avLst/>
          </a:prstGeom>
        </p:spPr>
        <p:txBody>
          <a:bodyPr anchor="t" rtlCol="false" tIns="0" lIns="0" bIns="0" rIns="0">
            <a:spAutoFit/>
          </a:bodyPr>
          <a:lstStyle/>
          <a:p>
            <a:pPr algn="l">
              <a:lnSpc>
                <a:spcPts val="6751"/>
              </a:lnSpc>
            </a:pPr>
            <a:r>
              <a:rPr lang="en-US" sz="7501" spc="-165" b="true">
                <a:solidFill>
                  <a:srgbClr val="171718"/>
                </a:solidFill>
                <a:latin typeface="Montserrat Bold"/>
                <a:ea typeface="Montserrat Bold"/>
                <a:cs typeface="Montserrat Bold"/>
                <a:sym typeface="Montserrat Bold"/>
              </a:rPr>
              <a:t>Lý Thuyết Học Tập</a:t>
            </a:r>
          </a:p>
        </p:txBody>
      </p:sp>
      <p:sp>
        <p:nvSpPr>
          <p:cNvPr name="TextBox 15" id="15"/>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grpSp>
        <p:nvGrpSpPr>
          <p:cNvPr name="Group 16" id="16"/>
          <p:cNvGrpSpPr/>
          <p:nvPr/>
        </p:nvGrpSpPr>
        <p:grpSpPr>
          <a:xfrm rot="0">
            <a:off x="-7092880" y="5685123"/>
            <a:ext cx="7990090" cy="746403"/>
            <a:chOff x="0" y="0"/>
            <a:chExt cx="2104386" cy="196584"/>
          </a:xfrm>
        </p:grpSpPr>
        <p:sp>
          <p:nvSpPr>
            <p:cNvPr name="Freeform 17" id="17"/>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alpha val="42745"/>
              </a:srgbClr>
            </a:solidFill>
            <a:ln cap="sq">
              <a:noFill/>
              <a:prstDash val="solid"/>
              <a:miter/>
            </a:ln>
          </p:spPr>
        </p:sp>
        <p:sp>
          <p:nvSpPr>
            <p:cNvPr name="TextBox 18" id="18"/>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19" id="19"/>
          <p:cNvGrpSpPr/>
          <p:nvPr/>
        </p:nvGrpSpPr>
        <p:grpSpPr>
          <a:xfrm rot="0">
            <a:off x="-6472466" y="6745852"/>
            <a:ext cx="7379250" cy="746403"/>
            <a:chOff x="0" y="0"/>
            <a:chExt cx="1943506" cy="196584"/>
          </a:xfrm>
        </p:grpSpPr>
        <p:sp>
          <p:nvSpPr>
            <p:cNvPr name="Freeform 20" id="20"/>
            <p:cNvSpPr/>
            <p:nvPr/>
          </p:nvSpPr>
          <p:spPr>
            <a:xfrm flipH="false" flipV="false" rot="0">
              <a:off x="0" y="0"/>
              <a:ext cx="1943506" cy="196584"/>
            </a:xfrm>
            <a:custGeom>
              <a:avLst/>
              <a:gdLst/>
              <a:ahLst/>
              <a:cxnLst/>
              <a:rect r="r" b="b" t="t" l="l"/>
              <a:pathLst>
                <a:path h="196584" w="1943506">
                  <a:moveTo>
                    <a:pt x="0" y="0"/>
                  </a:moveTo>
                  <a:lnTo>
                    <a:pt x="1943506" y="0"/>
                  </a:lnTo>
                  <a:lnTo>
                    <a:pt x="1943506" y="196584"/>
                  </a:lnTo>
                  <a:lnTo>
                    <a:pt x="0" y="196584"/>
                  </a:lnTo>
                  <a:close/>
                </a:path>
              </a:pathLst>
            </a:custGeom>
            <a:solidFill>
              <a:srgbClr val="0A2B89">
                <a:alpha val="42745"/>
              </a:srgbClr>
            </a:solidFill>
            <a:ln cap="sq">
              <a:noFill/>
              <a:prstDash val="solid"/>
              <a:miter/>
            </a:ln>
          </p:spPr>
        </p:sp>
        <p:sp>
          <p:nvSpPr>
            <p:cNvPr name="TextBox 21" id="21"/>
            <p:cNvSpPr txBox="true"/>
            <p:nvPr/>
          </p:nvSpPr>
          <p:spPr>
            <a:xfrm>
              <a:off x="0" y="-38100"/>
              <a:ext cx="194350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22" id="22"/>
          <p:cNvGrpSpPr/>
          <p:nvPr/>
        </p:nvGrpSpPr>
        <p:grpSpPr>
          <a:xfrm rot="0">
            <a:off x="-7083306" y="7810353"/>
            <a:ext cx="7990090" cy="746403"/>
            <a:chOff x="0" y="0"/>
            <a:chExt cx="2104386" cy="196584"/>
          </a:xfrm>
        </p:grpSpPr>
        <p:sp>
          <p:nvSpPr>
            <p:cNvPr name="Freeform 23" id="23"/>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alpha val="42745"/>
              </a:srgbClr>
            </a:solidFill>
            <a:ln cap="sq">
              <a:noFill/>
              <a:prstDash val="solid"/>
              <a:miter/>
            </a:ln>
          </p:spPr>
        </p:sp>
        <p:sp>
          <p:nvSpPr>
            <p:cNvPr name="TextBox 24" id="24"/>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25" id="25"/>
          <p:cNvGrpSpPr/>
          <p:nvPr/>
        </p:nvGrpSpPr>
        <p:grpSpPr>
          <a:xfrm rot="0">
            <a:off x="1899635" y="3434765"/>
            <a:ext cx="15359665" cy="3139358"/>
            <a:chOff x="0" y="0"/>
            <a:chExt cx="20479553" cy="4185811"/>
          </a:xfrm>
        </p:grpSpPr>
        <p:grpSp>
          <p:nvGrpSpPr>
            <p:cNvPr name="Group 26" id="26"/>
            <p:cNvGrpSpPr/>
            <p:nvPr/>
          </p:nvGrpSpPr>
          <p:grpSpPr>
            <a:xfrm rot="0">
              <a:off x="0" y="0"/>
              <a:ext cx="20479553" cy="4185811"/>
              <a:chOff x="0" y="0"/>
              <a:chExt cx="4045344" cy="826827"/>
            </a:xfrm>
          </p:grpSpPr>
          <p:sp>
            <p:nvSpPr>
              <p:cNvPr name="Freeform 27" id="27"/>
              <p:cNvSpPr/>
              <p:nvPr/>
            </p:nvSpPr>
            <p:spPr>
              <a:xfrm flipH="false" flipV="false" rot="0">
                <a:off x="0" y="0"/>
                <a:ext cx="4045344" cy="826827"/>
              </a:xfrm>
              <a:custGeom>
                <a:avLst/>
                <a:gdLst/>
                <a:ahLst/>
                <a:cxnLst/>
                <a:rect r="r" b="b" t="t" l="l"/>
                <a:pathLst>
                  <a:path h="826827" w="4045344">
                    <a:moveTo>
                      <a:pt x="15121" y="0"/>
                    </a:moveTo>
                    <a:lnTo>
                      <a:pt x="4030223" y="0"/>
                    </a:lnTo>
                    <a:cubicBezTo>
                      <a:pt x="4034233" y="0"/>
                      <a:pt x="4038079" y="1593"/>
                      <a:pt x="4040915" y="4429"/>
                    </a:cubicBezTo>
                    <a:cubicBezTo>
                      <a:pt x="4043750" y="7265"/>
                      <a:pt x="4045344" y="11111"/>
                      <a:pt x="4045344" y="15121"/>
                    </a:cubicBezTo>
                    <a:lnTo>
                      <a:pt x="4045344" y="811706"/>
                    </a:lnTo>
                    <a:cubicBezTo>
                      <a:pt x="4045344" y="815716"/>
                      <a:pt x="4043750" y="819562"/>
                      <a:pt x="4040915" y="822398"/>
                    </a:cubicBezTo>
                    <a:cubicBezTo>
                      <a:pt x="4038079" y="825234"/>
                      <a:pt x="4034233" y="826827"/>
                      <a:pt x="4030223" y="826827"/>
                    </a:cubicBezTo>
                    <a:lnTo>
                      <a:pt x="15121" y="826827"/>
                    </a:lnTo>
                    <a:cubicBezTo>
                      <a:pt x="11111" y="826827"/>
                      <a:pt x="7265" y="825234"/>
                      <a:pt x="4429" y="822398"/>
                    </a:cubicBezTo>
                    <a:cubicBezTo>
                      <a:pt x="1593" y="819562"/>
                      <a:pt x="0" y="815716"/>
                      <a:pt x="0" y="811706"/>
                    </a:cubicBezTo>
                    <a:lnTo>
                      <a:pt x="0" y="15121"/>
                    </a:lnTo>
                    <a:cubicBezTo>
                      <a:pt x="0" y="11111"/>
                      <a:pt x="1593" y="7265"/>
                      <a:pt x="4429" y="4429"/>
                    </a:cubicBezTo>
                    <a:cubicBezTo>
                      <a:pt x="7265" y="1593"/>
                      <a:pt x="11111" y="0"/>
                      <a:pt x="15121" y="0"/>
                    </a:cubicBezTo>
                    <a:close/>
                  </a:path>
                </a:pathLst>
              </a:custGeom>
              <a:solidFill>
                <a:srgbClr val="D1D0D5">
                  <a:alpha val="19608"/>
                </a:srgbClr>
              </a:solidFill>
              <a:ln cap="rnd">
                <a:noFill/>
                <a:prstDash val="solid"/>
                <a:round/>
              </a:ln>
            </p:spPr>
          </p:sp>
          <p:sp>
            <p:nvSpPr>
              <p:cNvPr name="TextBox 28" id="28"/>
              <p:cNvSpPr txBox="true"/>
              <p:nvPr/>
            </p:nvSpPr>
            <p:spPr>
              <a:xfrm>
                <a:off x="0" y="-38100"/>
                <a:ext cx="4045344" cy="864927"/>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322833" y="273964"/>
              <a:ext cx="19833887" cy="3560191"/>
            </a:xfrm>
            <a:prstGeom prst="rect">
              <a:avLst/>
            </a:prstGeom>
          </p:spPr>
          <p:txBody>
            <a:bodyPr anchor="t" rtlCol="false" tIns="0" lIns="0" bIns="0" rIns="0">
              <a:spAutoFit/>
            </a:bodyPr>
            <a:lstStyle/>
            <a:p>
              <a:pPr algn="l">
                <a:lnSpc>
                  <a:spcPts val="3024"/>
                </a:lnSpc>
              </a:pPr>
              <a:r>
                <a:rPr lang="en-US" sz="2400" spc="72" b="true">
                  <a:solidFill>
                    <a:srgbClr val="082064"/>
                  </a:solidFill>
                  <a:latin typeface="Quicksand Bold"/>
                  <a:ea typeface="Quicksand Bold"/>
                  <a:cs typeface="Quicksand Bold"/>
                  <a:sym typeface="Quicksand Bold"/>
                </a:rPr>
                <a:t>Thuyết Hành vi: </a:t>
              </a:r>
            </a:p>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Khi người học nhận được phản hồi tích cực hoặc phần thưởng cho điều họ làm, từ đó hình thành hành vi hay kiến thức cụ thể.</a:t>
              </a:r>
            </a:p>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Tích hợp yếu tố tương tác như câu hỏi trắc nghiệm, hệ thống chấm điểm, cung cấp phản hồi ngay lập tức.</a:t>
              </a:r>
            </a:p>
            <a:p>
              <a:pPr algn="l">
                <a:lnSpc>
                  <a:spcPts val="3024"/>
                </a:lnSpc>
              </a:pPr>
              <a:r>
                <a:rPr lang="en-US" sz="2400" spc="72">
                  <a:solidFill>
                    <a:srgbClr val="082064"/>
                  </a:solidFill>
                  <a:latin typeface="Quicksand"/>
                  <a:ea typeface="Quicksand"/>
                  <a:cs typeface="Quicksand"/>
                  <a:sym typeface="Quicksand"/>
                </a:rPr>
                <a:t>=&gt; Tạo ra cơ chế củng cố hành vi, khuyến khích người học lặp lại các hành động đúng và điều chỉnh các hành động sai.</a:t>
              </a:r>
            </a:p>
          </p:txBody>
        </p:sp>
      </p:grpSp>
      <p:grpSp>
        <p:nvGrpSpPr>
          <p:cNvPr name="Group 30" id="30"/>
          <p:cNvGrpSpPr/>
          <p:nvPr/>
        </p:nvGrpSpPr>
        <p:grpSpPr>
          <a:xfrm rot="0">
            <a:off x="1899635" y="6813366"/>
            <a:ext cx="15359665" cy="2724781"/>
            <a:chOff x="0" y="0"/>
            <a:chExt cx="20479553" cy="3633042"/>
          </a:xfrm>
        </p:grpSpPr>
        <p:grpSp>
          <p:nvGrpSpPr>
            <p:cNvPr name="Group 31" id="31"/>
            <p:cNvGrpSpPr/>
            <p:nvPr/>
          </p:nvGrpSpPr>
          <p:grpSpPr>
            <a:xfrm rot="0">
              <a:off x="0" y="0"/>
              <a:ext cx="20479553" cy="3633042"/>
              <a:chOff x="0" y="0"/>
              <a:chExt cx="4045344" cy="717638"/>
            </a:xfrm>
          </p:grpSpPr>
          <p:sp>
            <p:nvSpPr>
              <p:cNvPr name="Freeform 32" id="32"/>
              <p:cNvSpPr/>
              <p:nvPr/>
            </p:nvSpPr>
            <p:spPr>
              <a:xfrm flipH="false" flipV="false" rot="0">
                <a:off x="0" y="0"/>
                <a:ext cx="4045344" cy="717638"/>
              </a:xfrm>
              <a:custGeom>
                <a:avLst/>
                <a:gdLst/>
                <a:ahLst/>
                <a:cxnLst/>
                <a:rect r="r" b="b" t="t" l="l"/>
                <a:pathLst>
                  <a:path h="717638" w="4045344">
                    <a:moveTo>
                      <a:pt x="15121" y="0"/>
                    </a:moveTo>
                    <a:lnTo>
                      <a:pt x="4030223" y="0"/>
                    </a:lnTo>
                    <a:cubicBezTo>
                      <a:pt x="4034233" y="0"/>
                      <a:pt x="4038079" y="1593"/>
                      <a:pt x="4040915" y="4429"/>
                    </a:cubicBezTo>
                    <a:cubicBezTo>
                      <a:pt x="4043750" y="7265"/>
                      <a:pt x="4045344" y="11111"/>
                      <a:pt x="4045344" y="15121"/>
                    </a:cubicBezTo>
                    <a:lnTo>
                      <a:pt x="4045344" y="702517"/>
                    </a:lnTo>
                    <a:cubicBezTo>
                      <a:pt x="4045344" y="706527"/>
                      <a:pt x="4043750" y="710373"/>
                      <a:pt x="4040915" y="713209"/>
                    </a:cubicBezTo>
                    <a:cubicBezTo>
                      <a:pt x="4038079" y="716045"/>
                      <a:pt x="4034233" y="717638"/>
                      <a:pt x="4030223" y="717638"/>
                    </a:cubicBezTo>
                    <a:lnTo>
                      <a:pt x="15121" y="717638"/>
                    </a:lnTo>
                    <a:cubicBezTo>
                      <a:pt x="11111" y="717638"/>
                      <a:pt x="7265" y="716045"/>
                      <a:pt x="4429" y="713209"/>
                    </a:cubicBezTo>
                    <a:cubicBezTo>
                      <a:pt x="1593" y="710373"/>
                      <a:pt x="0" y="706527"/>
                      <a:pt x="0" y="702517"/>
                    </a:cubicBezTo>
                    <a:lnTo>
                      <a:pt x="0" y="15121"/>
                    </a:lnTo>
                    <a:cubicBezTo>
                      <a:pt x="0" y="11111"/>
                      <a:pt x="1593" y="7265"/>
                      <a:pt x="4429" y="4429"/>
                    </a:cubicBezTo>
                    <a:cubicBezTo>
                      <a:pt x="7265" y="1593"/>
                      <a:pt x="11111" y="0"/>
                      <a:pt x="15121" y="0"/>
                    </a:cubicBezTo>
                    <a:close/>
                  </a:path>
                </a:pathLst>
              </a:custGeom>
              <a:solidFill>
                <a:srgbClr val="D1D0D5">
                  <a:alpha val="19608"/>
                </a:srgbClr>
              </a:solidFill>
              <a:ln cap="rnd">
                <a:noFill/>
                <a:prstDash val="solid"/>
                <a:round/>
              </a:ln>
            </p:spPr>
          </p:sp>
          <p:sp>
            <p:nvSpPr>
              <p:cNvPr name="TextBox 33" id="33"/>
              <p:cNvSpPr txBox="true"/>
              <p:nvPr/>
            </p:nvSpPr>
            <p:spPr>
              <a:xfrm>
                <a:off x="0" y="-38100"/>
                <a:ext cx="4045344" cy="755738"/>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272591" y="276138"/>
              <a:ext cx="19934370" cy="3052191"/>
            </a:xfrm>
            <a:prstGeom prst="rect">
              <a:avLst/>
            </a:prstGeom>
          </p:spPr>
          <p:txBody>
            <a:bodyPr anchor="t" rtlCol="false" tIns="0" lIns="0" bIns="0" rIns="0">
              <a:spAutoFit/>
            </a:bodyPr>
            <a:lstStyle/>
            <a:p>
              <a:pPr algn="l">
                <a:lnSpc>
                  <a:spcPts val="3024"/>
                </a:lnSpc>
              </a:pPr>
              <a:r>
                <a:rPr lang="en-US" sz="2400" spc="72" b="true">
                  <a:solidFill>
                    <a:srgbClr val="082064"/>
                  </a:solidFill>
                  <a:latin typeface="Quicksand Bold"/>
                  <a:ea typeface="Quicksand Bold"/>
                  <a:cs typeface="Quicksand Bold"/>
                  <a:sym typeface="Quicksand Bold"/>
                </a:rPr>
                <a:t>Lý Thuyết Tải Trọng Nhận Thức</a:t>
              </a:r>
            </a:p>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B</a:t>
              </a:r>
              <a:r>
                <a:rPr lang="en-US" sz="2400" spc="72">
                  <a:solidFill>
                    <a:srgbClr val="082064"/>
                  </a:solidFill>
                  <a:latin typeface="Quicksand"/>
                  <a:ea typeface="Quicksand"/>
                  <a:cs typeface="Quicksand"/>
                  <a:sym typeface="Quicksand"/>
                </a:rPr>
                <a:t>ộ não có khả năng xử lý một lượng thông tin giới hạn, thường chỉ khoảng 3-7 đơn vị thông tin cùng một lúc.</a:t>
              </a:r>
            </a:p>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T</a:t>
              </a:r>
              <a:r>
                <a:rPr lang="en-US" sz="2400" spc="72">
                  <a:solidFill>
                    <a:srgbClr val="082064"/>
                  </a:solidFill>
                  <a:latin typeface="Quicksand"/>
                  <a:ea typeface="Quicksand"/>
                  <a:cs typeface="Quicksand"/>
                  <a:sym typeface="Quicksand"/>
                </a:rPr>
                <a:t>hiết kế video trực quan, chia nhỏ nội dung thành các phần chính cho phép kiểm soát tải trọng nhận thức của người học, sử dụng hình ảnh và các yếu tố đa phương tiện được tối ưu hóa.</a:t>
              </a:r>
            </a:p>
            <a:p>
              <a:pPr algn="l">
                <a:lnSpc>
                  <a:spcPts val="3024"/>
                </a:lnSpc>
              </a:pPr>
              <a:r>
                <a:rPr lang="en-US" sz="2400" spc="72">
                  <a:solidFill>
                    <a:srgbClr val="082064"/>
                  </a:solidFill>
                  <a:latin typeface="Quicksand"/>
                  <a:ea typeface="Quicksand"/>
                  <a:cs typeface="Quicksand"/>
                  <a:sym typeface="Quicksand"/>
                </a:rPr>
                <a:t>=&gt; H</a:t>
              </a:r>
              <a:r>
                <a:rPr lang="en-US" sz="2400" spc="72">
                  <a:solidFill>
                    <a:srgbClr val="082064"/>
                  </a:solidFill>
                  <a:latin typeface="Quicksand"/>
                  <a:ea typeface="Quicksand"/>
                  <a:cs typeface="Quicksand"/>
                  <a:sym typeface="Quicksand"/>
                </a:rPr>
                <a:t>ỗ trợ việc học mà không gây quá tải cho bộ nhớ làm việc.</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97210" y="1116917"/>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482040" y="4620622"/>
            <a:ext cx="7379250" cy="746403"/>
            <a:chOff x="0" y="0"/>
            <a:chExt cx="1943506" cy="196584"/>
          </a:xfrm>
        </p:grpSpPr>
        <p:sp>
          <p:nvSpPr>
            <p:cNvPr name="Freeform 10" id="10"/>
            <p:cNvSpPr/>
            <p:nvPr/>
          </p:nvSpPr>
          <p:spPr>
            <a:xfrm flipH="false" flipV="false" rot="0">
              <a:off x="0" y="0"/>
              <a:ext cx="1943506" cy="196584"/>
            </a:xfrm>
            <a:custGeom>
              <a:avLst/>
              <a:gdLst/>
              <a:ahLst/>
              <a:cxnLst/>
              <a:rect r="r" b="b" t="t" l="l"/>
              <a:pathLst>
                <a:path h="196584" w="1943506">
                  <a:moveTo>
                    <a:pt x="0" y="0"/>
                  </a:moveTo>
                  <a:lnTo>
                    <a:pt x="1943506" y="0"/>
                  </a:lnTo>
                  <a:lnTo>
                    <a:pt x="1943506" y="196584"/>
                  </a:lnTo>
                  <a:lnTo>
                    <a:pt x="0" y="196584"/>
                  </a:lnTo>
                  <a:close/>
                </a:path>
              </a:pathLst>
            </a:custGeom>
            <a:solidFill>
              <a:srgbClr val="0A2B89">
                <a:alpha val="42745"/>
              </a:srgbClr>
            </a:solidFill>
            <a:ln cap="sq">
              <a:noFill/>
              <a:prstDash val="solid"/>
              <a:miter/>
            </a:ln>
          </p:spPr>
        </p:sp>
        <p:sp>
          <p:nvSpPr>
            <p:cNvPr name="TextBox 11" id="11"/>
            <p:cNvSpPr txBox="true"/>
            <p:nvPr/>
          </p:nvSpPr>
          <p:spPr>
            <a:xfrm>
              <a:off x="0" y="-38100"/>
              <a:ext cx="194350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sp>
        <p:nvSpPr>
          <p:cNvPr name="TextBox 12" id="12"/>
          <p:cNvSpPr txBox="true"/>
          <p:nvPr/>
        </p:nvSpPr>
        <p:spPr>
          <a:xfrm rot="0">
            <a:off x="14839933"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9</a:t>
            </a:r>
          </a:p>
        </p:txBody>
      </p:sp>
      <p:sp>
        <p:nvSpPr>
          <p:cNvPr name="TextBox 13" id="13"/>
          <p:cNvSpPr txBox="true"/>
          <p:nvPr/>
        </p:nvSpPr>
        <p:spPr>
          <a:xfrm rot="0">
            <a:off x="1722385" y="1944885"/>
            <a:ext cx="9935996" cy="1904975"/>
          </a:xfrm>
          <a:prstGeom prst="rect">
            <a:avLst/>
          </a:prstGeom>
        </p:spPr>
        <p:txBody>
          <a:bodyPr anchor="t" rtlCol="false" tIns="0" lIns="0" bIns="0" rIns="0">
            <a:spAutoFit/>
          </a:bodyPr>
          <a:lstStyle/>
          <a:p>
            <a:pPr algn="l">
              <a:lnSpc>
                <a:spcPts val="7276"/>
              </a:lnSpc>
            </a:pPr>
            <a:r>
              <a:rPr lang="en-US" sz="7501" spc="-165" b="true">
                <a:solidFill>
                  <a:srgbClr val="171718"/>
                </a:solidFill>
                <a:latin typeface="Montserrat Bold"/>
                <a:ea typeface="Montserrat Bold"/>
                <a:cs typeface="Montserrat Bold"/>
                <a:sym typeface="Montserrat Bold"/>
              </a:rPr>
              <a:t>Phong cách học tập VARK </a:t>
            </a:r>
          </a:p>
        </p:txBody>
      </p:sp>
      <p:sp>
        <p:nvSpPr>
          <p:cNvPr name="TextBox 14" id="14"/>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grpSp>
        <p:nvGrpSpPr>
          <p:cNvPr name="Group 15" id="15"/>
          <p:cNvGrpSpPr/>
          <p:nvPr/>
        </p:nvGrpSpPr>
        <p:grpSpPr>
          <a:xfrm rot="0">
            <a:off x="-7092880" y="5685123"/>
            <a:ext cx="8600930" cy="746403"/>
            <a:chOff x="0" y="0"/>
            <a:chExt cx="2265266" cy="196584"/>
          </a:xfrm>
        </p:grpSpPr>
        <p:sp>
          <p:nvSpPr>
            <p:cNvPr name="Freeform 16" id="16"/>
            <p:cNvSpPr/>
            <p:nvPr/>
          </p:nvSpPr>
          <p:spPr>
            <a:xfrm flipH="false" flipV="false" rot="0">
              <a:off x="0" y="0"/>
              <a:ext cx="2265266" cy="196584"/>
            </a:xfrm>
            <a:custGeom>
              <a:avLst/>
              <a:gdLst/>
              <a:ahLst/>
              <a:cxnLst/>
              <a:rect r="r" b="b" t="t" l="l"/>
              <a:pathLst>
                <a:path h="196584" w="2265266">
                  <a:moveTo>
                    <a:pt x="0" y="0"/>
                  </a:moveTo>
                  <a:lnTo>
                    <a:pt x="2265266" y="0"/>
                  </a:lnTo>
                  <a:lnTo>
                    <a:pt x="2265266" y="196584"/>
                  </a:lnTo>
                  <a:lnTo>
                    <a:pt x="0" y="196584"/>
                  </a:lnTo>
                  <a:close/>
                </a:path>
              </a:pathLst>
            </a:custGeom>
            <a:solidFill>
              <a:srgbClr val="0A2B89"/>
            </a:solidFill>
            <a:ln cap="sq">
              <a:noFill/>
              <a:prstDash val="solid"/>
              <a:miter/>
            </a:ln>
          </p:spPr>
        </p:sp>
        <p:sp>
          <p:nvSpPr>
            <p:cNvPr name="TextBox 17" id="17"/>
            <p:cNvSpPr txBox="true"/>
            <p:nvPr/>
          </p:nvSpPr>
          <p:spPr>
            <a:xfrm>
              <a:off x="0" y="-38100"/>
              <a:ext cx="226526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bằng thị</a:t>
              </a:r>
              <a:r>
                <a:rPr lang="en-US" b="true" sz="1899">
                  <a:solidFill>
                    <a:srgbClr val="FEFEFE"/>
                  </a:solidFill>
                  <a:latin typeface="Montserrat Bold"/>
                  <a:ea typeface="Montserrat Bold"/>
                  <a:cs typeface="Montserrat Bold"/>
                  <a:sym typeface="Montserrat Bold"/>
                </a:rPr>
                <a:t> giác </a:t>
              </a:r>
              <a:r>
                <a:rPr lang="en-US" b="true" sz="1899">
                  <a:solidFill>
                    <a:srgbClr val="FEFEFE"/>
                  </a:solidFill>
                  <a:latin typeface="Montserrat Bold"/>
                  <a:ea typeface="Montserrat Bold"/>
                  <a:cs typeface="Montserrat Bold"/>
                  <a:sym typeface="Montserrat Bold"/>
                </a:rPr>
                <a:t>(hình ảnh, video, sơ đồ,...)</a:t>
              </a:r>
            </a:p>
          </p:txBody>
        </p:sp>
      </p:grpSp>
      <p:grpSp>
        <p:nvGrpSpPr>
          <p:cNvPr name="Group 18" id="18"/>
          <p:cNvGrpSpPr/>
          <p:nvPr/>
        </p:nvGrpSpPr>
        <p:grpSpPr>
          <a:xfrm rot="0">
            <a:off x="-6472466" y="6745852"/>
            <a:ext cx="7379250" cy="746403"/>
            <a:chOff x="0" y="0"/>
            <a:chExt cx="1943506" cy="196584"/>
          </a:xfrm>
        </p:grpSpPr>
        <p:sp>
          <p:nvSpPr>
            <p:cNvPr name="Freeform 19" id="19"/>
            <p:cNvSpPr/>
            <p:nvPr/>
          </p:nvSpPr>
          <p:spPr>
            <a:xfrm flipH="false" flipV="false" rot="0">
              <a:off x="0" y="0"/>
              <a:ext cx="1943506" cy="196584"/>
            </a:xfrm>
            <a:custGeom>
              <a:avLst/>
              <a:gdLst/>
              <a:ahLst/>
              <a:cxnLst/>
              <a:rect r="r" b="b" t="t" l="l"/>
              <a:pathLst>
                <a:path h="196584" w="1943506">
                  <a:moveTo>
                    <a:pt x="0" y="0"/>
                  </a:moveTo>
                  <a:lnTo>
                    <a:pt x="1943506" y="0"/>
                  </a:lnTo>
                  <a:lnTo>
                    <a:pt x="1943506" y="196584"/>
                  </a:lnTo>
                  <a:lnTo>
                    <a:pt x="0" y="196584"/>
                  </a:lnTo>
                  <a:close/>
                </a:path>
              </a:pathLst>
            </a:custGeom>
            <a:solidFill>
              <a:srgbClr val="0A2B89">
                <a:alpha val="42745"/>
              </a:srgbClr>
            </a:solidFill>
            <a:ln cap="sq">
              <a:noFill/>
              <a:prstDash val="solid"/>
              <a:miter/>
            </a:ln>
          </p:spPr>
        </p:sp>
        <p:sp>
          <p:nvSpPr>
            <p:cNvPr name="TextBox 20" id="20"/>
            <p:cNvSpPr txBox="true"/>
            <p:nvPr/>
          </p:nvSpPr>
          <p:spPr>
            <a:xfrm>
              <a:off x="0" y="-38100"/>
              <a:ext cx="194350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21" id="21"/>
          <p:cNvGrpSpPr/>
          <p:nvPr/>
        </p:nvGrpSpPr>
        <p:grpSpPr>
          <a:xfrm rot="0">
            <a:off x="-7083306" y="7810353"/>
            <a:ext cx="7990090" cy="746403"/>
            <a:chOff x="0" y="0"/>
            <a:chExt cx="2104386" cy="196584"/>
          </a:xfrm>
        </p:grpSpPr>
        <p:sp>
          <p:nvSpPr>
            <p:cNvPr name="Freeform 22" id="22"/>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alpha val="42745"/>
              </a:srgbClr>
            </a:solidFill>
            <a:ln cap="sq">
              <a:noFill/>
              <a:prstDash val="solid"/>
              <a:miter/>
            </a:ln>
          </p:spPr>
        </p:sp>
        <p:sp>
          <p:nvSpPr>
            <p:cNvPr name="TextBox 23" id="23"/>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24" id="24"/>
          <p:cNvGrpSpPr/>
          <p:nvPr/>
        </p:nvGrpSpPr>
        <p:grpSpPr>
          <a:xfrm rot="0">
            <a:off x="1919777" y="4676930"/>
            <a:ext cx="8710931" cy="846841"/>
            <a:chOff x="0" y="0"/>
            <a:chExt cx="11614575" cy="1129121"/>
          </a:xfrm>
        </p:grpSpPr>
        <p:grpSp>
          <p:nvGrpSpPr>
            <p:cNvPr name="Group 25" id="25"/>
            <p:cNvGrpSpPr/>
            <p:nvPr/>
          </p:nvGrpSpPr>
          <p:grpSpPr>
            <a:xfrm rot="0">
              <a:off x="289816" y="0"/>
              <a:ext cx="11324758" cy="1129121"/>
              <a:chOff x="0" y="0"/>
              <a:chExt cx="2236989" cy="223036"/>
            </a:xfrm>
          </p:grpSpPr>
          <p:sp>
            <p:nvSpPr>
              <p:cNvPr name="Freeform 26" id="26"/>
              <p:cNvSpPr/>
              <p:nvPr/>
            </p:nvSpPr>
            <p:spPr>
              <a:xfrm flipH="false" flipV="false" rot="0">
                <a:off x="0" y="0"/>
                <a:ext cx="2236989" cy="223036"/>
              </a:xfrm>
              <a:custGeom>
                <a:avLst/>
                <a:gdLst/>
                <a:ahLst/>
                <a:cxnLst/>
                <a:rect r="r" b="b" t="t" l="l"/>
                <a:pathLst>
                  <a:path h="223036" w="2236989">
                    <a:moveTo>
                      <a:pt x="27345" y="0"/>
                    </a:moveTo>
                    <a:lnTo>
                      <a:pt x="2209644" y="0"/>
                    </a:lnTo>
                    <a:cubicBezTo>
                      <a:pt x="2216897" y="0"/>
                      <a:pt x="2223852" y="2881"/>
                      <a:pt x="2228980" y="8009"/>
                    </a:cubicBezTo>
                    <a:cubicBezTo>
                      <a:pt x="2234108" y="13137"/>
                      <a:pt x="2236989" y="20093"/>
                      <a:pt x="2236989" y="27345"/>
                    </a:cubicBezTo>
                    <a:lnTo>
                      <a:pt x="2236989" y="195691"/>
                    </a:lnTo>
                    <a:cubicBezTo>
                      <a:pt x="2236989" y="210793"/>
                      <a:pt x="2224747" y="223036"/>
                      <a:pt x="2209644" y="223036"/>
                    </a:cubicBezTo>
                    <a:lnTo>
                      <a:pt x="27345" y="223036"/>
                    </a:lnTo>
                    <a:cubicBezTo>
                      <a:pt x="20093" y="223036"/>
                      <a:pt x="13137" y="220155"/>
                      <a:pt x="8009" y="215027"/>
                    </a:cubicBezTo>
                    <a:cubicBezTo>
                      <a:pt x="2881" y="209899"/>
                      <a:pt x="0" y="202944"/>
                      <a:pt x="0" y="195691"/>
                    </a:cubicBezTo>
                    <a:lnTo>
                      <a:pt x="0" y="27345"/>
                    </a:lnTo>
                    <a:cubicBezTo>
                      <a:pt x="0" y="20093"/>
                      <a:pt x="2881" y="13137"/>
                      <a:pt x="8009" y="8009"/>
                    </a:cubicBezTo>
                    <a:cubicBezTo>
                      <a:pt x="13137" y="2881"/>
                      <a:pt x="20093" y="0"/>
                      <a:pt x="27345" y="0"/>
                    </a:cubicBezTo>
                    <a:close/>
                  </a:path>
                </a:pathLst>
              </a:custGeom>
              <a:solidFill>
                <a:srgbClr val="0A2B89"/>
              </a:solidFill>
              <a:ln cap="rnd">
                <a:noFill/>
                <a:prstDash val="solid"/>
                <a:round/>
              </a:ln>
            </p:spPr>
          </p:sp>
          <p:sp>
            <p:nvSpPr>
              <p:cNvPr name="TextBox 27" id="27"/>
              <p:cNvSpPr txBox="true"/>
              <p:nvPr/>
            </p:nvSpPr>
            <p:spPr>
              <a:xfrm>
                <a:off x="0" y="-38100"/>
                <a:ext cx="2236989" cy="261136"/>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bằng thị</a:t>
                </a:r>
                <a:r>
                  <a:rPr lang="en-US" b="true" sz="1899">
                    <a:solidFill>
                      <a:srgbClr val="FEFEFE"/>
                    </a:solidFill>
                    <a:latin typeface="Montserrat Bold"/>
                    <a:ea typeface="Montserrat Bold"/>
                    <a:cs typeface="Montserrat Bold"/>
                    <a:sym typeface="Montserrat Bold"/>
                  </a:rPr>
                  <a:t> giác </a:t>
                </a:r>
                <a:r>
                  <a:rPr lang="en-US" b="true" sz="1899">
                    <a:solidFill>
                      <a:srgbClr val="FEFEFE"/>
                    </a:solidFill>
                    <a:latin typeface="Montserrat Bold"/>
                    <a:ea typeface="Montserrat Bold"/>
                    <a:cs typeface="Montserrat Bold"/>
                    <a:sym typeface="Montserrat Bold"/>
                  </a:rPr>
                  <a:t>(hình ảnh, video, sơ đồ,...)</a:t>
                </a:r>
              </a:p>
            </p:txBody>
          </p:sp>
        </p:grpSp>
        <p:grpSp>
          <p:nvGrpSpPr>
            <p:cNvPr name="Group 28" id="28"/>
            <p:cNvGrpSpPr/>
            <p:nvPr/>
          </p:nvGrpSpPr>
          <p:grpSpPr>
            <a:xfrm rot="0">
              <a:off x="0" y="322753"/>
              <a:ext cx="579633" cy="483616"/>
              <a:chOff x="0" y="0"/>
              <a:chExt cx="974173" cy="812800"/>
            </a:xfrm>
          </p:grpSpPr>
          <p:sp>
            <p:nvSpPr>
              <p:cNvPr name="Freeform 29" id="29"/>
              <p:cNvSpPr/>
              <p:nvPr/>
            </p:nvSpPr>
            <p:spPr>
              <a:xfrm flipH="false" flipV="false" rot="0">
                <a:off x="83347" y="64537"/>
                <a:ext cx="807479" cy="683726"/>
              </a:xfrm>
              <a:custGeom>
                <a:avLst/>
                <a:gdLst/>
                <a:ahLst/>
                <a:cxnLst/>
                <a:rect r="r" b="b" t="t" l="l"/>
                <a:pathLst>
                  <a:path h="683726" w="807479">
                    <a:moveTo>
                      <a:pt x="540482" y="49554"/>
                    </a:moveTo>
                    <a:lnTo>
                      <a:pt x="754083" y="227772"/>
                    </a:lnTo>
                    <a:cubicBezTo>
                      <a:pt x="787919" y="256003"/>
                      <a:pt x="807479" y="297796"/>
                      <a:pt x="807479" y="341863"/>
                    </a:cubicBezTo>
                    <a:cubicBezTo>
                      <a:pt x="807479" y="385930"/>
                      <a:pt x="787919" y="427723"/>
                      <a:pt x="754083" y="455954"/>
                    </a:cubicBezTo>
                    <a:lnTo>
                      <a:pt x="540482" y="634172"/>
                    </a:lnTo>
                    <a:cubicBezTo>
                      <a:pt x="461292" y="700244"/>
                      <a:pt x="346187" y="700244"/>
                      <a:pt x="266997" y="634172"/>
                    </a:cubicBezTo>
                    <a:lnTo>
                      <a:pt x="53396" y="455954"/>
                    </a:lnTo>
                    <a:cubicBezTo>
                      <a:pt x="19560" y="427723"/>
                      <a:pt x="0" y="385930"/>
                      <a:pt x="0" y="341863"/>
                    </a:cubicBezTo>
                    <a:cubicBezTo>
                      <a:pt x="0" y="297796"/>
                      <a:pt x="19560" y="256003"/>
                      <a:pt x="53396" y="227772"/>
                    </a:cubicBezTo>
                    <a:lnTo>
                      <a:pt x="266997" y="49554"/>
                    </a:lnTo>
                    <a:cubicBezTo>
                      <a:pt x="346187" y="-16518"/>
                      <a:pt x="461292" y="-16518"/>
                      <a:pt x="540482" y="49554"/>
                    </a:cubicBezTo>
                    <a:close/>
                  </a:path>
                </a:pathLst>
              </a:custGeom>
              <a:solidFill>
                <a:srgbClr val="FB863A"/>
              </a:solidFill>
            </p:spPr>
          </p:sp>
          <p:sp>
            <p:nvSpPr>
              <p:cNvPr name="TextBox 30" id="30"/>
              <p:cNvSpPr txBox="true"/>
              <p:nvPr/>
            </p:nvSpPr>
            <p:spPr>
              <a:xfrm>
                <a:off x="167436" y="101600"/>
                <a:ext cx="639301" cy="571500"/>
              </a:xfrm>
              <a:prstGeom prst="rect">
                <a:avLst/>
              </a:prstGeom>
            </p:spPr>
            <p:txBody>
              <a:bodyPr anchor="ctr" rtlCol="false" tIns="50800" lIns="50800" bIns="50800" rIns="50800"/>
              <a:lstStyle/>
              <a:p>
                <a:pPr algn="l">
                  <a:lnSpc>
                    <a:spcPts val="2659"/>
                  </a:lnSpc>
                </a:pPr>
              </a:p>
            </p:txBody>
          </p:sp>
        </p:grpSp>
      </p:grpSp>
      <p:sp>
        <p:nvSpPr>
          <p:cNvPr name="Freeform 31" id="31"/>
          <p:cNvSpPr/>
          <p:nvPr/>
        </p:nvSpPr>
        <p:spPr>
          <a:xfrm flipH="false" flipV="true" rot="-7619986">
            <a:off x="14878850" y="1979051"/>
            <a:ext cx="1155365" cy="614615"/>
          </a:xfrm>
          <a:custGeom>
            <a:avLst/>
            <a:gdLst/>
            <a:ahLst/>
            <a:cxnLst/>
            <a:rect r="r" b="b" t="t" l="l"/>
            <a:pathLst>
              <a:path h="614615" w="1155365">
                <a:moveTo>
                  <a:pt x="0" y="614615"/>
                </a:moveTo>
                <a:lnTo>
                  <a:pt x="1155365" y="614615"/>
                </a:lnTo>
                <a:lnTo>
                  <a:pt x="1155365" y="0"/>
                </a:lnTo>
                <a:lnTo>
                  <a:pt x="0" y="0"/>
                </a:lnTo>
                <a:lnTo>
                  <a:pt x="0" y="61461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2" id="32"/>
          <p:cNvSpPr/>
          <p:nvPr/>
        </p:nvSpPr>
        <p:spPr>
          <a:xfrm flipH="false" flipV="false" rot="0">
            <a:off x="11226040" y="3239707"/>
            <a:ext cx="7241994" cy="6018593"/>
          </a:xfrm>
          <a:custGeom>
            <a:avLst/>
            <a:gdLst/>
            <a:ahLst/>
            <a:cxnLst/>
            <a:rect r="r" b="b" t="t" l="l"/>
            <a:pathLst>
              <a:path h="6018593" w="7241994">
                <a:moveTo>
                  <a:pt x="0" y="0"/>
                </a:moveTo>
                <a:lnTo>
                  <a:pt x="7241994" y="0"/>
                </a:lnTo>
                <a:lnTo>
                  <a:pt x="7241994" y="6018593"/>
                </a:lnTo>
                <a:lnTo>
                  <a:pt x="0" y="6018593"/>
                </a:lnTo>
                <a:lnTo>
                  <a:pt x="0" y="0"/>
                </a:lnTo>
                <a:close/>
              </a:path>
            </a:pathLst>
          </a:custGeom>
          <a:blipFill>
            <a:blip r:embed="rId6"/>
            <a:stretch>
              <a:fillRect l="-6718" t="0" r="0" b="0"/>
            </a:stretch>
          </a:blipFill>
        </p:spPr>
      </p:sp>
      <p:sp>
        <p:nvSpPr>
          <p:cNvPr name="TextBox 33" id="33"/>
          <p:cNvSpPr txBox="true"/>
          <p:nvPr/>
        </p:nvSpPr>
        <p:spPr>
          <a:xfrm rot="0">
            <a:off x="5223653" y="3230182"/>
            <a:ext cx="7467754" cy="372237"/>
          </a:xfrm>
          <a:prstGeom prst="rect">
            <a:avLst/>
          </a:prstGeom>
        </p:spPr>
        <p:txBody>
          <a:bodyPr anchor="t" rtlCol="false" tIns="0" lIns="0" bIns="0" rIns="0">
            <a:spAutoFit/>
          </a:bodyPr>
          <a:lstStyle/>
          <a:p>
            <a:pPr algn="l" marL="0" indent="0" lvl="0">
              <a:lnSpc>
                <a:spcPts val="3024"/>
              </a:lnSpc>
              <a:spcBef>
                <a:spcPct val="0"/>
              </a:spcBef>
            </a:pPr>
            <a:r>
              <a:rPr lang="en-US" sz="2400" spc="72">
                <a:solidFill>
                  <a:srgbClr val="082064"/>
                </a:solidFill>
                <a:latin typeface="Montserrat"/>
                <a:ea typeface="Montserrat"/>
                <a:cs typeface="Montserrat"/>
                <a:sym typeface="Montserrat"/>
              </a:rPr>
              <a:t> Cải tiến bởi Neil Fleming(1987)</a:t>
            </a:r>
          </a:p>
        </p:txBody>
      </p:sp>
      <p:grpSp>
        <p:nvGrpSpPr>
          <p:cNvPr name="Group 34" id="34"/>
          <p:cNvGrpSpPr/>
          <p:nvPr/>
        </p:nvGrpSpPr>
        <p:grpSpPr>
          <a:xfrm rot="0">
            <a:off x="1919777" y="5792829"/>
            <a:ext cx="8710931" cy="846841"/>
            <a:chOff x="0" y="0"/>
            <a:chExt cx="11614575" cy="1129121"/>
          </a:xfrm>
        </p:grpSpPr>
        <p:grpSp>
          <p:nvGrpSpPr>
            <p:cNvPr name="Group 35" id="35"/>
            <p:cNvGrpSpPr/>
            <p:nvPr/>
          </p:nvGrpSpPr>
          <p:grpSpPr>
            <a:xfrm rot="0">
              <a:off x="273373" y="0"/>
              <a:ext cx="11341202" cy="1129121"/>
              <a:chOff x="0" y="0"/>
              <a:chExt cx="2240237" cy="223036"/>
            </a:xfrm>
          </p:grpSpPr>
          <p:sp>
            <p:nvSpPr>
              <p:cNvPr name="Freeform 36" id="36"/>
              <p:cNvSpPr/>
              <p:nvPr/>
            </p:nvSpPr>
            <p:spPr>
              <a:xfrm flipH="false" flipV="false" rot="0">
                <a:off x="0" y="0"/>
                <a:ext cx="2240237" cy="223036"/>
              </a:xfrm>
              <a:custGeom>
                <a:avLst/>
                <a:gdLst/>
                <a:ahLst/>
                <a:cxnLst/>
                <a:rect r="r" b="b" t="t" l="l"/>
                <a:pathLst>
                  <a:path h="223036" w="2240237">
                    <a:moveTo>
                      <a:pt x="27305" y="0"/>
                    </a:moveTo>
                    <a:lnTo>
                      <a:pt x="2212932" y="0"/>
                    </a:lnTo>
                    <a:cubicBezTo>
                      <a:pt x="2228012" y="0"/>
                      <a:pt x="2240237" y="12225"/>
                      <a:pt x="2240237" y="27305"/>
                    </a:cubicBezTo>
                    <a:lnTo>
                      <a:pt x="2240237" y="195731"/>
                    </a:lnTo>
                    <a:cubicBezTo>
                      <a:pt x="2240237" y="210811"/>
                      <a:pt x="2228012" y="223036"/>
                      <a:pt x="2212932" y="223036"/>
                    </a:cubicBezTo>
                    <a:lnTo>
                      <a:pt x="27305" y="223036"/>
                    </a:lnTo>
                    <a:cubicBezTo>
                      <a:pt x="12225" y="223036"/>
                      <a:pt x="0" y="210811"/>
                      <a:pt x="0" y="195731"/>
                    </a:cubicBezTo>
                    <a:lnTo>
                      <a:pt x="0" y="27305"/>
                    </a:lnTo>
                    <a:cubicBezTo>
                      <a:pt x="0" y="12225"/>
                      <a:pt x="12225" y="0"/>
                      <a:pt x="27305" y="0"/>
                    </a:cubicBezTo>
                    <a:close/>
                  </a:path>
                </a:pathLst>
              </a:custGeom>
              <a:solidFill>
                <a:srgbClr val="0A2B89"/>
              </a:solidFill>
              <a:ln cap="rnd">
                <a:noFill/>
                <a:prstDash val="solid"/>
                <a:round/>
              </a:ln>
            </p:spPr>
          </p:sp>
          <p:sp>
            <p:nvSpPr>
              <p:cNvPr name="TextBox 37" id="37"/>
              <p:cNvSpPr txBox="true"/>
              <p:nvPr/>
            </p:nvSpPr>
            <p:spPr>
              <a:xfrm>
                <a:off x="0" y="-38100"/>
                <a:ext cx="2240237" cy="261136"/>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thông</a:t>
                </a:r>
                <a:r>
                  <a:rPr lang="en-US" b="true" sz="1899">
                    <a:solidFill>
                      <a:srgbClr val="FEFEFE"/>
                    </a:solidFill>
                    <a:latin typeface="Montserrat Bold"/>
                    <a:ea typeface="Montserrat Bold"/>
                    <a:cs typeface="Montserrat Bold"/>
                    <a:sym typeface="Montserrat Bold"/>
                  </a:rPr>
                  <a:t> qua</a:t>
                </a:r>
                <a:r>
                  <a:rPr lang="en-US" b="true" sz="1899">
                    <a:solidFill>
                      <a:srgbClr val="FEFEFE"/>
                    </a:solidFill>
                    <a:latin typeface="Montserrat Bold"/>
                    <a:ea typeface="Montserrat Bold"/>
                    <a:cs typeface="Montserrat Bold"/>
                    <a:sym typeface="Montserrat Bold"/>
                  </a:rPr>
                  <a:t> thính</a:t>
                </a:r>
                <a:r>
                  <a:rPr lang="en-US" b="true" sz="1899">
                    <a:solidFill>
                      <a:srgbClr val="FEFEFE"/>
                    </a:solidFill>
                    <a:latin typeface="Montserrat Bold"/>
                    <a:ea typeface="Montserrat Bold"/>
                    <a:cs typeface="Montserrat Bold"/>
                    <a:sym typeface="Montserrat Bold"/>
                  </a:rPr>
                  <a:t> giác </a:t>
                </a:r>
                <a:r>
                  <a:rPr lang="en-US" b="true" sz="1899">
                    <a:solidFill>
                      <a:srgbClr val="FEFEFE"/>
                    </a:solidFill>
                    <a:latin typeface="Montserrat Bold"/>
                    <a:ea typeface="Montserrat Bold"/>
                    <a:cs typeface="Montserrat Bold"/>
                    <a:sym typeface="Montserrat Bold"/>
                  </a:rPr>
                  <a:t>(bài giảng, </a:t>
                </a:r>
                <a:r>
                  <a:rPr lang="en-US" b="true" sz="1899">
                    <a:solidFill>
                      <a:srgbClr val="FEFEFE"/>
                    </a:solidFill>
                    <a:latin typeface="Montserrat Bold"/>
                    <a:ea typeface="Montserrat Bold"/>
                    <a:cs typeface="Montserrat Bold"/>
                    <a:sym typeface="Montserrat Bold"/>
                  </a:rPr>
                  <a:t>thảo luận, âm thanh,...</a:t>
                </a:r>
                <a:r>
                  <a:rPr lang="en-US" b="true" sz="1899">
                    <a:solidFill>
                      <a:srgbClr val="FEFEFE"/>
                    </a:solidFill>
                    <a:latin typeface="Montserrat Bold"/>
                    <a:ea typeface="Montserrat Bold"/>
                    <a:cs typeface="Montserrat Bold"/>
                    <a:sym typeface="Montserrat Bold"/>
                  </a:rPr>
                  <a:t>)</a:t>
                </a:r>
              </a:p>
            </p:txBody>
          </p:sp>
        </p:grpSp>
        <p:grpSp>
          <p:nvGrpSpPr>
            <p:cNvPr name="Group 38" id="38"/>
            <p:cNvGrpSpPr/>
            <p:nvPr/>
          </p:nvGrpSpPr>
          <p:grpSpPr>
            <a:xfrm rot="0">
              <a:off x="0" y="322753"/>
              <a:ext cx="546745" cy="483616"/>
              <a:chOff x="0" y="0"/>
              <a:chExt cx="918899" cy="812800"/>
            </a:xfrm>
          </p:grpSpPr>
          <p:sp>
            <p:nvSpPr>
              <p:cNvPr name="Freeform 39" id="39"/>
              <p:cNvSpPr/>
              <p:nvPr/>
            </p:nvSpPr>
            <p:spPr>
              <a:xfrm flipH="false" flipV="false" rot="0">
                <a:off x="85060" y="71519"/>
                <a:ext cx="748779" cy="669763"/>
              </a:xfrm>
              <a:custGeom>
                <a:avLst/>
                <a:gdLst/>
                <a:ahLst/>
                <a:cxnLst/>
                <a:rect r="r" b="b" t="t" l="l"/>
                <a:pathLst>
                  <a:path h="669763" w="748779">
                    <a:moveTo>
                      <a:pt x="515806" y="53569"/>
                    </a:moveTo>
                    <a:lnTo>
                      <a:pt x="692423" y="209793"/>
                    </a:lnTo>
                    <a:cubicBezTo>
                      <a:pt x="728259" y="241491"/>
                      <a:pt x="748779" y="287037"/>
                      <a:pt x="748779" y="334881"/>
                    </a:cubicBezTo>
                    <a:cubicBezTo>
                      <a:pt x="748779" y="382725"/>
                      <a:pt x="728259" y="428271"/>
                      <a:pt x="692423" y="459969"/>
                    </a:cubicBezTo>
                    <a:lnTo>
                      <a:pt x="515806" y="616193"/>
                    </a:lnTo>
                    <a:cubicBezTo>
                      <a:pt x="435057" y="687619"/>
                      <a:pt x="313723" y="687619"/>
                      <a:pt x="232973" y="616193"/>
                    </a:cubicBezTo>
                    <a:lnTo>
                      <a:pt x="56356" y="459969"/>
                    </a:lnTo>
                    <a:cubicBezTo>
                      <a:pt x="20520" y="428271"/>
                      <a:pt x="0" y="382725"/>
                      <a:pt x="0" y="334881"/>
                    </a:cubicBezTo>
                    <a:cubicBezTo>
                      <a:pt x="0" y="287037"/>
                      <a:pt x="20520" y="241491"/>
                      <a:pt x="56356" y="209793"/>
                    </a:cubicBezTo>
                    <a:lnTo>
                      <a:pt x="232973" y="53569"/>
                    </a:lnTo>
                    <a:cubicBezTo>
                      <a:pt x="313723" y="-17857"/>
                      <a:pt x="435057" y="-17857"/>
                      <a:pt x="515806" y="53569"/>
                    </a:cubicBezTo>
                    <a:close/>
                  </a:path>
                </a:pathLst>
              </a:custGeom>
              <a:solidFill>
                <a:srgbClr val="FB863A"/>
              </a:solidFill>
            </p:spPr>
          </p:sp>
          <p:sp>
            <p:nvSpPr>
              <p:cNvPr name="TextBox 40" id="40"/>
              <p:cNvSpPr txBox="true"/>
              <p:nvPr/>
            </p:nvSpPr>
            <p:spPr>
              <a:xfrm>
                <a:off x="157936" y="101600"/>
                <a:ext cx="603028" cy="571500"/>
              </a:xfrm>
              <a:prstGeom prst="rect">
                <a:avLst/>
              </a:prstGeom>
            </p:spPr>
            <p:txBody>
              <a:bodyPr anchor="ctr" rtlCol="false" tIns="50800" lIns="50800" bIns="50800" rIns="50800"/>
              <a:lstStyle/>
              <a:p>
                <a:pPr algn="ctr">
                  <a:lnSpc>
                    <a:spcPts val="2659"/>
                  </a:lnSpc>
                </a:pPr>
              </a:p>
            </p:txBody>
          </p:sp>
        </p:grpSp>
      </p:grpSp>
      <p:grpSp>
        <p:nvGrpSpPr>
          <p:cNvPr name="Group 41" id="41"/>
          <p:cNvGrpSpPr/>
          <p:nvPr/>
        </p:nvGrpSpPr>
        <p:grpSpPr>
          <a:xfrm rot="0">
            <a:off x="1919777" y="6906370"/>
            <a:ext cx="8710931" cy="846841"/>
            <a:chOff x="0" y="0"/>
            <a:chExt cx="11614575" cy="1129121"/>
          </a:xfrm>
        </p:grpSpPr>
        <p:grpSp>
          <p:nvGrpSpPr>
            <p:cNvPr name="Group 42" id="42"/>
            <p:cNvGrpSpPr/>
            <p:nvPr/>
          </p:nvGrpSpPr>
          <p:grpSpPr>
            <a:xfrm rot="0">
              <a:off x="289816" y="0"/>
              <a:ext cx="11324758" cy="1129121"/>
              <a:chOff x="0" y="0"/>
              <a:chExt cx="2236989" cy="223036"/>
            </a:xfrm>
          </p:grpSpPr>
          <p:sp>
            <p:nvSpPr>
              <p:cNvPr name="Freeform 43" id="43"/>
              <p:cNvSpPr/>
              <p:nvPr/>
            </p:nvSpPr>
            <p:spPr>
              <a:xfrm flipH="false" flipV="false" rot="0">
                <a:off x="0" y="0"/>
                <a:ext cx="2236989" cy="223036"/>
              </a:xfrm>
              <a:custGeom>
                <a:avLst/>
                <a:gdLst/>
                <a:ahLst/>
                <a:cxnLst/>
                <a:rect r="r" b="b" t="t" l="l"/>
                <a:pathLst>
                  <a:path h="223036" w="2236989">
                    <a:moveTo>
                      <a:pt x="27345" y="0"/>
                    </a:moveTo>
                    <a:lnTo>
                      <a:pt x="2209644" y="0"/>
                    </a:lnTo>
                    <a:cubicBezTo>
                      <a:pt x="2216897" y="0"/>
                      <a:pt x="2223852" y="2881"/>
                      <a:pt x="2228980" y="8009"/>
                    </a:cubicBezTo>
                    <a:cubicBezTo>
                      <a:pt x="2234108" y="13137"/>
                      <a:pt x="2236989" y="20093"/>
                      <a:pt x="2236989" y="27345"/>
                    </a:cubicBezTo>
                    <a:lnTo>
                      <a:pt x="2236989" y="195691"/>
                    </a:lnTo>
                    <a:cubicBezTo>
                      <a:pt x="2236989" y="210793"/>
                      <a:pt x="2224747" y="223036"/>
                      <a:pt x="2209644" y="223036"/>
                    </a:cubicBezTo>
                    <a:lnTo>
                      <a:pt x="27345" y="223036"/>
                    </a:lnTo>
                    <a:cubicBezTo>
                      <a:pt x="20093" y="223036"/>
                      <a:pt x="13137" y="220155"/>
                      <a:pt x="8009" y="215027"/>
                    </a:cubicBezTo>
                    <a:cubicBezTo>
                      <a:pt x="2881" y="209899"/>
                      <a:pt x="0" y="202944"/>
                      <a:pt x="0" y="195691"/>
                    </a:cubicBezTo>
                    <a:lnTo>
                      <a:pt x="0" y="27345"/>
                    </a:lnTo>
                    <a:cubicBezTo>
                      <a:pt x="0" y="20093"/>
                      <a:pt x="2881" y="13137"/>
                      <a:pt x="8009" y="8009"/>
                    </a:cubicBezTo>
                    <a:cubicBezTo>
                      <a:pt x="13137" y="2881"/>
                      <a:pt x="20093" y="0"/>
                      <a:pt x="27345" y="0"/>
                    </a:cubicBezTo>
                    <a:close/>
                  </a:path>
                </a:pathLst>
              </a:custGeom>
              <a:solidFill>
                <a:srgbClr val="0A2B89"/>
              </a:solidFill>
              <a:ln cap="rnd">
                <a:noFill/>
                <a:prstDash val="solid"/>
                <a:round/>
              </a:ln>
            </p:spPr>
          </p:sp>
          <p:sp>
            <p:nvSpPr>
              <p:cNvPr name="TextBox 44" id="44"/>
              <p:cNvSpPr txBox="true"/>
              <p:nvPr/>
            </p:nvSpPr>
            <p:spPr>
              <a:xfrm>
                <a:off x="0" y="-38100"/>
                <a:ext cx="2236989" cy="261136"/>
              </a:xfrm>
              <a:prstGeom prst="rect">
                <a:avLst/>
              </a:prstGeom>
            </p:spPr>
            <p:txBody>
              <a:bodyPr anchor="ctr" rtlCol="false" tIns="50800" lIns="50800" bIns="50800" rIns="50800"/>
              <a:lstStyle/>
              <a:p>
                <a:pPr algn="ctr" marL="0" indent="0" lvl="0">
                  <a:lnSpc>
                    <a:spcPts val="2659"/>
                  </a:lnSpc>
                  <a:spcBef>
                    <a:spcPct val="0"/>
                  </a:spcBef>
                </a:pPr>
                <a:r>
                  <a:rPr lang="en-US" b="true" sz="1899">
                    <a:solidFill>
                      <a:srgbClr val="FEFEFE"/>
                    </a:solidFill>
                    <a:latin typeface="Montserrat Bold"/>
                    <a:ea typeface="Montserrat Bold"/>
                    <a:cs typeface="Montserrat Bold"/>
                    <a:sym typeface="Montserrat Bold"/>
                  </a:rPr>
                  <a:t>Học tập thông</a:t>
                </a:r>
                <a:r>
                  <a:rPr lang="en-US" b="true" sz="1899">
                    <a:solidFill>
                      <a:srgbClr val="FEFEFE"/>
                    </a:solidFill>
                    <a:latin typeface="Montserrat Bold"/>
                    <a:ea typeface="Montserrat Bold"/>
                    <a:cs typeface="Montserrat Bold"/>
                    <a:sym typeface="Montserrat Bold"/>
                  </a:rPr>
                  <a:t> qua</a:t>
                </a: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đọc viết </a:t>
                </a:r>
                <a:r>
                  <a:rPr lang="en-US" b="true" sz="1899">
                    <a:solidFill>
                      <a:srgbClr val="FEFEFE"/>
                    </a:solidFill>
                    <a:latin typeface="Montserrat Bold"/>
                    <a:ea typeface="Montserrat Bold"/>
                    <a:cs typeface="Montserrat Bold"/>
                    <a:sym typeface="Montserrat Bold"/>
                  </a:rPr>
                  <a:t>(đọc nghiên cứu tài liệu, ghi chú,...)</a:t>
                </a:r>
              </a:p>
            </p:txBody>
          </p:sp>
        </p:grpSp>
        <p:grpSp>
          <p:nvGrpSpPr>
            <p:cNvPr name="Group 45" id="45"/>
            <p:cNvGrpSpPr/>
            <p:nvPr/>
          </p:nvGrpSpPr>
          <p:grpSpPr>
            <a:xfrm rot="0">
              <a:off x="0" y="322753"/>
              <a:ext cx="579633" cy="483616"/>
              <a:chOff x="0" y="0"/>
              <a:chExt cx="974173" cy="812800"/>
            </a:xfrm>
          </p:grpSpPr>
          <p:sp>
            <p:nvSpPr>
              <p:cNvPr name="Freeform 46" id="46"/>
              <p:cNvSpPr/>
              <p:nvPr/>
            </p:nvSpPr>
            <p:spPr>
              <a:xfrm flipH="false" flipV="false" rot="0">
                <a:off x="83347" y="64537"/>
                <a:ext cx="807479" cy="683726"/>
              </a:xfrm>
              <a:custGeom>
                <a:avLst/>
                <a:gdLst/>
                <a:ahLst/>
                <a:cxnLst/>
                <a:rect r="r" b="b" t="t" l="l"/>
                <a:pathLst>
                  <a:path h="683726" w="807479">
                    <a:moveTo>
                      <a:pt x="540482" y="49554"/>
                    </a:moveTo>
                    <a:lnTo>
                      <a:pt x="754083" y="227772"/>
                    </a:lnTo>
                    <a:cubicBezTo>
                      <a:pt x="787919" y="256003"/>
                      <a:pt x="807479" y="297796"/>
                      <a:pt x="807479" y="341863"/>
                    </a:cubicBezTo>
                    <a:cubicBezTo>
                      <a:pt x="807479" y="385930"/>
                      <a:pt x="787919" y="427723"/>
                      <a:pt x="754083" y="455954"/>
                    </a:cubicBezTo>
                    <a:lnTo>
                      <a:pt x="540482" y="634172"/>
                    </a:lnTo>
                    <a:cubicBezTo>
                      <a:pt x="461292" y="700244"/>
                      <a:pt x="346187" y="700244"/>
                      <a:pt x="266997" y="634172"/>
                    </a:cubicBezTo>
                    <a:lnTo>
                      <a:pt x="53396" y="455954"/>
                    </a:lnTo>
                    <a:cubicBezTo>
                      <a:pt x="19560" y="427723"/>
                      <a:pt x="0" y="385930"/>
                      <a:pt x="0" y="341863"/>
                    </a:cubicBezTo>
                    <a:cubicBezTo>
                      <a:pt x="0" y="297796"/>
                      <a:pt x="19560" y="256003"/>
                      <a:pt x="53396" y="227772"/>
                    </a:cubicBezTo>
                    <a:lnTo>
                      <a:pt x="266997" y="49554"/>
                    </a:lnTo>
                    <a:cubicBezTo>
                      <a:pt x="346187" y="-16518"/>
                      <a:pt x="461292" y="-16518"/>
                      <a:pt x="540482" y="49554"/>
                    </a:cubicBezTo>
                    <a:close/>
                  </a:path>
                </a:pathLst>
              </a:custGeom>
              <a:solidFill>
                <a:srgbClr val="FB863A"/>
              </a:solidFill>
            </p:spPr>
          </p:sp>
          <p:sp>
            <p:nvSpPr>
              <p:cNvPr name="TextBox 47" id="47"/>
              <p:cNvSpPr txBox="true"/>
              <p:nvPr/>
            </p:nvSpPr>
            <p:spPr>
              <a:xfrm>
                <a:off x="167436" y="101600"/>
                <a:ext cx="639301" cy="571500"/>
              </a:xfrm>
              <a:prstGeom prst="rect">
                <a:avLst/>
              </a:prstGeom>
            </p:spPr>
            <p:txBody>
              <a:bodyPr anchor="ctr" rtlCol="false" tIns="50800" lIns="50800" bIns="50800" rIns="50800"/>
              <a:lstStyle/>
              <a:p>
                <a:pPr algn="ctr">
                  <a:lnSpc>
                    <a:spcPts val="2659"/>
                  </a:lnSpc>
                </a:pPr>
              </a:p>
            </p:txBody>
          </p:sp>
        </p:grpSp>
      </p:grpSp>
      <p:grpSp>
        <p:nvGrpSpPr>
          <p:cNvPr name="Group 48" id="48"/>
          <p:cNvGrpSpPr/>
          <p:nvPr/>
        </p:nvGrpSpPr>
        <p:grpSpPr>
          <a:xfrm rot="0">
            <a:off x="1938925" y="8019911"/>
            <a:ext cx="8710931" cy="846841"/>
            <a:chOff x="0" y="0"/>
            <a:chExt cx="11614575" cy="1129121"/>
          </a:xfrm>
        </p:grpSpPr>
        <p:grpSp>
          <p:nvGrpSpPr>
            <p:cNvPr name="Group 49" id="49"/>
            <p:cNvGrpSpPr/>
            <p:nvPr/>
          </p:nvGrpSpPr>
          <p:grpSpPr>
            <a:xfrm rot="0">
              <a:off x="289816" y="0"/>
              <a:ext cx="11324758" cy="1129121"/>
              <a:chOff x="0" y="0"/>
              <a:chExt cx="2236989" cy="223036"/>
            </a:xfrm>
          </p:grpSpPr>
          <p:sp>
            <p:nvSpPr>
              <p:cNvPr name="Freeform 50" id="50"/>
              <p:cNvSpPr/>
              <p:nvPr/>
            </p:nvSpPr>
            <p:spPr>
              <a:xfrm flipH="false" flipV="false" rot="0">
                <a:off x="0" y="0"/>
                <a:ext cx="2236989" cy="223036"/>
              </a:xfrm>
              <a:custGeom>
                <a:avLst/>
                <a:gdLst/>
                <a:ahLst/>
                <a:cxnLst/>
                <a:rect r="r" b="b" t="t" l="l"/>
                <a:pathLst>
                  <a:path h="223036" w="2236989">
                    <a:moveTo>
                      <a:pt x="27345" y="0"/>
                    </a:moveTo>
                    <a:lnTo>
                      <a:pt x="2209644" y="0"/>
                    </a:lnTo>
                    <a:cubicBezTo>
                      <a:pt x="2216897" y="0"/>
                      <a:pt x="2223852" y="2881"/>
                      <a:pt x="2228980" y="8009"/>
                    </a:cubicBezTo>
                    <a:cubicBezTo>
                      <a:pt x="2234108" y="13137"/>
                      <a:pt x="2236989" y="20093"/>
                      <a:pt x="2236989" y="27345"/>
                    </a:cubicBezTo>
                    <a:lnTo>
                      <a:pt x="2236989" y="195691"/>
                    </a:lnTo>
                    <a:cubicBezTo>
                      <a:pt x="2236989" y="210793"/>
                      <a:pt x="2224747" y="223036"/>
                      <a:pt x="2209644" y="223036"/>
                    </a:cubicBezTo>
                    <a:lnTo>
                      <a:pt x="27345" y="223036"/>
                    </a:lnTo>
                    <a:cubicBezTo>
                      <a:pt x="20093" y="223036"/>
                      <a:pt x="13137" y="220155"/>
                      <a:pt x="8009" y="215027"/>
                    </a:cubicBezTo>
                    <a:cubicBezTo>
                      <a:pt x="2881" y="209899"/>
                      <a:pt x="0" y="202944"/>
                      <a:pt x="0" y="195691"/>
                    </a:cubicBezTo>
                    <a:lnTo>
                      <a:pt x="0" y="27345"/>
                    </a:lnTo>
                    <a:cubicBezTo>
                      <a:pt x="0" y="20093"/>
                      <a:pt x="2881" y="13137"/>
                      <a:pt x="8009" y="8009"/>
                    </a:cubicBezTo>
                    <a:cubicBezTo>
                      <a:pt x="13137" y="2881"/>
                      <a:pt x="20093" y="0"/>
                      <a:pt x="27345" y="0"/>
                    </a:cubicBezTo>
                    <a:close/>
                  </a:path>
                </a:pathLst>
              </a:custGeom>
              <a:solidFill>
                <a:srgbClr val="0A2B89"/>
              </a:solidFill>
              <a:ln cap="rnd">
                <a:noFill/>
                <a:prstDash val="solid"/>
                <a:round/>
              </a:ln>
            </p:spPr>
          </p:sp>
          <p:sp>
            <p:nvSpPr>
              <p:cNvPr name="TextBox 51" id="51"/>
              <p:cNvSpPr txBox="true"/>
              <p:nvPr/>
            </p:nvSpPr>
            <p:spPr>
              <a:xfrm>
                <a:off x="0" y="-38100"/>
                <a:ext cx="2236989" cy="261136"/>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thông</a:t>
                </a:r>
                <a:r>
                  <a:rPr lang="en-US" b="true" sz="1899">
                    <a:solidFill>
                      <a:srgbClr val="FEFEFE"/>
                    </a:solidFill>
                    <a:latin typeface="Montserrat Bold"/>
                    <a:ea typeface="Montserrat Bold"/>
                    <a:cs typeface="Montserrat Bold"/>
                    <a:sym typeface="Montserrat Bold"/>
                  </a:rPr>
                  <a:t> qua</a:t>
                </a:r>
                <a:r>
                  <a:rPr lang="en-US" b="true" sz="1899">
                    <a:solidFill>
                      <a:srgbClr val="FEFEFE"/>
                    </a:solidFill>
                    <a:latin typeface="Montserrat Bold"/>
                    <a:ea typeface="Montserrat Bold"/>
                    <a:cs typeface="Montserrat Bold"/>
                    <a:sym typeface="Montserrat Bold"/>
                  </a:rPr>
                  <a:t> vận</a:t>
                </a:r>
                <a:r>
                  <a:rPr lang="en-US" b="true" sz="1899">
                    <a:solidFill>
                      <a:srgbClr val="FEFEFE"/>
                    </a:solidFill>
                    <a:latin typeface="Montserrat Bold"/>
                    <a:ea typeface="Montserrat Bold"/>
                    <a:cs typeface="Montserrat Bold"/>
                    <a:sym typeface="Montserrat Bold"/>
                  </a:rPr>
                  <a:t> độ</a:t>
                </a:r>
                <a:r>
                  <a:rPr lang="en-US" b="true" sz="1899">
                    <a:solidFill>
                      <a:srgbClr val="FEFEFE"/>
                    </a:solidFill>
                    <a:latin typeface="Montserrat Bold"/>
                    <a:ea typeface="Montserrat Bold"/>
                    <a:cs typeface="Montserrat Bold"/>
                    <a:sym typeface="Montserrat Bold"/>
                  </a:rPr>
                  <a:t>ng</a:t>
                </a: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(tương tác</a:t>
                </a:r>
                <a:r>
                  <a:rPr lang="en-US" b="true" sz="1899">
                    <a:solidFill>
                      <a:srgbClr val="FEFEFE"/>
                    </a:solidFill>
                    <a:latin typeface="Montserrat Bold"/>
                    <a:ea typeface="Montserrat Bold"/>
                    <a:cs typeface="Montserrat Bold"/>
                    <a:sym typeface="Montserrat Bold"/>
                  </a:rPr>
                  <a:t>, làm quizz,...</a:t>
                </a:r>
                <a:r>
                  <a:rPr lang="en-US" b="true" sz="1899">
                    <a:solidFill>
                      <a:srgbClr val="FEFEFE"/>
                    </a:solidFill>
                    <a:latin typeface="Montserrat Bold"/>
                    <a:ea typeface="Montserrat Bold"/>
                    <a:cs typeface="Montserrat Bold"/>
                    <a:sym typeface="Montserrat Bold"/>
                  </a:rPr>
                  <a:t>)</a:t>
                </a:r>
              </a:p>
            </p:txBody>
          </p:sp>
        </p:grpSp>
        <p:grpSp>
          <p:nvGrpSpPr>
            <p:cNvPr name="Group 52" id="52"/>
            <p:cNvGrpSpPr/>
            <p:nvPr/>
          </p:nvGrpSpPr>
          <p:grpSpPr>
            <a:xfrm rot="0">
              <a:off x="0" y="322753"/>
              <a:ext cx="579633" cy="483616"/>
              <a:chOff x="0" y="0"/>
              <a:chExt cx="974173" cy="812800"/>
            </a:xfrm>
          </p:grpSpPr>
          <p:sp>
            <p:nvSpPr>
              <p:cNvPr name="Freeform 53" id="53"/>
              <p:cNvSpPr/>
              <p:nvPr/>
            </p:nvSpPr>
            <p:spPr>
              <a:xfrm flipH="false" flipV="false" rot="0">
                <a:off x="83347" y="64537"/>
                <a:ext cx="807479" cy="683726"/>
              </a:xfrm>
              <a:custGeom>
                <a:avLst/>
                <a:gdLst/>
                <a:ahLst/>
                <a:cxnLst/>
                <a:rect r="r" b="b" t="t" l="l"/>
                <a:pathLst>
                  <a:path h="683726" w="807479">
                    <a:moveTo>
                      <a:pt x="540482" y="49554"/>
                    </a:moveTo>
                    <a:lnTo>
                      <a:pt x="754083" y="227772"/>
                    </a:lnTo>
                    <a:cubicBezTo>
                      <a:pt x="787919" y="256003"/>
                      <a:pt x="807479" y="297796"/>
                      <a:pt x="807479" y="341863"/>
                    </a:cubicBezTo>
                    <a:cubicBezTo>
                      <a:pt x="807479" y="385930"/>
                      <a:pt x="787919" y="427723"/>
                      <a:pt x="754083" y="455954"/>
                    </a:cubicBezTo>
                    <a:lnTo>
                      <a:pt x="540482" y="634172"/>
                    </a:lnTo>
                    <a:cubicBezTo>
                      <a:pt x="461292" y="700244"/>
                      <a:pt x="346187" y="700244"/>
                      <a:pt x="266997" y="634172"/>
                    </a:cubicBezTo>
                    <a:lnTo>
                      <a:pt x="53396" y="455954"/>
                    </a:lnTo>
                    <a:cubicBezTo>
                      <a:pt x="19560" y="427723"/>
                      <a:pt x="0" y="385930"/>
                      <a:pt x="0" y="341863"/>
                    </a:cubicBezTo>
                    <a:cubicBezTo>
                      <a:pt x="0" y="297796"/>
                      <a:pt x="19560" y="256003"/>
                      <a:pt x="53396" y="227772"/>
                    </a:cubicBezTo>
                    <a:lnTo>
                      <a:pt x="266997" y="49554"/>
                    </a:lnTo>
                    <a:cubicBezTo>
                      <a:pt x="346187" y="-16518"/>
                      <a:pt x="461292" y="-16518"/>
                      <a:pt x="540482" y="49554"/>
                    </a:cubicBezTo>
                    <a:close/>
                  </a:path>
                </a:pathLst>
              </a:custGeom>
              <a:solidFill>
                <a:srgbClr val="FB863A"/>
              </a:solidFill>
            </p:spPr>
          </p:sp>
          <p:sp>
            <p:nvSpPr>
              <p:cNvPr name="TextBox 54" id="54"/>
              <p:cNvSpPr txBox="true"/>
              <p:nvPr/>
            </p:nvSpPr>
            <p:spPr>
              <a:xfrm>
                <a:off x="167436" y="101600"/>
                <a:ext cx="639301" cy="571500"/>
              </a:xfrm>
              <a:prstGeom prst="rect">
                <a:avLst/>
              </a:prstGeom>
            </p:spPr>
            <p:txBody>
              <a:bodyPr anchor="ctr" rtlCol="false" tIns="50800" lIns="50800" bIns="50800" rIns="50800"/>
              <a:lstStyle/>
              <a:p>
                <a:pPr algn="ctr">
                  <a:lnSpc>
                    <a:spcPts val="2659"/>
                  </a:lnSpc>
                </a:pPr>
              </a:p>
            </p:txBody>
          </p:sp>
        </p:gr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897210" y="1116917"/>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6482040" y="4620622"/>
            <a:ext cx="7379250" cy="746403"/>
            <a:chOff x="0" y="0"/>
            <a:chExt cx="1943506" cy="196584"/>
          </a:xfrm>
        </p:grpSpPr>
        <p:sp>
          <p:nvSpPr>
            <p:cNvPr name="Freeform 10" id="10"/>
            <p:cNvSpPr/>
            <p:nvPr/>
          </p:nvSpPr>
          <p:spPr>
            <a:xfrm flipH="false" flipV="false" rot="0">
              <a:off x="0" y="0"/>
              <a:ext cx="1943506" cy="196584"/>
            </a:xfrm>
            <a:custGeom>
              <a:avLst/>
              <a:gdLst/>
              <a:ahLst/>
              <a:cxnLst/>
              <a:rect r="r" b="b" t="t" l="l"/>
              <a:pathLst>
                <a:path h="196584" w="1943506">
                  <a:moveTo>
                    <a:pt x="0" y="0"/>
                  </a:moveTo>
                  <a:lnTo>
                    <a:pt x="1943506" y="0"/>
                  </a:lnTo>
                  <a:lnTo>
                    <a:pt x="1943506" y="196584"/>
                  </a:lnTo>
                  <a:lnTo>
                    <a:pt x="0" y="196584"/>
                  </a:lnTo>
                  <a:close/>
                </a:path>
              </a:pathLst>
            </a:custGeom>
            <a:solidFill>
              <a:srgbClr val="0A2B89">
                <a:alpha val="42745"/>
              </a:srgbClr>
            </a:solidFill>
            <a:ln cap="sq">
              <a:noFill/>
              <a:prstDash val="solid"/>
              <a:miter/>
            </a:ln>
          </p:spPr>
        </p:sp>
        <p:sp>
          <p:nvSpPr>
            <p:cNvPr name="TextBox 11" id="11"/>
            <p:cNvSpPr txBox="true"/>
            <p:nvPr/>
          </p:nvSpPr>
          <p:spPr>
            <a:xfrm>
              <a:off x="0" y="-38100"/>
              <a:ext cx="194350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sp>
        <p:nvSpPr>
          <p:cNvPr name="Freeform 12" id="12"/>
          <p:cNvSpPr/>
          <p:nvPr/>
        </p:nvSpPr>
        <p:spPr>
          <a:xfrm flipH="false" flipV="true" rot="-7619986">
            <a:off x="16065018" y="2098730"/>
            <a:ext cx="1155365" cy="614615"/>
          </a:xfrm>
          <a:custGeom>
            <a:avLst/>
            <a:gdLst/>
            <a:ahLst/>
            <a:cxnLst/>
            <a:rect r="r" b="b" t="t" l="l"/>
            <a:pathLst>
              <a:path h="614615" w="1155365">
                <a:moveTo>
                  <a:pt x="0" y="614615"/>
                </a:moveTo>
                <a:lnTo>
                  <a:pt x="1155365" y="614615"/>
                </a:lnTo>
                <a:lnTo>
                  <a:pt x="1155365" y="0"/>
                </a:lnTo>
                <a:lnTo>
                  <a:pt x="0" y="0"/>
                </a:lnTo>
                <a:lnTo>
                  <a:pt x="0" y="61461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4839933"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10</a:t>
            </a:r>
          </a:p>
        </p:txBody>
      </p:sp>
      <p:sp>
        <p:nvSpPr>
          <p:cNvPr name="TextBox 14" id="14"/>
          <p:cNvSpPr txBox="true"/>
          <p:nvPr/>
        </p:nvSpPr>
        <p:spPr>
          <a:xfrm rot="0">
            <a:off x="1722385" y="2044060"/>
            <a:ext cx="14105242" cy="933504"/>
          </a:xfrm>
          <a:prstGeom prst="rect">
            <a:avLst/>
          </a:prstGeom>
        </p:spPr>
        <p:txBody>
          <a:bodyPr anchor="t" rtlCol="false" tIns="0" lIns="0" bIns="0" rIns="0">
            <a:spAutoFit/>
          </a:bodyPr>
          <a:lstStyle/>
          <a:p>
            <a:pPr algn="l">
              <a:lnSpc>
                <a:spcPts val="6751"/>
              </a:lnSpc>
            </a:pPr>
            <a:r>
              <a:rPr lang="en-US" sz="7501" spc="-165" b="true">
                <a:solidFill>
                  <a:srgbClr val="171718"/>
                </a:solidFill>
                <a:latin typeface="Montserrat Bold"/>
                <a:ea typeface="Montserrat Bold"/>
                <a:cs typeface="Montserrat Bold"/>
                <a:sym typeface="Montserrat Bold"/>
              </a:rPr>
              <a:t>Learner-centered approach</a:t>
            </a:r>
          </a:p>
        </p:txBody>
      </p:sp>
      <p:sp>
        <p:nvSpPr>
          <p:cNvPr name="TextBox 15" id="15"/>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grpSp>
        <p:nvGrpSpPr>
          <p:cNvPr name="Group 16" id="16"/>
          <p:cNvGrpSpPr/>
          <p:nvPr/>
        </p:nvGrpSpPr>
        <p:grpSpPr>
          <a:xfrm rot="0">
            <a:off x="-7092880" y="5685123"/>
            <a:ext cx="7990090" cy="746403"/>
            <a:chOff x="0" y="0"/>
            <a:chExt cx="2104386" cy="196584"/>
          </a:xfrm>
        </p:grpSpPr>
        <p:sp>
          <p:nvSpPr>
            <p:cNvPr name="Freeform 17" id="17"/>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alpha val="42745"/>
              </a:srgbClr>
            </a:solidFill>
            <a:ln cap="sq">
              <a:noFill/>
              <a:prstDash val="solid"/>
              <a:miter/>
            </a:ln>
          </p:spPr>
        </p:sp>
        <p:sp>
          <p:nvSpPr>
            <p:cNvPr name="TextBox 18" id="18"/>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19" id="19"/>
          <p:cNvGrpSpPr/>
          <p:nvPr/>
        </p:nvGrpSpPr>
        <p:grpSpPr>
          <a:xfrm rot="0">
            <a:off x="-6472466" y="6745852"/>
            <a:ext cx="7980516" cy="746403"/>
            <a:chOff x="0" y="0"/>
            <a:chExt cx="2101864" cy="196584"/>
          </a:xfrm>
        </p:grpSpPr>
        <p:sp>
          <p:nvSpPr>
            <p:cNvPr name="Freeform 20" id="20"/>
            <p:cNvSpPr/>
            <p:nvPr/>
          </p:nvSpPr>
          <p:spPr>
            <a:xfrm flipH="false" flipV="false" rot="0">
              <a:off x="0" y="0"/>
              <a:ext cx="2101864" cy="196584"/>
            </a:xfrm>
            <a:custGeom>
              <a:avLst/>
              <a:gdLst/>
              <a:ahLst/>
              <a:cxnLst/>
              <a:rect r="r" b="b" t="t" l="l"/>
              <a:pathLst>
                <a:path h="196584" w="2101864">
                  <a:moveTo>
                    <a:pt x="0" y="0"/>
                  </a:moveTo>
                  <a:lnTo>
                    <a:pt x="2101864" y="0"/>
                  </a:lnTo>
                  <a:lnTo>
                    <a:pt x="2101864" y="196584"/>
                  </a:lnTo>
                  <a:lnTo>
                    <a:pt x="0" y="196584"/>
                  </a:lnTo>
                  <a:close/>
                </a:path>
              </a:pathLst>
            </a:custGeom>
            <a:solidFill>
              <a:srgbClr val="0A2B89"/>
            </a:solidFill>
            <a:ln cap="sq">
              <a:noFill/>
              <a:prstDash val="solid"/>
              <a:miter/>
            </a:ln>
          </p:spPr>
        </p:sp>
        <p:sp>
          <p:nvSpPr>
            <p:cNvPr name="TextBox 21" id="21"/>
            <p:cNvSpPr txBox="true"/>
            <p:nvPr/>
          </p:nvSpPr>
          <p:spPr>
            <a:xfrm>
              <a:off x="0" y="-38100"/>
              <a:ext cx="2101864"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bằng thị</a:t>
              </a:r>
              <a:r>
                <a:rPr lang="en-US" b="true" sz="1899">
                  <a:solidFill>
                    <a:srgbClr val="FEFEFE"/>
                  </a:solidFill>
                  <a:latin typeface="Montserrat Bold"/>
                  <a:ea typeface="Montserrat Bold"/>
                  <a:cs typeface="Montserrat Bold"/>
                  <a:sym typeface="Montserrat Bold"/>
                </a:rPr>
                <a:t> giác </a:t>
              </a:r>
              <a:r>
                <a:rPr lang="en-US" b="true" sz="1899">
                  <a:solidFill>
                    <a:srgbClr val="FEFEFE"/>
                  </a:solidFill>
                  <a:latin typeface="Montserrat Bold"/>
                  <a:ea typeface="Montserrat Bold"/>
                  <a:cs typeface="Montserrat Bold"/>
                  <a:sym typeface="Montserrat Bold"/>
                </a:rPr>
                <a:t>(hình ảnh, video, sơ đồ,...)</a:t>
              </a:r>
            </a:p>
          </p:txBody>
        </p:sp>
      </p:grpSp>
      <p:grpSp>
        <p:nvGrpSpPr>
          <p:cNvPr name="Group 22" id="22"/>
          <p:cNvGrpSpPr/>
          <p:nvPr/>
        </p:nvGrpSpPr>
        <p:grpSpPr>
          <a:xfrm rot="0">
            <a:off x="-7083306" y="7810353"/>
            <a:ext cx="7990090" cy="746403"/>
            <a:chOff x="0" y="0"/>
            <a:chExt cx="2104386" cy="196584"/>
          </a:xfrm>
        </p:grpSpPr>
        <p:sp>
          <p:nvSpPr>
            <p:cNvPr name="Freeform 23" id="23"/>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alpha val="42745"/>
              </a:srgbClr>
            </a:solidFill>
            <a:ln cap="sq">
              <a:noFill/>
              <a:prstDash val="solid"/>
              <a:miter/>
            </a:ln>
          </p:spPr>
        </p:sp>
        <p:sp>
          <p:nvSpPr>
            <p:cNvPr name="TextBox 24" id="24"/>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sp>
        <p:nvSpPr>
          <p:cNvPr name="TextBox 25" id="25"/>
          <p:cNvSpPr txBox="true"/>
          <p:nvPr/>
        </p:nvSpPr>
        <p:spPr>
          <a:xfrm rot="0">
            <a:off x="1722385" y="3106518"/>
            <a:ext cx="8018334" cy="391287"/>
          </a:xfrm>
          <a:prstGeom prst="rect">
            <a:avLst/>
          </a:prstGeom>
        </p:spPr>
        <p:txBody>
          <a:bodyPr anchor="t" rtlCol="false" tIns="0" lIns="0" bIns="0" rIns="0">
            <a:spAutoFit/>
          </a:bodyPr>
          <a:lstStyle/>
          <a:p>
            <a:pPr algn="l">
              <a:lnSpc>
                <a:spcPts val="3024"/>
              </a:lnSpc>
            </a:pPr>
            <a:r>
              <a:rPr lang="en-US" b="true" sz="2400" spc="72">
                <a:solidFill>
                  <a:srgbClr val="082064"/>
                </a:solidFill>
                <a:latin typeface="Quicksand Bold"/>
                <a:ea typeface="Quicksand Bold"/>
                <a:cs typeface="Quicksand Bold"/>
                <a:sym typeface="Quicksand Bold"/>
              </a:rPr>
              <a:t> PHƯƠNG PHÁP LẤY NGƯỜI HỌC LÀM TRU</a:t>
            </a:r>
            <a:r>
              <a:rPr lang="en-US" b="true" sz="2400" spc="72">
                <a:solidFill>
                  <a:srgbClr val="082064"/>
                </a:solidFill>
                <a:latin typeface="Quicksand Bold"/>
                <a:ea typeface="Quicksand Bold"/>
                <a:cs typeface="Quicksand Bold"/>
                <a:sym typeface="Quicksand Bold"/>
              </a:rPr>
              <a:t>NG TÂM</a:t>
            </a:r>
          </a:p>
        </p:txBody>
      </p:sp>
      <p:grpSp>
        <p:nvGrpSpPr>
          <p:cNvPr name="Group 26" id="26"/>
          <p:cNvGrpSpPr/>
          <p:nvPr/>
        </p:nvGrpSpPr>
        <p:grpSpPr>
          <a:xfrm rot="0">
            <a:off x="2096064" y="4119745"/>
            <a:ext cx="8393492" cy="4623563"/>
            <a:chOff x="0" y="0"/>
            <a:chExt cx="2210632" cy="1217728"/>
          </a:xfrm>
        </p:grpSpPr>
        <p:sp>
          <p:nvSpPr>
            <p:cNvPr name="Freeform 27" id="27"/>
            <p:cNvSpPr/>
            <p:nvPr/>
          </p:nvSpPr>
          <p:spPr>
            <a:xfrm flipH="false" flipV="false" rot="0">
              <a:off x="0" y="0"/>
              <a:ext cx="2210632" cy="1217728"/>
            </a:xfrm>
            <a:custGeom>
              <a:avLst/>
              <a:gdLst/>
              <a:ahLst/>
              <a:cxnLst/>
              <a:rect r="r" b="b" t="t" l="l"/>
              <a:pathLst>
                <a:path h="1217728" w="2210632">
                  <a:moveTo>
                    <a:pt x="27671" y="0"/>
                  </a:moveTo>
                  <a:lnTo>
                    <a:pt x="2182960" y="0"/>
                  </a:lnTo>
                  <a:cubicBezTo>
                    <a:pt x="2198243" y="0"/>
                    <a:pt x="2210632" y="12389"/>
                    <a:pt x="2210632" y="27671"/>
                  </a:cubicBezTo>
                  <a:lnTo>
                    <a:pt x="2210632" y="1190057"/>
                  </a:lnTo>
                  <a:cubicBezTo>
                    <a:pt x="2210632" y="1205340"/>
                    <a:pt x="2198243" y="1217728"/>
                    <a:pt x="2182960" y="1217728"/>
                  </a:cubicBezTo>
                  <a:lnTo>
                    <a:pt x="27671" y="1217728"/>
                  </a:lnTo>
                  <a:cubicBezTo>
                    <a:pt x="12389" y="1217728"/>
                    <a:pt x="0" y="1205340"/>
                    <a:pt x="0" y="1190057"/>
                  </a:cubicBezTo>
                  <a:lnTo>
                    <a:pt x="0" y="27671"/>
                  </a:lnTo>
                  <a:cubicBezTo>
                    <a:pt x="0" y="12389"/>
                    <a:pt x="12389" y="0"/>
                    <a:pt x="27671" y="0"/>
                  </a:cubicBezTo>
                  <a:close/>
                </a:path>
              </a:pathLst>
            </a:custGeom>
            <a:solidFill>
              <a:srgbClr val="D1D0D5">
                <a:alpha val="19608"/>
              </a:srgbClr>
            </a:solidFill>
            <a:ln cap="rnd">
              <a:noFill/>
              <a:prstDash val="solid"/>
              <a:round/>
            </a:ln>
          </p:spPr>
        </p:sp>
        <p:sp>
          <p:nvSpPr>
            <p:cNvPr name="TextBox 28" id="28"/>
            <p:cNvSpPr txBox="true"/>
            <p:nvPr/>
          </p:nvSpPr>
          <p:spPr>
            <a:xfrm>
              <a:off x="0" y="-38100"/>
              <a:ext cx="2210632" cy="1255828"/>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2425480" y="4267542"/>
            <a:ext cx="7734660" cy="1153287"/>
          </a:xfrm>
          <a:prstGeom prst="rect">
            <a:avLst/>
          </a:prstGeom>
        </p:spPr>
        <p:txBody>
          <a:bodyPr anchor="t" rtlCol="false" tIns="0" lIns="0" bIns="0" rIns="0">
            <a:spAutoFit/>
          </a:bodyPr>
          <a:lstStyle/>
          <a:p>
            <a:pPr algn="l">
              <a:lnSpc>
                <a:spcPts val="3024"/>
              </a:lnSpc>
            </a:pPr>
            <a:r>
              <a:rPr lang="en-US" sz="2400" spc="72" b="true">
                <a:solidFill>
                  <a:srgbClr val="082064"/>
                </a:solidFill>
                <a:latin typeface="Quicksand Bold"/>
                <a:ea typeface="Quicksand Bold"/>
                <a:cs typeface="Quicksand Bold"/>
                <a:sym typeface="Quicksand Bold"/>
              </a:rPr>
              <a:t>Giáo viên trở thành người dẫn dắt giúp người học tự quản lý học tập, tương tác và khám phá bài học. </a:t>
            </a:r>
          </a:p>
        </p:txBody>
      </p:sp>
      <p:sp>
        <p:nvSpPr>
          <p:cNvPr name="TextBox 30" id="30"/>
          <p:cNvSpPr txBox="true"/>
          <p:nvPr/>
        </p:nvSpPr>
        <p:spPr>
          <a:xfrm rot="0">
            <a:off x="2459301" y="5575622"/>
            <a:ext cx="7815537" cy="1153287"/>
          </a:xfrm>
          <a:prstGeom prst="rect">
            <a:avLst/>
          </a:prstGeom>
        </p:spPr>
        <p:txBody>
          <a:bodyPr anchor="t" rtlCol="false" tIns="0" lIns="0" bIns="0" rIns="0">
            <a:spAutoFit/>
          </a:bodyPr>
          <a:lstStyle/>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Thông qua thiết kế bài giảng phù hợp với phong cách học tập khác nhau và cung cấp tài liệu và hoạt động học tập phù hợp với từng đối tượng. </a:t>
            </a:r>
          </a:p>
        </p:txBody>
      </p:sp>
      <p:sp>
        <p:nvSpPr>
          <p:cNvPr name="TextBox 31" id="31"/>
          <p:cNvSpPr txBox="true"/>
          <p:nvPr/>
        </p:nvSpPr>
        <p:spPr>
          <a:xfrm rot="0">
            <a:off x="2459301" y="6881309"/>
            <a:ext cx="7815537" cy="1153287"/>
          </a:xfrm>
          <a:prstGeom prst="rect">
            <a:avLst/>
          </a:prstGeom>
        </p:spPr>
        <p:txBody>
          <a:bodyPr anchor="t" rtlCol="false" tIns="0" lIns="0" bIns="0" rIns="0">
            <a:spAutoFit/>
          </a:bodyPr>
          <a:lstStyle/>
          <a:p>
            <a:pPr algn="l" marL="518160" indent="-259080" lvl="1">
              <a:lnSpc>
                <a:spcPts val="3024"/>
              </a:lnSpc>
              <a:buFont typeface="Arial"/>
              <a:buChar char="•"/>
            </a:pPr>
            <a:r>
              <a:rPr lang="en-US" sz="2400" spc="72">
                <a:solidFill>
                  <a:srgbClr val="082064"/>
                </a:solidFill>
                <a:latin typeface="Quicksand"/>
                <a:ea typeface="Quicksand"/>
                <a:cs typeface="Quicksand"/>
                <a:sym typeface="Quicksand"/>
              </a:rPr>
              <a:t>Cá nhân hóa tốc độ học (Personalized Learning), tua lại và xem thông tin chưa hiểu rõ qua bookmark đánh dấu chủ đề.</a:t>
            </a:r>
          </a:p>
        </p:txBody>
      </p:sp>
      <p:sp>
        <p:nvSpPr>
          <p:cNvPr name="Freeform 32" id="32"/>
          <p:cNvSpPr/>
          <p:nvPr/>
        </p:nvSpPr>
        <p:spPr>
          <a:xfrm flipH="false" flipV="false" rot="-4374311">
            <a:off x="8358452" y="5198082"/>
            <a:ext cx="11441307" cy="7579866"/>
          </a:xfrm>
          <a:custGeom>
            <a:avLst/>
            <a:gdLst/>
            <a:ahLst/>
            <a:cxnLst/>
            <a:rect r="r" b="b" t="t" l="l"/>
            <a:pathLst>
              <a:path h="7579866" w="11441307">
                <a:moveTo>
                  <a:pt x="0" y="0"/>
                </a:moveTo>
                <a:lnTo>
                  <a:pt x="11441306" y="0"/>
                </a:lnTo>
                <a:lnTo>
                  <a:pt x="11441306" y="7579866"/>
                </a:lnTo>
                <a:lnTo>
                  <a:pt x="0" y="75798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33" id="33"/>
          <p:cNvSpPr/>
          <p:nvPr/>
        </p:nvSpPr>
        <p:spPr>
          <a:xfrm flipH="false" flipV="false" rot="0">
            <a:off x="11080106" y="2977565"/>
            <a:ext cx="6445903" cy="6399024"/>
          </a:xfrm>
          <a:custGeom>
            <a:avLst/>
            <a:gdLst/>
            <a:ahLst/>
            <a:cxnLst/>
            <a:rect r="r" b="b" t="t" l="l"/>
            <a:pathLst>
              <a:path h="6399024" w="6445903">
                <a:moveTo>
                  <a:pt x="0" y="0"/>
                </a:moveTo>
                <a:lnTo>
                  <a:pt x="6445903" y="0"/>
                </a:lnTo>
                <a:lnTo>
                  <a:pt x="6445903" y="6399024"/>
                </a:lnTo>
                <a:lnTo>
                  <a:pt x="0" y="63990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06784"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22385" y="9570493"/>
            <a:ext cx="1561180" cy="214662"/>
          </a:xfrm>
          <a:custGeom>
            <a:avLst/>
            <a:gdLst/>
            <a:ahLst/>
            <a:cxnLst/>
            <a:rect r="r" b="b" t="t" l="l"/>
            <a:pathLst>
              <a:path h="214662" w="1561180">
                <a:moveTo>
                  <a:pt x="0" y="0"/>
                </a:moveTo>
                <a:lnTo>
                  <a:pt x="1561179" y="0"/>
                </a:lnTo>
                <a:lnTo>
                  <a:pt x="1561179" y="214662"/>
                </a:lnTo>
                <a:lnTo>
                  <a:pt x="0" y="2146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3952739">
            <a:off x="16835175" y="1561711"/>
            <a:ext cx="1155365" cy="614615"/>
          </a:xfrm>
          <a:custGeom>
            <a:avLst/>
            <a:gdLst/>
            <a:ahLst/>
            <a:cxnLst/>
            <a:rect r="r" b="b" t="t" l="l"/>
            <a:pathLst>
              <a:path h="614615" w="1155365">
                <a:moveTo>
                  <a:pt x="0" y="614616"/>
                </a:moveTo>
                <a:lnTo>
                  <a:pt x="1155366" y="614616"/>
                </a:lnTo>
                <a:lnTo>
                  <a:pt x="1155366" y="0"/>
                </a:lnTo>
                <a:lnTo>
                  <a:pt x="0" y="0"/>
                </a:lnTo>
                <a:lnTo>
                  <a:pt x="0" y="61461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4839933" y="637413"/>
            <a:ext cx="2419367" cy="39128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Slide 11</a:t>
            </a:r>
          </a:p>
        </p:txBody>
      </p:sp>
      <p:sp>
        <p:nvSpPr>
          <p:cNvPr name="TextBox 12" id="12"/>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grpSp>
        <p:nvGrpSpPr>
          <p:cNvPr name="Group 13" id="13"/>
          <p:cNvGrpSpPr/>
          <p:nvPr/>
        </p:nvGrpSpPr>
        <p:grpSpPr>
          <a:xfrm rot="0">
            <a:off x="-6482040" y="4620622"/>
            <a:ext cx="7379250" cy="746403"/>
            <a:chOff x="0" y="0"/>
            <a:chExt cx="1943506" cy="196584"/>
          </a:xfrm>
        </p:grpSpPr>
        <p:sp>
          <p:nvSpPr>
            <p:cNvPr name="Freeform 14" id="14"/>
            <p:cNvSpPr/>
            <p:nvPr/>
          </p:nvSpPr>
          <p:spPr>
            <a:xfrm flipH="false" flipV="false" rot="0">
              <a:off x="0" y="0"/>
              <a:ext cx="1943506" cy="196584"/>
            </a:xfrm>
            <a:custGeom>
              <a:avLst/>
              <a:gdLst/>
              <a:ahLst/>
              <a:cxnLst/>
              <a:rect r="r" b="b" t="t" l="l"/>
              <a:pathLst>
                <a:path h="196584" w="1943506">
                  <a:moveTo>
                    <a:pt x="0" y="0"/>
                  </a:moveTo>
                  <a:lnTo>
                    <a:pt x="1943506" y="0"/>
                  </a:lnTo>
                  <a:lnTo>
                    <a:pt x="1943506" y="196584"/>
                  </a:lnTo>
                  <a:lnTo>
                    <a:pt x="0" y="196584"/>
                  </a:lnTo>
                  <a:close/>
                </a:path>
              </a:pathLst>
            </a:custGeom>
            <a:solidFill>
              <a:srgbClr val="0A2B89">
                <a:alpha val="42745"/>
              </a:srgbClr>
            </a:solidFill>
            <a:ln cap="sq">
              <a:noFill/>
              <a:prstDash val="solid"/>
              <a:miter/>
            </a:ln>
          </p:spPr>
        </p:sp>
        <p:sp>
          <p:nvSpPr>
            <p:cNvPr name="TextBox 15" id="15"/>
            <p:cNvSpPr txBox="true"/>
            <p:nvPr/>
          </p:nvSpPr>
          <p:spPr>
            <a:xfrm>
              <a:off x="0" y="-38100"/>
              <a:ext cx="194350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16" id="16"/>
          <p:cNvGrpSpPr/>
          <p:nvPr/>
        </p:nvGrpSpPr>
        <p:grpSpPr>
          <a:xfrm rot="0">
            <a:off x="-7092880" y="5685123"/>
            <a:ext cx="7990090" cy="746403"/>
            <a:chOff x="0" y="0"/>
            <a:chExt cx="2104386" cy="196584"/>
          </a:xfrm>
        </p:grpSpPr>
        <p:sp>
          <p:nvSpPr>
            <p:cNvPr name="Freeform 17" id="17"/>
            <p:cNvSpPr/>
            <p:nvPr/>
          </p:nvSpPr>
          <p:spPr>
            <a:xfrm flipH="false" flipV="false" rot="0">
              <a:off x="0" y="0"/>
              <a:ext cx="2104386" cy="196584"/>
            </a:xfrm>
            <a:custGeom>
              <a:avLst/>
              <a:gdLst/>
              <a:ahLst/>
              <a:cxnLst/>
              <a:rect r="r" b="b" t="t" l="l"/>
              <a:pathLst>
                <a:path h="196584" w="2104386">
                  <a:moveTo>
                    <a:pt x="0" y="0"/>
                  </a:moveTo>
                  <a:lnTo>
                    <a:pt x="2104386" y="0"/>
                  </a:lnTo>
                  <a:lnTo>
                    <a:pt x="2104386" y="196584"/>
                  </a:lnTo>
                  <a:lnTo>
                    <a:pt x="0" y="196584"/>
                  </a:lnTo>
                  <a:close/>
                </a:path>
              </a:pathLst>
            </a:custGeom>
            <a:solidFill>
              <a:srgbClr val="0A2B89">
                <a:alpha val="42745"/>
              </a:srgbClr>
            </a:solidFill>
            <a:ln cap="sq">
              <a:noFill/>
              <a:prstDash val="solid"/>
              <a:miter/>
            </a:ln>
          </p:spPr>
        </p:sp>
        <p:sp>
          <p:nvSpPr>
            <p:cNvPr name="TextBox 18" id="18"/>
            <p:cNvSpPr txBox="true"/>
            <p:nvPr/>
          </p:nvSpPr>
          <p:spPr>
            <a:xfrm>
              <a:off x="0" y="-38100"/>
              <a:ext cx="210438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19" id="19"/>
          <p:cNvGrpSpPr/>
          <p:nvPr/>
        </p:nvGrpSpPr>
        <p:grpSpPr>
          <a:xfrm rot="0">
            <a:off x="-6472466" y="6745852"/>
            <a:ext cx="7379250" cy="746403"/>
            <a:chOff x="0" y="0"/>
            <a:chExt cx="1943506" cy="196584"/>
          </a:xfrm>
        </p:grpSpPr>
        <p:sp>
          <p:nvSpPr>
            <p:cNvPr name="Freeform 20" id="20"/>
            <p:cNvSpPr/>
            <p:nvPr/>
          </p:nvSpPr>
          <p:spPr>
            <a:xfrm flipH="false" flipV="false" rot="0">
              <a:off x="0" y="0"/>
              <a:ext cx="1943506" cy="196584"/>
            </a:xfrm>
            <a:custGeom>
              <a:avLst/>
              <a:gdLst/>
              <a:ahLst/>
              <a:cxnLst/>
              <a:rect r="r" b="b" t="t" l="l"/>
              <a:pathLst>
                <a:path h="196584" w="1943506">
                  <a:moveTo>
                    <a:pt x="0" y="0"/>
                  </a:moveTo>
                  <a:lnTo>
                    <a:pt x="1943506" y="0"/>
                  </a:lnTo>
                  <a:lnTo>
                    <a:pt x="1943506" y="196584"/>
                  </a:lnTo>
                  <a:lnTo>
                    <a:pt x="0" y="196584"/>
                  </a:lnTo>
                  <a:close/>
                </a:path>
              </a:pathLst>
            </a:custGeom>
            <a:solidFill>
              <a:srgbClr val="0A2B89">
                <a:alpha val="42745"/>
              </a:srgbClr>
            </a:solidFill>
            <a:ln cap="sq">
              <a:noFill/>
              <a:prstDash val="solid"/>
              <a:miter/>
            </a:ln>
          </p:spPr>
        </p:sp>
        <p:sp>
          <p:nvSpPr>
            <p:cNvPr name="TextBox 21" id="21"/>
            <p:cNvSpPr txBox="true"/>
            <p:nvPr/>
          </p:nvSpPr>
          <p:spPr>
            <a:xfrm>
              <a:off x="0" y="-38100"/>
              <a:ext cx="1943506"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alpha val="42745"/>
                    </a:srgbClr>
                  </a:solidFill>
                  <a:latin typeface="Montserrat Bold"/>
                  <a:ea typeface="Montserrat Bold"/>
                  <a:cs typeface="Montserrat Bold"/>
                  <a:sym typeface="Montserrat Bold"/>
                </a:rPr>
                <a:t>    </a:t>
              </a:r>
              <a:r>
                <a:rPr lang="en-US" b="true" sz="1899">
                  <a:solidFill>
                    <a:srgbClr val="FEFEFE">
                      <a:alpha val="42745"/>
                    </a:srgbClr>
                  </a:solidFill>
                  <a:latin typeface="Montserrat Bold"/>
                  <a:ea typeface="Montserrat Bold"/>
                  <a:cs typeface="Montserrat Bold"/>
                  <a:sym typeface="Montserrat Bold"/>
                </a:rPr>
                <a:t>Học tập bằng thị</a:t>
              </a:r>
              <a:r>
                <a:rPr lang="en-US" b="true" sz="1899">
                  <a:solidFill>
                    <a:srgbClr val="FEFEFE">
                      <a:alpha val="42745"/>
                    </a:srgbClr>
                  </a:solidFill>
                  <a:latin typeface="Montserrat Bold"/>
                  <a:ea typeface="Montserrat Bold"/>
                  <a:cs typeface="Montserrat Bold"/>
                  <a:sym typeface="Montserrat Bold"/>
                </a:rPr>
                <a:t> giác </a:t>
              </a:r>
              <a:r>
                <a:rPr lang="en-US" b="true" sz="1899">
                  <a:solidFill>
                    <a:srgbClr val="FEFEFE">
                      <a:alpha val="42745"/>
                    </a:srgbClr>
                  </a:solidFill>
                  <a:latin typeface="Montserrat Bold"/>
                  <a:ea typeface="Montserrat Bold"/>
                  <a:cs typeface="Montserrat Bold"/>
                  <a:sym typeface="Montserrat Bold"/>
                </a:rPr>
                <a:t>(hình ảnh, video, sơ đồ,...)</a:t>
              </a:r>
            </a:p>
          </p:txBody>
        </p:sp>
      </p:grpSp>
      <p:grpSp>
        <p:nvGrpSpPr>
          <p:cNvPr name="Group 22" id="22"/>
          <p:cNvGrpSpPr/>
          <p:nvPr/>
        </p:nvGrpSpPr>
        <p:grpSpPr>
          <a:xfrm rot="0">
            <a:off x="-7083306" y="7810353"/>
            <a:ext cx="8591356" cy="746403"/>
            <a:chOff x="0" y="0"/>
            <a:chExt cx="2262744" cy="196584"/>
          </a:xfrm>
        </p:grpSpPr>
        <p:sp>
          <p:nvSpPr>
            <p:cNvPr name="Freeform 23" id="23"/>
            <p:cNvSpPr/>
            <p:nvPr/>
          </p:nvSpPr>
          <p:spPr>
            <a:xfrm flipH="false" flipV="false" rot="0">
              <a:off x="0" y="0"/>
              <a:ext cx="2262744" cy="196584"/>
            </a:xfrm>
            <a:custGeom>
              <a:avLst/>
              <a:gdLst/>
              <a:ahLst/>
              <a:cxnLst/>
              <a:rect r="r" b="b" t="t" l="l"/>
              <a:pathLst>
                <a:path h="196584" w="2262744">
                  <a:moveTo>
                    <a:pt x="0" y="0"/>
                  </a:moveTo>
                  <a:lnTo>
                    <a:pt x="2262744" y="0"/>
                  </a:lnTo>
                  <a:lnTo>
                    <a:pt x="2262744" y="196584"/>
                  </a:lnTo>
                  <a:lnTo>
                    <a:pt x="0" y="196584"/>
                  </a:lnTo>
                  <a:close/>
                </a:path>
              </a:pathLst>
            </a:custGeom>
            <a:solidFill>
              <a:srgbClr val="0A2B89"/>
            </a:solidFill>
            <a:ln cap="sq">
              <a:noFill/>
              <a:prstDash val="solid"/>
              <a:miter/>
            </a:ln>
          </p:spPr>
        </p:sp>
        <p:sp>
          <p:nvSpPr>
            <p:cNvPr name="TextBox 24" id="24"/>
            <p:cNvSpPr txBox="true"/>
            <p:nvPr/>
          </p:nvSpPr>
          <p:spPr>
            <a:xfrm>
              <a:off x="0" y="-38100"/>
              <a:ext cx="2262744" cy="234684"/>
            </a:xfrm>
            <a:prstGeom prst="rect">
              <a:avLst/>
            </a:prstGeom>
          </p:spPr>
          <p:txBody>
            <a:bodyPr anchor="ctr" rtlCol="false" tIns="50800" lIns="50800" bIns="50800" rIns="50800"/>
            <a:lstStyle/>
            <a:p>
              <a:pPr algn="l" marL="0" indent="0" lvl="0">
                <a:lnSpc>
                  <a:spcPts val="2659"/>
                </a:lnSpc>
                <a:spcBef>
                  <a:spcPct val="0"/>
                </a:spcBef>
              </a:pPr>
              <a:r>
                <a:rPr lang="en-US" b="true" sz="1899">
                  <a:solidFill>
                    <a:srgbClr val="FEFEFE"/>
                  </a:solidFill>
                  <a:latin typeface="Montserrat Bold"/>
                  <a:ea typeface="Montserrat Bold"/>
                  <a:cs typeface="Montserrat Bold"/>
                  <a:sym typeface="Montserrat Bold"/>
                </a:rPr>
                <a:t>    </a:t>
              </a:r>
              <a:r>
                <a:rPr lang="en-US" b="true" sz="1899">
                  <a:solidFill>
                    <a:srgbClr val="FEFEFE"/>
                  </a:solidFill>
                  <a:latin typeface="Montserrat Bold"/>
                  <a:ea typeface="Montserrat Bold"/>
                  <a:cs typeface="Montserrat Bold"/>
                  <a:sym typeface="Montserrat Bold"/>
                </a:rPr>
                <a:t>Học tập bằng thị</a:t>
              </a:r>
              <a:r>
                <a:rPr lang="en-US" b="true" sz="1899">
                  <a:solidFill>
                    <a:srgbClr val="FEFEFE"/>
                  </a:solidFill>
                  <a:latin typeface="Montserrat Bold"/>
                  <a:ea typeface="Montserrat Bold"/>
                  <a:cs typeface="Montserrat Bold"/>
                  <a:sym typeface="Montserrat Bold"/>
                </a:rPr>
                <a:t> giác </a:t>
              </a:r>
              <a:r>
                <a:rPr lang="en-US" b="true" sz="1899">
                  <a:solidFill>
                    <a:srgbClr val="FEFEFE"/>
                  </a:solidFill>
                  <a:latin typeface="Montserrat Bold"/>
                  <a:ea typeface="Montserrat Bold"/>
                  <a:cs typeface="Montserrat Bold"/>
                  <a:sym typeface="Montserrat Bold"/>
                </a:rPr>
                <a:t>(hình ảnh, video, sơ đồ,...)</a:t>
              </a:r>
            </a:p>
          </p:txBody>
        </p:sp>
      </p:grpSp>
      <p:grpSp>
        <p:nvGrpSpPr>
          <p:cNvPr name="Group 25" id="25"/>
          <p:cNvGrpSpPr/>
          <p:nvPr/>
        </p:nvGrpSpPr>
        <p:grpSpPr>
          <a:xfrm rot="0">
            <a:off x="1508050" y="1727234"/>
            <a:ext cx="15836979" cy="7606537"/>
            <a:chOff x="0" y="0"/>
            <a:chExt cx="21115972" cy="10142049"/>
          </a:xfrm>
        </p:grpSpPr>
        <p:grpSp>
          <p:nvGrpSpPr>
            <p:cNvPr name="Group 26" id="26"/>
            <p:cNvGrpSpPr/>
            <p:nvPr/>
          </p:nvGrpSpPr>
          <p:grpSpPr>
            <a:xfrm rot="5400000">
              <a:off x="15217570" y="2502731"/>
              <a:ext cx="2855436" cy="5017462"/>
              <a:chOff x="0" y="0"/>
              <a:chExt cx="577069" cy="1014004"/>
            </a:xfrm>
          </p:grpSpPr>
          <p:sp>
            <p:nvSpPr>
              <p:cNvPr name="Freeform 27" id="27"/>
              <p:cNvSpPr/>
              <p:nvPr/>
            </p:nvSpPr>
            <p:spPr>
              <a:xfrm flipH="false" flipV="false" rot="0">
                <a:off x="0" y="0"/>
                <a:ext cx="577069" cy="1014004"/>
              </a:xfrm>
              <a:custGeom>
                <a:avLst/>
                <a:gdLst/>
                <a:ahLst/>
                <a:cxnLst/>
                <a:rect r="r" b="b" t="t" l="l"/>
                <a:pathLst>
                  <a:path h="1014004" w="577069">
                    <a:moveTo>
                      <a:pt x="184368" y="0"/>
                    </a:moveTo>
                    <a:lnTo>
                      <a:pt x="392701" y="0"/>
                    </a:lnTo>
                    <a:cubicBezTo>
                      <a:pt x="494525" y="0"/>
                      <a:pt x="577069" y="82544"/>
                      <a:pt x="577069" y="184368"/>
                    </a:cubicBezTo>
                    <a:lnTo>
                      <a:pt x="577069" y="829636"/>
                    </a:lnTo>
                    <a:cubicBezTo>
                      <a:pt x="577069" y="931459"/>
                      <a:pt x="494525" y="1014004"/>
                      <a:pt x="392701" y="1014004"/>
                    </a:cubicBezTo>
                    <a:lnTo>
                      <a:pt x="184368" y="1014004"/>
                    </a:lnTo>
                    <a:cubicBezTo>
                      <a:pt x="82544" y="1014004"/>
                      <a:pt x="0" y="931459"/>
                      <a:pt x="0" y="829636"/>
                    </a:cubicBezTo>
                    <a:lnTo>
                      <a:pt x="0" y="184368"/>
                    </a:lnTo>
                    <a:cubicBezTo>
                      <a:pt x="0" y="82544"/>
                      <a:pt x="82544" y="0"/>
                      <a:pt x="184368" y="0"/>
                    </a:cubicBezTo>
                    <a:close/>
                  </a:path>
                </a:pathLst>
              </a:custGeom>
              <a:solidFill>
                <a:srgbClr val="FFFFFF"/>
              </a:solidFill>
              <a:ln w="152400" cap="rnd">
                <a:solidFill>
                  <a:srgbClr val="472D30"/>
                </a:solidFill>
                <a:prstDash val="solid"/>
                <a:round/>
              </a:ln>
            </p:spPr>
          </p:sp>
          <p:sp>
            <p:nvSpPr>
              <p:cNvPr name="TextBox 28" id="28"/>
              <p:cNvSpPr txBox="true"/>
              <p:nvPr/>
            </p:nvSpPr>
            <p:spPr>
              <a:xfrm>
                <a:off x="0" y="-47625"/>
                <a:ext cx="577069" cy="1061629"/>
              </a:xfrm>
              <a:prstGeom prst="rect">
                <a:avLst/>
              </a:prstGeom>
            </p:spPr>
            <p:txBody>
              <a:bodyPr anchor="ctr" rtlCol="false" tIns="49653" lIns="49653" bIns="49653" rIns="49653"/>
              <a:lstStyle/>
              <a:p>
                <a:pPr algn="ctr">
                  <a:lnSpc>
                    <a:spcPts val="2659"/>
                  </a:lnSpc>
                </a:pPr>
              </a:p>
            </p:txBody>
          </p:sp>
        </p:grpSp>
        <p:grpSp>
          <p:nvGrpSpPr>
            <p:cNvPr name="Group 29" id="29"/>
            <p:cNvGrpSpPr/>
            <p:nvPr/>
          </p:nvGrpSpPr>
          <p:grpSpPr>
            <a:xfrm rot="5400000">
              <a:off x="15650759" y="1310076"/>
              <a:ext cx="1666686" cy="5736086"/>
              <a:chOff x="0" y="0"/>
              <a:chExt cx="368024" cy="1266597"/>
            </a:xfrm>
          </p:grpSpPr>
          <p:sp>
            <p:nvSpPr>
              <p:cNvPr name="Freeform 30" id="30"/>
              <p:cNvSpPr/>
              <p:nvPr/>
            </p:nvSpPr>
            <p:spPr>
              <a:xfrm flipH="false" flipV="false" rot="0">
                <a:off x="0" y="0"/>
                <a:ext cx="368024" cy="1266597"/>
              </a:xfrm>
              <a:custGeom>
                <a:avLst/>
                <a:gdLst/>
                <a:ahLst/>
                <a:cxnLst/>
                <a:rect r="r" b="b" t="t" l="l"/>
                <a:pathLst>
                  <a:path h="1266597" w="368024">
                    <a:moveTo>
                      <a:pt x="0" y="0"/>
                    </a:moveTo>
                    <a:lnTo>
                      <a:pt x="368024" y="0"/>
                    </a:lnTo>
                    <a:lnTo>
                      <a:pt x="368024" y="1266597"/>
                    </a:lnTo>
                    <a:lnTo>
                      <a:pt x="0" y="1266597"/>
                    </a:lnTo>
                    <a:close/>
                  </a:path>
                </a:pathLst>
              </a:custGeom>
              <a:solidFill>
                <a:srgbClr val="FFFFFF"/>
              </a:solidFill>
              <a:ln cap="sq">
                <a:noFill/>
                <a:prstDash val="solid"/>
                <a:miter/>
              </a:ln>
            </p:spPr>
          </p:sp>
          <p:sp>
            <p:nvSpPr>
              <p:cNvPr name="TextBox 31" id="31"/>
              <p:cNvSpPr txBox="true"/>
              <p:nvPr/>
            </p:nvSpPr>
            <p:spPr>
              <a:xfrm>
                <a:off x="0" y="-47625"/>
                <a:ext cx="368024" cy="1314222"/>
              </a:xfrm>
              <a:prstGeom prst="rect">
                <a:avLst/>
              </a:prstGeom>
            </p:spPr>
            <p:txBody>
              <a:bodyPr anchor="ctr" rtlCol="false" tIns="49653" lIns="49653" bIns="49653" rIns="49653"/>
              <a:lstStyle/>
              <a:p>
                <a:pPr algn="ctr">
                  <a:lnSpc>
                    <a:spcPts val="2659"/>
                  </a:lnSpc>
                </a:pPr>
              </a:p>
            </p:txBody>
          </p:sp>
        </p:grpSp>
        <p:grpSp>
          <p:nvGrpSpPr>
            <p:cNvPr name="Group 32" id="32"/>
            <p:cNvGrpSpPr/>
            <p:nvPr/>
          </p:nvGrpSpPr>
          <p:grpSpPr>
            <a:xfrm rot="5400000">
              <a:off x="13809959" y="4877833"/>
              <a:ext cx="1879530" cy="1721099"/>
              <a:chOff x="0" y="0"/>
              <a:chExt cx="415023" cy="380040"/>
            </a:xfrm>
          </p:grpSpPr>
          <p:sp>
            <p:nvSpPr>
              <p:cNvPr name="Freeform 33" id="33"/>
              <p:cNvSpPr/>
              <p:nvPr/>
            </p:nvSpPr>
            <p:spPr>
              <a:xfrm flipH="false" flipV="false" rot="0">
                <a:off x="0" y="0"/>
                <a:ext cx="415023" cy="380039"/>
              </a:xfrm>
              <a:custGeom>
                <a:avLst/>
                <a:gdLst/>
                <a:ahLst/>
                <a:cxnLst/>
                <a:rect r="r" b="b" t="t" l="l"/>
                <a:pathLst>
                  <a:path h="380039" w="415023">
                    <a:moveTo>
                      <a:pt x="0" y="0"/>
                    </a:moveTo>
                    <a:lnTo>
                      <a:pt x="415023" y="0"/>
                    </a:lnTo>
                    <a:lnTo>
                      <a:pt x="415023" y="380039"/>
                    </a:lnTo>
                    <a:lnTo>
                      <a:pt x="0" y="380039"/>
                    </a:lnTo>
                    <a:close/>
                  </a:path>
                </a:pathLst>
              </a:custGeom>
              <a:solidFill>
                <a:srgbClr val="FFFFFF"/>
              </a:solidFill>
              <a:ln cap="sq">
                <a:noFill/>
                <a:prstDash val="solid"/>
                <a:miter/>
              </a:ln>
            </p:spPr>
          </p:sp>
          <p:sp>
            <p:nvSpPr>
              <p:cNvPr name="TextBox 34" id="34"/>
              <p:cNvSpPr txBox="true"/>
              <p:nvPr/>
            </p:nvSpPr>
            <p:spPr>
              <a:xfrm>
                <a:off x="0" y="-47625"/>
                <a:ext cx="415023" cy="427665"/>
              </a:xfrm>
              <a:prstGeom prst="rect">
                <a:avLst/>
              </a:prstGeom>
            </p:spPr>
            <p:txBody>
              <a:bodyPr anchor="ctr" rtlCol="false" tIns="49653" lIns="49653" bIns="49653" rIns="49653"/>
              <a:lstStyle/>
              <a:p>
                <a:pPr algn="ctr">
                  <a:lnSpc>
                    <a:spcPts val="2659"/>
                  </a:lnSpc>
                </a:pPr>
              </a:p>
            </p:txBody>
          </p:sp>
        </p:grpSp>
        <p:grpSp>
          <p:nvGrpSpPr>
            <p:cNvPr name="Group 35" id="35"/>
            <p:cNvGrpSpPr/>
            <p:nvPr/>
          </p:nvGrpSpPr>
          <p:grpSpPr>
            <a:xfrm rot="0">
              <a:off x="17614508" y="2317247"/>
              <a:ext cx="2756281" cy="275628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2D30"/>
              </a:solidFill>
              <a:ln cap="sq">
                <a:noFill/>
                <a:prstDash val="solid"/>
                <a:miter/>
              </a:ln>
            </p:spPr>
          </p:sp>
          <p:sp>
            <p:nvSpPr>
              <p:cNvPr name="TextBox 37" id="37"/>
              <p:cNvSpPr txBox="true"/>
              <p:nvPr/>
            </p:nvSpPr>
            <p:spPr>
              <a:xfrm>
                <a:off x="76200" y="28575"/>
                <a:ext cx="660400" cy="708025"/>
              </a:xfrm>
              <a:prstGeom prst="rect">
                <a:avLst/>
              </a:prstGeom>
            </p:spPr>
            <p:txBody>
              <a:bodyPr anchor="ctr" rtlCol="false" tIns="49653" lIns="49653" bIns="49653" rIns="49653"/>
              <a:lstStyle/>
              <a:p>
                <a:pPr algn="ctr">
                  <a:lnSpc>
                    <a:spcPts val="2659"/>
                  </a:lnSpc>
                </a:pPr>
              </a:p>
            </p:txBody>
          </p:sp>
        </p:grpSp>
        <p:sp>
          <p:nvSpPr>
            <p:cNvPr name="Freeform 38" id="38"/>
            <p:cNvSpPr/>
            <p:nvPr/>
          </p:nvSpPr>
          <p:spPr>
            <a:xfrm flipH="false" flipV="false" rot="0">
              <a:off x="17962402" y="2665142"/>
              <a:ext cx="2558848" cy="2558848"/>
            </a:xfrm>
            <a:custGeom>
              <a:avLst/>
              <a:gdLst/>
              <a:ahLst/>
              <a:cxnLst/>
              <a:rect r="r" b="b" t="t" l="l"/>
              <a:pathLst>
                <a:path h="2558848" w="2558848">
                  <a:moveTo>
                    <a:pt x="0" y="0"/>
                  </a:moveTo>
                  <a:lnTo>
                    <a:pt x="2558848" y="0"/>
                  </a:lnTo>
                  <a:lnTo>
                    <a:pt x="2558848" y="2558848"/>
                  </a:lnTo>
                  <a:lnTo>
                    <a:pt x="0" y="2558848"/>
                  </a:lnTo>
                  <a:lnTo>
                    <a:pt x="0" y="0"/>
                  </a:lnTo>
                  <a:close/>
                </a:path>
              </a:pathLst>
            </a:custGeom>
            <a:blipFill>
              <a:blip r:embed="rId8">
                <a:alphaModFix amt="35000"/>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39" id="39"/>
            <p:cNvGrpSpPr/>
            <p:nvPr/>
          </p:nvGrpSpPr>
          <p:grpSpPr>
            <a:xfrm rot="-5400000">
              <a:off x="17962402" y="2665142"/>
              <a:ext cx="2060492" cy="2060492"/>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41" id="41"/>
              <p:cNvSpPr txBox="true"/>
              <p:nvPr/>
            </p:nvSpPr>
            <p:spPr>
              <a:xfrm>
                <a:off x="76200" y="47625"/>
                <a:ext cx="660400" cy="688975"/>
              </a:xfrm>
              <a:prstGeom prst="rect">
                <a:avLst/>
              </a:prstGeom>
            </p:spPr>
            <p:txBody>
              <a:bodyPr anchor="ctr" rtlCol="false" tIns="44177" lIns="44177" bIns="44177" rIns="44177"/>
              <a:lstStyle/>
              <a:p>
                <a:pPr algn="ctr">
                  <a:lnSpc>
                    <a:spcPts val="1743"/>
                  </a:lnSpc>
                </a:pPr>
              </a:p>
            </p:txBody>
          </p:sp>
        </p:grpSp>
        <p:grpSp>
          <p:nvGrpSpPr>
            <p:cNvPr name="Group 42" id="42"/>
            <p:cNvGrpSpPr/>
            <p:nvPr/>
          </p:nvGrpSpPr>
          <p:grpSpPr>
            <a:xfrm rot="5400000">
              <a:off x="11678834" y="5014937"/>
              <a:ext cx="2855436" cy="5017462"/>
              <a:chOff x="0" y="0"/>
              <a:chExt cx="577069" cy="1014004"/>
            </a:xfrm>
          </p:grpSpPr>
          <p:sp>
            <p:nvSpPr>
              <p:cNvPr name="Freeform 43" id="43"/>
              <p:cNvSpPr/>
              <p:nvPr/>
            </p:nvSpPr>
            <p:spPr>
              <a:xfrm flipH="false" flipV="false" rot="0">
                <a:off x="0" y="0"/>
                <a:ext cx="577069" cy="1014004"/>
              </a:xfrm>
              <a:custGeom>
                <a:avLst/>
                <a:gdLst/>
                <a:ahLst/>
                <a:cxnLst/>
                <a:rect r="r" b="b" t="t" l="l"/>
                <a:pathLst>
                  <a:path h="1014004" w="577069">
                    <a:moveTo>
                      <a:pt x="184368" y="0"/>
                    </a:moveTo>
                    <a:lnTo>
                      <a:pt x="392701" y="0"/>
                    </a:lnTo>
                    <a:cubicBezTo>
                      <a:pt x="494525" y="0"/>
                      <a:pt x="577069" y="82544"/>
                      <a:pt x="577069" y="184368"/>
                    </a:cubicBezTo>
                    <a:lnTo>
                      <a:pt x="577069" y="829636"/>
                    </a:lnTo>
                    <a:cubicBezTo>
                      <a:pt x="577069" y="931459"/>
                      <a:pt x="494525" y="1014004"/>
                      <a:pt x="392701" y="1014004"/>
                    </a:cubicBezTo>
                    <a:lnTo>
                      <a:pt x="184368" y="1014004"/>
                    </a:lnTo>
                    <a:cubicBezTo>
                      <a:pt x="82544" y="1014004"/>
                      <a:pt x="0" y="931459"/>
                      <a:pt x="0" y="829636"/>
                    </a:cubicBezTo>
                    <a:lnTo>
                      <a:pt x="0" y="184368"/>
                    </a:lnTo>
                    <a:cubicBezTo>
                      <a:pt x="0" y="82544"/>
                      <a:pt x="82544" y="0"/>
                      <a:pt x="184368" y="0"/>
                    </a:cubicBezTo>
                    <a:close/>
                  </a:path>
                </a:pathLst>
              </a:custGeom>
              <a:solidFill>
                <a:srgbClr val="FFFFFF"/>
              </a:solidFill>
              <a:ln w="152400" cap="rnd">
                <a:solidFill>
                  <a:srgbClr val="723D46"/>
                </a:solidFill>
                <a:prstDash val="solid"/>
                <a:round/>
              </a:ln>
            </p:spPr>
          </p:sp>
          <p:sp>
            <p:nvSpPr>
              <p:cNvPr name="TextBox 44" id="44"/>
              <p:cNvSpPr txBox="true"/>
              <p:nvPr/>
            </p:nvSpPr>
            <p:spPr>
              <a:xfrm>
                <a:off x="0" y="-47625"/>
                <a:ext cx="577069" cy="1061629"/>
              </a:xfrm>
              <a:prstGeom prst="rect">
                <a:avLst/>
              </a:prstGeom>
            </p:spPr>
            <p:txBody>
              <a:bodyPr anchor="ctr" rtlCol="false" tIns="58429" lIns="58429" bIns="58429" rIns="58429"/>
              <a:lstStyle/>
              <a:p>
                <a:pPr algn="ctr">
                  <a:lnSpc>
                    <a:spcPts val="2659"/>
                  </a:lnSpc>
                </a:pPr>
              </a:p>
            </p:txBody>
          </p:sp>
        </p:grpSp>
        <p:grpSp>
          <p:nvGrpSpPr>
            <p:cNvPr name="Group 45" id="45"/>
            <p:cNvGrpSpPr/>
            <p:nvPr/>
          </p:nvGrpSpPr>
          <p:grpSpPr>
            <a:xfrm rot="5400000">
              <a:off x="12263010" y="5745404"/>
              <a:ext cx="1666686" cy="5736086"/>
              <a:chOff x="0" y="0"/>
              <a:chExt cx="368024" cy="1266597"/>
            </a:xfrm>
          </p:grpSpPr>
          <p:sp>
            <p:nvSpPr>
              <p:cNvPr name="Freeform 46" id="46"/>
              <p:cNvSpPr/>
              <p:nvPr/>
            </p:nvSpPr>
            <p:spPr>
              <a:xfrm flipH="false" flipV="false" rot="0">
                <a:off x="0" y="0"/>
                <a:ext cx="368024" cy="1266597"/>
              </a:xfrm>
              <a:custGeom>
                <a:avLst/>
                <a:gdLst/>
                <a:ahLst/>
                <a:cxnLst/>
                <a:rect r="r" b="b" t="t" l="l"/>
                <a:pathLst>
                  <a:path h="1266597" w="368024">
                    <a:moveTo>
                      <a:pt x="0" y="0"/>
                    </a:moveTo>
                    <a:lnTo>
                      <a:pt x="368024" y="0"/>
                    </a:lnTo>
                    <a:lnTo>
                      <a:pt x="368024" y="1266597"/>
                    </a:lnTo>
                    <a:lnTo>
                      <a:pt x="0" y="1266597"/>
                    </a:lnTo>
                    <a:close/>
                  </a:path>
                </a:pathLst>
              </a:custGeom>
              <a:solidFill>
                <a:srgbClr val="FFFFFF"/>
              </a:solidFill>
              <a:ln cap="sq">
                <a:noFill/>
                <a:prstDash val="solid"/>
                <a:miter/>
              </a:ln>
            </p:spPr>
          </p:sp>
          <p:sp>
            <p:nvSpPr>
              <p:cNvPr name="TextBox 47" id="47"/>
              <p:cNvSpPr txBox="true"/>
              <p:nvPr/>
            </p:nvSpPr>
            <p:spPr>
              <a:xfrm>
                <a:off x="0" y="-47625"/>
                <a:ext cx="368024" cy="1314222"/>
              </a:xfrm>
              <a:prstGeom prst="rect">
                <a:avLst/>
              </a:prstGeom>
            </p:spPr>
            <p:txBody>
              <a:bodyPr anchor="ctr" rtlCol="false" tIns="58429" lIns="58429" bIns="58429" rIns="58429"/>
              <a:lstStyle/>
              <a:p>
                <a:pPr algn="ctr">
                  <a:lnSpc>
                    <a:spcPts val="2659"/>
                  </a:lnSpc>
                </a:pPr>
              </a:p>
            </p:txBody>
          </p:sp>
        </p:grpSp>
        <p:grpSp>
          <p:nvGrpSpPr>
            <p:cNvPr name="Group 48" id="48"/>
            <p:cNvGrpSpPr/>
            <p:nvPr/>
          </p:nvGrpSpPr>
          <p:grpSpPr>
            <a:xfrm rot="5400000">
              <a:off x="10155487" y="5938113"/>
              <a:ext cx="1923122" cy="1760861"/>
              <a:chOff x="0" y="0"/>
              <a:chExt cx="424649" cy="388819"/>
            </a:xfrm>
          </p:grpSpPr>
          <p:sp>
            <p:nvSpPr>
              <p:cNvPr name="Freeform 49" id="49"/>
              <p:cNvSpPr/>
              <p:nvPr/>
            </p:nvSpPr>
            <p:spPr>
              <a:xfrm flipH="false" flipV="false" rot="0">
                <a:off x="0" y="0"/>
                <a:ext cx="424648" cy="388819"/>
              </a:xfrm>
              <a:custGeom>
                <a:avLst/>
                <a:gdLst/>
                <a:ahLst/>
                <a:cxnLst/>
                <a:rect r="r" b="b" t="t" l="l"/>
                <a:pathLst>
                  <a:path h="388819" w="424648">
                    <a:moveTo>
                      <a:pt x="0" y="0"/>
                    </a:moveTo>
                    <a:lnTo>
                      <a:pt x="424648" y="0"/>
                    </a:lnTo>
                    <a:lnTo>
                      <a:pt x="424648" y="388819"/>
                    </a:lnTo>
                    <a:lnTo>
                      <a:pt x="0" y="388819"/>
                    </a:lnTo>
                    <a:close/>
                  </a:path>
                </a:pathLst>
              </a:custGeom>
              <a:solidFill>
                <a:srgbClr val="FFFFFF"/>
              </a:solidFill>
              <a:ln cap="sq">
                <a:noFill/>
                <a:prstDash val="solid"/>
                <a:miter/>
              </a:ln>
            </p:spPr>
          </p:sp>
          <p:sp>
            <p:nvSpPr>
              <p:cNvPr name="TextBox 50" id="50"/>
              <p:cNvSpPr txBox="true"/>
              <p:nvPr/>
            </p:nvSpPr>
            <p:spPr>
              <a:xfrm>
                <a:off x="0" y="-47625"/>
                <a:ext cx="424649" cy="436444"/>
              </a:xfrm>
              <a:prstGeom prst="rect">
                <a:avLst/>
              </a:prstGeom>
            </p:spPr>
            <p:txBody>
              <a:bodyPr anchor="ctr" rtlCol="false" tIns="58429" lIns="58429" bIns="58429" rIns="58429"/>
              <a:lstStyle/>
              <a:p>
                <a:pPr algn="ctr">
                  <a:lnSpc>
                    <a:spcPts val="2659"/>
                  </a:lnSpc>
                </a:pPr>
              </a:p>
            </p:txBody>
          </p:sp>
        </p:grpSp>
        <p:grpSp>
          <p:nvGrpSpPr>
            <p:cNvPr name="Group 51" id="51"/>
            <p:cNvGrpSpPr/>
            <p:nvPr/>
          </p:nvGrpSpPr>
          <p:grpSpPr>
            <a:xfrm rot="0">
              <a:off x="14237143" y="7235307"/>
              <a:ext cx="2756281" cy="275628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23D46"/>
              </a:solidFill>
              <a:ln cap="sq">
                <a:noFill/>
                <a:prstDash val="solid"/>
                <a:miter/>
              </a:ln>
            </p:spPr>
          </p:sp>
          <p:sp>
            <p:nvSpPr>
              <p:cNvPr name="TextBox 53" id="53"/>
              <p:cNvSpPr txBox="true"/>
              <p:nvPr/>
            </p:nvSpPr>
            <p:spPr>
              <a:xfrm>
                <a:off x="76200" y="28575"/>
                <a:ext cx="660400" cy="708025"/>
              </a:xfrm>
              <a:prstGeom prst="rect">
                <a:avLst/>
              </a:prstGeom>
            </p:spPr>
            <p:txBody>
              <a:bodyPr anchor="ctr" rtlCol="false" tIns="49653" lIns="49653" bIns="49653" rIns="49653"/>
              <a:lstStyle/>
              <a:p>
                <a:pPr algn="ctr">
                  <a:lnSpc>
                    <a:spcPts val="2659"/>
                  </a:lnSpc>
                </a:pPr>
              </a:p>
            </p:txBody>
          </p:sp>
        </p:grpSp>
        <p:sp>
          <p:nvSpPr>
            <p:cNvPr name="Freeform 54" id="54"/>
            <p:cNvSpPr/>
            <p:nvPr/>
          </p:nvSpPr>
          <p:spPr>
            <a:xfrm flipH="false" flipV="false" rot="0">
              <a:off x="14585037" y="7583201"/>
              <a:ext cx="2558848" cy="2558848"/>
            </a:xfrm>
            <a:custGeom>
              <a:avLst/>
              <a:gdLst/>
              <a:ahLst/>
              <a:cxnLst/>
              <a:rect r="r" b="b" t="t" l="l"/>
              <a:pathLst>
                <a:path h="2558848" w="2558848">
                  <a:moveTo>
                    <a:pt x="0" y="0"/>
                  </a:moveTo>
                  <a:lnTo>
                    <a:pt x="2558848" y="0"/>
                  </a:lnTo>
                  <a:lnTo>
                    <a:pt x="2558848" y="2558848"/>
                  </a:lnTo>
                  <a:lnTo>
                    <a:pt x="0" y="2558848"/>
                  </a:lnTo>
                  <a:lnTo>
                    <a:pt x="0" y="0"/>
                  </a:lnTo>
                  <a:close/>
                </a:path>
              </a:pathLst>
            </a:custGeom>
            <a:blipFill>
              <a:blip r:embed="rId8">
                <a:alphaModFix amt="35000"/>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55" id="55"/>
            <p:cNvGrpSpPr/>
            <p:nvPr/>
          </p:nvGrpSpPr>
          <p:grpSpPr>
            <a:xfrm rot="-5400000">
              <a:off x="14585037" y="7583201"/>
              <a:ext cx="2060492" cy="2060492"/>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57" id="57"/>
              <p:cNvSpPr txBox="true"/>
              <p:nvPr/>
            </p:nvSpPr>
            <p:spPr>
              <a:xfrm>
                <a:off x="76200" y="47625"/>
                <a:ext cx="660400" cy="688975"/>
              </a:xfrm>
              <a:prstGeom prst="rect">
                <a:avLst/>
              </a:prstGeom>
            </p:spPr>
            <p:txBody>
              <a:bodyPr anchor="ctr" rtlCol="false" tIns="44177" lIns="44177" bIns="44177" rIns="44177"/>
              <a:lstStyle/>
              <a:p>
                <a:pPr algn="ctr">
                  <a:lnSpc>
                    <a:spcPts val="1743"/>
                  </a:lnSpc>
                </a:pPr>
              </a:p>
            </p:txBody>
          </p:sp>
        </p:grpSp>
        <p:grpSp>
          <p:nvGrpSpPr>
            <p:cNvPr name="Group 58" id="58"/>
            <p:cNvGrpSpPr/>
            <p:nvPr/>
          </p:nvGrpSpPr>
          <p:grpSpPr>
            <a:xfrm rot="5400000">
              <a:off x="8016210" y="2502731"/>
              <a:ext cx="2855436" cy="5017462"/>
              <a:chOff x="0" y="0"/>
              <a:chExt cx="577069" cy="1014004"/>
            </a:xfrm>
          </p:grpSpPr>
          <p:sp>
            <p:nvSpPr>
              <p:cNvPr name="Freeform 59" id="59"/>
              <p:cNvSpPr/>
              <p:nvPr/>
            </p:nvSpPr>
            <p:spPr>
              <a:xfrm flipH="false" flipV="false" rot="0">
                <a:off x="0" y="0"/>
                <a:ext cx="577069" cy="1014004"/>
              </a:xfrm>
              <a:custGeom>
                <a:avLst/>
                <a:gdLst/>
                <a:ahLst/>
                <a:cxnLst/>
                <a:rect r="r" b="b" t="t" l="l"/>
                <a:pathLst>
                  <a:path h="1014004" w="577069">
                    <a:moveTo>
                      <a:pt x="184368" y="0"/>
                    </a:moveTo>
                    <a:lnTo>
                      <a:pt x="392701" y="0"/>
                    </a:lnTo>
                    <a:cubicBezTo>
                      <a:pt x="494525" y="0"/>
                      <a:pt x="577069" y="82544"/>
                      <a:pt x="577069" y="184368"/>
                    </a:cubicBezTo>
                    <a:lnTo>
                      <a:pt x="577069" y="829636"/>
                    </a:lnTo>
                    <a:cubicBezTo>
                      <a:pt x="577069" y="931459"/>
                      <a:pt x="494525" y="1014004"/>
                      <a:pt x="392701" y="1014004"/>
                    </a:cubicBezTo>
                    <a:lnTo>
                      <a:pt x="184368" y="1014004"/>
                    </a:lnTo>
                    <a:cubicBezTo>
                      <a:pt x="82544" y="1014004"/>
                      <a:pt x="0" y="931459"/>
                      <a:pt x="0" y="829636"/>
                    </a:cubicBezTo>
                    <a:lnTo>
                      <a:pt x="0" y="184368"/>
                    </a:lnTo>
                    <a:cubicBezTo>
                      <a:pt x="0" y="82544"/>
                      <a:pt x="82544" y="0"/>
                      <a:pt x="184368" y="0"/>
                    </a:cubicBezTo>
                    <a:close/>
                  </a:path>
                </a:pathLst>
              </a:custGeom>
              <a:solidFill>
                <a:srgbClr val="FFFFFF"/>
              </a:solidFill>
              <a:ln w="152400" cap="rnd">
                <a:solidFill>
                  <a:srgbClr val="E26D5C"/>
                </a:solidFill>
                <a:prstDash val="solid"/>
                <a:round/>
              </a:ln>
            </p:spPr>
          </p:sp>
          <p:sp>
            <p:nvSpPr>
              <p:cNvPr name="TextBox 60" id="60"/>
              <p:cNvSpPr txBox="true"/>
              <p:nvPr/>
            </p:nvSpPr>
            <p:spPr>
              <a:xfrm>
                <a:off x="0" y="-47625"/>
                <a:ext cx="577069" cy="1061629"/>
              </a:xfrm>
              <a:prstGeom prst="rect">
                <a:avLst/>
              </a:prstGeom>
            </p:spPr>
            <p:txBody>
              <a:bodyPr anchor="ctr" rtlCol="false" tIns="49653" lIns="49653" bIns="49653" rIns="49653"/>
              <a:lstStyle/>
              <a:p>
                <a:pPr algn="ctr">
                  <a:lnSpc>
                    <a:spcPts val="2659"/>
                  </a:lnSpc>
                </a:pPr>
              </a:p>
            </p:txBody>
          </p:sp>
        </p:grpSp>
        <p:grpSp>
          <p:nvGrpSpPr>
            <p:cNvPr name="Group 61" id="61"/>
            <p:cNvGrpSpPr/>
            <p:nvPr/>
          </p:nvGrpSpPr>
          <p:grpSpPr>
            <a:xfrm rot="5400000">
              <a:off x="8449398" y="1310076"/>
              <a:ext cx="1666686" cy="5736086"/>
              <a:chOff x="0" y="0"/>
              <a:chExt cx="368024" cy="1266597"/>
            </a:xfrm>
          </p:grpSpPr>
          <p:sp>
            <p:nvSpPr>
              <p:cNvPr name="Freeform 62" id="62"/>
              <p:cNvSpPr/>
              <p:nvPr/>
            </p:nvSpPr>
            <p:spPr>
              <a:xfrm flipH="false" flipV="false" rot="0">
                <a:off x="0" y="0"/>
                <a:ext cx="368024" cy="1266597"/>
              </a:xfrm>
              <a:custGeom>
                <a:avLst/>
                <a:gdLst/>
                <a:ahLst/>
                <a:cxnLst/>
                <a:rect r="r" b="b" t="t" l="l"/>
                <a:pathLst>
                  <a:path h="1266597" w="368024">
                    <a:moveTo>
                      <a:pt x="0" y="0"/>
                    </a:moveTo>
                    <a:lnTo>
                      <a:pt x="368024" y="0"/>
                    </a:lnTo>
                    <a:lnTo>
                      <a:pt x="368024" y="1266597"/>
                    </a:lnTo>
                    <a:lnTo>
                      <a:pt x="0" y="1266597"/>
                    </a:lnTo>
                    <a:close/>
                  </a:path>
                </a:pathLst>
              </a:custGeom>
              <a:solidFill>
                <a:srgbClr val="FFFFFF"/>
              </a:solidFill>
              <a:ln cap="sq">
                <a:noFill/>
                <a:prstDash val="solid"/>
                <a:miter/>
              </a:ln>
            </p:spPr>
          </p:sp>
          <p:sp>
            <p:nvSpPr>
              <p:cNvPr name="TextBox 63" id="63"/>
              <p:cNvSpPr txBox="true"/>
              <p:nvPr/>
            </p:nvSpPr>
            <p:spPr>
              <a:xfrm>
                <a:off x="0" y="-47625"/>
                <a:ext cx="368024" cy="1314222"/>
              </a:xfrm>
              <a:prstGeom prst="rect">
                <a:avLst/>
              </a:prstGeom>
            </p:spPr>
            <p:txBody>
              <a:bodyPr anchor="ctr" rtlCol="false" tIns="49653" lIns="49653" bIns="49653" rIns="49653"/>
              <a:lstStyle/>
              <a:p>
                <a:pPr algn="ctr">
                  <a:lnSpc>
                    <a:spcPts val="2659"/>
                  </a:lnSpc>
                </a:pPr>
              </a:p>
            </p:txBody>
          </p:sp>
        </p:grpSp>
        <p:grpSp>
          <p:nvGrpSpPr>
            <p:cNvPr name="Group 64" id="64"/>
            <p:cNvGrpSpPr/>
            <p:nvPr/>
          </p:nvGrpSpPr>
          <p:grpSpPr>
            <a:xfrm rot="5400000">
              <a:off x="6608599" y="4877833"/>
              <a:ext cx="1879530" cy="1721099"/>
              <a:chOff x="0" y="0"/>
              <a:chExt cx="415023" cy="380040"/>
            </a:xfrm>
          </p:grpSpPr>
          <p:sp>
            <p:nvSpPr>
              <p:cNvPr name="Freeform 65" id="65"/>
              <p:cNvSpPr/>
              <p:nvPr/>
            </p:nvSpPr>
            <p:spPr>
              <a:xfrm flipH="false" flipV="false" rot="0">
                <a:off x="0" y="0"/>
                <a:ext cx="415023" cy="380039"/>
              </a:xfrm>
              <a:custGeom>
                <a:avLst/>
                <a:gdLst/>
                <a:ahLst/>
                <a:cxnLst/>
                <a:rect r="r" b="b" t="t" l="l"/>
                <a:pathLst>
                  <a:path h="380039" w="415023">
                    <a:moveTo>
                      <a:pt x="0" y="0"/>
                    </a:moveTo>
                    <a:lnTo>
                      <a:pt x="415023" y="0"/>
                    </a:lnTo>
                    <a:lnTo>
                      <a:pt x="415023" y="380039"/>
                    </a:lnTo>
                    <a:lnTo>
                      <a:pt x="0" y="380039"/>
                    </a:lnTo>
                    <a:close/>
                  </a:path>
                </a:pathLst>
              </a:custGeom>
              <a:solidFill>
                <a:srgbClr val="FFFFFF"/>
              </a:solidFill>
              <a:ln cap="sq">
                <a:noFill/>
                <a:prstDash val="solid"/>
                <a:miter/>
              </a:ln>
            </p:spPr>
          </p:sp>
          <p:sp>
            <p:nvSpPr>
              <p:cNvPr name="TextBox 66" id="66"/>
              <p:cNvSpPr txBox="true"/>
              <p:nvPr/>
            </p:nvSpPr>
            <p:spPr>
              <a:xfrm>
                <a:off x="0" y="-47625"/>
                <a:ext cx="415023" cy="427665"/>
              </a:xfrm>
              <a:prstGeom prst="rect">
                <a:avLst/>
              </a:prstGeom>
            </p:spPr>
            <p:txBody>
              <a:bodyPr anchor="ctr" rtlCol="false" tIns="49653" lIns="49653" bIns="49653" rIns="49653"/>
              <a:lstStyle/>
              <a:p>
                <a:pPr algn="ctr">
                  <a:lnSpc>
                    <a:spcPts val="2659"/>
                  </a:lnSpc>
                </a:pPr>
              </a:p>
            </p:txBody>
          </p:sp>
        </p:grpSp>
        <p:grpSp>
          <p:nvGrpSpPr>
            <p:cNvPr name="Group 67" id="67"/>
            <p:cNvGrpSpPr/>
            <p:nvPr/>
          </p:nvGrpSpPr>
          <p:grpSpPr>
            <a:xfrm rot="0">
              <a:off x="10413147" y="2317247"/>
              <a:ext cx="2756281" cy="275628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6D5C"/>
              </a:solidFill>
              <a:ln cap="sq">
                <a:noFill/>
                <a:prstDash val="solid"/>
                <a:miter/>
              </a:ln>
            </p:spPr>
          </p:sp>
          <p:sp>
            <p:nvSpPr>
              <p:cNvPr name="TextBox 69" id="69"/>
              <p:cNvSpPr txBox="true"/>
              <p:nvPr/>
            </p:nvSpPr>
            <p:spPr>
              <a:xfrm>
                <a:off x="76200" y="28575"/>
                <a:ext cx="660400" cy="708025"/>
              </a:xfrm>
              <a:prstGeom prst="rect">
                <a:avLst/>
              </a:prstGeom>
            </p:spPr>
            <p:txBody>
              <a:bodyPr anchor="ctr" rtlCol="false" tIns="49653" lIns="49653" bIns="49653" rIns="49653"/>
              <a:lstStyle/>
              <a:p>
                <a:pPr algn="ctr">
                  <a:lnSpc>
                    <a:spcPts val="2659"/>
                  </a:lnSpc>
                </a:pPr>
              </a:p>
            </p:txBody>
          </p:sp>
        </p:grpSp>
        <p:sp>
          <p:nvSpPr>
            <p:cNvPr name="Freeform 70" id="70"/>
            <p:cNvSpPr/>
            <p:nvPr/>
          </p:nvSpPr>
          <p:spPr>
            <a:xfrm flipH="false" flipV="false" rot="0">
              <a:off x="10761042" y="2665142"/>
              <a:ext cx="2558848" cy="2558848"/>
            </a:xfrm>
            <a:custGeom>
              <a:avLst/>
              <a:gdLst/>
              <a:ahLst/>
              <a:cxnLst/>
              <a:rect r="r" b="b" t="t" l="l"/>
              <a:pathLst>
                <a:path h="2558848" w="2558848">
                  <a:moveTo>
                    <a:pt x="0" y="0"/>
                  </a:moveTo>
                  <a:lnTo>
                    <a:pt x="2558848" y="0"/>
                  </a:lnTo>
                  <a:lnTo>
                    <a:pt x="2558848" y="2558848"/>
                  </a:lnTo>
                  <a:lnTo>
                    <a:pt x="0" y="2558848"/>
                  </a:lnTo>
                  <a:lnTo>
                    <a:pt x="0" y="0"/>
                  </a:lnTo>
                  <a:close/>
                </a:path>
              </a:pathLst>
            </a:custGeom>
            <a:blipFill>
              <a:blip r:embed="rId8">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71" id="71"/>
            <p:cNvGrpSpPr/>
            <p:nvPr/>
          </p:nvGrpSpPr>
          <p:grpSpPr>
            <a:xfrm rot="-5400000">
              <a:off x="10761042" y="2665142"/>
              <a:ext cx="2060492" cy="2060492"/>
              <a:chOff x="0" y="0"/>
              <a:chExt cx="812800" cy="812800"/>
            </a:xfrm>
          </p:grpSpPr>
          <p:sp>
            <p:nvSpPr>
              <p:cNvPr name="Freeform 72" id="7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73" id="73"/>
              <p:cNvSpPr txBox="true"/>
              <p:nvPr/>
            </p:nvSpPr>
            <p:spPr>
              <a:xfrm>
                <a:off x="76200" y="47625"/>
                <a:ext cx="660400" cy="688975"/>
              </a:xfrm>
              <a:prstGeom prst="rect">
                <a:avLst/>
              </a:prstGeom>
            </p:spPr>
            <p:txBody>
              <a:bodyPr anchor="ctr" rtlCol="false" tIns="44177" lIns="44177" bIns="44177" rIns="44177"/>
              <a:lstStyle/>
              <a:p>
                <a:pPr algn="ctr">
                  <a:lnSpc>
                    <a:spcPts val="1743"/>
                  </a:lnSpc>
                </a:pPr>
              </a:p>
            </p:txBody>
          </p:sp>
        </p:grpSp>
        <p:grpSp>
          <p:nvGrpSpPr>
            <p:cNvPr name="Group 74" id="74"/>
            <p:cNvGrpSpPr/>
            <p:nvPr/>
          </p:nvGrpSpPr>
          <p:grpSpPr>
            <a:xfrm rot="5400000">
              <a:off x="4482665" y="5014937"/>
              <a:ext cx="2855436" cy="5017462"/>
              <a:chOff x="0" y="0"/>
              <a:chExt cx="577069" cy="1014004"/>
            </a:xfrm>
          </p:grpSpPr>
          <p:sp>
            <p:nvSpPr>
              <p:cNvPr name="Freeform 75" id="75"/>
              <p:cNvSpPr/>
              <p:nvPr/>
            </p:nvSpPr>
            <p:spPr>
              <a:xfrm flipH="false" flipV="false" rot="0">
                <a:off x="0" y="0"/>
                <a:ext cx="577069" cy="1014004"/>
              </a:xfrm>
              <a:custGeom>
                <a:avLst/>
                <a:gdLst/>
                <a:ahLst/>
                <a:cxnLst/>
                <a:rect r="r" b="b" t="t" l="l"/>
                <a:pathLst>
                  <a:path h="1014004" w="577069">
                    <a:moveTo>
                      <a:pt x="184368" y="0"/>
                    </a:moveTo>
                    <a:lnTo>
                      <a:pt x="392701" y="0"/>
                    </a:lnTo>
                    <a:cubicBezTo>
                      <a:pt x="494525" y="0"/>
                      <a:pt x="577069" y="82544"/>
                      <a:pt x="577069" y="184368"/>
                    </a:cubicBezTo>
                    <a:lnTo>
                      <a:pt x="577069" y="829636"/>
                    </a:lnTo>
                    <a:cubicBezTo>
                      <a:pt x="577069" y="931459"/>
                      <a:pt x="494525" y="1014004"/>
                      <a:pt x="392701" y="1014004"/>
                    </a:cubicBezTo>
                    <a:lnTo>
                      <a:pt x="184368" y="1014004"/>
                    </a:lnTo>
                    <a:cubicBezTo>
                      <a:pt x="82544" y="1014004"/>
                      <a:pt x="0" y="931459"/>
                      <a:pt x="0" y="829636"/>
                    </a:cubicBezTo>
                    <a:lnTo>
                      <a:pt x="0" y="184368"/>
                    </a:lnTo>
                    <a:cubicBezTo>
                      <a:pt x="0" y="82544"/>
                      <a:pt x="82544" y="0"/>
                      <a:pt x="184368" y="0"/>
                    </a:cubicBezTo>
                    <a:close/>
                  </a:path>
                </a:pathLst>
              </a:custGeom>
              <a:solidFill>
                <a:srgbClr val="FFFFFF"/>
              </a:solidFill>
              <a:ln w="152400" cap="rnd">
                <a:solidFill>
                  <a:srgbClr val="E28C5C"/>
                </a:solidFill>
                <a:prstDash val="solid"/>
                <a:round/>
              </a:ln>
            </p:spPr>
          </p:sp>
          <p:sp>
            <p:nvSpPr>
              <p:cNvPr name="TextBox 76" id="76"/>
              <p:cNvSpPr txBox="true"/>
              <p:nvPr/>
            </p:nvSpPr>
            <p:spPr>
              <a:xfrm>
                <a:off x="0" y="-47625"/>
                <a:ext cx="577069" cy="1061629"/>
              </a:xfrm>
              <a:prstGeom prst="rect">
                <a:avLst/>
              </a:prstGeom>
            </p:spPr>
            <p:txBody>
              <a:bodyPr anchor="ctr" rtlCol="false" tIns="58429" lIns="58429" bIns="58429" rIns="58429"/>
              <a:lstStyle/>
              <a:p>
                <a:pPr algn="ctr">
                  <a:lnSpc>
                    <a:spcPts val="2659"/>
                  </a:lnSpc>
                </a:pPr>
              </a:p>
            </p:txBody>
          </p:sp>
        </p:grpSp>
        <p:grpSp>
          <p:nvGrpSpPr>
            <p:cNvPr name="Group 77" id="77"/>
            <p:cNvGrpSpPr/>
            <p:nvPr/>
          </p:nvGrpSpPr>
          <p:grpSpPr>
            <a:xfrm rot="5400000">
              <a:off x="5066841" y="5745404"/>
              <a:ext cx="1666686" cy="5736086"/>
              <a:chOff x="0" y="0"/>
              <a:chExt cx="368024" cy="1266597"/>
            </a:xfrm>
          </p:grpSpPr>
          <p:sp>
            <p:nvSpPr>
              <p:cNvPr name="Freeform 78" id="78"/>
              <p:cNvSpPr/>
              <p:nvPr/>
            </p:nvSpPr>
            <p:spPr>
              <a:xfrm flipH="false" flipV="false" rot="0">
                <a:off x="0" y="0"/>
                <a:ext cx="368024" cy="1266597"/>
              </a:xfrm>
              <a:custGeom>
                <a:avLst/>
                <a:gdLst/>
                <a:ahLst/>
                <a:cxnLst/>
                <a:rect r="r" b="b" t="t" l="l"/>
                <a:pathLst>
                  <a:path h="1266597" w="368024">
                    <a:moveTo>
                      <a:pt x="0" y="0"/>
                    </a:moveTo>
                    <a:lnTo>
                      <a:pt x="368024" y="0"/>
                    </a:lnTo>
                    <a:lnTo>
                      <a:pt x="368024" y="1266597"/>
                    </a:lnTo>
                    <a:lnTo>
                      <a:pt x="0" y="1266597"/>
                    </a:lnTo>
                    <a:close/>
                  </a:path>
                </a:pathLst>
              </a:custGeom>
              <a:solidFill>
                <a:srgbClr val="FFFFFF"/>
              </a:solidFill>
              <a:ln cap="sq">
                <a:noFill/>
                <a:prstDash val="solid"/>
                <a:miter/>
              </a:ln>
            </p:spPr>
          </p:sp>
          <p:sp>
            <p:nvSpPr>
              <p:cNvPr name="TextBox 79" id="79"/>
              <p:cNvSpPr txBox="true"/>
              <p:nvPr/>
            </p:nvSpPr>
            <p:spPr>
              <a:xfrm>
                <a:off x="0" y="-47625"/>
                <a:ext cx="368024" cy="1314222"/>
              </a:xfrm>
              <a:prstGeom prst="rect">
                <a:avLst/>
              </a:prstGeom>
            </p:spPr>
            <p:txBody>
              <a:bodyPr anchor="ctr" rtlCol="false" tIns="58429" lIns="58429" bIns="58429" rIns="58429"/>
              <a:lstStyle/>
              <a:p>
                <a:pPr algn="ctr">
                  <a:lnSpc>
                    <a:spcPts val="2659"/>
                  </a:lnSpc>
                </a:pPr>
              </a:p>
            </p:txBody>
          </p:sp>
        </p:grpSp>
        <p:grpSp>
          <p:nvGrpSpPr>
            <p:cNvPr name="Group 80" id="80"/>
            <p:cNvGrpSpPr/>
            <p:nvPr/>
          </p:nvGrpSpPr>
          <p:grpSpPr>
            <a:xfrm rot="5400000">
              <a:off x="2959318" y="5938113"/>
              <a:ext cx="1923122" cy="1760861"/>
              <a:chOff x="0" y="0"/>
              <a:chExt cx="424649" cy="388819"/>
            </a:xfrm>
          </p:grpSpPr>
          <p:sp>
            <p:nvSpPr>
              <p:cNvPr name="Freeform 81" id="81"/>
              <p:cNvSpPr/>
              <p:nvPr/>
            </p:nvSpPr>
            <p:spPr>
              <a:xfrm flipH="false" flipV="false" rot="0">
                <a:off x="0" y="0"/>
                <a:ext cx="424648" cy="388819"/>
              </a:xfrm>
              <a:custGeom>
                <a:avLst/>
                <a:gdLst/>
                <a:ahLst/>
                <a:cxnLst/>
                <a:rect r="r" b="b" t="t" l="l"/>
                <a:pathLst>
                  <a:path h="388819" w="424648">
                    <a:moveTo>
                      <a:pt x="0" y="0"/>
                    </a:moveTo>
                    <a:lnTo>
                      <a:pt x="424648" y="0"/>
                    </a:lnTo>
                    <a:lnTo>
                      <a:pt x="424648" y="388819"/>
                    </a:lnTo>
                    <a:lnTo>
                      <a:pt x="0" y="388819"/>
                    </a:lnTo>
                    <a:close/>
                  </a:path>
                </a:pathLst>
              </a:custGeom>
              <a:solidFill>
                <a:srgbClr val="FFFFFF"/>
              </a:solidFill>
              <a:ln cap="sq">
                <a:noFill/>
                <a:prstDash val="solid"/>
                <a:miter/>
              </a:ln>
            </p:spPr>
          </p:sp>
          <p:sp>
            <p:nvSpPr>
              <p:cNvPr name="TextBox 82" id="82"/>
              <p:cNvSpPr txBox="true"/>
              <p:nvPr/>
            </p:nvSpPr>
            <p:spPr>
              <a:xfrm>
                <a:off x="0" y="-47625"/>
                <a:ext cx="424649" cy="436444"/>
              </a:xfrm>
              <a:prstGeom prst="rect">
                <a:avLst/>
              </a:prstGeom>
            </p:spPr>
            <p:txBody>
              <a:bodyPr anchor="ctr" rtlCol="false" tIns="58429" lIns="58429" bIns="58429" rIns="58429"/>
              <a:lstStyle/>
              <a:p>
                <a:pPr algn="ctr">
                  <a:lnSpc>
                    <a:spcPts val="2659"/>
                  </a:lnSpc>
                </a:pPr>
              </a:p>
            </p:txBody>
          </p:sp>
        </p:grpSp>
        <p:grpSp>
          <p:nvGrpSpPr>
            <p:cNvPr name="Group 83" id="83"/>
            <p:cNvGrpSpPr/>
            <p:nvPr/>
          </p:nvGrpSpPr>
          <p:grpSpPr>
            <a:xfrm rot="0">
              <a:off x="7040974" y="7235307"/>
              <a:ext cx="2756281" cy="275628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8C5C"/>
              </a:solidFill>
              <a:ln cap="sq">
                <a:noFill/>
                <a:prstDash val="solid"/>
                <a:miter/>
              </a:ln>
            </p:spPr>
          </p:sp>
          <p:sp>
            <p:nvSpPr>
              <p:cNvPr name="TextBox 85" id="85"/>
              <p:cNvSpPr txBox="true"/>
              <p:nvPr/>
            </p:nvSpPr>
            <p:spPr>
              <a:xfrm>
                <a:off x="76200" y="28575"/>
                <a:ext cx="660400" cy="708025"/>
              </a:xfrm>
              <a:prstGeom prst="rect">
                <a:avLst/>
              </a:prstGeom>
            </p:spPr>
            <p:txBody>
              <a:bodyPr anchor="ctr" rtlCol="false" tIns="49653" lIns="49653" bIns="49653" rIns="49653"/>
              <a:lstStyle/>
              <a:p>
                <a:pPr algn="ctr">
                  <a:lnSpc>
                    <a:spcPts val="2659"/>
                  </a:lnSpc>
                </a:pPr>
              </a:p>
            </p:txBody>
          </p:sp>
        </p:grpSp>
        <p:sp>
          <p:nvSpPr>
            <p:cNvPr name="Freeform 86" id="86"/>
            <p:cNvSpPr/>
            <p:nvPr/>
          </p:nvSpPr>
          <p:spPr>
            <a:xfrm flipH="false" flipV="false" rot="0">
              <a:off x="7388869" y="7583201"/>
              <a:ext cx="2558848" cy="2558848"/>
            </a:xfrm>
            <a:custGeom>
              <a:avLst/>
              <a:gdLst/>
              <a:ahLst/>
              <a:cxnLst/>
              <a:rect r="r" b="b" t="t" l="l"/>
              <a:pathLst>
                <a:path h="2558848" w="2558848">
                  <a:moveTo>
                    <a:pt x="0" y="0"/>
                  </a:moveTo>
                  <a:lnTo>
                    <a:pt x="2558848" y="0"/>
                  </a:lnTo>
                  <a:lnTo>
                    <a:pt x="2558848" y="2558848"/>
                  </a:lnTo>
                  <a:lnTo>
                    <a:pt x="0" y="2558848"/>
                  </a:lnTo>
                  <a:lnTo>
                    <a:pt x="0" y="0"/>
                  </a:lnTo>
                  <a:close/>
                </a:path>
              </a:pathLst>
            </a:custGeom>
            <a:blipFill>
              <a:blip r:embed="rId8">
                <a:alphaModFix amt="35000"/>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87" id="87"/>
            <p:cNvGrpSpPr/>
            <p:nvPr/>
          </p:nvGrpSpPr>
          <p:grpSpPr>
            <a:xfrm rot="-5400000">
              <a:off x="7388869" y="7583201"/>
              <a:ext cx="2060492" cy="2060492"/>
              <a:chOff x="0" y="0"/>
              <a:chExt cx="812800" cy="812800"/>
            </a:xfrm>
          </p:grpSpPr>
          <p:sp>
            <p:nvSpPr>
              <p:cNvPr name="Freeform 88" id="8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89" id="89"/>
              <p:cNvSpPr txBox="true"/>
              <p:nvPr/>
            </p:nvSpPr>
            <p:spPr>
              <a:xfrm>
                <a:off x="76200" y="47625"/>
                <a:ext cx="660400" cy="688975"/>
              </a:xfrm>
              <a:prstGeom prst="rect">
                <a:avLst/>
              </a:prstGeom>
            </p:spPr>
            <p:txBody>
              <a:bodyPr anchor="ctr" rtlCol="false" tIns="44177" lIns="44177" bIns="44177" rIns="44177"/>
              <a:lstStyle/>
              <a:p>
                <a:pPr algn="ctr">
                  <a:lnSpc>
                    <a:spcPts val="1743"/>
                  </a:lnSpc>
                </a:pPr>
              </a:p>
            </p:txBody>
          </p:sp>
        </p:grpSp>
        <p:grpSp>
          <p:nvGrpSpPr>
            <p:cNvPr name="Group 90" id="90"/>
            <p:cNvGrpSpPr/>
            <p:nvPr/>
          </p:nvGrpSpPr>
          <p:grpSpPr>
            <a:xfrm rot="5400000">
              <a:off x="1304639" y="2987329"/>
              <a:ext cx="2855436" cy="4048267"/>
              <a:chOff x="0" y="0"/>
              <a:chExt cx="577069" cy="818134"/>
            </a:xfrm>
          </p:grpSpPr>
          <p:sp>
            <p:nvSpPr>
              <p:cNvPr name="Freeform 91" id="91"/>
              <p:cNvSpPr/>
              <p:nvPr/>
            </p:nvSpPr>
            <p:spPr>
              <a:xfrm flipH="false" flipV="false" rot="0">
                <a:off x="0" y="0"/>
                <a:ext cx="577069" cy="818134"/>
              </a:xfrm>
              <a:custGeom>
                <a:avLst/>
                <a:gdLst/>
                <a:ahLst/>
                <a:cxnLst/>
                <a:rect r="r" b="b" t="t" l="l"/>
                <a:pathLst>
                  <a:path h="818134" w="577069">
                    <a:moveTo>
                      <a:pt x="184368" y="0"/>
                    </a:moveTo>
                    <a:lnTo>
                      <a:pt x="392701" y="0"/>
                    </a:lnTo>
                    <a:cubicBezTo>
                      <a:pt x="494525" y="0"/>
                      <a:pt x="577069" y="82544"/>
                      <a:pt x="577069" y="184368"/>
                    </a:cubicBezTo>
                    <a:lnTo>
                      <a:pt x="577069" y="633766"/>
                    </a:lnTo>
                    <a:cubicBezTo>
                      <a:pt x="577069" y="735590"/>
                      <a:pt x="494525" y="818134"/>
                      <a:pt x="392701" y="818134"/>
                    </a:cubicBezTo>
                    <a:lnTo>
                      <a:pt x="184368" y="818134"/>
                    </a:lnTo>
                    <a:cubicBezTo>
                      <a:pt x="82544" y="818134"/>
                      <a:pt x="0" y="735590"/>
                      <a:pt x="0" y="633766"/>
                    </a:cubicBezTo>
                    <a:lnTo>
                      <a:pt x="0" y="184368"/>
                    </a:lnTo>
                    <a:cubicBezTo>
                      <a:pt x="0" y="82544"/>
                      <a:pt x="82544" y="0"/>
                      <a:pt x="184368" y="0"/>
                    </a:cubicBezTo>
                    <a:close/>
                  </a:path>
                </a:pathLst>
              </a:custGeom>
              <a:solidFill>
                <a:srgbClr val="FFFFFF"/>
              </a:solidFill>
              <a:ln w="152400" cap="rnd">
                <a:solidFill>
                  <a:srgbClr val="ACAF61"/>
                </a:solidFill>
                <a:prstDash val="solid"/>
                <a:round/>
              </a:ln>
            </p:spPr>
          </p:sp>
          <p:sp>
            <p:nvSpPr>
              <p:cNvPr name="TextBox 92" id="92"/>
              <p:cNvSpPr txBox="true"/>
              <p:nvPr/>
            </p:nvSpPr>
            <p:spPr>
              <a:xfrm>
                <a:off x="0" y="-47625"/>
                <a:ext cx="577069" cy="865759"/>
              </a:xfrm>
              <a:prstGeom prst="rect">
                <a:avLst/>
              </a:prstGeom>
            </p:spPr>
            <p:txBody>
              <a:bodyPr anchor="ctr" rtlCol="false" tIns="49653" lIns="49653" bIns="49653" rIns="49653"/>
              <a:lstStyle/>
              <a:p>
                <a:pPr algn="ctr">
                  <a:lnSpc>
                    <a:spcPts val="2659"/>
                  </a:lnSpc>
                </a:pPr>
              </a:p>
            </p:txBody>
          </p:sp>
        </p:grpSp>
        <p:grpSp>
          <p:nvGrpSpPr>
            <p:cNvPr name="Group 93" id="93"/>
            <p:cNvGrpSpPr/>
            <p:nvPr/>
          </p:nvGrpSpPr>
          <p:grpSpPr>
            <a:xfrm rot="5400000">
              <a:off x="1900276" y="1957123"/>
              <a:ext cx="1666686" cy="4441993"/>
              <a:chOff x="0" y="0"/>
              <a:chExt cx="368024" cy="980846"/>
            </a:xfrm>
          </p:grpSpPr>
          <p:sp>
            <p:nvSpPr>
              <p:cNvPr name="Freeform 94" id="94"/>
              <p:cNvSpPr/>
              <p:nvPr/>
            </p:nvSpPr>
            <p:spPr>
              <a:xfrm flipH="false" flipV="false" rot="0">
                <a:off x="0" y="0"/>
                <a:ext cx="368024" cy="980846"/>
              </a:xfrm>
              <a:custGeom>
                <a:avLst/>
                <a:gdLst/>
                <a:ahLst/>
                <a:cxnLst/>
                <a:rect r="r" b="b" t="t" l="l"/>
                <a:pathLst>
                  <a:path h="980846" w="368024">
                    <a:moveTo>
                      <a:pt x="0" y="0"/>
                    </a:moveTo>
                    <a:lnTo>
                      <a:pt x="368024" y="0"/>
                    </a:lnTo>
                    <a:lnTo>
                      <a:pt x="368024" y="980846"/>
                    </a:lnTo>
                    <a:lnTo>
                      <a:pt x="0" y="980846"/>
                    </a:lnTo>
                    <a:close/>
                  </a:path>
                </a:pathLst>
              </a:custGeom>
              <a:solidFill>
                <a:srgbClr val="FFFFFF"/>
              </a:solidFill>
              <a:ln cap="sq">
                <a:noFill/>
                <a:prstDash val="solid"/>
                <a:miter/>
              </a:ln>
            </p:spPr>
          </p:sp>
          <p:sp>
            <p:nvSpPr>
              <p:cNvPr name="TextBox 95" id="95"/>
              <p:cNvSpPr txBox="true"/>
              <p:nvPr/>
            </p:nvSpPr>
            <p:spPr>
              <a:xfrm>
                <a:off x="0" y="-47625"/>
                <a:ext cx="368024" cy="1028471"/>
              </a:xfrm>
              <a:prstGeom prst="rect">
                <a:avLst/>
              </a:prstGeom>
            </p:spPr>
            <p:txBody>
              <a:bodyPr anchor="ctr" rtlCol="false" tIns="49653" lIns="49653" bIns="49653" rIns="49653"/>
              <a:lstStyle/>
              <a:p>
                <a:pPr algn="ctr">
                  <a:lnSpc>
                    <a:spcPts val="2659"/>
                  </a:lnSpc>
                </a:pPr>
              </a:p>
            </p:txBody>
          </p:sp>
        </p:grpSp>
        <p:grpSp>
          <p:nvGrpSpPr>
            <p:cNvPr name="Group 96" id="96"/>
            <p:cNvGrpSpPr/>
            <p:nvPr/>
          </p:nvGrpSpPr>
          <p:grpSpPr>
            <a:xfrm rot="5400000">
              <a:off x="-489109" y="5389913"/>
              <a:ext cx="1879530" cy="901312"/>
              <a:chOff x="0" y="0"/>
              <a:chExt cx="415023" cy="199020"/>
            </a:xfrm>
          </p:grpSpPr>
          <p:sp>
            <p:nvSpPr>
              <p:cNvPr name="Freeform 97" id="97"/>
              <p:cNvSpPr/>
              <p:nvPr/>
            </p:nvSpPr>
            <p:spPr>
              <a:xfrm flipH="false" flipV="false" rot="0">
                <a:off x="0" y="0"/>
                <a:ext cx="415023" cy="199020"/>
              </a:xfrm>
              <a:custGeom>
                <a:avLst/>
                <a:gdLst/>
                <a:ahLst/>
                <a:cxnLst/>
                <a:rect r="r" b="b" t="t" l="l"/>
                <a:pathLst>
                  <a:path h="199020" w="415023">
                    <a:moveTo>
                      <a:pt x="0" y="0"/>
                    </a:moveTo>
                    <a:lnTo>
                      <a:pt x="415023" y="0"/>
                    </a:lnTo>
                    <a:lnTo>
                      <a:pt x="415023" y="199020"/>
                    </a:lnTo>
                    <a:lnTo>
                      <a:pt x="0" y="199020"/>
                    </a:lnTo>
                    <a:close/>
                  </a:path>
                </a:pathLst>
              </a:custGeom>
              <a:solidFill>
                <a:srgbClr val="FFFFFF"/>
              </a:solidFill>
              <a:ln cap="sq">
                <a:noFill/>
                <a:prstDash val="solid"/>
                <a:miter/>
              </a:ln>
            </p:spPr>
          </p:sp>
          <p:sp>
            <p:nvSpPr>
              <p:cNvPr name="TextBox 98" id="98"/>
              <p:cNvSpPr txBox="true"/>
              <p:nvPr/>
            </p:nvSpPr>
            <p:spPr>
              <a:xfrm>
                <a:off x="0" y="-47625"/>
                <a:ext cx="415023" cy="246645"/>
              </a:xfrm>
              <a:prstGeom prst="rect">
                <a:avLst/>
              </a:prstGeom>
            </p:spPr>
            <p:txBody>
              <a:bodyPr anchor="ctr" rtlCol="false" tIns="49653" lIns="49653" bIns="49653" rIns="49653"/>
              <a:lstStyle/>
              <a:p>
                <a:pPr algn="ctr">
                  <a:lnSpc>
                    <a:spcPts val="2659"/>
                  </a:lnSpc>
                </a:pPr>
              </a:p>
            </p:txBody>
          </p:sp>
        </p:grpSp>
        <p:sp>
          <p:nvSpPr>
            <p:cNvPr name="Freeform 99" id="99"/>
            <p:cNvSpPr/>
            <p:nvPr/>
          </p:nvSpPr>
          <p:spPr>
            <a:xfrm flipH="false" flipV="false" rot="0">
              <a:off x="14988031" y="8046328"/>
              <a:ext cx="1369679" cy="1164227"/>
            </a:xfrm>
            <a:custGeom>
              <a:avLst/>
              <a:gdLst/>
              <a:ahLst/>
              <a:cxnLst/>
              <a:rect r="r" b="b" t="t" l="l"/>
              <a:pathLst>
                <a:path h="1164227" w="1369679">
                  <a:moveTo>
                    <a:pt x="0" y="0"/>
                  </a:moveTo>
                  <a:lnTo>
                    <a:pt x="1369678" y="0"/>
                  </a:lnTo>
                  <a:lnTo>
                    <a:pt x="1369678" y="1164226"/>
                  </a:lnTo>
                  <a:lnTo>
                    <a:pt x="0" y="116422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00" id="100"/>
            <p:cNvGrpSpPr/>
            <p:nvPr/>
          </p:nvGrpSpPr>
          <p:grpSpPr>
            <a:xfrm rot="0">
              <a:off x="3216978" y="2317247"/>
              <a:ext cx="2756281" cy="2756281"/>
              <a:chOff x="0" y="0"/>
              <a:chExt cx="812800" cy="812800"/>
            </a:xfrm>
          </p:grpSpPr>
          <p:sp>
            <p:nvSpPr>
              <p:cNvPr name="Freeform 101" id="10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AF61"/>
              </a:solidFill>
              <a:ln cap="sq">
                <a:noFill/>
                <a:prstDash val="solid"/>
                <a:miter/>
              </a:ln>
            </p:spPr>
          </p:sp>
          <p:sp>
            <p:nvSpPr>
              <p:cNvPr name="TextBox 102" id="102"/>
              <p:cNvSpPr txBox="true"/>
              <p:nvPr/>
            </p:nvSpPr>
            <p:spPr>
              <a:xfrm>
                <a:off x="76200" y="28575"/>
                <a:ext cx="660400" cy="708025"/>
              </a:xfrm>
              <a:prstGeom prst="rect">
                <a:avLst/>
              </a:prstGeom>
            </p:spPr>
            <p:txBody>
              <a:bodyPr anchor="ctr" rtlCol="false" tIns="49653" lIns="49653" bIns="49653" rIns="49653"/>
              <a:lstStyle/>
              <a:p>
                <a:pPr algn="ctr">
                  <a:lnSpc>
                    <a:spcPts val="2659"/>
                  </a:lnSpc>
                </a:pPr>
              </a:p>
            </p:txBody>
          </p:sp>
        </p:grpSp>
        <p:sp>
          <p:nvSpPr>
            <p:cNvPr name="Freeform 103" id="103"/>
            <p:cNvSpPr/>
            <p:nvPr/>
          </p:nvSpPr>
          <p:spPr>
            <a:xfrm flipH="false" flipV="false" rot="0">
              <a:off x="3564873" y="2665142"/>
              <a:ext cx="2558530" cy="2558530"/>
            </a:xfrm>
            <a:custGeom>
              <a:avLst/>
              <a:gdLst/>
              <a:ahLst/>
              <a:cxnLst/>
              <a:rect r="r" b="b" t="t" l="l"/>
              <a:pathLst>
                <a:path h="2558530" w="2558530">
                  <a:moveTo>
                    <a:pt x="0" y="0"/>
                  </a:moveTo>
                  <a:lnTo>
                    <a:pt x="2558530" y="0"/>
                  </a:lnTo>
                  <a:lnTo>
                    <a:pt x="2558530" y="2558530"/>
                  </a:lnTo>
                  <a:lnTo>
                    <a:pt x="0" y="2558530"/>
                  </a:lnTo>
                  <a:lnTo>
                    <a:pt x="0" y="0"/>
                  </a:lnTo>
                  <a:close/>
                </a:path>
              </a:pathLst>
            </a:custGeom>
            <a:blipFill>
              <a:blip r:embed="rId8">
                <a:alphaModFix amt="35000"/>
                <a:extLst>
                  <a:ext uri="{96DAC541-7B7A-43D3-8B79-37D633B846F1}">
                    <asvg:svgBlip xmlns:asvg="http://schemas.microsoft.com/office/drawing/2016/SVG/main" r:embed="rId14"/>
                  </a:ext>
                </a:extLst>
              </a:blip>
              <a:stretch>
                <a:fillRect l="0" t="0" r="0" b="0"/>
              </a:stretch>
            </a:blipFill>
            <a:ln cap="sq">
              <a:noFill/>
              <a:prstDash val="solid"/>
              <a:miter/>
            </a:ln>
          </p:spPr>
        </p:sp>
        <p:grpSp>
          <p:nvGrpSpPr>
            <p:cNvPr name="Group 104" id="104"/>
            <p:cNvGrpSpPr/>
            <p:nvPr/>
          </p:nvGrpSpPr>
          <p:grpSpPr>
            <a:xfrm rot="-5400000">
              <a:off x="3564873" y="2665142"/>
              <a:ext cx="2060492" cy="2060492"/>
              <a:chOff x="0" y="0"/>
              <a:chExt cx="812800" cy="812800"/>
            </a:xfrm>
          </p:grpSpPr>
          <p:sp>
            <p:nvSpPr>
              <p:cNvPr name="Freeform 105" id="10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cap="sq">
                <a:noFill/>
                <a:prstDash val="solid"/>
                <a:miter/>
              </a:ln>
            </p:spPr>
          </p:sp>
          <p:sp>
            <p:nvSpPr>
              <p:cNvPr name="TextBox 106" id="106"/>
              <p:cNvSpPr txBox="true"/>
              <p:nvPr/>
            </p:nvSpPr>
            <p:spPr>
              <a:xfrm>
                <a:off x="76200" y="47625"/>
                <a:ext cx="660400" cy="688975"/>
              </a:xfrm>
              <a:prstGeom prst="rect">
                <a:avLst/>
              </a:prstGeom>
            </p:spPr>
            <p:txBody>
              <a:bodyPr anchor="ctr" rtlCol="false" tIns="44177" lIns="44177" bIns="44177" rIns="44177"/>
              <a:lstStyle/>
              <a:p>
                <a:pPr algn="ctr">
                  <a:lnSpc>
                    <a:spcPts val="1743"/>
                  </a:lnSpc>
                </a:pPr>
              </a:p>
            </p:txBody>
          </p:sp>
        </p:grpSp>
        <p:sp>
          <p:nvSpPr>
            <p:cNvPr name="Freeform 107" id="107"/>
            <p:cNvSpPr/>
            <p:nvPr/>
          </p:nvSpPr>
          <p:spPr>
            <a:xfrm flipH="false" flipV="false" rot="0">
              <a:off x="3920879" y="3037031"/>
              <a:ext cx="1753069" cy="1141088"/>
            </a:xfrm>
            <a:custGeom>
              <a:avLst/>
              <a:gdLst/>
              <a:ahLst/>
              <a:cxnLst/>
              <a:rect r="r" b="b" t="t" l="l"/>
              <a:pathLst>
                <a:path h="1141088" w="1753069">
                  <a:moveTo>
                    <a:pt x="0" y="0"/>
                  </a:moveTo>
                  <a:lnTo>
                    <a:pt x="1753069" y="0"/>
                  </a:lnTo>
                  <a:lnTo>
                    <a:pt x="1753069" y="1141088"/>
                  </a:lnTo>
                  <a:lnTo>
                    <a:pt x="0" y="114108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8" id="108"/>
            <p:cNvSpPr/>
            <p:nvPr/>
          </p:nvSpPr>
          <p:spPr>
            <a:xfrm flipH="false" flipV="false" rot="0">
              <a:off x="7622915" y="7780104"/>
              <a:ext cx="1592399" cy="1592399"/>
            </a:xfrm>
            <a:custGeom>
              <a:avLst/>
              <a:gdLst/>
              <a:ahLst/>
              <a:cxnLst/>
              <a:rect r="r" b="b" t="t" l="l"/>
              <a:pathLst>
                <a:path h="1592399" w="1592399">
                  <a:moveTo>
                    <a:pt x="0" y="0"/>
                  </a:moveTo>
                  <a:lnTo>
                    <a:pt x="1592399" y="0"/>
                  </a:lnTo>
                  <a:lnTo>
                    <a:pt x="1592399" y="1592400"/>
                  </a:lnTo>
                  <a:lnTo>
                    <a:pt x="0" y="15924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9" id="109"/>
            <p:cNvSpPr/>
            <p:nvPr/>
          </p:nvSpPr>
          <p:spPr>
            <a:xfrm flipH="false" flipV="false" rot="0">
              <a:off x="11013580" y="2799420"/>
              <a:ext cx="1555415" cy="1791935"/>
            </a:xfrm>
            <a:custGeom>
              <a:avLst/>
              <a:gdLst/>
              <a:ahLst/>
              <a:cxnLst/>
              <a:rect r="r" b="b" t="t" l="l"/>
              <a:pathLst>
                <a:path h="1791935" w="1555415">
                  <a:moveTo>
                    <a:pt x="0" y="0"/>
                  </a:moveTo>
                  <a:lnTo>
                    <a:pt x="1555415" y="0"/>
                  </a:lnTo>
                  <a:lnTo>
                    <a:pt x="1555415" y="1791935"/>
                  </a:lnTo>
                  <a:lnTo>
                    <a:pt x="0" y="179193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10" id="110"/>
            <p:cNvSpPr/>
            <p:nvPr/>
          </p:nvSpPr>
          <p:spPr>
            <a:xfrm flipH="false" flipV="false" rot="0">
              <a:off x="18223070" y="2944032"/>
              <a:ext cx="1539157" cy="1279424"/>
            </a:xfrm>
            <a:custGeom>
              <a:avLst/>
              <a:gdLst/>
              <a:ahLst/>
              <a:cxnLst/>
              <a:rect r="r" b="b" t="t" l="l"/>
              <a:pathLst>
                <a:path h="1279424" w="1539157">
                  <a:moveTo>
                    <a:pt x="0" y="0"/>
                  </a:moveTo>
                  <a:lnTo>
                    <a:pt x="1539157" y="0"/>
                  </a:lnTo>
                  <a:lnTo>
                    <a:pt x="1539157" y="1279424"/>
                  </a:lnTo>
                  <a:lnTo>
                    <a:pt x="0" y="127942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111" id="111"/>
            <p:cNvSpPr txBox="true"/>
            <p:nvPr/>
          </p:nvSpPr>
          <p:spPr>
            <a:xfrm rot="0">
              <a:off x="2597394" y="-95250"/>
              <a:ext cx="17645170" cy="1073901"/>
            </a:xfrm>
            <a:prstGeom prst="rect">
              <a:avLst/>
            </a:prstGeom>
          </p:spPr>
          <p:txBody>
            <a:bodyPr anchor="t" rtlCol="false" tIns="0" lIns="0" bIns="0" rIns="0">
              <a:spAutoFit/>
            </a:bodyPr>
            <a:lstStyle/>
            <a:p>
              <a:pPr algn="ctr">
                <a:lnSpc>
                  <a:spcPts val="6793"/>
                </a:lnSpc>
              </a:pPr>
              <a:r>
                <a:rPr lang="en-US" b="true" sz="4852">
                  <a:solidFill>
                    <a:srgbClr val="082064"/>
                  </a:solidFill>
                  <a:latin typeface="Roboto Bold"/>
                  <a:ea typeface="Roboto Bold"/>
                  <a:cs typeface="Roboto Bold"/>
                  <a:sym typeface="Roboto Bold"/>
                </a:rPr>
                <a:t>MÔ TẢ VIDEO BÀI GIẢNG</a:t>
              </a:r>
            </a:p>
          </p:txBody>
        </p:sp>
        <p:sp>
          <p:nvSpPr>
            <p:cNvPr name="TextBox 112" id="112"/>
            <p:cNvSpPr txBox="true"/>
            <p:nvPr/>
          </p:nvSpPr>
          <p:spPr>
            <a:xfrm rot="0">
              <a:off x="2159924" y="7225782"/>
              <a:ext cx="3514023" cy="940906"/>
            </a:xfrm>
            <a:prstGeom prst="rect">
              <a:avLst/>
            </a:prstGeom>
          </p:spPr>
          <p:txBody>
            <a:bodyPr anchor="t" rtlCol="false" tIns="0" lIns="0" bIns="0" rIns="0">
              <a:spAutoFit/>
            </a:bodyPr>
            <a:lstStyle/>
            <a:p>
              <a:pPr algn="l">
                <a:lnSpc>
                  <a:spcPts val="2779"/>
                </a:lnSpc>
              </a:pPr>
              <a:r>
                <a:rPr lang="en-US" sz="2315" b="true">
                  <a:solidFill>
                    <a:srgbClr val="000000"/>
                  </a:solidFill>
                  <a:latin typeface="Roboto Bold"/>
                  <a:ea typeface="Roboto Bold"/>
                  <a:cs typeface="Roboto Bold"/>
                  <a:sym typeface="Roboto Bold"/>
                </a:rPr>
                <a:t>Bản chất của việc học</a:t>
              </a:r>
            </a:p>
          </p:txBody>
        </p:sp>
        <p:sp>
          <p:nvSpPr>
            <p:cNvPr name="TextBox 113" id="113"/>
            <p:cNvSpPr txBox="true"/>
            <p:nvPr/>
          </p:nvSpPr>
          <p:spPr>
            <a:xfrm rot="0">
              <a:off x="10314885" y="7225782"/>
              <a:ext cx="3404439" cy="940906"/>
            </a:xfrm>
            <a:prstGeom prst="rect">
              <a:avLst/>
            </a:prstGeom>
          </p:spPr>
          <p:txBody>
            <a:bodyPr anchor="t" rtlCol="false" tIns="0" lIns="0" bIns="0" rIns="0">
              <a:spAutoFit/>
            </a:bodyPr>
            <a:lstStyle/>
            <a:p>
              <a:pPr algn="l">
                <a:lnSpc>
                  <a:spcPts val="2779"/>
                </a:lnSpc>
              </a:pPr>
              <a:r>
                <a:rPr lang="en-US" sz="2315" b="true">
                  <a:solidFill>
                    <a:srgbClr val="000000"/>
                  </a:solidFill>
                  <a:latin typeface="Roboto Bold"/>
                  <a:ea typeface="Roboto Bold"/>
                  <a:cs typeface="Roboto Bold"/>
                  <a:sym typeface="Roboto Bold"/>
                </a:rPr>
                <a:t>Phương pháp</a:t>
              </a:r>
              <a:r>
                <a:rPr lang="en-US" sz="2315" b="true">
                  <a:solidFill>
                    <a:srgbClr val="000000"/>
                  </a:solidFill>
                  <a:latin typeface="Roboto Bold"/>
                  <a:ea typeface="Roboto Bold"/>
                  <a:cs typeface="Roboto Bold"/>
                  <a:sym typeface="Roboto Bold"/>
                </a:rPr>
                <a:t> học tập tương ứng</a:t>
              </a:r>
            </a:p>
          </p:txBody>
        </p:sp>
        <p:sp>
          <p:nvSpPr>
            <p:cNvPr name="TextBox 114" id="114"/>
            <p:cNvSpPr txBox="true"/>
            <p:nvPr/>
          </p:nvSpPr>
          <p:spPr>
            <a:xfrm rot="0">
              <a:off x="17626520" y="7225782"/>
              <a:ext cx="3489452" cy="940906"/>
            </a:xfrm>
            <a:prstGeom prst="rect">
              <a:avLst/>
            </a:prstGeom>
          </p:spPr>
          <p:txBody>
            <a:bodyPr anchor="t" rtlCol="false" tIns="0" lIns="0" bIns="0" rIns="0">
              <a:spAutoFit/>
            </a:bodyPr>
            <a:lstStyle/>
            <a:p>
              <a:pPr algn="l">
                <a:lnSpc>
                  <a:spcPts val="2779"/>
                </a:lnSpc>
              </a:pPr>
              <a:r>
                <a:rPr lang="en-US" sz="2315" b="true">
                  <a:solidFill>
                    <a:srgbClr val="000000"/>
                  </a:solidFill>
                  <a:latin typeface="Roboto Bold"/>
                  <a:ea typeface="Roboto Bold"/>
                  <a:cs typeface="Roboto Bold"/>
                  <a:sym typeface="Roboto Bold"/>
                </a:rPr>
                <a:t>Thẩm quyền &amp; Chủ nghĩa độc đoán</a:t>
              </a:r>
              <a:r>
                <a:rPr lang="en-US" sz="2315" b="true">
                  <a:solidFill>
                    <a:srgbClr val="000000"/>
                  </a:solidFill>
                  <a:latin typeface="Roboto Bold"/>
                  <a:ea typeface="Roboto Bold"/>
                  <a:cs typeface="Roboto Bold"/>
                  <a:sym typeface="Roboto Bold"/>
                </a:rPr>
                <a:t> </a:t>
              </a:r>
            </a:p>
          </p:txBody>
        </p:sp>
        <p:sp>
          <p:nvSpPr>
            <p:cNvPr name="TextBox 115" id="115"/>
            <p:cNvSpPr txBox="true"/>
            <p:nvPr/>
          </p:nvSpPr>
          <p:spPr>
            <a:xfrm rot="0">
              <a:off x="6514715" y="2827187"/>
              <a:ext cx="3356791" cy="940906"/>
            </a:xfrm>
            <a:prstGeom prst="rect">
              <a:avLst/>
            </a:prstGeom>
          </p:spPr>
          <p:txBody>
            <a:bodyPr anchor="t" rtlCol="false" tIns="0" lIns="0" bIns="0" rIns="0">
              <a:spAutoFit/>
            </a:bodyPr>
            <a:lstStyle/>
            <a:p>
              <a:pPr algn="l">
                <a:lnSpc>
                  <a:spcPts val="2779"/>
                </a:lnSpc>
              </a:pPr>
              <a:r>
                <a:rPr lang="en-US" sz="2315" b="true">
                  <a:solidFill>
                    <a:srgbClr val="000000"/>
                  </a:solidFill>
                  <a:latin typeface="Roboto Bold"/>
                  <a:ea typeface="Roboto Bold"/>
                  <a:cs typeface="Roboto Bold"/>
                  <a:sym typeface="Roboto Bold"/>
                </a:rPr>
                <a:t>Mục đíc</a:t>
              </a:r>
              <a:r>
                <a:rPr lang="en-US" sz="2315" b="true">
                  <a:solidFill>
                    <a:srgbClr val="000000"/>
                  </a:solidFill>
                  <a:latin typeface="Roboto Bold"/>
                  <a:ea typeface="Roboto Bold"/>
                  <a:cs typeface="Roboto Bold"/>
                  <a:sym typeface="Roboto Bold"/>
                </a:rPr>
                <a:t>h chính của việc học </a:t>
              </a:r>
            </a:p>
          </p:txBody>
        </p:sp>
        <p:sp>
          <p:nvSpPr>
            <p:cNvPr name="TextBox 116" id="116"/>
            <p:cNvSpPr txBox="true"/>
            <p:nvPr/>
          </p:nvSpPr>
          <p:spPr>
            <a:xfrm rot="0">
              <a:off x="13720465" y="2827187"/>
              <a:ext cx="3432522" cy="940906"/>
            </a:xfrm>
            <a:prstGeom prst="rect">
              <a:avLst/>
            </a:prstGeom>
          </p:spPr>
          <p:txBody>
            <a:bodyPr anchor="t" rtlCol="false" tIns="0" lIns="0" bIns="0" rIns="0">
              <a:spAutoFit/>
            </a:bodyPr>
            <a:lstStyle/>
            <a:p>
              <a:pPr algn="l">
                <a:lnSpc>
                  <a:spcPts val="2779"/>
                </a:lnSpc>
              </a:pPr>
              <a:r>
                <a:rPr lang="en-US" sz="2315" b="true">
                  <a:solidFill>
                    <a:srgbClr val="000000"/>
                  </a:solidFill>
                  <a:latin typeface="Roboto Bold"/>
                  <a:ea typeface="Roboto Bold"/>
                  <a:cs typeface="Roboto Bold"/>
                  <a:sym typeface="Roboto Bold"/>
                </a:rPr>
                <a:t>Điều</a:t>
              </a:r>
              <a:r>
                <a:rPr lang="en-US" sz="2315" b="true">
                  <a:solidFill>
                    <a:srgbClr val="000000"/>
                  </a:solidFill>
                  <a:latin typeface="Roboto Bold"/>
                  <a:ea typeface="Roboto Bold"/>
                  <a:cs typeface="Roboto Bold"/>
                  <a:sym typeface="Roboto Bold"/>
                </a:rPr>
                <a:t> kiện để học tập hiệu quả</a:t>
              </a:r>
            </a:p>
          </p:txBody>
        </p:sp>
        <p:sp>
          <p:nvSpPr>
            <p:cNvPr name="TextBox 117" id="117"/>
            <p:cNvSpPr txBox="true"/>
            <p:nvPr/>
          </p:nvSpPr>
          <p:spPr>
            <a:xfrm rot="0">
              <a:off x="2147132" y="8364827"/>
              <a:ext cx="3741871" cy="1132638"/>
            </a:xfrm>
            <a:prstGeom prst="rect">
              <a:avLst/>
            </a:prstGeom>
          </p:spPr>
          <p:txBody>
            <a:bodyPr anchor="t" rtlCol="false" tIns="0" lIns="0" bIns="0" rIns="0">
              <a:spAutoFit/>
            </a:bodyPr>
            <a:lstStyle/>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Nội dung</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Bài đọc về giáo dục</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Infographic</a:t>
              </a:r>
            </a:p>
          </p:txBody>
        </p:sp>
        <p:sp>
          <p:nvSpPr>
            <p:cNvPr name="TextBox 118" id="118"/>
            <p:cNvSpPr txBox="true"/>
            <p:nvPr/>
          </p:nvSpPr>
          <p:spPr>
            <a:xfrm rot="0">
              <a:off x="3032141" y="5377587"/>
              <a:ext cx="1322683" cy="654916"/>
            </a:xfrm>
            <a:prstGeom prst="rect">
              <a:avLst/>
            </a:prstGeom>
          </p:spPr>
          <p:txBody>
            <a:bodyPr anchor="t" rtlCol="false" tIns="0" lIns="0" bIns="0" rIns="0">
              <a:spAutoFit/>
            </a:bodyPr>
            <a:lstStyle/>
            <a:p>
              <a:pPr algn="ctr">
                <a:lnSpc>
                  <a:spcPts val="4052"/>
                </a:lnSpc>
              </a:pPr>
              <a:r>
                <a:rPr lang="en-US" sz="2894">
                  <a:solidFill>
                    <a:srgbClr val="B3B675"/>
                  </a:solidFill>
                  <a:latin typeface="Roboto"/>
                  <a:ea typeface="Roboto"/>
                  <a:cs typeface="Roboto"/>
                  <a:sym typeface="Roboto"/>
                </a:rPr>
                <a:t>01</a:t>
              </a:r>
            </a:p>
          </p:txBody>
        </p:sp>
        <p:sp>
          <p:nvSpPr>
            <p:cNvPr name="TextBox 119" id="119"/>
            <p:cNvSpPr txBox="true"/>
            <p:nvPr/>
          </p:nvSpPr>
          <p:spPr>
            <a:xfrm rot="0">
              <a:off x="10184607" y="5377587"/>
              <a:ext cx="1322683" cy="654916"/>
            </a:xfrm>
            <a:prstGeom prst="rect">
              <a:avLst/>
            </a:prstGeom>
          </p:spPr>
          <p:txBody>
            <a:bodyPr anchor="t" rtlCol="false" tIns="0" lIns="0" bIns="0" rIns="0">
              <a:spAutoFit/>
            </a:bodyPr>
            <a:lstStyle/>
            <a:p>
              <a:pPr algn="ctr">
                <a:lnSpc>
                  <a:spcPts val="4052"/>
                </a:lnSpc>
              </a:pPr>
              <a:r>
                <a:rPr lang="en-US" sz="2894">
                  <a:solidFill>
                    <a:srgbClr val="E26D5C"/>
                  </a:solidFill>
                  <a:latin typeface="Roboto"/>
                  <a:ea typeface="Roboto"/>
                  <a:cs typeface="Roboto"/>
                  <a:sym typeface="Roboto"/>
                </a:rPr>
                <a:t>03</a:t>
              </a:r>
            </a:p>
          </p:txBody>
        </p:sp>
        <p:sp>
          <p:nvSpPr>
            <p:cNvPr name="TextBox 120" id="120"/>
            <p:cNvSpPr txBox="true"/>
            <p:nvPr/>
          </p:nvSpPr>
          <p:spPr>
            <a:xfrm rot="0">
              <a:off x="17387252" y="5377587"/>
              <a:ext cx="1322683" cy="654916"/>
            </a:xfrm>
            <a:prstGeom prst="rect">
              <a:avLst/>
            </a:prstGeom>
          </p:spPr>
          <p:txBody>
            <a:bodyPr anchor="t" rtlCol="false" tIns="0" lIns="0" bIns="0" rIns="0">
              <a:spAutoFit/>
            </a:bodyPr>
            <a:lstStyle/>
            <a:p>
              <a:pPr algn="ctr">
                <a:lnSpc>
                  <a:spcPts val="4052"/>
                </a:lnSpc>
              </a:pPr>
              <a:r>
                <a:rPr lang="en-US" sz="2894">
                  <a:solidFill>
                    <a:srgbClr val="472D30"/>
                  </a:solidFill>
                  <a:latin typeface="Roboto"/>
                  <a:ea typeface="Roboto"/>
                  <a:cs typeface="Roboto"/>
                  <a:sym typeface="Roboto"/>
                </a:rPr>
                <a:t>05</a:t>
              </a:r>
            </a:p>
          </p:txBody>
        </p:sp>
        <p:sp>
          <p:nvSpPr>
            <p:cNvPr name="TextBox 121" id="121"/>
            <p:cNvSpPr txBox="true"/>
            <p:nvPr/>
          </p:nvSpPr>
          <p:spPr>
            <a:xfrm rot="0">
              <a:off x="6687814" y="6457748"/>
              <a:ext cx="1322683" cy="654916"/>
            </a:xfrm>
            <a:prstGeom prst="rect">
              <a:avLst/>
            </a:prstGeom>
          </p:spPr>
          <p:txBody>
            <a:bodyPr anchor="t" rtlCol="false" tIns="0" lIns="0" bIns="0" rIns="0">
              <a:spAutoFit/>
            </a:bodyPr>
            <a:lstStyle/>
            <a:p>
              <a:pPr algn="ctr">
                <a:lnSpc>
                  <a:spcPts val="4052"/>
                </a:lnSpc>
              </a:pPr>
              <a:r>
                <a:rPr lang="en-US" sz="2894">
                  <a:solidFill>
                    <a:srgbClr val="E28C5C"/>
                  </a:solidFill>
                  <a:latin typeface="Roboto"/>
                  <a:ea typeface="Roboto"/>
                  <a:cs typeface="Roboto"/>
                  <a:sym typeface="Roboto"/>
                </a:rPr>
                <a:t>02</a:t>
              </a:r>
            </a:p>
          </p:txBody>
        </p:sp>
        <p:sp>
          <p:nvSpPr>
            <p:cNvPr name="TextBox 122" id="122"/>
            <p:cNvSpPr txBox="true"/>
            <p:nvPr/>
          </p:nvSpPr>
          <p:spPr>
            <a:xfrm rot="0">
              <a:off x="13889175" y="6457748"/>
              <a:ext cx="1322683" cy="654916"/>
            </a:xfrm>
            <a:prstGeom prst="rect">
              <a:avLst/>
            </a:prstGeom>
          </p:spPr>
          <p:txBody>
            <a:bodyPr anchor="t" rtlCol="false" tIns="0" lIns="0" bIns="0" rIns="0">
              <a:spAutoFit/>
            </a:bodyPr>
            <a:lstStyle/>
            <a:p>
              <a:pPr algn="ctr">
                <a:lnSpc>
                  <a:spcPts val="4052"/>
                </a:lnSpc>
              </a:pPr>
              <a:r>
                <a:rPr lang="en-US" sz="2894">
                  <a:solidFill>
                    <a:srgbClr val="723D46"/>
                  </a:solidFill>
                  <a:latin typeface="Roboto"/>
                  <a:ea typeface="Roboto"/>
                  <a:cs typeface="Roboto"/>
                  <a:sym typeface="Roboto"/>
                </a:rPr>
                <a:t>04</a:t>
              </a:r>
            </a:p>
          </p:txBody>
        </p:sp>
        <p:sp>
          <p:nvSpPr>
            <p:cNvPr name="TextBox 123" id="123"/>
            <p:cNvSpPr txBox="true"/>
            <p:nvPr/>
          </p:nvSpPr>
          <p:spPr>
            <a:xfrm rot="0">
              <a:off x="10314885" y="8361544"/>
              <a:ext cx="3741871" cy="751638"/>
            </a:xfrm>
            <a:prstGeom prst="rect">
              <a:avLst/>
            </a:prstGeom>
          </p:spPr>
          <p:txBody>
            <a:bodyPr anchor="t" rtlCol="false" tIns="0" lIns="0" bIns="0" rIns="0">
              <a:spAutoFit/>
            </a:bodyPr>
            <a:lstStyle/>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Nội dung</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Mindmap </a:t>
              </a:r>
            </a:p>
          </p:txBody>
        </p:sp>
        <p:sp>
          <p:nvSpPr>
            <p:cNvPr name="TextBox 124" id="124"/>
            <p:cNvSpPr txBox="true"/>
            <p:nvPr/>
          </p:nvSpPr>
          <p:spPr>
            <a:xfrm rot="0">
              <a:off x="6442736" y="4091034"/>
              <a:ext cx="3297371" cy="1513638"/>
            </a:xfrm>
            <a:prstGeom prst="rect">
              <a:avLst/>
            </a:prstGeom>
          </p:spPr>
          <p:txBody>
            <a:bodyPr anchor="t" rtlCol="false" tIns="0" lIns="0" bIns="0" rIns="0">
              <a:spAutoFit/>
            </a:bodyPr>
            <a:lstStyle/>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Nội dung</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Bài đọc về 4 trụ cột của học tập</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Câu hỏi tương tác</a:t>
              </a:r>
            </a:p>
          </p:txBody>
        </p:sp>
        <p:sp>
          <p:nvSpPr>
            <p:cNvPr name="TextBox 125" id="125"/>
            <p:cNvSpPr txBox="true"/>
            <p:nvPr/>
          </p:nvSpPr>
          <p:spPr>
            <a:xfrm rot="0">
              <a:off x="13764390" y="4032273"/>
              <a:ext cx="3297371" cy="751638"/>
            </a:xfrm>
            <a:prstGeom prst="rect">
              <a:avLst/>
            </a:prstGeom>
          </p:spPr>
          <p:txBody>
            <a:bodyPr anchor="t" rtlCol="false" tIns="0" lIns="0" bIns="0" rIns="0">
              <a:spAutoFit/>
            </a:bodyPr>
            <a:lstStyle/>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Nội dung</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Câu hỏi tương tác</a:t>
              </a:r>
            </a:p>
          </p:txBody>
        </p:sp>
        <p:sp>
          <p:nvSpPr>
            <p:cNvPr name="TextBox 126" id="126"/>
            <p:cNvSpPr txBox="true"/>
            <p:nvPr/>
          </p:nvSpPr>
          <p:spPr>
            <a:xfrm rot="0">
              <a:off x="17626520" y="8346838"/>
              <a:ext cx="3297371" cy="1132638"/>
            </a:xfrm>
            <a:prstGeom prst="rect">
              <a:avLst/>
            </a:prstGeom>
          </p:spPr>
          <p:txBody>
            <a:bodyPr anchor="t" rtlCol="false" tIns="0" lIns="0" bIns="0" rIns="0">
              <a:spAutoFit/>
            </a:bodyPr>
            <a:lstStyle/>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Nội dung</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Câu hỏi tương tác</a:t>
              </a:r>
            </a:p>
            <a:p>
              <a:pPr algn="l" marL="375004" indent="-187502" lvl="1">
                <a:lnSpc>
                  <a:spcPts val="2258"/>
                </a:lnSpc>
                <a:buFont typeface="Arial"/>
                <a:buChar char="•"/>
              </a:pPr>
              <a:r>
                <a:rPr lang="en-US" b="true" sz="1736">
                  <a:solidFill>
                    <a:srgbClr val="000000">
                      <a:alpha val="74902"/>
                    </a:srgbClr>
                  </a:solidFill>
                  <a:latin typeface="Roboto Bold"/>
                  <a:ea typeface="Roboto Bold"/>
                  <a:cs typeface="Roboto Bold"/>
                  <a:sym typeface="Roboto Bold"/>
                </a:rPr>
                <a:t>Mindmap bài học</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EFEFE"/>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true" rot="-291657">
            <a:off x="3677247" y="-739770"/>
            <a:ext cx="15447512" cy="11234554"/>
          </a:xfrm>
          <a:custGeom>
            <a:avLst/>
            <a:gdLst/>
            <a:ahLst/>
            <a:cxnLst/>
            <a:rect r="r" b="b" t="t" l="l"/>
            <a:pathLst>
              <a:path h="11234554" w="15447512">
                <a:moveTo>
                  <a:pt x="15447512" y="11234554"/>
                </a:moveTo>
                <a:lnTo>
                  <a:pt x="0" y="11234554"/>
                </a:lnTo>
                <a:lnTo>
                  <a:pt x="0" y="0"/>
                </a:lnTo>
                <a:lnTo>
                  <a:pt x="15447512" y="0"/>
                </a:lnTo>
                <a:lnTo>
                  <a:pt x="15447512" y="11234554"/>
                </a:lnTo>
                <a:close/>
              </a:path>
            </a:pathLst>
          </a:custGeom>
          <a:blipFill>
            <a:blip r:embed="rId2">
              <a:alphaModFix amt="20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9" id="9"/>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882030" y="5986861"/>
            <a:ext cx="6951468" cy="3910201"/>
          </a:xfrm>
          <a:custGeom>
            <a:avLst/>
            <a:gdLst/>
            <a:ahLst/>
            <a:cxnLst/>
            <a:rect r="r" b="b" t="t" l="l"/>
            <a:pathLst>
              <a:path h="3910201" w="6951468">
                <a:moveTo>
                  <a:pt x="0" y="0"/>
                </a:moveTo>
                <a:lnTo>
                  <a:pt x="6951467" y="0"/>
                </a:lnTo>
                <a:lnTo>
                  <a:pt x="6951467" y="3910201"/>
                </a:lnTo>
                <a:lnTo>
                  <a:pt x="0" y="3910201"/>
                </a:lnTo>
                <a:lnTo>
                  <a:pt x="0" y="0"/>
                </a:lnTo>
                <a:close/>
              </a:path>
            </a:pathLst>
          </a:custGeom>
          <a:blipFill>
            <a:blip r:embed="rId6"/>
            <a:stretch>
              <a:fillRect l="0" t="0" r="0" b="0"/>
            </a:stretch>
          </a:blipFill>
        </p:spPr>
      </p:sp>
      <p:sp>
        <p:nvSpPr>
          <p:cNvPr name="Freeform 11" id="11"/>
          <p:cNvSpPr/>
          <p:nvPr/>
        </p:nvSpPr>
        <p:spPr>
          <a:xfrm flipH="false" flipV="false" rot="0">
            <a:off x="9882030" y="1590063"/>
            <a:ext cx="6951468" cy="3910201"/>
          </a:xfrm>
          <a:custGeom>
            <a:avLst/>
            <a:gdLst/>
            <a:ahLst/>
            <a:cxnLst/>
            <a:rect r="r" b="b" t="t" l="l"/>
            <a:pathLst>
              <a:path h="3910201" w="6951468">
                <a:moveTo>
                  <a:pt x="0" y="0"/>
                </a:moveTo>
                <a:lnTo>
                  <a:pt x="6951467" y="0"/>
                </a:lnTo>
                <a:lnTo>
                  <a:pt x="6951467" y="3910200"/>
                </a:lnTo>
                <a:lnTo>
                  <a:pt x="0" y="3910200"/>
                </a:lnTo>
                <a:lnTo>
                  <a:pt x="0" y="0"/>
                </a:lnTo>
                <a:close/>
              </a:path>
            </a:pathLst>
          </a:custGeom>
          <a:blipFill>
            <a:blip r:embed="rId7"/>
            <a:stretch>
              <a:fillRect l="0" t="0" r="0" b="0"/>
            </a:stretch>
          </a:blipFill>
        </p:spPr>
      </p:sp>
      <p:sp>
        <p:nvSpPr>
          <p:cNvPr name="Freeform 12" id="12"/>
          <p:cNvSpPr/>
          <p:nvPr/>
        </p:nvSpPr>
        <p:spPr>
          <a:xfrm flipH="false" flipV="false" rot="0">
            <a:off x="1384182" y="5986861"/>
            <a:ext cx="6951468" cy="3910201"/>
          </a:xfrm>
          <a:custGeom>
            <a:avLst/>
            <a:gdLst/>
            <a:ahLst/>
            <a:cxnLst/>
            <a:rect r="r" b="b" t="t" l="l"/>
            <a:pathLst>
              <a:path h="3910201" w="6951468">
                <a:moveTo>
                  <a:pt x="0" y="0"/>
                </a:moveTo>
                <a:lnTo>
                  <a:pt x="6951468" y="0"/>
                </a:lnTo>
                <a:lnTo>
                  <a:pt x="6951468" y="3910201"/>
                </a:lnTo>
                <a:lnTo>
                  <a:pt x="0" y="3910201"/>
                </a:lnTo>
                <a:lnTo>
                  <a:pt x="0" y="0"/>
                </a:lnTo>
                <a:close/>
              </a:path>
            </a:pathLst>
          </a:custGeom>
          <a:blipFill>
            <a:blip r:embed="rId8"/>
            <a:stretch>
              <a:fillRect l="0" t="0" r="0" b="0"/>
            </a:stretch>
          </a:blipFill>
        </p:spPr>
      </p:sp>
      <p:sp>
        <p:nvSpPr>
          <p:cNvPr name="TextBox 13" id="13"/>
          <p:cNvSpPr txBox="true"/>
          <p:nvPr/>
        </p:nvSpPr>
        <p:spPr>
          <a:xfrm rot="0">
            <a:off x="14839933"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12</a:t>
            </a:r>
          </a:p>
        </p:txBody>
      </p:sp>
      <p:sp>
        <p:nvSpPr>
          <p:cNvPr name="TextBox 14" id="14"/>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
        <p:nvSpPr>
          <p:cNvPr name="TextBox 15" id="15"/>
          <p:cNvSpPr txBox="true"/>
          <p:nvPr/>
        </p:nvSpPr>
        <p:spPr>
          <a:xfrm rot="0">
            <a:off x="1152568" y="2531450"/>
            <a:ext cx="7883153" cy="2162211"/>
          </a:xfrm>
          <a:prstGeom prst="rect">
            <a:avLst/>
          </a:prstGeom>
        </p:spPr>
        <p:txBody>
          <a:bodyPr anchor="t" rtlCol="false" tIns="0" lIns="0" bIns="0" rIns="0">
            <a:spAutoFit/>
          </a:bodyPr>
          <a:lstStyle/>
          <a:p>
            <a:pPr algn="l">
              <a:lnSpc>
                <a:spcPts val="8266"/>
              </a:lnSpc>
            </a:pPr>
            <a:r>
              <a:rPr lang="en-US" sz="8701" spc="-191" b="true">
                <a:solidFill>
                  <a:srgbClr val="0A2B89"/>
                </a:solidFill>
                <a:latin typeface="Montserrat Bold"/>
                <a:ea typeface="Montserrat Bold"/>
                <a:cs typeface="Montserrat Bold"/>
                <a:sym typeface="Montserrat Bold"/>
              </a:rPr>
              <a:t>Powerpoint</a:t>
            </a:r>
          </a:p>
          <a:p>
            <a:pPr algn="l">
              <a:lnSpc>
                <a:spcPts val="8266"/>
              </a:lnSpc>
            </a:pPr>
            <a:r>
              <a:rPr lang="en-US" sz="8701" spc="-191" b="true">
                <a:solidFill>
                  <a:srgbClr val="0A2B89"/>
                </a:solidFill>
                <a:latin typeface="Montserrat Bold"/>
                <a:ea typeface="Montserrat Bold"/>
                <a:cs typeface="Montserrat Bold"/>
                <a:sym typeface="Montserrat Bold"/>
              </a:rPr>
              <a:t>Bài học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2B89"/>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765825"/>
            <a:ext cx="8483779" cy="8511988"/>
          </a:xfrm>
          <a:custGeom>
            <a:avLst/>
            <a:gdLst/>
            <a:ahLst/>
            <a:cxnLst/>
            <a:rect r="r" b="b" t="t" l="l"/>
            <a:pathLst>
              <a:path h="8511988" w="8483779">
                <a:moveTo>
                  <a:pt x="0" y="0"/>
                </a:moveTo>
                <a:lnTo>
                  <a:pt x="8483779" y="0"/>
                </a:lnTo>
                <a:lnTo>
                  <a:pt x="8483779"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332" t="0" r="0" b="0"/>
            </a:stretch>
          </a:blipFill>
          <a:ln cap="sq">
            <a:noFill/>
            <a:prstDash val="solid"/>
            <a:miter/>
          </a:ln>
        </p:spPr>
      </p:sp>
      <p:sp>
        <p:nvSpPr>
          <p:cNvPr name="Freeform 3" id="3"/>
          <p:cNvSpPr/>
          <p:nvPr/>
        </p:nvSpPr>
        <p:spPr>
          <a:xfrm flipH="false" flipV="false" rot="0">
            <a:off x="645595" y="746312"/>
            <a:ext cx="8511988" cy="8511988"/>
          </a:xfrm>
          <a:custGeom>
            <a:avLst/>
            <a:gdLst/>
            <a:ahLst/>
            <a:cxnLst/>
            <a:rect r="r" b="b" t="t" l="l"/>
            <a:pathLst>
              <a:path h="8511988" w="8511988">
                <a:moveTo>
                  <a:pt x="0" y="0"/>
                </a:moveTo>
                <a:lnTo>
                  <a:pt x="8511989" y="0"/>
                </a:lnTo>
                <a:lnTo>
                  <a:pt x="8511989"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5143500"/>
            <a:ext cx="7533505" cy="4694199"/>
            <a:chOff x="0" y="0"/>
            <a:chExt cx="1984133" cy="1236332"/>
          </a:xfrm>
        </p:grpSpPr>
        <p:sp>
          <p:nvSpPr>
            <p:cNvPr name="Freeform 5" id="5"/>
            <p:cNvSpPr/>
            <p:nvPr/>
          </p:nvSpPr>
          <p:spPr>
            <a:xfrm flipH="false" flipV="false" rot="0">
              <a:off x="0" y="0"/>
              <a:ext cx="1984133" cy="1236332"/>
            </a:xfrm>
            <a:custGeom>
              <a:avLst/>
              <a:gdLst/>
              <a:ahLst/>
              <a:cxnLst/>
              <a:rect r="r" b="b" t="t" l="l"/>
              <a:pathLst>
                <a:path h="1236332" w="1984133">
                  <a:moveTo>
                    <a:pt x="30830" y="0"/>
                  </a:moveTo>
                  <a:lnTo>
                    <a:pt x="1953303" y="0"/>
                  </a:lnTo>
                  <a:cubicBezTo>
                    <a:pt x="1970330" y="0"/>
                    <a:pt x="1984133" y="13803"/>
                    <a:pt x="1984133" y="30830"/>
                  </a:cubicBezTo>
                  <a:lnTo>
                    <a:pt x="1984133" y="1205502"/>
                  </a:lnTo>
                  <a:cubicBezTo>
                    <a:pt x="1984133" y="1222529"/>
                    <a:pt x="1970330" y="1236332"/>
                    <a:pt x="1953303" y="1236332"/>
                  </a:cubicBezTo>
                  <a:lnTo>
                    <a:pt x="30830" y="1236332"/>
                  </a:lnTo>
                  <a:cubicBezTo>
                    <a:pt x="22653" y="1236332"/>
                    <a:pt x="14812" y="1233084"/>
                    <a:pt x="9030" y="1227302"/>
                  </a:cubicBezTo>
                  <a:cubicBezTo>
                    <a:pt x="3248" y="1221521"/>
                    <a:pt x="0" y="1213679"/>
                    <a:pt x="0" y="1205502"/>
                  </a:cubicBezTo>
                  <a:lnTo>
                    <a:pt x="0" y="30830"/>
                  </a:lnTo>
                  <a:cubicBezTo>
                    <a:pt x="0" y="22653"/>
                    <a:pt x="3248" y="14812"/>
                    <a:pt x="9030" y="9030"/>
                  </a:cubicBezTo>
                  <a:cubicBezTo>
                    <a:pt x="14812" y="3248"/>
                    <a:pt x="22653" y="0"/>
                    <a:pt x="30830" y="0"/>
                  </a:cubicBezTo>
                  <a:close/>
                </a:path>
              </a:pathLst>
            </a:custGeom>
            <a:solidFill>
              <a:srgbClr val="F4F4ED"/>
            </a:solidFill>
            <a:ln cap="rnd">
              <a:noFill/>
              <a:prstDash val="solid"/>
              <a:round/>
            </a:ln>
          </p:spPr>
        </p:sp>
        <p:sp>
          <p:nvSpPr>
            <p:cNvPr name="TextBox 6" id="6"/>
            <p:cNvSpPr txBox="true"/>
            <p:nvPr/>
          </p:nvSpPr>
          <p:spPr>
            <a:xfrm>
              <a:off x="0" y="-38100"/>
              <a:ext cx="1984133" cy="1274432"/>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847344" y="5571971"/>
            <a:ext cx="362712" cy="362712"/>
            <a:chOff x="0" y="0"/>
            <a:chExt cx="812800" cy="812800"/>
          </a:xfrm>
        </p:grpSpPr>
        <p:sp>
          <p:nvSpPr>
            <p:cNvPr name="Freeform 8" id="8"/>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A9EF2C"/>
            </a:solidFill>
          </p:spPr>
        </p:sp>
        <p:sp>
          <p:nvSpPr>
            <p:cNvPr name="TextBox 9" id="9"/>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155076" y="5143500"/>
            <a:ext cx="7104224" cy="4694199"/>
            <a:chOff x="0" y="0"/>
            <a:chExt cx="1871071" cy="1236332"/>
          </a:xfrm>
        </p:grpSpPr>
        <p:sp>
          <p:nvSpPr>
            <p:cNvPr name="Freeform 11" id="11"/>
            <p:cNvSpPr/>
            <p:nvPr/>
          </p:nvSpPr>
          <p:spPr>
            <a:xfrm flipH="false" flipV="false" rot="0">
              <a:off x="0" y="0"/>
              <a:ext cx="1871071" cy="1236332"/>
            </a:xfrm>
            <a:custGeom>
              <a:avLst/>
              <a:gdLst/>
              <a:ahLst/>
              <a:cxnLst/>
              <a:rect r="r" b="b" t="t" l="l"/>
              <a:pathLst>
                <a:path h="1236332" w="1871071">
                  <a:moveTo>
                    <a:pt x="32693" y="0"/>
                  </a:moveTo>
                  <a:lnTo>
                    <a:pt x="1838378" y="0"/>
                  </a:lnTo>
                  <a:cubicBezTo>
                    <a:pt x="1856434" y="0"/>
                    <a:pt x="1871071" y="14637"/>
                    <a:pt x="1871071" y="32693"/>
                  </a:cubicBezTo>
                  <a:lnTo>
                    <a:pt x="1871071" y="1203639"/>
                  </a:lnTo>
                  <a:cubicBezTo>
                    <a:pt x="1871071" y="1212310"/>
                    <a:pt x="1867627" y="1220626"/>
                    <a:pt x="1861496" y="1226757"/>
                  </a:cubicBezTo>
                  <a:cubicBezTo>
                    <a:pt x="1855365" y="1232888"/>
                    <a:pt x="1847049" y="1236332"/>
                    <a:pt x="1838378" y="1236332"/>
                  </a:cubicBezTo>
                  <a:lnTo>
                    <a:pt x="32693" y="1236332"/>
                  </a:lnTo>
                  <a:cubicBezTo>
                    <a:pt x="24022" y="1236332"/>
                    <a:pt x="15707" y="1232888"/>
                    <a:pt x="9576" y="1226757"/>
                  </a:cubicBezTo>
                  <a:cubicBezTo>
                    <a:pt x="3444" y="1220626"/>
                    <a:pt x="0" y="1212310"/>
                    <a:pt x="0" y="1203639"/>
                  </a:cubicBezTo>
                  <a:lnTo>
                    <a:pt x="0" y="32693"/>
                  </a:lnTo>
                  <a:cubicBezTo>
                    <a:pt x="0" y="24022"/>
                    <a:pt x="3444" y="15707"/>
                    <a:pt x="9576" y="9576"/>
                  </a:cubicBezTo>
                  <a:cubicBezTo>
                    <a:pt x="15707" y="3444"/>
                    <a:pt x="24022" y="0"/>
                    <a:pt x="32693" y="0"/>
                  </a:cubicBezTo>
                  <a:close/>
                </a:path>
              </a:pathLst>
            </a:custGeom>
            <a:solidFill>
              <a:srgbClr val="A9EF2C"/>
            </a:solidFill>
            <a:ln cap="rnd">
              <a:noFill/>
              <a:prstDash val="solid"/>
              <a:round/>
            </a:ln>
          </p:spPr>
        </p:sp>
        <p:sp>
          <p:nvSpPr>
            <p:cNvPr name="TextBox 12" id="12"/>
            <p:cNvSpPr txBox="true"/>
            <p:nvPr/>
          </p:nvSpPr>
          <p:spPr>
            <a:xfrm>
              <a:off x="0" y="-38100"/>
              <a:ext cx="1871071" cy="12744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973720" y="5560236"/>
            <a:ext cx="362712" cy="362712"/>
            <a:chOff x="0" y="0"/>
            <a:chExt cx="812800" cy="812800"/>
          </a:xfrm>
        </p:grpSpPr>
        <p:sp>
          <p:nvSpPr>
            <p:cNvPr name="Freeform 14" id="14"/>
            <p:cNvSpPr/>
            <p:nvPr/>
          </p:nvSpPr>
          <p:spPr>
            <a:xfrm flipH="false" flipV="false" rot="0">
              <a:off x="88412" y="88412"/>
              <a:ext cx="635976" cy="635976"/>
            </a:xfrm>
            <a:custGeom>
              <a:avLst/>
              <a:gdLst/>
              <a:ahLst/>
              <a:cxnLst/>
              <a:rect r="r" b="b" t="t" l="l"/>
              <a:pathLst>
                <a:path h="635976" w="635976">
                  <a:moveTo>
                    <a:pt x="468917" y="62517"/>
                  </a:moveTo>
                  <a:lnTo>
                    <a:pt x="573459" y="167059"/>
                  </a:lnTo>
                  <a:cubicBezTo>
                    <a:pt x="656815" y="250415"/>
                    <a:pt x="656815" y="385561"/>
                    <a:pt x="573459" y="468917"/>
                  </a:cubicBezTo>
                  <a:lnTo>
                    <a:pt x="468917" y="573459"/>
                  </a:lnTo>
                  <a:cubicBezTo>
                    <a:pt x="385561" y="656815"/>
                    <a:pt x="250415" y="656815"/>
                    <a:pt x="167059" y="573459"/>
                  </a:cubicBezTo>
                  <a:lnTo>
                    <a:pt x="62517" y="468917"/>
                  </a:lnTo>
                  <a:cubicBezTo>
                    <a:pt x="-20839" y="385561"/>
                    <a:pt x="-20839" y="250415"/>
                    <a:pt x="62517" y="167059"/>
                  </a:cubicBezTo>
                  <a:lnTo>
                    <a:pt x="167059" y="62517"/>
                  </a:lnTo>
                  <a:cubicBezTo>
                    <a:pt x="250415" y="-20839"/>
                    <a:pt x="385561" y="-20839"/>
                    <a:pt x="468917" y="62517"/>
                  </a:cubicBezTo>
                  <a:close/>
                </a:path>
              </a:pathLst>
            </a:custGeom>
            <a:solidFill>
              <a:srgbClr val="FB863A"/>
            </a:solidFill>
          </p:spPr>
        </p:sp>
        <p:sp>
          <p:nvSpPr>
            <p:cNvPr name="TextBox 15" id="15"/>
            <p:cNvSpPr txBox="true"/>
            <p:nvPr/>
          </p:nvSpPr>
          <p:spPr>
            <a:xfrm>
              <a:off x="139700" y="101600"/>
              <a:ext cx="533400" cy="5715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0510557" y="5600276"/>
            <a:ext cx="4227194" cy="330256"/>
          </a:xfrm>
          <a:prstGeom prst="rect">
            <a:avLst/>
          </a:prstGeom>
        </p:spPr>
        <p:txBody>
          <a:bodyPr anchor="t" rtlCol="false" tIns="0" lIns="0" bIns="0" rIns="0">
            <a:spAutoFit/>
          </a:bodyPr>
          <a:lstStyle/>
          <a:p>
            <a:pPr algn="l" marL="0" indent="0" lvl="0">
              <a:lnSpc>
                <a:spcPts val="2502"/>
              </a:lnSpc>
              <a:spcBef>
                <a:spcPct val="0"/>
              </a:spcBef>
            </a:pPr>
            <a:r>
              <a:rPr lang="en-US" b="true" sz="2502" spc="75" u="sng">
                <a:solidFill>
                  <a:srgbClr val="171718"/>
                </a:solidFill>
                <a:latin typeface="Montserrat Bold"/>
                <a:ea typeface="Montserrat Bold"/>
                <a:cs typeface="Montserrat Bold"/>
                <a:sym typeface="Montserrat Bold"/>
                <a:hlinkClick r:id="rId4" tooltip="https://unesdoc.unesco.org/ark:/48223/pf0000109590"/>
              </a:rPr>
              <a:t>UNESCO</a:t>
            </a:r>
          </a:p>
        </p:txBody>
      </p:sp>
      <p:sp>
        <p:nvSpPr>
          <p:cNvPr name="Freeform 17" id="17"/>
          <p:cNvSpPr/>
          <p:nvPr/>
        </p:nvSpPr>
        <p:spPr>
          <a:xfrm flipH="false" flipV="false" rot="0">
            <a:off x="645595" y="619689"/>
            <a:ext cx="479350" cy="539146"/>
          </a:xfrm>
          <a:custGeom>
            <a:avLst/>
            <a:gdLst/>
            <a:ahLst/>
            <a:cxnLst/>
            <a:rect r="r" b="b" t="t" l="l"/>
            <a:pathLst>
              <a:path h="539146" w="479350">
                <a:moveTo>
                  <a:pt x="0" y="0"/>
                </a:moveTo>
                <a:lnTo>
                  <a:pt x="479351" y="0"/>
                </a:lnTo>
                <a:lnTo>
                  <a:pt x="479351" y="539146"/>
                </a:lnTo>
                <a:lnTo>
                  <a:pt x="0" y="539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14456829" y="480251"/>
            <a:ext cx="2419367" cy="818022"/>
            <a:chOff x="0" y="0"/>
            <a:chExt cx="637199" cy="215446"/>
          </a:xfrm>
        </p:grpSpPr>
        <p:sp>
          <p:nvSpPr>
            <p:cNvPr name="Freeform 19" id="19"/>
            <p:cNvSpPr/>
            <p:nvPr/>
          </p:nvSpPr>
          <p:spPr>
            <a:xfrm flipH="false" flipV="false" rot="0">
              <a:off x="0" y="0"/>
              <a:ext cx="637199" cy="215446"/>
            </a:xfrm>
            <a:custGeom>
              <a:avLst/>
              <a:gdLst/>
              <a:ahLst/>
              <a:cxnLst/>
              <a:rect r="r" b="b" t="t" l="l"/>
              <a:pathLst>
                <a:path h="215446" w="637199">
                  <a:moveTo>
                    <a:pt x="54400" y="0"/>
                  </a:moveTo>
                  <a:lnTo>
                    <a:pt x="582800" y="0"/>
                  </a:lnTo>
                  <a:cubicBezTo>
                    <a:pt x="612844" y="0"/>
                    <a:pt x="637199" y="24356"/>
                    <a:pt x="637199" y="54400"/>
                  </a:cubicBezTo>
                  <a:lnTo>
                    <a:pt x="637199" y="161047"/>
                  </a:lnTo>
                  <a:cubicBezTo>
                    <a:pt x="637199" y="191091"/>
                    <a:pt x="612844" y="215446"/>
                    <a:pt x="582800" y="215446"/>
                  </a:cubicBezTo>
                  <a:lnTo>
                    <a:pt x="54400" y="215446"/>
                  </a:lnTo>
                  <a:cubicBezTo>
                    <a:pt x="24356" y="215446"/>
                    <a:pt x="0" y="191091"/>
                    <a:pt x="0" y="161047"/>
                  </a:cubicBezTo>
                  <a:lnTo>
                    <a:pt x="0" y="54400"/>
                  </a:lnTo>
                  <a:cubicBezTo>
                    <a:pt x="0" y="24356"/>
                    <a:pt x="24356" y="0"/>
                    <a:pt x="54400" y="0"/>
                  </a:cubicBezTo>
                  <a:close/>
                </a:path>
              </a:pathLst>
            </a:custGeom>
            <a:solidFill>
              <a:srgbClr val="F4F4ED"/>
            </a:solidFill>
          </p:spPr>
        </p:sp>
        <p:sp>
          <p:nvSpPr>
            <p:cNvPr name="TextBox 20" id="20"/>
            <p:cNvSpPr txBox="true"/>
            <p:nvPr/>
          </p:nvSpPr>
          <p:spPr>
            <a:xfrm>
              <a:off x="0" y="-38100"/>
              <a:ext cx="637199" cy="253546"/>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true" rot="-4629704">
            <a:off x="13201463" y="3100602"/>
            <a:ext cx="1155365" cy="614615"/>
          </a:xfrm>
          <a:custGeom>
            <a:avLst/>
            <a:gdLst/>
            <a:ahLst/>
            <a:cxnLst/>
            <a:rect r="r" b="b" t="t" l="l"/>
            <a:pathLst>
              <a:path h="614615" w="1155365">
                <a:moveTo>
                  <a:pt x="0" y="614615"/>
                </a:moveTo>
                <a:lnTo>
                  <a:pt x="1155365" y="614615"/>
                </a:lnTo>
                <a:lnTo>
                  <a:pt x="1155365" y="0"/>
                </a:lnTo>
                <a:lnTo>
                  <a:pt x="0" y="0"/>
                </a:lnTo>
                <a:lnTo>
                  <a:pt x="0" y="61461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3952739">
            <a:off x="3164963" y="1816249"/>
            <a:ext cx="1155365" cy="614615"/>
          </a:xfrm>
          <a:custGeom>
            <a:avLst/>
            <a:gdLst/>
            <a:ahLst/>
            <a:cxnLst/>
            <a:rect r="r" b="b" t="t" l="l"/>
            <a:pathLst>
              <a:path h="614615" w="1155365">
                <a:moveTo>
                  <a:pt x="0" y="0"/>
                </a:moveTo>
                <a:lnTo>
                  <a:pt x="1155365" y="0"/>
                </a:lnTo>
                <a:lnTo>
                  <a:pt x="1155365" y="614616"/>
                </a:lnTo>
                <a:lnTo>
                  <a:pt x="0" y="6146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3" id="23"/>
          <p:cNvSpPr/>
          <p:nvPr/>
        </p:nvSpPr>
        <p:spPr>
          <a:xfrm flipH="false" flipV="false" rot="0">
            <a:off x="1278115" y="6128918"/>
            <a:ext cx="7029602" cy="3232209"/>
          </a:xfrm>
          <a:custGeom>
            <a:avLst/>
            <a:gdLst/>
            <a:ahLst/>
            <a:cxnLst/>
            <a:rect r="r" b="b" t="t" l="l"/>
            <a:pathLst>
              <a:path h="3232209" w="7029602">
                <a:moveTo>
                  <a:pt x="0" y="0"/>
                </a:moveTo>
                <a:lnTo>
                  <a:pt x="7029602" y="0"/>
                </a:lnTo>
                <a:lnTo>
                  <a:pt x="7029602" y="3232209"/>
                </a:lnTo>
                <a:lnTo>
                  <a:pt x="0" y="3232209"/>
                </a:lnTo>
                <a:lnTo>
                  <a:pt x="0" y="0"/>
                </a:lnTo>
                <a:close/>
              </a:path>
            </a:pathLst>
          </a:custGeom>
          <a:blipFill>
            <a:blip r:embed="rId11"/>
            <a:stretch>
              <a:fillRect l="-7752" t="-22883" r="-1881" b="-4085"/>
            </a:stretch>
          </a:blipFill>
        </p:spPr>
      </p:sp>
      <p:sp>
        <p:nvSpPr>
          <p:cNvPr name="Freeform 24" id="24"/>
          <p:cNvSpPr/>
          <p:nvPr/>
        </p:nvSpPr>
        <p:spPr>
          <a:xfrm flipH="false" flipV="false" rot="0">
            <a:off x="10439368" y="6349902"/>
            <a:ext cx="6535640" cy="3011225"/>
          </a:xfrm>
          <a:custGeom>
            <a:avLst/>
            <a:gdLst/>
            <a:ahLst/>
            <a:cxnLst/>
            <a:rect r="r" b="b" t="t" l="l"/>
            <a:pathLst>
              <a:path h="3011225" w="6535640">
                <a:moveTo>
                  <a:pt x="0" y="0"/>
                </a:moveTo>
                <a:lnTo>
                  <a:pt x="6535640" y="0"/>
                </a:lnTo>
                <a:lnTo>
                  <a:pt x="6535640" y="3011225"/>
                </a:lnTo>
                <a:lnTo>
                  <a:pt x="0" y="3011225"/>
                </a:lnTo>
                <a:lnTo>
                  <a:pt x="0" y="0"/>
                </a:lnTo>
                <a:close/>
              </a:path>
            </a:pathLst>
          </a:custGeom>
          <a:blipFill>
            <a:blip r:embed="rId12"/>
            <a:stretch>
              <a:fillRect l="-12891" t="-48769" r="-16440" b="-706"/>
            </a:stretch>
          </a:blipFill>
        </p:spPr>
      </p:sp>
      <p:sp>
        <p:nvSpPr>
          <p:cNvPr name="TextBox 25" id="25"/>
          <p:cNvSpPr txBox="true"/>
          <p:nvPr/>
        </p:nvSpPr>
        <p:spPr>
          <a:xfrm rot="0">
            <a:off x="4621911" y="2120244"/>
            <a:ext cx="7880587" cy="2197194"/>
          </a:xfrm>
          <a:prstGeom prst="rect">
            <a:avLst/>
          </a:prstGeom>
        </p:spPr>
        <p:txBody>
          <a:bodyPr anchor="t" rtlCol="false" tIns="0" lIns="0" bIns="0" rIns="0">
            <a:spAutoFit/>
          </a:bodyPr>
          <a:lstStyle/>
          <a:p>
            <a:pPr algn="ctr">
              <a:lnSpc>
                <a:spcPts val="8440"/>
              </a:lnSpc>
            </a:pPr>
            <a:r>
              <a:rPr lang="en-US" b="true" sz="8701" spc="-191">
                <a:solidFill>
                  <a:srgbClr val="FEFEFE"/>
                </a:solidFill>
                <a:latin typeface="Montserrat Bold"/>
                <a:ea typeface="Montserrat Bold"/>
                <a:cs typeface="Montserrat Bold"/>
                <a:sym typeface="Montserrat Bold"/>
              </a:rPr>
              <a:t>Tài liệu nghiên cứu</a:t>
            </a:r>
          </a:p>
        </p:txBody>
      </p:sp>
      <p:sp>
        <p:nvSpPr>
          <p:cNvPr name="TextBox 26" id="26"/>
          <p:cNvSpPr txBox="true"/>
          <p:nvPr/>
        </p:nvSpPr>
        <p:spPr>
          <a:xfrm rot="0">
            <a:off x="14456829"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13</a:t>
            </a:r>
          </a:p>
        </p:txBody>
      </p:sp>
      <p:sp>
        <p:nvSpPr>
          <p:cNvPr name="TextBox 27" id="27"/>
          <p:cNvSpPr txBox="true"/>
          <p:nvPr/>
        </p:nvSpPr>
        <p:spPr>
          <a:xfrm rot="0">
            <a:off x="1278115" y="5619596"/>
            <a:ext cx="4227194" cy="330256"/>
          </a:xfrm>
          <a:prstGeom prst="rect">
            <a:avLst/>
          </a:prstGeom>
        </p:spPr>
        <p:txBody>
          <a:bodyPr anchor="t" rtlCol="false" tIns="0" lIns="0" bIns="0" rIns="0">
            <a:spAutoFit/>
          </a:bodyPr>
          <a:lstStyle/>
          <a:p>
            <a:pPr algn="l" marL="0" indent="0" lvl="0">
              <a:lnSpc>
                <a:spcPts val="2502"/>
              </a:lnSpc>
              <a:spcBef>
                <a:spcPct val="0"/>
              </a:spcBef>
            </a:pPr>
            <a:r>
              <a:rPr lang="en-US" b="true" sz="2502" spc="75" u="sng">
                <a:solidFill>
                  <a:srgbClr val="171718"/>
                </a:solidFill>
                <a:latin typeface="Montserrat Bold"/>
                <a:ea typeface="Montserrat Bold"/>
                <a:cs typeface="Montserrat Bold"/>
                <a:sym typeface="Montserrat Bold"/>
                <a:hlinkClick r:id="rId13" tooltip="https://vjol.info.vn/ngonngu/article/view/22478/19230"/>
              </a:rPr>
              <a:t>Nguyễn</a:t>
            </a:r>
            <a:r>
              <a:rPr lang="en-US" b="true" sz="2502" spc="75" u="sng">
                <a:solidFill>
                  <a:srgbClr val="171718"/>
                </a:solidFill>
                <a:latin typeface="Montserrat Bold"/>
                <a:ea typeface="Montserrat Bold"/>
                <a:cs typeface="Montserrat Bold"/>
                <a:sym typeface="Montserrat Bold"/>
                <a:hlinkClick r:id="rId14" tooltip="https://vjol.info.vn/ngonngu/article/view/22478/19230"/>
              </a:rPr>
              <a:t> Việt Quang</a:t>
            </a:r>
          </a:p>
        </p:txBody>
      </p:sp>
      <p:sp>
        <p:nvSpPr>
          <p:cNvPr name="TextBox 28" id="28"/>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FFFFFF"/>
                </a:solidFill>
                <a:latin typeface="Quicksand Bold"/>
                <a:ea typeface="Quicksand Bold"/>
                <a:cs typeface="Quicksand Bold"/>
                <a:sym typeface="Quicksand Bold"/>
              </a:rPr>
              <a:t>HỆ THỐNG QUẢN LÝ HỌC TẬP THẾ HỆ TƯƠNG LAI</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42259"/>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0A2B89"/>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2700000">
            <a:off x="1472729" y="-625206"/>
            <a:ext cx="7706059" cy="8197935"/>
          </a:xfrm>
          <a:custGeom>
            <a:avLst/>
            <a:gdLst/>
            <a:ahLst/>
            <a:cxnLst/>
            <a:rect r="r" b="b" t="t" l="l"/>
            <a:pathLst>
              <a:path h="8197935" w="7706059">
                <a:moveTo>
                  <a:pt x="0" y="0"/>
                </a:moveTo>
                <a:lnTo>
                  <a:pt x="7706059" y="0"/>
                </a:lnTo>
                <a:lnTo>
                  <a:pt x="7706059" y="8197935"/>
                </a:lnTo>
                <a:lnTo>
                  <a:pt x="0" y="8197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605537" y="6155249"/>
            <a:ext cx="6951468" cy="3910201"/>
          </a:xfrm>
          <a:custGeom>
            <a:avLst/>
            <a:gdLst/>
            <a:ahLst/>
            <a:cxnLst/>
            <a:rect r="r" b="b" t="t" l="l"/>
            <a:pathLst>
              <a:path h="3910201" w="6951468">
                <a:moveTo>
                  <a:pt x="0" y="0"/>
                </a:moveTo>
                <a:lnTo>
                  <a:pt x="6951468" y="0"/>
                </a:lnTo>
                <a:lnTo>
                  <a:pt x="6951468" y="3910201"/>
                </a:lnTo>
                <a:lnTo>
                  <a:pt x="0" y="3910201"/>
                </a:lnTo>
                <a:lnTo>
                  <a:pt x="0" y="0"/>
                </a:lnTo>
                <a:close/>
              </a:path>
            </a:pathLst>
          </a:custGeom>
          <a:blipFill>
            <a:blip r:embed="rId6"/>
            <a:stretch>
              <a:fillRect l="0" t="-1059" r="0" b="-17384"/>
            </a:stretch>
          </a:blipFill>
        </p:spPr>
      </p:sp>
      <p:sp>
        <p:nvSpPr>
          <p:cNvPr name="Freeform 11" id="11"/>
          <p:cNvSpPr/>
          <p:nvPr/>
        </p:nvSpPr>
        <p:spPr>
          <a:xfrm flipH="false" flipV="false" rot="0">
            <a:off x="9605537" y="1636874"/>
            <a:ext cx="6951468" cy="3910201"/>
          </a:xfrm>
          <a:custGeom>
            <a:avLst/>
            <a:gdLst/>
            <a:ahLst/>
            <a:cxnLst/>
            <a:rect r="r" b="b" t="t" l="l"/>
            <a:pathLst>
              <a:path h="3910201" w="6951468">
                <a:moveTo>
                  <a:pt x="0" y="0"/>
                </a:moveTo>
                <a:lnTo>
                  <a:pt x="6951468" y="0"/>
                </a:lnTo>
                <a:lnTo>
                  <a:pt x="6951468" y="3910201"/>
                </a:lnTo>
                <a:lnTo>
                  <a:pt x="0" y="3910201"/>
                </a:lnTo>
                <a:lnTo>
                  <a:pt x="0" y="0"/>
                </a:lnTo>
                <a:close/>
              </a:path>
            </a:pathLst>
          </a:custGeom>
          <a:blipFill>
            <a:blip r:embed="rId7"/>
            <a:stretch>
              <a:fillRect l="0" t="0" r="0" b="0"/>
            </a:stretch>
          </a:blipFill>
        </p:spPr>
      </p:sp>
      <p:sp>
        <p:nvSpPr>
          <p:cNvPr name="Freeform 12" id="12"/>
          <p:cNvSpPr/>
          <p:nvPr/>
        </p:nvSpPr>
        <p:spPr>
          <a:xfrm flipH="false" flipV="false" rot="0">
            <a:off x="1152568" y="6181317"/>
            <a:ext cx="6951468" cy="3884133"/>
          </a:xfrm>
          <a:custGeom>
            <a:avLst/>
            <a:gdLst/>
            <a:ahLst/>
            <a:cxnLst/>
            <a:rect r="r" b="b" t="t" l="l"/>
            <a:pathLst>
              <a:path h="3884133" w="6951468">
                <a:moveTo>
                  <a:pt x="0" y="0"/>
                </a:moveTo>
                <a:lnTo>
                  <a:pt x="6951468" y="0"/>
                </a:lnTo>
                <a:lnTo>
                  <a:pt x="6951468" y="3884133"/>
                </a:lnTo>
                <a:lnTo>
                  <a:pt x="0" y="3884133"/>
                </a:lnTo>
                <a:lnTo>
                  <a:pt x="0" y="0"/>
                </a:lnTo>
                <a:close/>
              </a:path>
            </a:pathLst>
          </a:custGeom>
          <a:blipFill>
            <a:blip r:embed="rId8"/>
            <a:stretch>
              <a:fillRect l="0" t="0" r="0" b="0"/>
            </a:stretch>
          </a:blipFill>
        </p:spPr>
      </p:sp>
      <p:sp>
        <p:nvSpPr>
          <p:cNvPr name="TextBox 13" id="13"/>
          <p:cNvSpPr txBox="true"/>
          <p:nvPr/>
        </p:nvSpPr>
        <p:spPr>
          <a:xfrm rot="0">
            <a:off x="14839933"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14</a:t>
            </a:r>
          </a:p>
        </p:txBody>
      </p:sp>
      <p:sp>
        <p:nvSpPr>
          <p:cNvPr name="TextBox 14" id="14"/>
          <p:cNvSpPr txBox="true"/>
          <p:nvPr/>
        </p:nvSpPr>
        <p:spPr>
          <a:xfrm rot="0">
            <a:off x="1722385" y="2792909"/>
            <a:ext cx="7883153" cy="2065063"/>
          </a:xfrm>
          <a:prstGeom prst="rect">
            <a:avLst/>
          </a:prstGeom>
        </p:spPr>
        <p:txBody>
          <a:bodyPr anchor="t" rtlCol="false" tIns="0" lIns="0" bIns="0" rIns="0">
            <a:spAutoFit/>
          </a:bodyPr>
          <a:lstStyle/>
          <a:p>
            <a:pPr algn="l">
              <a:lnSpc>
                <a:spcPts val="7831"/>
              </a:lnSpc>
            </a:pPr>
            <a:r>
              <a:rPr lang="en-US" sz="8701" spc="-191" b="true">
                <a:solidFill>
                  <a:srgbClr val="FEFEFE"/>
                </a:solidFill>
                <a:latin typeface="Montserrat Bold"/>
                <a:ea typeface="Montserrat Bold"/>
                <a:cs typeface="Montserrat Bold"/>
                <a:sym typeface="Montserrat Bold"/>
              </a:rPr>
              <a:t>Mindmap</a:t>
            </a:r>
          </a:p>
          <a:p>
            <a:pPr algn="l">
              <a:lnSpc>
                <a:spcPts val="7831"/>
              </a:lnSpc>
            </a:pPr>
            <a:r>
              <a:rPr lang="en-US" sz="8701" spc="-191" b="true">
                <a:solidFill>
                  <a:srgbClr val="FEFEFE"/>
                </a:solidFill>
                <a:latin typeface="Montserrat Bold"/>
                <a:ea typeface="Montserrat Bold"/>
                <a:cs typeface="Montserrat Bold"/>
                <a:sym typeface="Montserrat Bold"/>
              </a:rPr>
              <a:t>Infographic</a:t>
            </a:r>
          </a:p>
        </p:txBody>
      </p:sp>
      <p:sp>
        <p:nvSpPr>
          <p:cNvPr name="TextBox 15" id="15"/>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A2B89"/>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765825"/>
            <a:ext cx="8483779" cy="8511988"/>
          </a:xfrm>
          <a:custGeom>
            <a:avLst/>
            <a:gdLst/>
            <a:ahLst/>
            <a:cxnLst/>
            <a:rect r="r" b="b" t="t" l="l"/>
            <a:pathLst>
              <a:path h="8511988" w="8483779">
                <a:moveTo>
                  <a:pt x="0" y="0"/>
                </a:moveTo>
                <a:lnTo>
                  <a:pt x="8483779" y="0"/>
                </a:lnTo>
                <a:lnTo>
                  <a:pt x="8483779"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332" t="0" r="0" b="0"/>
            </a:stretch>
          </a:blipFill>
          <a:ln cap="sq">
            <a:noFill/>
            <a:prstDash val="solid"/>
            <a:miter/>
          </a:ln>
        </p:spPr>
      </p:sp>
      <p:sp>
        <p:nvSpPr>
          <p:cNvPr name="Freeform 3" id="3"/>
          <p:cNvSpPr/>
          <p:nvPr/>
        </p:nvSpPr>
        <p:spPr>
          <a:xfrm flipH="false" flipV="false" rot="0">
            <a:off x="645595" y="746312"/>
            <a:ext cx="8511988" cy="8511988"/>
          </a:xfrm>
          <a:custGeom>
            <a:avLst/>
            <a:gdLst/>
            <a:ahLst/>
            <a:cxnLst/>
            <a:rect r="r" b="b" t="t" l="l"/>
            <a:pathLst>
              <a:path h="8511988" w="8511988">
                <a:moveTo>
                  <a:pt x="0" y="0"/>
                </a:moveTo>
                <a:lnTo>
                  <a:pt x="8511989" y="0"/>
                </a:lnTo>
                <a:lnTo>
                  <a:pt x="8511989"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45595" y="619689"/>
            <a:ext cx="479350" cy="539146"/>
          </a:xfrm>
          <a:custGeom>
            <a:avLst/>
            <a:gdLst/>
            <a:ahLst/>
            <a:cxnLst/>
            <a:rect r="r" b="b" t="t" l="l"/>
            <a:pathLst>
              <a:path h="539146" w="479350">
                <a:moveTo>
                  <a:pt x="0" y="0"/>
                </a:moveTo>
                <a:lnTo>
                  <a:pt x="479351" y="0"/>
                </a:lnTo>
                <a:lnTo>
                  <a:pt x="479351" y="539146"/>
                </a:lnTo>
                <a:lnTo>
                  <a:pt x="0" y="5391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true" rot="-4629704">
            <a:off x="8151915" y="2600667"/>
            <a:ext cx="1155365" cy="614615"/>
          </a:xfrm>
          <a:custGeom>
            <a:avLst/>
            <a:gdLst/>
            <a:ahLst/>
            <a:cxnLst/>
            <a:rect r="r" b="b" t="t" l="l"/>
            <a:pathLst>
              <a:path h="614615" w="1155365">
                <a:moveTo>
                  <a:pt x="0" y="614616"/>
                </a:moveTo>
                <a:lnTo>
                  <a:pt x="1155365" y="614616"/>
                </a:lnTo>
                <a:lnTo>
                  <a:pt x="1155365" y="0"/>
                </a:lnTo>
                <a:lnTo>
                  <a:pt x="0" y="0"/>
                </a:lnTo>
                <a:lnTo>
                  <a:pt x="0" y="61461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952739">
            <a:off x="708335" y="4183364"/>
            <a:ext cx="1155365" cy="614615"/>
          </a:xfrm>
          <a:custGeom>
            <a:avLst/>
            <a:gdLst/>
            <a:ahLst/>
            <a:cxnLst/>
            <a:rect r="r" b="b" t="t" l="l"/>
            <a:pathLst>
              <a:path h="614615" w="1155365">
                <a:moveTo>
                  <a:pt x="0" y="0"/>
                </a:moveTo>
                <a:lnTo>
                  <a:pt x="1155365" y="0"/>
                </a:lnTo>
                <a:lnTo>
                  <a:pt x="1155365" y="614616"/>
                </a:lnTo>
                <a:lnTo>
                  <a:pt x="0" y="61461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1481658" y="2609825"/>
            <a:ext cx="12212262" cy="1459948"/>
          </a:xfrm>
          <a:prstGeom prst="rect">
            <a:avLst/>
          </a:prstGeom>
        </p:spPr>
        <p:txBody>
          <a:bodyPr anchor="t" rtlCol="false" tIns="0" lIns="0" bIns="0" rIns="0">
            <a:spAutoFit/>
          </a:bodyPr>
          <a:lstStyle/>
          <a:p>
            <a:pPr algn="ctr">
              <a:lnSpc>
                <a:spcPts val="10622"/>
              </a:lnSpc>
            </a:pPr>
            <a:r>
              <a:rPr lang="en-US" b="true" sz="11802" spc="-259">
                <a:solidFill>
                  <a:srgbClr val="FEFEFE"/>
                </a:solidFill>
                <a:latin typeface="Montserrat Bold"/>
                <a:ea typeface="Montserrat Bold"/>
                <a:cs typeface="Montserrat Bold"/>
                <a:sym typeface="Montserrat Bold"/>
              </a:rPr>
              <a:t>QUIZZ</a:t>
            </a:r>
          </a:p>
        </p:txBody>
      </p:sp>
      <p:sp>
        <p:nvSpPr>
          <p:cNvPr name="Freeform 8" id="8"/>
          <p:cNvSpPr/>
          <p:nvPr/>
        </p:nvSpPr>
        <p:spPr>
          <a:xfrm flipH="false" flipV="false" rot="0">
            <a:off x="1805384" y="5860976"/>
            <a:ext cx="6924213" cy="4030206"/>
          </a:xfrm>
          <a:custGeom>
            <a:avLst/>
            <a:gdLst/>
            <a:ahLst/>
            <a:cxnLst/>
            <a:rect r="r" b="b" t="t" l="l"/>
            <a:pathLst>
              <a:path h="4030206" w="6924213">
                <a:moveTo>
                  <a:pt x="0" y="0"/>
                </a:moveTo>
                <a:lnTo>
                  <a:pt x="6924213" y="0"/>
                </a:lnTo>
                <a:lnTo>
                  <a:pt x="6924213" y="4030206"/>
                </a:lnTo>
                <a:lnTo>
                  <a:pt x="0" y="4030206"/>
                </a:lnTo>
                <a:lnTo>
                  <a:pt x="0" y="0"/>
                </a:lnTo>
                <a:close/>
              </a:path>
            </a:pathLst>
          </a:custGeom>
          <a:blipFill>
            <a:blip r:embed="rId10"/>
            <a:stretch>
              <a:fillRect l="-110626" t="-125147" r="-102972" b="-61995"/>
            </a:stretch>
          </a:blipFill>
        </p:spPr>
      </p:sp>
      <p:sp>
        <p:nvSpPr>
          <p:cNvPr name="Freeform 9" id="9"/>
          <p:cNvSpPr/>
          <p:nvPr/>
        </p:nvSpPr>
        <p:spPr>
          <a:xfrm flipH="false" flipV="false" rot="0">
            <a:off x="10090969" y="1575936"/>
            <a:ext cx="6801131" cy="3927128"/>
          </a:xfrm>
          <a:custGeom>
            <a:avLst/>
            <a:gdLst/>
            <a:ahLst/>
            <a:cxnLst/>
            <a:rect r="r" b="b" t="t" l="l"/>
            <a:pathLst>
              <a:path h="3927128" w="6801131">
                <a:moveTo>
                  <a:pt x="0" y="0"/>
                </a:moveTo>
                <a:lnTo>
                  <a:pt x="6801131" y="0"/>
                </a:lnTo>
                <a:lnTo>
                  <a:pt x="6801131" y="3927128"/>
                </a:lnTo>
                <a:lnTo>
                  <a:pt x="0" y="3927128"/>
                </a:lnTo>
                <a:lnTo>
                  <a:pt x="0" y="0"/>
                </a:lnTo>
                <a:close/>
              </a:path>
            </a:pathLst>
          </a:custGeom>
          <a:blipFill>
            <a:blip r:embed="rId11"/>
            <a:stretch>
              <a:fillRect l="-43150" t="-76494" r="-62330" b="-13158"/>
            </a:stretch>
          </a:blipFill>
        </p:spPr>
      </p:sp>
      <p:sp>
        <p:nvSpPr>
          <p:cNvPr name="Freeform 10" id="10"/>
          <p:cNvSpPr/>
          <p:nvPr/>
        </p:nvSpPr>
        <p:spPr>
          <a:xfrm flipH="false" flipV="false" rot="0">
            <a:off x="10090969" y="5860976"/>
            <a:ext cx="6924213" cy="4030206"/>
          </a:xfrm>
          <a:custGeom>
            <a:avLst/>
            <a:gdLst/>
            <a:ahLst/>
            <a:cxnLst/>
            <a:rect r="r" b="b" t="t" l="l"/>
            <a:pathLst>
              <a:path h="4030206" w="6924213">
                <a:moveTo>
                  <a:pt x="0" y="0"/>
                </a:moveTo>
                <a:lnTo>
                  <a:pt x="6924213" y="0"/>
                </a:lnTo>
                <a:lnTo>
                  <a:pt x="6924213" y="4030206"/>
                </a:lnTo>
                <a:lnTo>
                  <a:pt x="0" y="4030206"/>
                </a:lnTo>
                <a:lnTo>
                  <a:pt x="0" y="0"/>
                </a:lnTo>
                <a:close/>
              </a:path>
            </a:pathLst>
          </a:custGeom>
          <a:blipFill>
            <a:blip r:embed="rId12"/>
            <a:stretch>
              <a:fillRect l="-46212" t="-56767" r="-55289" b="-27735"/>
            </a:stretch>
          </a:blipFill>
        </p:spPr>
      </p:sp>
      <p:grpSp>
        <p:nvGrpSpPr>
          <p:cNvPr name="Group 11" id="11"/>
          <p:cNvGrpSpPr/>
          <p:nvPr/>
        </p:nvGrpSpPr>
        <p:grpSpPr>
          <a:xfrm rot="0">
            <a:off x="14456829" y="480251"/>
            <a:ext cx="2419367" cy="818022"/>
            <a:chOff x="0" y="0"/>
            <a:chExt cx="3225822" cy="1090696"/>
          </a:xfrm>
        </p:grpSpPr>
        <p:grpSp>
          <p:nvGrpSpPr>
            <p:cNvPr name="Group 12" id="12"/>
            <p:cNvGrpSpPr/>
            <p:nvPr/>
          </p:nvGrpSpPr>
          <p:grpSpPr>
            <a:xfrm rot="0">
              <a:off x="0" y="0"/>
              <a:ext cx="3225822" cy="1090696"/>
              <a:chOff x="0" y="0"/>
              <a:chExt cx="637199" cy="215446"/>
            </a:xfrm>
          </p:grpSpPr>
          <p:sp>
            <p:nvSpPr>
              <p:cNvPr name="Freeform 13" id="13"/>
              <p:cNvSpPr/>
              <p:nvPr/>
            </p:nvSpPr>
            <p:spPr>
              <a:xfrm flipH="false" flipV="false" rot="0">
                <a:off x="0" y="0"/>
                <a:ext cx="637199" cy="215446"/>
              </a:xfrm>
              <a:custGeom>
                <a:avLst/>
                <a:gdLst/>
                <a:ahLst/>
                <a:cxnLst/>
                <a:rect r="r" b="b" t="t" l="l"/>
                <a:pathLst>
                  <a:path h="215446" w="637199">
                    <a:moveTo>
                      <a:pt x="54400" y="0"/>
                    </a:moveTo>
                    <a:lnTo>
                      <a:pt x="582800" y="0"/>
                    </a:lnTo>
                    <a:cubicBezTo>
                      <a:pt x="612844" y="0"/>
                      <a:pt x="637199" y="24356"/>
                      <a:pt x="637199" y="54400"/>
                    </a:cubicBezTo>
                    <a:lnTo>
                      <a:pt x="637199" y="161047"/>
                    </a:lnTo>
                    <a:cubicBezTo>
                      <a:pt x="637199" y="191091"/>
                      <a:pt x="612844" y="215446"/>
                      <a:pt x="582800" y="215446"/>
                    </a:cubicBezTo>
                    <a:lnTo>
                      <a:pt x="54400" y="215446"/>
                    </a:lnTo>
                    <a:cubicBezTo>
                      <a:pt x="24356" y="215446"/>
                      <a:pt x="0" y="191091"/>
                      <a:pt x="0" y="161047"/>
                    </a:cubicBezTo>
                    <a:lnTo>
                      <a:pt x="0" y="54400"/>
                    </a:lnTo>
                    <a:cubicBezTo>
                      <a:pt x="0" y="24356"/>
                      <a:pt x="24356" y="0"/>
                      <a:pt x="54400" y="0"/>
                    </a:cubicBezTo>
                    <a:close/>
                  </a:path>
                </a:pathLst>
              </a:custGeom>
              <a:solidFill>
                <a:srgbClr val="F4F4ED"/>
              </a:solidFill>
            </p:spPr>
          </p:sp>
          <p:sp>
            <p:nvSpPr>
              <p:cNvPr name="TextBox 14" id="14"/>
              <p:cNvSpPr txBox="true"/>
              <p:nvPr/>
            </p:nvSpPr>
            <p:spPr>
              <a:xfrm>
                <a:off x="0" y="-38100"/>
                <a:ext cx="637199" cy="25354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0" y="238124"/>
              <a:ext cx="3225822" cy="493141"/>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15</a:t>
              </a:r>
            </a:p>
          </p:txBody>
        </p:sp>
      </p:grpSp>
      <p:sp>
        <p:nvSpPr>
          <p:cNvPr name="TextBox 16" id="16"/>
          <p:cNvSpPr txBox="true"/>
          <p:nvPr/>
        </p:nvSpPr>
        <p:spPr>
          <a:xfrm rot="0">
            <a:off x="1722385"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FFFFFF"/>
                </a:solidFill>
                <a:latin typeface="Quicksand Bold"/>
                <a:ea typeface="Quicksand Bold"/>
                <a:cs typeface="Quicksand Bold"/>
                <a:sym typeface="Quicksand Bold"/>
              </a:rPr>
              <a:t>HỆ THỐNG QUẢN LÝ HỌC TẬP THẾ HỆ TƯƠNG LAI</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358588" y="1216191"/>
            <a:ext cx="17570824" cy="9541341"/>
            <a:chOff x="0" y="0"/>
            <a:chExt cx="4627707" cy="2512946"/>
          </a:xfrm>
        </p:grpSpPr>
        <p:sp>
          <p:nvSpPr>
            <p:cNvPr name="Freeform 3" id="3"/>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FFFFFF"/>
            </a:solidFill>
          </p:spPr>
        </p:sp>
        <p:sp>
          <p:nvSpPr>
            <p:cNvPr name="TextBox 4" id="4"/>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722385" y="656463"/>
            <a:ext cx="12167343" cy="753237"/>
          </a:xfrm>
          <a:prstGeom prst="rect">
            <a:avLst/>
          </a:prstGeom>
        </p:spPr>
        <p:txBody>
          <a:bodyPr anchor="t" rtlCol="false" tIns="0" lIns="0" bIns="0" rIns="0">
            <a:spAutoFit/>
          </a:bodyPr>
          <a:lstStyle/>
          <a:p>
            <a:pPr algn="l">
              <a:lnSpc>
                <a:spcPts val="3024"/>
              </a:lnSpc>
            </a:pPr>
            <a:r>
              <a:rPr lang="en-US" b="true" sz="2400" spc="72">
                <a:solidFill>
                  <a:srgbClr val="082064"/>
                </a:solidFill>
                <a:latin typeface="Montserrat Bold"/>
                <a:ea typeface="Montserrat Bold"/>
                <a:cs typeface="Montserrat Bold"/>
                <a:sym typeface="Montserrat Bold"/>
              </a:rPr>
              <a:t>HỆ THỐNG QUẢN LÝ HỌC TẬP THẾ HỆ TƯƠNG LAI</a:t>
            </a:r>
          </a:p>
          <a:p>
            <a:pPr algn="l" marL="0" indent="0" lvl="0">
              <a:lnSpc>
                <a:spcPts val="3024"/>
              </a:lnSpc>
              <a:spcBef>
                <a:spcPct val="0"/>
              </a:spcBef>
            </a:pPr>
          </a:p>
        </p:txBody>
      </p:sp>
      <p:grpSp>
        <p:nvGrpSpPr>
          <p:cNvPr name="Group 7" id="7"/>
          <p:cNvGrpSpPr/>
          <p:nvPr/>
        </p:nvGrpSpPr>
        <p:grpSpPr>
          <a:xfrm rot="0">
            <a:off x="1508050" y="1590713"/>
            <a:ext cx="15035270" cy="8665684"/>
            <a:chOff x="0" y="0"/>
            <a:chExt cx="20047027" cy="11554246"/>
          </a:xfrm>
        </p:grpSpPr>
        <p:sp>
          <p:nvSpPr>
            <p:cNvPr name="Freeform 8" id="8"/>
            <p:cNvSpPr/>
            <p:nvPr/>
          </p:nvSpPr>
          <p:spPr>
            <a:xfrm flipH="false" flipV="false" rot="0">
              <a:off x="11037676" y="5961122"/>
              <a:ext cx="9009350" cy="5593124"/>
            </a:xfrm>
            <a:custGeom>
              <a:avLst/>
              <a:gdLst/>
              <a:ahLst/>
              <a:cxnLst/>
              <a:rect r="r" b="b" t="t" l="l"/>
              <a:pathLst>
                <a:path h="5593124" w="9009350">
                  <a:moveTo>
                    <a:pt x="0" y="0"/>
                  </a:moveTo>
                  <a:lnTo>
                    <a:pt x="9009351" y="0"/>
                  </a:lnTo>
                  <a:lnTo>
                    <a:pt x="9009351" y="5593124"/>
                  </a:lnTo>
                  <a:lnTo>
                    <a:pt x="0" y="5593124"/>
                  </a:lnTo>
                  <a:lnTo>
                    <a:pt x="0" y="0"/>
                  </a:lnTo>
                  <a:close/>
                </a:path>
              </a:pathLst>
            </a:custGeom>
            <a:blipFill>
              <a:blip r:embed="rId4"/>
              <a:stretch>
                <a:fillRect l="-11410" t="-5986" r="-12152" b="0"/>
              </a:stretch>
            </a:blipFill>
          </p:spPr>
        </p:sp>
        <p:sp>
          <p:nvSpPr>
            <p:cNvPr name="Freeform 9" id="9"/>
            <p:cNvSpPr/>
            <p:nvPr/>
          </p:nvSpPr>
          <p:spPr>
            <a:xfrm flipH="false" flipV="false" rot="0">
              <a:off x="0" y="0"/>
              <a:ext cx="9496046" cy="5358490"/>
            </a:xfrm>
            <a:custGeom>
              <a:avLst/>
              <a:gdLst/>
              <a:ahLst/>
              <a:cxnLst/>
              <a:rect r="r" b="b" t="t" l="l"/>
              <a:pathLst>
                <a:path h="5358490" w="9496046">
                  <a:moveTo>
                    <a:pt x="0" y="0"/>
                  </a:moveTo>
                  <a:lnTo>
                    <a:pt x="9496046" y="0"/>
                  </a:lnTo>
                  <a:lnTo>
                    <a:pt x="9496046" y="5358490"/>
                  </a:lnTo>
                  <a:lnTo>
                    <a:pt x="0" y="5358490"/>
                  </a:lnTo>
                  <a:lnTo>
                    <a:pt x="0" y="0"/>
                  </a:lnTo>
                  <a:close/>
                </a:path>
              </a:pathLst>
            </a:custGeom>
            <a:blipFill>
              <a:blip r:embed="rId5"/>
              <a:stretch>
                <a:fillRect l="-41081" t="-53092" r="-41594" b="-19436"/>
              </a:stretch>
            </a:blipFill>
          </p:spPr>
        </p:sp>
        <p:sp>
          <p:nvSpPr>
            <p:cNvPr name="Freeform 10" id="10"/>
            <p:cNvSpPr/>
            <p:nvPr/>
          </p:nvSpPr>
          <p:spPr>
            <a:xfrm flipH="false" flipV="false" rot="0">
              <a:off x="0" y="5961122"/>
              <a:ext cx="9496046" cy="5593124"/>
            </a:xfrm>
            <a:custGeom>
              <a:avLst/>
              <a:gdLst/>
              <a:ahLst/>
              <a:cxnLst/>
              <a:rect r="r" b="b" t="t" l="l"/>
              <a:pathLst>
                <a:path h="5593124" w="9496046">
                  <a:moveTo>
                    <a:pt x="0" y="0"/>
                  </a:moveTo>
                  <a:lnTo>
                    <a:pt x="9496046" y="0"/>
                  </a:lnTo>
                  <a:lnTo>
                    <a:pt x="9496046" y="5593124"/>
                  </a:lnTo>
                  <a:lnTo>
                    <a:pt x="0" y="5593124"/>
                  </a:lnTo>
                  <a:lnTo>
                    <a:pt x="0" y="0"/>
                  </a:lnTo>
                  <a:close/>
                </a:path>
              </a:pathLst>
            </a:custGeom>
            <a:blipFill>
              <a:blip r:embed="rId6"/>
              <a:stretch>
                <a:fillRect l="-32591" t="-38471" r="-25198" b="-4302"/>
              </a:stretch>
            </a:blipFill>
          </p:spPr>
        </p:sp>
        <p:sp>
          <p:nvSpPr>
            <p:cNvPr name="Freeform 11" id="11"/>
            <p:cNvSpPr/>
            <p:nvPr/>
          </p:nvSpPr>
          <p:spPr>
            <a:xfrm flipH="false" flipV="false" rot="0">
              <a:off x="11163896" y="0"/>
              <a:ext cx="8756910" cy="5358490"/>
            </a:xfrm>
            <a:custGeom>
              <a:avLst/>
              <a:gdLst/>
              <a:ahLst/>
              <a:cxnLst/>
              <a:rect r="r" b="b" t="t" l="l"/>
              <a:pathLst>
                <a:path h="5358490" w="8756910">
                  <a:moveTo>
                    <a:pt x="0" y="0"/>
                  </a:moveTo>
                  <a:lnTo>
                    <a:pt x="8756911" y="0"/>
                  </a:lnTo>
                  <a:lnTo>
                    <a:pt x="8756911" y="5358490"/>
                  </a:lnTo>
                  <a:lnTo>
                    <a:pt x="0" y="5358490"/>
                  </a:lnTo>
                  <a:lnTo>
                    <a:pt x="0" y="0"/>
                  </a:lnTo>
                  <a:close/>
                </a:path>
              </a:pathLst>
            </a:custGeom>
            <a:blipFill>
              <a:blip r:embed="rId5"/>
              <a:stretch>
                <a:fillRect l="-144586" t="-84879" r="-72110" b="-90944"/>
              </a:stretch>
            </a:blipFill>
          </p:spPr>
        </p:sp>
      </p:grpSp>
      <p:grpSp>
        <p:nvGrpSpPr>
          <p:cNvPr name="Group 12" id="12"/>
          <p:cNvGrpSpPr/>
          <p:nvPr/>
        </p:nvGrpSpPr>
        <p:grpSpPr>
          <a:xfrm rot="0">
            <a:off x="14456829" y="480251"/>
            <a:ext cx="2419367" cy="818022"/>
            <a:chOff x="0" y="0"/>
            <a:chExt cx="3225822" cy="1090696"/>
          </a:xfrm>
        </p:grpSpPr>
        <p:grpSp>
          <p:nvGrpSpPr>
            <p:cNvPr name="Group 13" id="13"/>
            <p:cNvGrpSpPr/>
            <p:nvPr/>
          </p:nvGrpSpPr>
          <p:grpSpPr>
            <a:xfrm rot="0">
              <a:off x="0" y="0"/>
              <a:ext cx="3225822" cy="1090696"/>
              <a:chOff x="0" y="0"/>
              <a:chExt cx="637199" cy="215446"/>
            </a:xfrm>
          </p:grpSpPr>
          <p:sp>
            <p:nvSpPr>
              <p:cNvPr name="Freeform 14" id="14"/>
              <p:cNvSpPr/>
              <p:nvPr/>
            </p:nvSpPr>
            <p:spPr>
              <a:xfrm flipH="false" flipV="false" rot="0">
                <a:off x="0" y="0"/>
                <a:ext cx="637199" cy="215446"/>
              </a:xfrm>
              <a:custGeom>
                <a:avLst/>
                <a:gdLst/>
                <a:ahLst/>
                <a:cxnLst/>
                <a:rect r="r" b="b" t="t" l="l"/>
                <a:pathLst>
                  <a:path h="215446" w="637199">
                    <a:moveTo>
                      <a:pt x="54400" y="0"/>
                    </a:moveTo>
                    <a:lnTo>
                      <a:pt x="582800" y="0"/>
                    </a:lnTo>
                    <a:cubicBezTo>
                      <a:pt x="612844" y="0"/>
                      <a:pt x="637199" y="24356"/>
                      <a:pt x="637199" y="54400"/>
                    </a:cubicBezTo>
                    <a:lnTo>
                      <a:pt x="637199" y="161047"/>
                    </a:lnTo>
                    <a:cubicBezTo>
                      <a:pt x="637199" y="191091"/>
                      <a:pt x="612844" y="215446"/>
                      <a:pt x="582800" y="215446"/>
                    </a:cubicBezTo>
                    <a:lnTo>
                      <a:pt x="54400" y="215446"/>
                    </a:lnTo>
                    <a:cubicBezTo>
                      <a:pt x="24356" y="215446"/>
                      <a:pt x="0" y="191091"/>
                      <a:pt x="0" y="161047"/>
                    </a:cubicBezTo>
                    <a:lnTo>
                      <a:pt x="0" y="54400"/>
                    </a:lnTo>
                    <a:cubicBezTo>
                      <a:pt x="0" y="24356"/>
                      <a:pt x="24356" y="0"/>
                      <a:pt x="54400" y="0"/>
                    </a:cubicBezTo>
                    <a:close/>
                  </a:path>
                </a:pathLst>
              </a:custGeom>
              <a:solidFill>
                <a:srgbClr val="F4F4ED"/>
              </a:solidFill>
            </p:spPr>
          </p:sp>
          <p:sp>
            <p:nvSpPr>
              <p:cNvPr name="TextBox 15" id="15"/>
              <p:cNvSpPr txBox="true"/>
              <p:nvPr/>
            </p:nvSpPr>
            <p:spPr>
              <a:xfrm>
                <a:off x="0" y="-38100"/>
                <a:ext cx="637199" cy="253546"/>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0" y="238124"/>
              <a:ext cx="3225822" cy="493141"/>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16</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14839933" y="480251"/>
            <a:ext cx="2419367" cy="1010260"/>
            <a:chOff x="0" y="0"/>
            <a:chExt cx="637199" cy="266077"/>
          </a:xfrm>
        </p:grpSpPr>
        <p:sp>
          <p:nvSpPr>
            <p:cNvPr name="Freeform 3" id="3"/>
            <p:cNvSpPr/>
            <p:nvPr/>
          </p:nvSpPr>
          <p:spPr>
            <a:xfrm flipH="false" flipV="false" rot="0">
              <a:off x="0" y="0"/>
              <a:ext cx="637199" cy="266077"/>
            </a:xfrm>
            <a:custGeom>
              <a:avLst/>
              <a:gdLst/>
              <a:ahLst/>
              <a:cxnLst/>
              <a:rect r="r" b="b" t="t" l="l"/>
              <a:pathLst>
                <a:path h="266077" w="637199">
                  <a:moveTo>
                    <a:pt x="54400" y="0"/>
                  </a:moveTo>
                  <a:lnTo>
                    <a:pt x="582800" y="0"/>
                  </a:lnTo>
                  <a:cubicBezTo>
                    <a:pt x="612844" y="0"/>
                    <a:pt x="637199" y="24356"/>
                    <a:pt x="637199" y="54400"/>
                  </a:cubicBezTo>
                  <a:lnTo>
                    <a:pt x="637199" y="211677"/>
                  </a:lnTo>
                  <a:cubicBezTo>
                    <a:pt x="637199" y="241721"/>
                    <a:pt x="612844" y="266077"/>
                    <a:pt x="582800" y="266077"/>
                  </a:cubicBezTo>
                  <a:lnTo>
                    <a:pt x="54400" y="266077"/>
                  </a:lnTo>
                  <a:cubicBezTo>
                    <a:pt x="24356" y="266077"/>
                    <a:pt x="0" y="241721"/>
                    <a:pt x="0" y="211677"/>
                  </a:cubicBezTo>
                  <a:lnTo>
                    <a:pt x="0" y="54400"/>
                  </a:lnTo>
                  <a:cubicBezTo>
                    <a:pt x="0" y="24356"/>
                    <a:pt x="24356" y="0"/>
                    <a:pt x="54400" y="0"/>
                  </a:cubicBezTo>
                  <a:close/>
                </a:path>
              </a:pathLst>
            </a:custGeom>
            <a:solidFill>
              <a:srgbClr val="F4F4ED"/>
            </a:solidFill>
          </p:spPr>
        </p:sp>
        <p:sp>
          <p:nvSpPr>
            <p:cNvPr name="TextBox 4" id="4"/>
            <p:cNvSpPr txBox="true"/>
            <p:nvPr/>
          </p:nvSpPr>
          <p:spPr>
            <a:xfrm>
              <a:off x="0" y="-38100"/>
              <a:ext cx="637199" cy="30417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58588" y="1216191"/>
            <a:ext cx="17570824" cy="9541341"/>
            <a:chOff x="0" y="0"/>
            <a:chExt cx="4627707" cy="2512946"/>
          </a:xfrm>
        </p:grpSpPr>
        <p:sp>
          <p:nvSpPr>
            <p:cNvPr name="Freeform 6" id="6"/>
            <p:cNvSpPr/>
            <p:nvPr/>
          </p:nvSpPr>
          <p:spPr>
            <a:xfrm flipH="false" flipV="false" rot="0">
              <a:off x="0" y="0"/>
              <a:ext cx="4627707" cy="2512946"/>
            </a:xfrm>
            <a:custGeom>
              <a:avLst/>
              <a:gdLst/>
              <a:ahLst/>
              <a:cxnLst/>
              <a:rect r="r" b="b" t="t" l="l"/>
              <a:pathLst>
                <a:path h="2512946" w="4627707">
                  <a:moveTo>
                    <a:pt x="30843" y="0"/>
                  </a:moveTo>
                  <a:lnTo>
                    <a:pt x="4596864" y="0"/>
                  </a:lnTo>
                  <a:cubicBezTo>
                    <a:pt x="4613898" y="0"/>
                    <a:pt x="4627707" y="13809"/>
                    <a:pt x="4627707" y="30843"/>
                  </a:cubicBezTo>
                  <a:lnTo>
                    <a:pt x="4627707" y="2482103"/>
                  </a:lnTo>
                  <a:cubicBezTo>
                    <a:pt x="4627707" y="2499137"/>
                    <a:pt x="4613898" y="2512946"/>
                    <a:pt x="4596864" y="2512946"/>
                  </a:cubicBezTo>
                  <a:lnTo>
                    <a:pt x="30843" y="2512946"/>
                  </a:lnTo>
                  <a:cubicBezTo>
                    <a:pt x="13809" y="2512946"/>
                    <a:pt x="0" y="2499137"/>
                    <a:pt x="0" y="2482103"/>
                  </a:cubicBezTo>
                  <a:lnTo>
                    <a:pt x="0" y="30843"/>
                  </a:lnTo>
                  <a:cubicBezTo>
                    <a:pt x="0" y="13809"/>
                    <a:pt x="13809" y="0"/>
                    <a:pt x="30843" y="0"/>
                  </a:cubicBezTo>
                  <a:close/>
                </a:path>
              </a:pathLst>
            </a:custGeom>
            <a:solidFill>
              <a:srgbClr val="082064"/>
            </a:solidFill>
          </p:spPr>
        </p:sp>
        <p:sp>
          <p:nvSpPr>
            <p:cNvPr name="TextBox 7" id="7"/>
            <p:cNvSpPr txBox="true"/>
            <p:nvPr/>
          </p:nvSpPr>
          <p:spPr>
            <a:xfrm>
              <a:off x="0" y="-38100"/>
              <a:ext cx="4627707" cy="255104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08050" y="6473800"/>
            <a:ext cx="6894263" cy="3813200"/>
          </a:xfrm>
          <a:custGeom>
            <a:avLst/>
            <a:gdLst/>
            <a:ahLst/>
            <a:cxnLst/>
            <a:rect r="r" b="b" t="t" l="l"/>
            <a:pathLst>
              <a:path h="3813200" w="6894263">
                <a:moveTo>
                  <a:pt x="0" y="0"/>
                </a:moveTo>
                <a:lnTo>
                  <a:pt x="6894263" y="0"/>
                </a:lnTo>
                <a:lnTo>
                  <a:pt x="6894263" y="3813200"/>
                </a:lnTo>
                <a:lnTo>
                  <a:pt x="0" y="3813200"/>
                </a:lnTo>
                <a:lnTo>
                  <a:pt x="0" y="0"/>
                </a:lnTo>
                <a:close/>
              </a:path>
            </a:pathLst>
          </a:custGeom>
          <a:blipFill>
            <a:blip r:embed="rId4"/>
            <a:stretch>
              <a:fillRect l="-34277" t="-46268" r="-25785" b="-7962"/>
            </a:stretch>
          </a:blipFill>
        </p:spPr>
      </p:sp>
      <p:sp>
        <p:nvSpPr>
          <p:cNvPr name="Freeform 10" id="10"/>
          <p:cNvSpPr/>
          <p:nvPr/>
        </p:nvSpPr>
        <p:spPr>
          <a:xfrm flipH="false" flipV="false" rot="0">
            <a:off x="1508050" y="1918270"/>
            <a:ext cx="6922865" cy="4068592"/>
          </a:xfrm>
          <a:custGeom>
            <a:avLst/>
            <a:gdLst/>
            <a:ahLst/>
            <a:cxnLst/>
            <a:rect r="r" b="b" t="t" l="l"/>
            <a:pathLst>
              <a:path h="4068592" w="6922865">
                <a:moveTo>
                  <a:pt x="0" y="0"/>
                </a:moveTo>
                <a:lnTo>
                  <a:pt x="6922866" y="0"/>
                </a:lnTo>
                <a:lnTo>
                  <a:pt x="6922866" y="4068591"/>
                </a:lnTo>
                <a:lnTo>
                  <a:pt x="0" y="4068591"/>
                </a:lnTo>
                <a:lnTo>
                  <a:pt x="0" y="0"/>
                </a:lnTo>
                <a:close/>
              </a:path>
            </a:pathLst>
          </a:custGeom>
          <a:blipFill>
            <a:blip r:embed="rId5"/>
            <a:stretch>
              <a:fillRect l="-46935" t="-50627" r="-37251" b="-16397"/>
            </a:stretch>
          </a:blipFill>
        </p:spPr>
      </p:sp>
      <p:sp>
        <p:nvSpPr>
          <p:cNvPr name="TextBox 11" id="11"/>
          <p:cNvSpPr txBox="true"/>
          <p:nvPr/>
        </p:nvSpPr>
        <p:spPr>
          <a:xfrm rot="0">
            <a:off x="14839933" y="656463"/>
            <a:ext cx="2419367" cy="372237"/>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17</a:t>
            </a:r>
          </a:p>
        </p:txBody>
      </p:sp>
      <p:sp>
        <p:nvSpPr>
          <p:cNvPr name="Freeform 12" id="12"/>
          <p:cNvSpPr/>
          <p:nvPr/>
        </p:nvSpPr>
        <p:spPr>
          <a:xfrm flipH="false" flipV="false" rot="0">
            <a:off x="10124966" y="6473800"/>
            <a:ext cx="6931321" cy="3813200"/>
          </a:xfrm>
          <a:custGeom>
            <a:avLst/>
            <a:gdLst/>
            <a:ahLst/>
            <a:cxnLst/>
            <a:rect r="r" b="b" t="t" l="l"/>
            <a:pathLst>
              <a:path h="3813200" w="6931321">
                <a:moveTo>
                  <a:pt x="0" y="0"/>
                </a:moveTo>
                <a:lnTo>
                  <a:pt x="6931322" y="0"/>
                </a:lnTo>
                <a:lnTo>
                  <a:pt x="6931322" y="3813200"/>
                </a:lnTo>
                <a:lnTo>
                  <a:pt x="0" y="3813200"/>
                </a:lnTo>
                <a:lnTo>
                  <a:pt x="0" y="0"/>
                </a:lnTo>
                <a:close/>
              </a:path>
            </a:pathLst>
          </a:custGeom>
          <a:blipFill>
            <a:blip r:embed="rId6"/>
            <a:stretch>
              <a:fillRect l="-23109" t="-46213" r="-27947" b="0"/>
            </a:stretch>
          </a:blipFill>
        </p:spPr>
      </p:sp>
      <p:sp>
        <p:nvSpPr>
          <p:cNvPr name="Freeform 13" id="13"/>
          <p:cNvSpPr/>
          <p:nvPr/>
        </p:nvSpPr>
        <p:spPr>
          <a:xfrm flipH="false" flipV="false" rot="0">
            <a:off x="10124966" y="1918270"/>
            <a:ext cx="6990162" cy="4068592"/>
          </a:xfrm>
          <a:custGeom>
            <a:avLst/>
            <a:gdLst/>
            <a:ahLst/>
            <a:cxnLst/>
            <a:rect r="r" b="b" t="t" l="l"/>
            <a:pathLst>
              <a:path h="4068592" w="6990162">
                <a:moveTo>
                  <a:pt x="0" y="0"/>
                </a:moveTo>
                <a:lnTo>
                  <a:pt x="6990162" y="0"/>
                </a:lnTo>
                <a:lnTo>
                  <a:pt x="6990162" y="4068591"/>
                </a:lnTo>
                <a:lnTo>
                  <a:pt x="0" y="4068591"/>
                </a:lnTo>
                <a:lnTo>
                  <a:pt x="0" y="0"/>
                </a:lnTo>
                <a:close/>
              </a:path>
            </a:pathLst>
          </a:custGeom>
          <a:blipFill>
            <a:blip r:embed="rId5"/>
            <a:stretch>
              <a:fillRect l="-110626" t="-125147" r="-102972" b="-61995"/>
            </a:stretch>
          </a:blipFill>
        </p:spPr>
      </p:sp>
      <p:sp>
        <p:nvSpPr>
          <p:cNvPr name="TextBox 14" id="14"/>
          <p:cNvSpPr txBox="true"/>
          <p:nvPr/>
        </p:nvSpPr>
        <p:spPr>
          <a:xfrm rot="0">
            <a:off x="1717589" y="637413"/>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082064"/>
                </a:solidFill>
                <a:latin typeface="Quicksand Bold"/>
                <a:ea typeface="Quicksand Bold"/>
                <a:cs typeface="Quicksand Bold"/>
                <a:sym typeface="Quicksand Bold"/>
              </a:rPr>
              <a:t>HỆ THỐNG QUẢN LÝ HỌC TẬP THẾ HỆ TƯƠNG LAI</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1D0D5"/>
        </a:solidFill>
      </p:bgPr>
    </p:bg>
    <p:spTree>
      <p:nvGrpSpPr>
        <p:cNvPr id="1" name=""/>
        <p:cNvGrpSpPr/>
        <p:nvPr/>
      </p:nvGrpSpPr>
      <p:grpSpPr>
        <a:xfrm>
          <a:off x="0" y="0"/>
          <a:ext cx="0" cy="0"/>
          <a:chOff x="0" y="0"/>
          <a:chExt cx="0" cy="0"/>
        </a:xfrm>
      </p:grpSpPr>
      <p:grpSp>
        <p:nvGrpSpPr>
          <p:cNvPr name="Group 2" id="2"/>
          <p:cNvGrpSpPr/>
          <p:nvPr/>
        </p:nvGrpSpPr>
        <p:grpSpPr>
          <a:xfrm rot="0">
            <a:off x="342689" y="1409700"/>
            <a:ext cx="17602623" cy="9541341"/>
            <a:chOff x="0" y="0"/>
            <a:chExt cx="4636082" cy="2512946"/>
          </a:xfrm>
        </p:grpSpPr>
        <p:sp>
          <p:nvSpPr>
            <p:cNvPr name="Freeform 3" id="3"/>
            <p:cNvSpPr/>
            <p:nvPr/>
          </p:nvSpPr>
          <p:spPr>
            <a:xfrm flipH="false" flipV="false" rot="0">
              <a:off x="0" y="0"/>
              <a:ext cx="4636082" cy="2512946"/>
            </a:xfrm>
            <a:custGeom>
              <a:avLst/>
              <a:gdLst/>
              <a:ahLst/>
              <a:cxnLst/>
              <a:rect r="r" b="b" t="t" l="l"/>
              <a:pathLst>
                <a:path h="2512946" w="4636082">
                  <a:moveTo>
                    <a:pt x="30787" y="0"/>
                  </a:moveTo>
                  <a:lnTo>
                    <a:pt x="4605294" y="0"/>
                  </a:lnTo>
                  <a:cubicBezTo>
                    <a:pt x="4622298" y="0"/>
                    <a:pt x="4636082" y="13784"/>
                    <a:pt x="4636082" y="30787"/>
                  </a:cubicBezTo>
                  <a:lnTo>
                    <a:pt x="4636082" y="2482159"/>
                  </a:lnTo>
                  <a:cubicBezTo>
                    <a:pt x="4636082" y="2490324"/>
                    <a:pt x="4632838" y="2498155"/>
                    <a:pt x="4627064" y="2503928"/>
                  </a:cubicBezTo>
                  <a:cubicBezTo>
                    <a:pt x="4621291" y="2509702"/>
                    <a:pt x="4613460" y="2512946"/>
                    <a:pt x="4605294" y="2512946"/>
                  </a:cubicBezTo>
                  <a:lnTo>
                    <a:pt x="30787" y="2512946"/>
                  </a:lnTo>
                  <a:cubicBezTo>
                    <a:pt x="13784" y="2512946"/>
                    <a:pt x="0" y="2499162"/>
                    <a:pt x="0" y="2482159"/>
                  </a:cubicBezTo>
                  <a:lnTo>
                    <a:pt x="0" y="30787"/>
                  </a:lnTo>
                  <a:cubicBezTo>
                    <a:pt x="0" y="22622"/>
                    <a:pt x="3244" y="14791"/>
                    <a:pt x="9017" y="9017"/>
                  </a:cubicBezTo>
                  <a:cubicBezTo>
                    <a:pt x="14791" y="3244"/>
                    <a:pt x="22622" y="0"/>
                    <a:pt x="30787" y="0"/>
                  </a:cubicBezTo>
                  <a:close/>
                </a:path>
              </a:pathLst>
            </a:custGeom>
            <a:solidFill>
              <a:srgbClr val="FFFFFF"/>
            </a:solidFill>
          </p:spPr>
        </p:sp>
        <p:sp>
          <p:nvSpPr>
            <p:cNvPr name="TextBox 4" id="4"/>
            <p:cNvSpPr txBox="true"/>
            <p:nvPr/>
          </p:nvSpPr>
          <p:spPr>
            <a:xfrm>
              <a:off x="0" y="-38100"/>
              <a:ext cx="4636082" cy="2551046"/>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577771"/>
            <a:ext cx="479350" cy="539146"/>
          </a:xfrm>
          <a:custGeom>
            <a:avLst/>
            <a:gdLst/>
            <a:ahLst/>
            <a:cxnLst/>
            <a:rect r="r" b="b" t="t" l="l"/>
            <a:pathLst>
              <a:path h="539146" w="479350">
                <a:moveTo>
                  <a:pt x="0" y="0"/>
                </a:moveTo>
                <a:lnTo>
                  <a:pt x="479350" y="0"/>
                </a:lnTo>
                <a:lnTo>
                  <a:pt x="479350" y="539146"/>
                </a:lnTo>
                <a:lnTo>
                  <a:pt x="0" y="5391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4456829" y="480251"/>
            <a:ext cx="2419367" cy="818022"/>
            <a:chOff x="0" y="0"/>
            <a:chExt cx="3225822" cy="1090696"/>
          </a:xfrm>
        </p:grpSpPr>
        <p:grpSp>
          <p:nvGrpSpPr>
            <p:cNvPr name="Group 7" id="7"/>
            <p:cNvGrpSpPr/>
            <p:nvPr/>
          </p:nvGrpSpPr>
          <p:grpSpPr>
            <a:xfrm rot="0">
              <a:off x="0" y="0"/>
              <a:ext cx="3225822" cy="1090696"/>
              <a:chOff x="0" y="0"/>
              <a:chExt cx="637199" cy="215446"/>
            </a:xfrm>
          </p:grpSpPr>
          <p:sp>
            <p:nvSpPr>
              <p:cNvPr name="Freeform 8" id="8"/>
              <p:cNvSpPr/>
              <p:nvPr/>
            </p:nvSpPr>
            <p:spPr>
              <a:xfrm flipH="false" flipV="false" rot="0">
                <a:off x="0" y="0"/>
                <a:ext cx="637199" cy="215446"/>
              </a:xfrm>
              <a:custGeom>
                <a:avLst/>
                <a:gdLst/>
                <a:ahLst/>
                <a:cxnLst/>
                <a:rect r="r" b="b" t="t" l="l"/>
                <a:pathLst>
                  <a:path h="215446" w="637199">
                    <a:moveTo>
                      <a:pt x="54400" y="0"/>
                    </a:moveTo>
                    <a:lnTo>
                      <a:pt x="582800" y="0"/>
                    </a:lnTo>
                    <a:cubicBezTo>
                      <a:pt x="612844" y="0"/>
                      <a:pt x="637199" y="24356"/>
                      <a:pt x="637199" y="54400"/>
                    </a:cubicBezTo>
                    <a:lnTo>
                      <a:pt x="637199" y="161047"/>
                    </a:lnTo>
                    <a:cubicBezTo>
                      <a:pt x="637199" y="191091"/>
                      <a:pt x="612844" y="215446"/>
                      <a:pt x="582800" y="215446"/>
                    </a:cubicBezTo>
                    <a:lnTo>
                      <a:pt x="54400" y="215446"/>
                    </a:lnTo>
                    <a:cubicBezTo>
                      <a:pt x="24356" y="215446"/>
                      <a:pt x="0" y="191091"/>
                      <a:pt x="0" y="161047"/>
                    </a:cubicBezTo>
                    <a:lnTo>
                      <a:pt x="0" y="54400"/>
                    </a:lnTo>
                    <a:cubicBezTo>
                      <a:pt x="0" y="24356"/>
                      <a:pt x="24356" y="0"/>
                      <a:pt x="54400" y="0"/>
                    </a:cubicBezTo>
                    <a:close/>
                  </a:path>
                </a:pathLst>
              </a:custGeom>
              <a:solidFill>
                <a:srgbClr val="F4F4ED"/>
              </a:solidFill>
            </p:spPr>
          </p:sp>
          <p:sp>
            <p:nvSpPr>
              <p:cNvPr name="TextBox 9" id="9"/>
              <p:cNvSpPr txBox="true"/>
              <p:nvPr/>
            </p:nvSpPr>
            <p:spPr>
              <a:xfrm>
                <a:off x="0" y="-38100"/>
                <a:ext cx="637199" cy="25354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0" y="238124"/>
              <a:ext cx="3225822" cy="493141"/>
            </a:xfrm>
            <a:prstGeom prst="rect">
              <a:avLst/>
            </a:prstGeom>
          </p:spPr>
          <p:txBody>
            <a:bodyPr anchor="t" rtlCol="false" tIns="0" lIns="0" bIns="0" rIns="0">
              <a:spAutoFit/>
            </a:bodyPr>
            <a:lstStyle/>
            <a:p>
              <a:pPr algn="ctr" marL="0" indent="0" lvl="0">
                <a:lnSpc>
                  <a:spcPts val="3024"/>
                </a:lnSpc>
                <a:spcBef>
                  <a:spcPct val="0"/>
                </a:spcBef>
              </a:pPr>
              <a:r>
                <a:rPr lang="en-US" b="true" sz="2400" spc="72">
                  <a:solidFill>
                    <a:srgbClr val="082064"/>
                  </a:solidFill>
                  <a:latin typeface="Montserrat Bold"/>
                  <a:ea typeface="Montserrat Bold"/>
                  <a:cs typeface="Montserrat Bold"/>
                  <a:sym typeface="Montserrat Bold"/>
                </a:rPr>
                <a:t>Slide 16</a:t>
              </a:r>
            </a:p>
          </p:txBody>
        </p:sp>
      </p:grpSp>
      <p:sp>
        <p:nvSpPr>
          <p:cNvPr name="Freeform 11" id="11"/>
          <p:cNvSpPr/>
          <p:nvPr/>
        </p:nvSpPr>
        <p:spPr>
          <a:xfrm flipH="false" flipV="false" rot="0">
            <a:off x="1028700" y="3295389"/>
            <a:ext cx="10883716" cy="6122090"/>
          </a:xfrm>
          <a:custGeom>
            <a:avLst/>
            <a:gdLst/>
            <a:ahLst/>
            <a:cxnLst/>
            <a:rect r="r" b="b" t="t" l="l"/>
            <a:pathLst>
              <a:path h="6122090" w="10883716">
                <a:moveTo>
                  <a:pt x="0" y="0"/>
                </a:moveTo>
                <a:lnTo>
                  <a:pt x="10883716" y="0"/>
                </a:lnTo>
                <a:lnTo>
                  <a:pt x="10883716" y="6122090"/>
                </a:lnTo>
                <a:lnTo>
                  <a:pt x="0" y="6122090"/>
                </a:lnTo>
                <a:lnTo>
                  <a:pt x="0" y="0"/>
                </a:lnTo>
                <a:close/>
              </a:path>
            </a:pathLst>
          </a:custGeom>
          <a:blipFill>
            <a:blip r:embed="rId4"/>
            <a:stretch>
              <a:fillRect l="0" t="0" r="0" b="0"/>
            </a:stretch>
          </a:blipFill>
        </p:spPr>
      </p:sp>
      <p:sp>
        <p:nvSpPr>
          <p:cNvPr name="Freeform 12" id="12"/>
          <p:cNvSpPr/>
          <p:nvPr/>
        </p:nvSpPr>
        <p:spPr>
          <a:xfrm flipH="false" flipV="false" rot="0">
            <a:off x="13271151" y="4193645"/>
            <a:ext cx="3377433" cy="3973451"/>
          </a:xfrm>
          <a:custGeom>
            <a:avLst/>
            <a:gdLst/>
            <a:ahLst/>
            <a:cxnLst/>
            <a:rect r="r" b="b" t="t" l="l"/>
            <a:pathLst>
              <a:path h="3973451" w="3377433">
                <a:moveTo>
                  <a:pt x="0" y="0"/>
                </a:moveTo>
                <a:lnTo>
                  <a:pt x="3377433" y="0"/>
                </a:lnTo>
                <a:lnTo>
                  <a:pt x="3377433" y="3973451"/>
                </a:lnTo>
                <a:lnTo>
                  <a:pt x="0" y="39734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3620245" y="4531340"/>
            <a:ext cx="2679246" cy="2679246"/>
          </a:xfrm>
          <a:custGeom>
            <a:avLst/>
            <a:gdLst/>
            <a:ahLst/>
            <a:cxnLst/>
            <a:rect r="r" b="b" t="t" l="l"/>
            <a:pathLst>
              <a:path h="2679246" w="2679246">
                <a:moveTo>
                  <a:pt x="0" y="0"/>
                </a:moveTo>
                <a:lnTo>
                  <a:pt x="2679246" y="0"/>
                </a:lnTo>
                <a:lnTo>
                  <a:pt x="2679246" y="2679246"/>
                </a:lnTo>
                <a:lnTo>
                  <a:pt x="0" y="2679246"/>
                </a:lnTo>
                <a:lnTo>
                  <a:pt x="0" y="0"/>
                </a:lnTo>
                <a:close/>
              </a:path>
            </a:pathLst>
          </a:custGeom>
          <a:blipFill>
            <a:blip r:embed="rId7"/>
            <a:stretch>
              <a:fillRect l="0" t="0" r="0" b="0"/>
            </a:stretch>
          </a:blipFill>
        </p:spPr>
      </p:sp>
      <p:sp>
        <p:nvSpPr>
          <p:cNvPr name="TextBox 14" id="14"/>
          <p:cNvSpPr txBox="true"/>
          <p:nvPr/>
        </p:nvSpPr>
        <p:spPr>
          <a:xfrm rot="0">
            <a:off x="1722385" y="656463"/>
            <a:ext cx="12167343" cy="753237"/>
          </a:xfrm>
          <a:prstGeom prst="rect">
            <a:avLst/>
          </a:prstGeom>
        </p:spPr>
        <p:txBody>
          <a:bodyPr anchor="t" rtlCol="false" tIns="0" lIns="0" bIns="0" rIns="0">
            <a:spAutoFit/>
          </a:bodyPr>
          <a:lstStyle/>
          <a:p>
            <a:pPr algn="l">
              <a:lnSpc>
                <a:spcPts val="3024"/>
              </a:lnSpc>
            </a:pPr>
            <a:r>
              <a:rPr lang="en-US" b="true" sz="2400" spc="72">
                <a:solidFill>
                  <a:srgbClr val="082064"/>
                </a:solidFill>
                <a:latin typeface="Montserrat Bold"/>
                <a:ea typeface="Montserrat Bold"/>
                <a:cs typeface="Montserrat Bold"/>
                <a:sym typeface="Montserrat Bold"/>
              </a:rPr>
              <a:t>HỆ THỐNG QUẢN LÝ HỌC TẬP THẾ HỆ TƯƠNG LAI</a:t>
            </a:r>
          </a:p>
          <a:p>
            <a:pPr algn="l" marL="0" indent="0" lvl="0">
              <a:lnSpc>
                <a:spcPts val="3024"/>
              </a:lnSpc>
              <a:spcBef>
                <a:spcPct val="0"/>
              </a:spcBef>
            </a:pPr>
          </a:p>
        </p:txBody>
      </p:sp>
      <p:sp>
        <p:nvSpPr>
          <p:cNvPr name="TextBox 15" id="15"/>
          <p:cNvSpPr txBox="true"/>
          <p:nvPr/>
        </p:nvSpPr>
        <p:spPr>
          <a:xfrm rot="0">
            <a:off x="2336601" y="2020756"/>
            <a:ext cx="7841390" cy="596901"/>
          </a:xfrm>
          <a:prstGeom prst="rect">
            <a:avLst/>
          </a:prstGeom>
        </p:spPr>
        <p:txBody>
          <a:bodyPr anchor="t" rtlCol="false" tIns="0" lIns="0" bIns="0" rIns="0">
            <a:spAutoFit/>
          </a:bodyPr>
          <a:lstStyle/>
          <a:p>
            <a:pPr algn="ctr">
              <a:lnSpc>
                <a:spcPts val="4899"/>
              </a:lnSpc>
              <a:spcBef>
                <a:spcPct val="0"/>
              </a:spcBef>
            </a:pPr>
            <a:r>
              <a:rPr lang="en-US" sz="3499" u="sng">
                <a:solidFill>
                  <a:srgbClr val="082064"/>
                </a:solidFill>
                <a:latin typeface="Montserrat"/>
                <a:ea typeface="Montserrat"/>
                <a:cs typeface="Montserrat"/>
                <a:sym typeface="Montserrat"/>
                <a:hlinkClick r:id="rId8" tooltip="https://app.lumi.education/run/bJmNzq"/>
              </a:rPr>
              <a:t>Video bài giảng tương tác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A2B89"/>
        </a:solidFill>
      </p:bgPr>
    </p:bg>
    <p:spTree>
      <p:nvGrpSpPr>
        <p:cNvPr id="1" name=""/>
        <p:cNvGrpSpPr/>
        <p:nvPr/>
      </p:nvGrpSpPr>
      <p:grpSpPr>
        <a:xfrm>
          <a:off x="0" y="0"/>
          <a:ext cx="0" cy="0"/>
          <a:chOff x="0" y="0"/>
          <a:chExt cx="0" cy="0"/>
        </a:xfrm>
      </p:grpSpPr>
      <p:sp>
        <p:nvSpPr>
          <p:cNvPr name="Freeform 2" id="2"/>
          <p:cNvSpPr/>
          <p:nvPr/>
        </p:nvSpPr>
        <p:spPr>
          <a:xfrm flipH="false" flipV="false" rot="0">
            <a:off x="646637" y="781931"/>
            <a:ext cx="8511988" cy="8511988"/>
          </a:xfrm>
          <a:custGeom>
            <a:avLst/>
            <a:gdLst/>
            <a:ahLst/>
            <a:cxnLst/>
            <a:rect r="r" b="b" t="t" l="l"/>
            <a:pathLst>
              <a:path h="8511988" w="8511988">
                <a:moveTo>
                  <a:pt x="0" y="0"/>
                </a:moveTo>
                <a:lnTo>
                  <a:pt x="8511988" y="0"/>
                </a:lnTo>
                <a:lnTo>
                  <a:pt x="8511988"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158625" y="746312"/>
            <a:ext cx="8483779" cy="8511988"/>
          </a:xfrm>
          <a:custGeom>
            <a:avLst/>
            <a:gdLst/>
            <a:ahLst/>
            <a:cxnLst/>
            <a:rect r="r" b="b" t="t" l="l"/>
            <a:pathLst>
              <a:path h="8511988" w="8483779">
                <a:moveTo>
                  <a:pt x="0" y="0"/>
                </a:moveTo>
                <a:lnTo>
                  <a:pt x="8483780" y="0"/>
                </a:lnTo>
                <a:lnTo>
                  <a:pt x="8483780" y="8511988"/>
                </a:lnTo>
                <a:lnTo>
                  <a:pt x="0" y="8511988"/>
                </a:lnTo>
                <a:lnTo>
                  <a:pt x="0" y="0"/>
                </a:lnTo>
                <a:close/>
              </a:path>
            </a:pathLst>
          </a:custGeom>
          <a:blipFill>
            <a:blip r:embed="rId2">
              <a:alphaModFix amt="9999"/>
              <a:extLst>
                <a:ext uri="{96DAC541-7B7A-43D3-8B79-37D633B846F1}">
                  <asvg:svgBlip xmlns:asvg="http://schemas.microsoft.com/office/drawing/2016/SVG/main" r:embed="rId3"/>
                </a:ext>
              </a:extLst>
            </a:blip>
            <a:stretch>
              <a:fillRect l="-332" t="0" r="0" b="0"/>
            </a:stretch>
          </a:blipFill>
          <a:ln cap="sq">
            <a:noFill/>
            <a:prstDash val="solid"/>
            <a:miter/>
          </a:ln>
        </p:spPr>
      </p:sp>
      <p:sp>
        <p:nvSpPr>
          <p:cNvPr name="Freeform 4" id="4"/>
          <p:cNvSpPr/>
          <p:nvPr/>
        </p:nvSpPr>
        <p:spPr>
          <a:xfrm flipH="false" flipV="false" rot="0">
            <a:off x="6080532" y="746312"/>
            <a:ext cx="9617588" cy="9530156"/>
          </a:xfrm>
          <a:custGeom>
            <a:avLst/>
            <a:gdLst/>
            <a:ahLst/>
            <a:cxnLst/>
            <a:rect r="r" b="b" t="t" l="l"/>
            <a:pathLst>
              <a:path h="9530156" w="9617588">
                <a:moveTo>
                  <a:pt x="0" y="0"/>
                </a:moveTo>
                <a:lnTo>
                  <a:pt x="9617588" y="0"/>
                </a:lnTo>
                <a:lnTo>
                  <a:pt x="9617588" y="9530155"/>
                </a:lnTo>
                <a:lnTo>
                  <a:pt x="0" y="95301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523762" y="2228176"/>
            <a:ext cx="6224855" cy="7030124"/>
          </a:xfrm>
          <a:custGeom>
            <a:avLst/>
            <a:gdLst/>
            <a:ahLst/>
            <a:cxnLst/>
            <a:rect r="r" b="b" t="t" l="l"/>
            <a:pathLst>
              <a:path h="7030124" w="6224855">
                <a:moveTo>
                  <a:pt x="0" y="0"/>
                </a:moveTo>
                <a:lnTo>
                  <a:pt x="6224855" y="0"/>
                </a:lnTo>
                <a:lnTo>
                  <a:pt x="6224855" y="7030124"/>
                </a:lnTo>
                <a:lnTo>
                  <a:pt x="0" y="70301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698120" y="781931"/>
            <a:ext cx="1561180" cy="214662"/>
          </a:xfrm>
          <a:custGeom>
            <a:avLst/>
            <a:gdLst/>
            <a:ahLst/>
            <a:cxnLst/>
            <a:rect r="r" b="b" t="t" l="l"/>
            <a:pathLst>
              <a:path h="214662" w="1561180">
                <a:moveTo>
                  <a:pt x="0" y="0"/>
                </a:moveTo>
                <a:lnTo>
                  <a:pt x="1561180" y="0"/>
                </a:lnTo>
                <a:lnTo>
                  <a:pt x="1561180" y="214662"/>
                </a:lnTo>
                <a:lnTo>
                  <a:pt x="0" y="2146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41173">
            <a:off x="5896859" y="6599016"/>
            <a:ext cx="1542664" cy="1351493"/>
          </a:xfrm>
          <a:custGeom>
            <a:avLst/>
            <a:gdLst/>
            <a:ahLst/>
            <a:cxnLst/>
            <a:rect r="r" b="b" t="t" l="l"/>
            <a:pathLst>
              <a:path h="1351493" w="1542664">
                <a:moveTo>
                  <a:pt x="0" y="0"/>
                </a:moveTo>
                <a:lnTo>
                  <a:pt x="1542665" y="0"/>
                </a:lnTo>
                <a:lnTo>
                  <a:pt x="1542665" y="1351493"/>
                </a:lnTo>
                <a:lnTo>
                  <a:pt x="0" y="13514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947581" y="3281231"/>
            <a:ext cx="5342395" cy="3118486"/>
          </a:xfrm>
          <a:prstGeom prst="rect">
            <a:avLst/>
          </a:prstGeom>
        </p:spPr>
        <p:txBody>
          <a:bodyPr anchor="t" rtlCol="false" tIns="0" lIns="0" bIns="0" rIns="0">
            <a:spAutoFit/>
          </a:bodyPr>
          <a:lstStyle/>
          <a:p>
            <a:pPr algn="l">
              <a:lnSpc>
                <a:spcPts val="11790"/>
              </a:lnSpc>
            </a:pPr>
            <a:r>
              <a:rPr lang="en-US" sz="13100" spc="-288" b="true">
                <a:solidFill>
                  <a:srgbClr val="FEFEFE"/>
                </a:solidFill>
                <a:latin typeface="Montserrat Bold"/>
                <a:ea typeface="Montserrat Bold"/>
                <a:cs typeface="Montserrat Bold"/>
                <a:sym typeface="Montserrat Bold"/>
              </a:rPr>
              <a:t>Thank You</a:t>
            </a:r>
          </a:p>
        </p:txBody>
      </p:sp>
      <p:sp>
        <p:nvSpPr>
          <p:cNvPr name="TextBox 9" id="9"/>
          <p:cNvSpPr txBox="true"/>
          <p:nvPr/>
        </p:nvSpPr>
        <p:spPr>
          <a:xfrm rot="0">
            <a:off x="1700194" y="679331"/>
            <a:ext cx="9935996" cy="391287"/>
          </a:xfrm>
          <a:prstGeom prst="rect">
            <a:avLst/>
          </a:prstGeom>
        </p:spPr>
        <p:txBody>
          <a:bodyPr anchor="t" rtlCol="false" tIns="0" lIns="0" bIns="0" rIns="0">
            <a:spAutoFit/>
          </a:bodyPr>
          <a:lstStyle/>
          <a:p>
            <a:pPr algn="l" marL="0" indent="0" lvl="0">
              <a:lnSpc>
                <a:spcPts val="3024"/>
              </a:lnSpc>
              <a:spcBef>
                <a:spcPct val="0"/>
              </a:spcBef>
            </a:pPr>
            <a:r>
              <a:rPr lang="en-US" b="true" sz="2400" spc="72">
                <a:solidFill>
                  <a:srgbClr val="FEFEFE"/>
                </a:solidFill>
                <a:latin typeface="Quicksand Bold"/>
                <a:ea typeface="Quicksand Bold"/>
                <a:cs typeface="Quicksand Bold"/>
                <a:sym typeface="Quicksand Bold"/>
              </a:rPr>
              <a:t>HỆ THỐNG QUẢN LÝ HỌC TẬP THẾ HỆ TƯƠNG LAI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DAHINz-u3OI</dc:identifier>
  <dcterms:modified xsi:type="dcterms:W3CDTF">2011-08-01T06:04:30Z</dcterms:modified>
  <cp:revision>1</cp:revision>
  <dc:title>E-Learning: Giáo dục trong tương lai</dc:title>
</cp:coreProperties>
</file>