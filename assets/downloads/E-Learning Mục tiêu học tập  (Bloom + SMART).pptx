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Roboto Bold" charset="1" panose="02000000000000000000"/>
      <p:regular r:id="rId14"/>
    </p:embeddedFont>
    <p:embeddedFont>
      <p:font typeface="Roboto" charset="1" panose="02000000000000000000"/>
      <p:regular r:id="rId15"/>
    </p:embeddedFont>
    <p:embeddedFont>
      <p:font typeface="Montserrat Heavy" charset="1" panose="00000A00000000000000"/>
      <p:regular r:id="rId16"/>
    </p:embeddedFont>
    <p:embeddedFont>
      <p:font typeface="Montserrat Bold" charset="1" panose="00000800000000000000"/>
      <p:regular r:id="rId17"/>
    </p:embeddedFont>
    <p:embeddedFont>
      <p:font typeface="Noto Serif Display Bold" charset="1" panose="02020802080505020204"/>
      <p:regular r:id="rId18"/>
    </p:embeddedFont>
    <p:embeddedFont>
      <p:font typeface="Abril Fatface" charset="1" panose="02000503000000020003"/>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jpe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7.png" Type="http://schemas.openxmlformats.org/officeDocument/2006/relationships/image"/><Relationship Id="rId12" Target="../media/image18.svg" Type="http://schemas.openxmlformats.org/officeDocument/2006/relationships/image"/><Relationship Id="rId13" Target="../media/image8.png" Type="http://schemas.openxmlformats.org/officeDocument/2006/relationships/image"/><Relationship Id="rId14"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2.png" Type="http://schemas.openxmlformats.org/officeDocument/2006/relationships/image"/><Relationship Id="rId7" Target="../media/image13.svg" Type="http://schemas.openxmlformats.org/officeDocument/2006/relationships/image"/><Relationship Id="rId8" Target="../media/image14.jpeg" Type="http://schemas.openxmlformats.org/officeDocument/2006/relationships/image"/><Relationship Id="rId9" Target="../media/image1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19.jpeg" Type="http://schemas.openxmlformats.org/officeDocument/2006/relationships/image"/><Relationship Id="rId5" Target="../media/image17.png" Type="http://schemas.openxmlformats.org/officeDocument/2006/relationships/image"/><Relationship Id="rId6" Target="../media/image18.svg" Type="http://schemas.openxmlformats.org/officeDocument/2006/relationships/image"/><Relationship Id="rId7" Target="../media/image15.png" Type="http://schemas.openxmlformats.org/officeDocument/2006/relationships/image"/><Relationship Id="rId8" Target="../media/image16.svg" Type="http://schemas.openxmlformats.org/officeDocument/2006/relationships/image"/><Relationship Id="rId9" Target="../media/image1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0.jpeg" Type="http://schemas.openxmlformats.org/officeDocument/2006/relationships/image"/><Relationship Id="rId5" Target="../media/image15.png" Type="http://schemas.openxmlformats.org/officeDocument/2006/relationships/image"/><Relationship Id="rId6" Target="../media/image16.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5.svg" Type="http://schemas.openxmlformats.org/officeDocument/2006/relationships/image"/><Relationship Id="rId11" Target="../media/image26.png" Type="http://schemas.openxmlformats.org/officeDocument/2006/relationships/image"/><Relationship Id="rId12" Target="../media/image27.svg" Type="http://schemas.openxmlformats.org/officeDocument/2006/relationships/image"/><Relationship Id="rId13" Target="../media/image28.png" Type="http://schemas.openxmlformats.org/officeDocument/2006/relationships/image"/><Relationship Id="rId14" Target="../media/image29.svg" Type="http://schemas.openxmlformats.org/officeDocument/2006/relationships/image"/><Relationship Id="rId15" Target="../media/image30.png" Type="http://schemas.openxmlformats.org/officeDocument/2006/relationships/image"/><Relationship Id="rId16" Target="../media/image31.svg" Type="http://schemas.openxmlformats.org/officeDocument/2006/relationships/image"/><Relationship Id="rId17" Target="../media/image32.png" Type="http://schemas.openxmlformats.org/officeDocument/2006/relationships/image"/><Relationship Id="rId18" Target="../media/image33.svg" Type="http://schemas.openxmlformats.org/officeDocument/2006/relationships/image"/><Relationship Id="rId19" Target="../media/image34.png" Type="http://schemas.openxmlformats.org/officeDocument/2006/relationships/image"/><Relationship Id="rId2" Target="../media/image1.png" Type="http://schemas.openxmlformats.org/officeDocument/2006/relationships/image"/><Relationship Id="rId20" Target="../media/image35.svg" Type="http://schemas.openxmlformats.org/officeDocument/2006/relationships/image"/><Relationship Id="rId21" Target="../media/image36.png" Type="http://schemas.openxmlformats.org/officeDocument/2006/relationships/image"/><Relationship Id="rId22" Target="../media/image37.svg" Type="http://schemas.openxmlformats.org/officeDocument/2006/relationships/image"/><Relationship Id="rId23" Target="../media/image38.png" Type="http://schemas.openxmlformats.org/officeDocument/2006/relationships/image"/><Relationship Id="rId24" Target="../media/image39.svg" Type="http://schemas.openxmlformats.org/officeDocument/2006/relationships/image"/><Relationship Id="rId25" Target="../media/image40.png" Type="http://schemas.openxmlformats.org/officeDocument/2006/relationships/image"/><Relationship Id="rId26" Target="../media/image41.svg" Type="http://schemas.openxmlformats.org/officeDocument/2006/relationships/image"/><Relationship Id="rId27" Target="../media/image42.png" Type="http://schemas.openxmlformats.org/officeDocument/2006/relationships/image"/><Relationship Id="rId28" Target="../media/image43.svg" Type="http://schemas.openxmlformats.org/officeDocument/2006/relationships/image"/><Relationship Id="rId29" Target="../media/image12.png" Type="http://schemas.openxmlformats.org/officeDocument/2006/relationships/image"/><Relationship Id="rId3" Target="../media/image2.svg" Type="http://schemas.openxmlformats.org/officeDocument/2006/relationships/image"/><Relationship Id="rId30" Target="../media/image13.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21.jpeg" Type="http://schemas.openxmlformats.org/officeDocument/2006/relationships/image"/><Relationship Id="rId7" Target="../media/image22.png" Type="http://schemas.openxmlformats.org/officeDocument/2006/relationships/image"/><Relationship Id="rId8" Target="../media/image23.svg" Type="http://schemas.openxmlformats.org/officeDocument/2006/relationships/image"/><Relationship Id="rId9" Target="../media/image2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5.png" Type="http://schemas.openxmlformats.org/officeDocument/2006/relationships/image"/><Relationship Id="rId5" Target="../media/image16.svg" Type="http://schemas.openxmlformats.org/officeDocument/2006/relationships/image"/><Relationship Id="rId6" Target="../media/image44.jpe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5.png" Type="http://schemas.openxmlformats.org/officeDocument/2006/relationships/image"/><Relationship Id="rId3" Target="../media/image46.svg" Type="http://schemas.openxmlformats.org/officeDocument/2006/relationships/image"/><Relationship Id="rId4" Target="../media/image47.png" Type="http://schemas.openxmlformats.org/officeDocument/2006/relationships/image"/><Relationship Id="rId5" Target="../media/image48.svg" Type="http://schemas.openxmlformats.org/officeDocument/2006/relationships/image"/><Relationship Id="rId6" Target="../media/image49.png" Type="http://schemas.openxmlformats.org/officeDocument/2006/relationships/image"/><Relationship Id="rId7" Target="../media/image50.svg" Type="http://schemas.openxmlformats.org/officeDocument/2006/relationships/image"/><Relationship Id="rId8" Target="../media/image51.png" Type="http://schemas.openxmlformats.org/officeDocument/2006/relationships/image"/><Relationship Id="rId9" Target="../media/image5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svg" Type="http://schemas.openxmlformats.org/officeDocument/2006/relationships/image"/><Relationship Id="rId11" Target="../media/image8.png" Type="http://schemas.openxmlformats.org/officeDocument/2006/relationships/image"/><Relationship Id="rId12" Target="../media/image9.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53.pn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253631" y="9258300"/>
            <a:ext cx="10291751" cy="0"/>
          </a:xfrm>
          <a:prstGeom prst="line">
            <a:avLst/>
          </a:prstGeom>
          <a:ln cap="flat" w="19050">
            <a:solidFill>
              <a:srgbClr val="48276D"/>
            </a:solidFill>
            <a:prstDash val="solid"/>
            <a:headEnd type="none" len="sm" w="sm"/>
            <a:tailEnd type="none" len="sm" w="sm"/>
          </a:ln>
        </p:spPr>
      </p:sp>
      <p:grpSp>
        <p:nvGrpSpPr>
          <p:cNvPr name="Group 3" id="3"/>
          <p:cNvGrpSpPr/>
          <p:nvPr/>
        </p:nvGrpSpPr>
        <p:grpSpPr>
          <a:xfrm rot="0">
            <a:off x="13361619" y="-194461"/>
            <a:ext cx="5093325" cy="10675921"/>
            <a:chOff x="0" y="0"/>
            <a:chExt cx="1341452" cy="2811765"/>
          </a:xfrm>
        </p:grpSpPr>
        <p:sp>
          <p:nvSpPr>
            <p:cNvPr name="Freeform 4" id="4"/>
            <p:cNvSpPr/>
            <p:nvPr/>
          </p:nvSpPr>
          <p:spPr>
            <a:xfrm flipH="false" flipV="false" rot="0">
              <a:off x="0" y="0"/>
              <a:ext cx="1341452" cy="2811765"/>
            </a:xfrm>
            <a:custGeom>
              <a:avLst/>
              <a:gdLst/>
              <a:ahLst/>
              <a:cxnLst/>
              <a:rect r="r" b="b" t="t" l="l"/>
              <a:pathLst>
                <a:path h="2811765" w="1341452">
                  <a:moveTo>
                    <a:pt x="0" y="0"/>
                  </a:moveTo>
                  <a:lnTo>
                    <a:pt x="1341452" y="0"/>
                  </a:lnTo>
                  <a:lnTo>
                    <a:pt x="1341452" y="2811765"/>
                  </a:lnTo>
                  <a:lnTo>
                    <a:pt x="0" y="2811765"/>
                  </a:lnTo>
                  <a:close/>
                </a:path>
              </a:pathLst>
            </a:custGeom>
            <a:gradFill rotWithShape="true">
              <a:gsLst>
                <a:gs pos="0">
                  <a:srgbClr val="9374B3">
                    <a:alpha val="100000"/>
                  </a:srgbClr>
                </a:gs>
                <a:gs pos="50000">
                  <a:srgbClr val="7161A6">
                    <a:alpha val="100000"/>
                  </a:srgbClr>
                </a:gs>
                <a:gs pos="100000">
                  <a:srgbClr val="4A4D9C">
                    <a:alpha val="100000"/>
                  </a:srgbClr>
                </a:gs>
              </a:gsLst>
              <a:lin ang="5400000"/>
            </a:gradFill>
          </p:spPr>
        </p:sp>
        <p:sp>
          <p:nvSpPr>
            <p:cNvPr name="TextBox 5" id="5"/>
            <p:cNvSpPr txBox="true"/>
            <p:nvPr/>
          </p:nvSpPr>
          <p:spPr>
            <a:xfrm>
              <a:off x="0" y="-38100"/>
              <a:ext cx="1341452" cy="284986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grpSp>
        <p:nvGrpSpPr>
          <p:cNvPr name="Group 7" id="7"/>
          <p:cNvGrpSpPr>
            <a:grpSpLocks noChangeAspect="true"/>
          </p:cNvGrpSpPr>
          <p:nvPr/>
        </p:nvGrpSpPr>
        <p:grpSpPr>
          <a:xfrm rot="0">
            <a:off x="11505323" y="1760811"/>
            <a:ext cx="6176262" cy="6784428"/>
            <a:chOff x="0" y="0"/>
            <a:chExt cx="5803900" cy="6375400"/>
          </a:xfrm>
        </p:grpSpPr>
        <p:sp>
          <p:nvSpPr>
            <p:cNvPr name="Freeform 8" id="8"/>
            <p:cNvSpPr/>
            <p:nvPr/>
          </p:nvSpPr>
          <p:spPr>
            <a:xfrm flipH="false" flipV="false" rot="0">
              <a:off x="12700" y="12700"/>
              <a:ext cx="5778500" cy="6350000"/>
            </a:xfrm>
            <a:custGeom>
              <a:avLst/>
              <a:gdLst/>
              <a:ahLst/>
              <a:cxnLst/>
              <a:rect r="r" b="b" t="t" l="l"/>
              <a:pathLst>
                <a:path h="6350000" w="5778500">
                  <a:moveTo>
                    <a:pt x="2889250" y="0"/>
                  </a:moveTo>
                  <a:cubicBezTo>
                    <a:pt x="1258570" y="0"/>
                    <a:pt x="0" y="1144270"/>
                    <a:pt x="0" y="2917190"/>
                  </a:cubicBezTo>
                  <a:cubicBezTo>
                    <a:pt x="0" y="4175760"/>
                    <a:pt x="0" y="6350000"/>
                    <a:pt x="0" y="6350000"/>
                  </a:cubicBezTo>
                  <a:lnTo>
                    <a:pt x="2889250" y="6350000"/>
                  </a:lnTo>
                  <a:lnTo>
                    <a:pt x="5778500" y="6350000"/>
                  </a:lnTo>
                  <a:cubicBezTo>
                    <a:pt x="5778500" y="6350000"/>
                    <a:pt x="5778500" y="4175760"/>
                    <a:pt x="5778500" y="2917190"/>
                  </a:cubicBezTo>
                  <a:cubicBezTo>
                    <a:pt x="5778500" y="1144270"/>
                    <a:pt x="4519930" y="0"/>
                    <a:pt x="2889250" y="0"/>
                  </a:cubicBezTo>
                  <a:close/>
                </a:path>
              </a:pathLst>
            </a:custGeom>
            <a:blipFill>
              <a:blip r:embed="rId4"/>
              <a:stretch>
                <a:fillRect l="-48791" t="0" r="-46324" b="0"/>
              </a:stretch>
            </a:blipFill>
          </p:spPr>
        </p:sp>
        <p:sp>
          <p:nvSpPr>
            <p:cNvPr name="Freeform 9" id="9"/>
            <p:cNvSpPr/>
            <p:nvPr/>
          </p:nvSpPr>
          <p:spPr>
            <a:xfrm flipH="false" flipV="false" rot="0">
              <a:off x="0" y="0"/>
              <a:ext cx="5803900" cy="6375400"/>
            </a:xfrm>
            <a:custGeom>
              <a:avLst/>
              <a:gdLst/>
              <a:ahLst/>
              <a:cxnLst/>
              <a:rect r="r" b="b" t="t" l="l"/>
              <a:pathLst>
                <a:path h="6375400" w="5803900">
                  <a:moveTo>
                    <a:pt x="5803900" y="6375400"/>
                  </a:moveTo>
                  <a:lnTo>
                    <a:pt x="0" y="6375400"/>
                  </a:lnTo>
                  <a:lnTo>
                    <a:pt x="0" y="2929890"/>
                  </a:lnTo>
                  <a:cubicBezTo>
                    <a:pt x="0" y="2495550"/>
                    <a:pt x="74930" y="2089150"/>
                    <a:pt x="223520" y="1720850"/>
                  </a:cubicBezTo>
                  <a:cubicBezTo>
                    <a:pt x="365760" y="1367790"/>
                    <a:pt x="571500" y="1056640"/>
                    <a:pt x="836930" y="797560"/>
                  </a:cubicBezTo>
                  <a:cubicBezTo>
                    <a:pt x="1361440" y="283210"/>
                    <a:pt x="2095500" y="0"/>
                    <a:pt x="2901950" y="0"/>
                  </a:cubicBezTo>
                  <a:cubicBezTo>
                    <a:pt x="3708400" y="0"/>
                    <a:pt x="4441190" y="283210"/>
                    <a:pt x="4966970" y="797560"/>
                  </a:cubicBezTo>
                  <a:cubicBezTo>
                    <a:pt x="5232400" y="1056640"/>
                    <a:pt x="5438140" y="1367790"/>
                    <a:pt x="5580380" y="1722120"/>
                  </a:cubicBezTo>
                  <a:cubicBezTo>
                    <a:pt x="5728970" y="2090420"/>
                    <a:pt x="5803900" y="2496820"/>
                    <a:pt x="5803900" y="2931160"/>
                  </a:cubicBezTo>
                  <a:lnTo>
                    <a:pt x="5803900" y="6375400"/>
                  </a:lnTo>
                  <a:close/>
                  <a:moveTo>
                    <a:pt x="25400" y="6350000"/>
                  </a:moveTo>
                  <a:lnTo>
                    <a:pt x="5778500" y="6350000"/>
                  </a:lnTo>
                  <a:lnTo>
                    <a:pt x="5778500" y="2929890"/>
                  </a:lnTo>
                  <a:cubicBezTo>
                    <a:pt x="5778500" y="2499360"/>
                    <a:pt x="5703570" y="2095500"/>
                    <a:pt x="5557520" y="1731010"/>
                  </a:cubicBezTo>
                  <a:cubicBezTo>
                    <a:pt x="5416550" y="1380490"/>
                    <a:pt x="5212080" y="1073150"/>
                    <a:pt x="4949190" y="815340"/>
                  </a:cubicBezTo>
                  <a:cubicBezTo>
                    <a:pt x="4428490" y="306070"/>
                    <a:pt x="3700780" y="25400"/>
                    <a:pt x="2901950" y="25400"/>
                  </a:cubicBezTo>
                  <a:cubicBezTo>
                    <a:pt x="2103120" y="25400"/>
                    <a:pt x="1375410" y="306070"/>
                    <a:pt x="854710" y="815340"/>
                  </a:cubicBezTo>
                  <a:cubicBezTo>
                    <a:pt x="591820" y="1071880"/>
                    <a:pt x="387350" y="1380490"/>
                    <a:pt x="246380" y="1731010"/>
                  </a:cubicBezTo>
                  <a:cubicBezTo>
                    <a:pt x="100330" y="2095500"/>
                    <a:pt x="25400" y="2499360"/>
                    <a:pt x="25400" y="2929890"/>
                  </a:cubicBezTo>
                  <a:lnTo>
                    <a:pt x="25400" y="6350000"/>
                  </a:lnTo>
                  <a:close/>
                </a:path>
              </a:pathLst>
            </a:custGeom>
            <a:solidFill>
              <a:srgbClr val="FFFFFF"/>
            </a:solidFill>
          </p:spPr>
        </p:sp>
      </p:grpSp>
      <p:sp>
        <p:nvSpPr>
          <p:cNvPr name="AutoShape 10" id="10"/>
          <p:cNvSpPr/>
          <p:nvPr/>
        </p:nvSpPr>
        <p:spPr>
          <a:xfrm>
            <a:off x="1028700" y="1047750"/>
            <a:ext cx="12332919" cy="0"/>
          </a:xfrm>
          <a:prstGeom prst="line">
            <a:avLst/>
          </a:prstGeom>
          <a:ln cap="flat" w="19050">
            <a:solidFill>
              <a:srgbClr val="48276D"/>
            </a:solidFill>
            <a:prstDash val="solid"/>
            <a:headEnd type="none" len="sm" w="sm"/>
            <a:tailEnd type="none" len="sm" w="sm"/>
          </a:ln>
        </p:spPr>
      </p:sp>
      <p:sp>
        <p:nvSpPr>
          <p:cNvPr name="Freeform 11" id="11"/>
          <p:cNvSpPr/>
          <p:nvPr/>
        </p:nvSpPr>
        <p:spPr>
          <a:xfrm flipH="false" flipV="false" rot="0">
            <a:off x="10170313" y="729247"/>
            <a:ext cx="561540" cy="140385"/>
          </a:xfrm>
          <a:custGeom>
            <a:avLst/>
            <a:gdLst/>
            <a:ahLst/>
            <a:cxnLst/>
            <a:rect r="r" b="b" t="t" l="l"/>
            <a:pathLst>
              <a:path h="140385" w="561540">
                <a:moveTo>
                  <a:pt x="0" y="0"/>
                </a:moveTo>
                <a:lnTo>
                  <a:pt x="561540" y="0"/>
                </a:lnTo>
                <a:lnTo>
                  <a:pt x="561540" y="140385"/>
                </a:lnTo>
                <a:lnTo>
                  <a:pt x="0" y="1403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2" id="12"/>
          <p:cNvGrpSpPr/>
          <p:nvPr/>
        </p:nvGrpSpPr>
        <p:grpSpPr>
          <a:xfrm rot="0">
            <a:off x="1028700" y="7569219"/>
            <a:ext cx="2450613" cy="710489"/>
            <a:chOff x="0" y="0"/>
            <a:chExt cx="645429" cy="187125"/>
          </a:xfrm>
        </p:grpSpPr>
        <p:sp>
          <p:nvSpPr>
            <p:cNvPr name="Freeform 13" id="13"/>
            <p:cNvSpPr/>
            <p:nvPr/>
          </p:nvSpPr>
          <p:spPr>
            <a:xfrm flipH="false" flipV="false" rot="0">
              <a:off x="0" y="0"/>
              <a:ext cx="645429" cy="187125"/>
            </a:xfrm>
            <a:custGeom>
              <a:avLst/>
              <a:gdLst/>
              <a:ahLst/>
              <a:cxnLst/>
              <a:rect r="r" b="b" t="t" l="l"/>
              <a:pathLst>
                <a:path h="187125" w="645429">
                  <a:moveTo>
                    <a:pt x="69502" y="0"/>
                  </a:moveTo>
                  <a:lnTo>
                    <a:pt x="575927" y="0"/>
                  </a:lnTo>
                  <a:cubicBezTo>
                    <a:pt x="594360" y="0"/>
                    <a:pt x="612038" y="7322"/>
                    <a:pt x="625072" y="20357"/>
                  </a:cubicBezTo>
                  <a:cubicBezTo>
                    <a:pt x="638107" y="33391"/>
                    <a:pt x="645429" y="51069"/>
                    <a:pt x="645429" y="69502"/>
                  </a:cubicBezTo>
                  <a:lnTo>
                    <a:pt x="645429" y="117623"/>
                  </a:lnTo>
                  <a:cubicBezTo>
                    <a:pt x="645429" y="156008"/>
                    <a:pt x="614312" y="187125"/>
                    <a:pt x="575927" y="187125"/>
                  </a:cubicBezTo>
                  <a:lnTo>
                    <a:pt x="69502" y="187125"/>
                  </a:lnTo>
                  <a:cubicBezTo>
                    <a:pt x="51069" y="187125"/>
                    <a:pt x="33391" y="179802"/>
                    <a:pt x="20357" y="166768"/>
                  </a:cubicBezTo>
                  <a:cubicBezTo>
                    <a:pt x="7322" y="153734"/>
                    <a:pt x="0" y="136056"/>
                    <a:pt x="0" y="117623"/>
                  </a:cubicBezTo>
                  <a:lnTo>
                    <a:pt x="0" y="69502"/>
                  </a:lnTo>
                  <a:cubicBezTo>
                    <a:pt x="0" y="31117"/>
                    <a:pt x="31117" y="0"/>
                    <a:pt x="69502" y="0"/>
                  </a:cubicBezTo>
                  <a:close/>
                </a:path>
              </a:pathLst>
            </a:custGeom>
            <a:solidFill>
              <a:srgbClr val="48276D"/>
            </a:solidFill>
            <a:ln cap="rnd">
              <a:noFill/>
              <a:prstDash val="solid"/>
              <a:round/>
            </a:ln>
          </p:spPr>
        </p:sp>
        <p:sp>
          <p:nvSpPr>
            <p:cNvPr name="TextBox 14" id="14"/>
            <p:cNvSpPr txBox="true"/>
            <p:nvPr/>
          </p:nvSpPr>
          <p:spPr>
            <a:xfrm>
              <a:off x="0" y="-47625"/>
              <a:ext cx="645429" cy="234750"/>
            </a:xfrm>
            <a:prstGeom prst="rect">
              <a:avLst/>
            </a:prstGeom>
          </p:spPr>
          <p:txBody>
            <a:bodyPr anchor="ctr" rtlCol="false" tIns="50800" lIns="50800" bIns="50800" rIns="50800"/>
            <a:lstStyle/>
            <a:p>
              <a:pPr algn="ctr">
                <a:lnSpc>
                  <a:spcPts val="2939"/>
                </a:lnSpc>
              </a:pPr>
            </a:p>
          </p:txBody>
        </p:sp>
      </p:grpSp>
      <p:sp>
        <p:nvSpPr>
          <p:cNvPr name="Freeform 15" id="15"/>
          <p:cNvSpPr/>
          <p:nvPr/>
        </p:nvSpPr>
        <p:spPr>
          <a:xfrm flipH="false" flipV="false" rot="0">
            <a:off x="2858198" y="7726747"/>
            <a:ext cx="395433" cy="395433"/>
          </a:xfrm>
          <a:custGeom>
            <a:avLst/>
            <a:gdLst/>
            <a:ahLst/>
            <a:cxnLst/>
            <a:rect r="r" b="b" t="t" l="l"/>
            <a:pathLst>
              <a:path h="395433" w="395433">
                <a:moveTo>
                  <a:pt x="0" y="0"/>
                </a:moveTo>
                <a:lnTo>
                  <a:pt x="395433" y="0"/>
                </a:lnTo>
                <a:lnTo>
                  <a:pt x="395433" y="395433"/>
                </a:lnTo>
                <a:lnTo>
                  <a:pt x="0" y="39543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6" id="16"/>
          <p:cNvSpPr/>
          <p:nvPr/>
        </p:nvSpPr>
        <p:spPr>
          <a:xfrm flipH="false" flipV="false" rot="5400000">
            <a:off x="9458441" y="1452590"/>
            <a:ext cx="517669" cy="1467617"/>
          </a:xfrm>
          <a:custGeom>
            <a:avLst/>
            <a:gdLst/>
            <a:ahLst/>
            <a:cxnLst/>
            <a:rect r="r" b="b" t="t" l="l"/>
            <a:pathLst>
              <a:path h="1467617" w="517669">
                <a:moveTo>
                  <a:pt x="0" y="0"/>
                </a:moveTo>
                <a:lnTo>
                  <a:pt x="517668" y="0"/>
                </a:lnTo>
                <a:lnTo>
                  <a:pt x="517668" y="1467617"/>
                </a:lnTo>
                <a:lnTo>
                  <a:pt x="0" y="146761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5400000">
            <a:off x="5891575" y="7287647"/>
            <a:ext cx="585966" cy="1661243"/>
          </a:xfrm>
          <a:custGeom>
            <a:avLst/>
            <a:gdLst/>
            <a:ahLst/>
            <a:cxnLst/>
            <a:rect r="r" b="b" t="t" l="l"/>
            <a:pathLst>
              <a:path h="1661243" w="585966">
                <a:moveTo>
                  <a:pt x="0" y="0"/>
                </a:moveTo>
                <a:lnTo>
                  <a:pt x="585965" y="0"/>
                </a:lnTo>
                <a:lnTo>
                  <a:pt x="585965" y="1661242"/>
                </a:lnTo>
                <a:lnTo>
                  <a:pt x="0" y="16612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13964065" y="624811"/>
            <a:ext cx="562446" cy="375305"/>
          </a:xfrm>
          <a:custGeom>
            <a:avLst/>
            <a:gdLst/>
            <a:ahLst/>
            <a:cxnLst/>
            <a:rect r="r" b="b" t="t" l="l"/>
            <a:pathLst>
              <a:path h="375305" w="562446">
                <a:moveTo>
                  <a:pt x="0" y="0"/>
                </a:moveTo>
                <a:lnTo>
                  <a:pt x="562445" y="0"/>
                </a:lnTo>
                <a:lnTo>
                  <a:pt x="562445" y="375304"/>
                </a:lnTo>
                <a:lnTo>
                  <a:pt x="0" y="375304"/>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638537" y="6153168"/>
            <a:ext cx="8650473" cy="596901"/>
          </a:xfrm>
          <a:prstGeom prst="rect">
            <a:avLst/>
          </a:prstGeom>
        </p:spPr>
        <p:txBody>
          <a:bodyPr anchor="t" rtlCol="false" tIns="0" lIns="0" bIns="0" rIns="0">
            <a:spAutoFit/>
          </a:bodyPr>
          <a:lstStyle/>
          <a:p>
            <a:pPr algn="l">
              <a:lnSpc>
                <a:spcPts val="4899"/>
              </a:lnSpc>
            </a:pPr>
            <a:r>
              <a:rPr lang="en-US" sz="3499" b="true">
                <a:solidFill>
                  <a:srgbClr val="69498D"/>
                </a:solidFill>
                <a:latin typeface="Roboto Bold"/>
                <a:ea typeface="Roboto Bold"/>
                <a:cs typeface="Roboto Bold"/>
                <a:sym typeface="Roboto Bold"/>
              </a:rPr>
              <a:t>Nhóm 9</a:t>
            </a:r>
          </a:p>
        </p:txBody>
      </p:sp>
      <p:sp>
        <p:nvSpPr>
          <p:cNvPr name="TextBox 20" id="20"/>
          <p:cNvSpPr txBox="true"/>
          <p:nvPr/>
        </p:nvSpPr>
        <p:spPr>
          <a:xfrm rot="0">
            <a:off x="1306274" y="7717770"/>
            <a:ext cx="1542690" cy="365760"/>
          </a:xfrm>
          <a:prstGeom prst="rect">
            <a:avLst/>
          </a:prstGeom>
        </p:spPr>
        <p:txBody>
          <a:bodyPr anchor="t" rtlCol="false" tIns="0" lIns="0" bIns="0" rIns="0">
            <a:spAutoFit/>
          </a:bodyPr>
          <a:lstStyle/>
          <a:p>
            <a:pPr algn="l">
              <a:lnSpc>
                <a:spcPts val="2939"/>
              </a:lnSpc>
            </a:pPr>
            <a:r>
              <a:rPr lang="en-US" sz="2099">
                <a:solidFill>
                  <a:srgbClr val="FFFFFF"/>
                </a:solidFill>
                <a:latin typeface="Roboto"/>
                <a:ea typeface="Roboto"/>
                <a:cs typeface="Roboto"/>
                <a:sym typeface="Roboto"/>
              </a:rPr>
              <a:t>Read More</a:t>
            </a:r>
          </a:p>
        </p:txBody>
      </p:sp>
      <p:sp>
        <p:nvSpPr>
          <p:cNvPr name="TextBox 21" id="21"/>
          <p:cNvSpPr txBox="true"/>
          <p:nvPr/>
        </p:nvSpPr>
        <p:spPr>
          <a:xfrm rot="0">
            <a:off x="638537" y="2883383"/>
            <a:ext cx="9812546" cy="3160523"/>
          </a:xfrm>
          <a:prstGeom prst="rect">
            <a:avLst/>
          </a:prstGeom>
        </p:spPr>
        <p:txBody>
          <a:bodyPr anchor="t" rtlCol="false" tIns="0" lIns="0" bIns="0" rIns="0">
            <a:spAutoFit/>
          </a:bodyPr>
          <a:lstStyle/>
          <a:p>
            <a:pPr algn="l">
              <a:lnSpc>
                <a:spcPts val="8253"/>
              </a:lnSpc>
            </a:pPr>
            <a:r>
              <a:rPr lang="en-US" sz="7641" b="true">
                <a:solidFill>
                  <a:srgbClr val="48276D"/>
                </a:solidFill>
                <a:latin typeface="Montserrat Heavy"/>
                <a:ea typeface="Montserrat Heavy"/>
                <a:cs typeface="Montserrat Heavy"/>
                <a:sym typeface="Montserrat Heavy"/>
              </a:rPr>
              <a:t>BÀI 2: MỤC TIÊU HỌC TẬP </a:t>
            </a:r>
          </a:p>
          <a:p>
            <a:pPr algn="l">
              <a:lnSpc>
                <a:spcPts val="8253"/>
              </a:lnSpc>
            </a:pPr>
            <a:r>
              <a:rPr lang="en-US" sz="7641" b="true">
                <a:solidFill>
                  <a:srgbClr val="48276D"/>
                </a:solidFill>
                <a:latin typeface="Montserrat Heavy"/>
                <a:ea typeface="Montserrat Heavy"/>
                <a:cs typeface="Montserrat Heavy"/>
                <a:sym typeface="Montserrat Heavy"/>
              </a:rPr>
              <a:t>(BLOOM + SMART)</a:t>
            </a:r>
          </a:p>
        </p:txBody>
      </p:sp>
      <p:sp>
        <p:nvSpPr>
          <p:cNvPr name="TextBox 22" id="22"/>
          <p:cNvSpPr txBox="true"/>
          <p:nvPr/>
        </p:nvSpPr>
        <p:spPr>
          <a:xfrm rot="0">
            <a:off x="14526510" y="634355"/>
            <a:ext cx="3378212" cy="365760"/>
          </a:xfrm>
          <a:prstGeom prst="rect">
            <a:avLst/>
          </a:prstGeom>
        </p:spPr>
        <p:txBody>
          <a:bodyPr anchor="t" rtlCol="false" tIns="0" lIns="0" bIns="0" rIns="0">
            <a:spAutoFit/>
          </a:bodyPr>
          <a:lstStyle/>
          <a:p>
            <a:pPr algn="ctr">
              <a:lnSpc>
                <a:spcPts val="2939"/>
              </a:lnSpc>
            </a:pPr>
            <a:r>
              <a:rPr lang="en-US" sz="2099">
                <a:solidFill>
                  <a:srgbClr val="FFFFFF"/>
                </a:solidFill>
                <a:latin typeface="Roboto"/>
                <a:ea typeface="Roboto"/>
                <a:cs typeface="Roboto"/>
                <a:sym typeface="Roboto"/>
              </a:rPr>
              <a:t>Đại học Bách Khoa Hà Nội</a:t>
            </a:r>
          </a:p>
        </p:txBody>
      </p:sp>
      <p:sp>
        <p:nvSpPr>
          <p:cNvPr name="TextBox 23" id="23"/>
          <p:cNvSpPr txBox="true"/>
          <p:nvPr/>
        </p:nvSpPr>
        <p:spPr>
          <a:xfrm rot="0">
            <a:off x="1482439" y="9051607"/>
            <a:ext cx="2415610" cy="365760"/>
          </a:xfrm>
          <a:prstGeom prst="rect">
            <a:avLst/>
          </a:prstGeom>
        </p:spPr>
        <p:txBody>
          <a:bodyPr anchor="t" rtlCol="false" tIns="0" lIns="0" bIns="0" rIns="0">
            <a:spAutoFit/>
          </a:bodyPr>
          <a:lstStyle/>
          <a:p>
            <a:pPr algn="l">
              <a:lnSpc>
                <a:spcPts val="2939"/>
              </a:lnSpc>
            </a:pPr>
            <a:r>
              <a:rPr lang="en-US" sz="2099">
                <a:solidFill>
                  <a:srgbClr val="69498D"/>
                </a:solidFill>
                <a:latin typeface="Roboto"/>
                <a:ea typeface="Roboto"/>
                <a:cs typeface="Roboto"/>
                <a:sym typeface="Roboto"/>
              </a:rPr>
              <a:t>E-Learning</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3187628" y="9258300"/>
            <a:ext cx="10357754" cy="0"/>
          </a:xfrm>
          <a:prstGeom prst="line">
            <a:avLst/>
          </a:prstGeom>
          <a:ln cap="flat" w="19050">
            <a:solidFill>
              <a:srgbClr val="48276D"/>
            </a:solidFill>
            <a:prstDash val="solid"/>
            <a:headEnd type="none" len="sm" w="sm"/>
            <a:tailEnd type="none" len="sm" w="sm"/>
          </a:ln>
        </p:spPr>
      </p:sp>
      <p:grpSp>
        <p:nvGrpSpPr>
          <p:cNvPr name="Group 3" id="3"/>
          <p:cNvGrpSpPr/>
          <p:nvPr/>
        </p:nvGrpSpPr>
        <p:grpSpPr>
          <a:xfrm rot="0">
            <a:off x="10451083" y="4287338"/>
            <a:ext cx="4724126" cy="5999662"/>
            <a:chOff x="0" y="0"/>
            <a:chExt cx="1244214" cy="1580158"/>
          </a:xfrm>
        </p:grpSpPr>
        <p:sp>
          <p:nvSpPr>
            <p:cNvPr name="Freeform 4" id="4"/>
            <p:cNvSpPr/>
            <p:nvPr/>
          </p:nvSpPr>
          <p:spPr>
            <a:xfrm flipH="false" flipV="false" rot="0">
              <a:off x="0" y="0"/>
              <a:ext cx="1244214" cy="1580158"/>
            </a:xfrm>
            <a:custGeom>
              <a:avLst/>
              <a:gdLst/>
              <a:ahLst/>
              <a:cxnLst/>
              <a:rect r="r" b="b" t="t" l="l"/>
              <a:pathLst>
                <a:path h="1580158" w="1244214">
                  <a:moveTo>
                    <a:pt x="0" y="0"/>
                  </a:moveTo>
                  <a:lnTo>
                    <a:pt x="1244214" y="0"/>
                  </a:lnTo>
                  <a:lnTo>
                    <a:pt x="1244214" y="1580158"/>
                  </a:lnTo>
                  <a:lnTo>
                    <a:pt x="0" y="1580158"/>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5" id="5"/>
            <p:cNvSpPr txBox="true"/>
            <p:nvPr/>
          </p:nvSpPr>
          <p:spPr>
            <a:xfrm>
              <a:off x="0" y="-38100"/>
              <a:ext cx="1244214" cy="1618258"/>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AutoShape 7" id="7"/>
          <p:cNvSpPr/>
          <p:nvPr/>
        </p:nvSpPr>
        <p:spPr>
          <a:xfrm flipV="true">
            <a:off x="1028700" y="1028700"/>
            <a:ext cx="16214489" cy="19050"/>
          </a:xfrm>
          <a:prstGeom prst="line">
            <a:avLst/>
          </a:prstGeom>
          <a:ln cap="flat" w="19050">
            <a:solidFill>
              <a:srgbClr val="48276D"/>
            </a:solidFill>
            <a:prstDash val="solid"/>
            <a:headEnd type="none" len="sm" w="sm"/>
            <a:tailEnd type="none" len="sm" w="sm"/>
          </a:ln>
        </p:spPr>
      </p:sp>
      <p:sp>
        <p:nvSpPr>
          <p:cNvPr name="Freeform 8" id="8"/>
          <p:cNvSpPr/>
          <p:nvPr/>
        </p:nvSpPr>
        <p:spPr>
          <a:xfrm flipH="false" flipV="false" rot="0">
            <a:off x="10170313" y="729247"/>
            <a:ext cx="561540" cy="140385"/>
          </a:xfrm>
          <a:custGeom>
            <a:avLst/>
            <a:gdLst/>
            <a:ahLst/>
            <a:cxnLst/>
            <a:rect r="r" b="b" t="t" l="l"/>
            <a:pathLst>
              <a:path h="140385" w="561540">
                <a:moveTo>
                  <a:pt x="0" y="0"/>
                </a:moveTo>
                <a:lnTo>
                  <a:pt x="561540" y="0"/>
                </a:lnTo>
                <a:lnTo>
                  <a:pt x="561540" y="140385"/>
                </a:lnTo>
                <a:lnTo>
                  <a:pt x="0" y="14038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9" id="9"/>
          <p:cNvSpPr/>
          <p:nvPr/>
        </p:nvSpPr>
        <p:spPr>
          <a:xfrm flipH="false" flipV="false" rot="0">
            <a:off x="16696854" y="583203"/>
            <a:ext cx="562446" cy="375305"/>
          </a:xfrm>
          <a:custGeom>
            <a:avLst/>
            <a:gdLst/>
            <a:ahLst/>
            <a:cxnLst/>
            <a:rect r="r" b="b" t="t" l="l"/>
            <a:pathLst>
              <a:path h="375305" w="562446">
                <a:moveTo>
                  <a:pt x="0" y="0"/>
                </a:moveTo>
                <a:lnTo>
                  <a:pt x="562446" y="0"/>
                </a:lnTo>
                <a:lnTo>
                  <a:pt x="562446" y="375304"/>
                </a:lnTo>
                <a:lnTo>
                  <a:pt x="0" y="37530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0" id="10"/>
          <p:cNvGrpSpPr/>
          <p:nvPr/>
        </p:nvGrpSpPr>
        <p:grpSpPr>
          <a:xfrm rot="0">
            <a:off x="11547757" y="2515553"/>
            <a:ext cx="5149097" cy="5556067"/>
            <a:chOff x="0" y="0"/>
            <a:chExt cx="685800" cy="740004"/>
          </a:xfrm>
        </p:grpSpPr>
        <p:sp>
          <p:nvSpPr>
            <p:cNvPr name="Freeform 11" id="11"/>
            <p:cNvSpPr/>
            <p:nvPr/>
          </p:nvSpPr>
          <p:spPr>
            <a:xfrm flipH="false" flipV="false" rot="0">
              <a:off x="0" y="0"/>
              <a:ext cx="685800" cy="740004"/>
            </a:xfrm>
            <a:custGeom>
              <a:avLst/>
              <a:gdLst/>
              <a:ahLst/>
              <a:cxnLst/>
              <a:rect r="r" b="b" t="t" l="l"/>
              <a:pathLst>
                <a:path h="740004" w="685800">
                  <a:moveTo>
                    <a:pt x="0" y="0"/>
                  </a:moveTo>
                  <a:lnTo>
                    <a:pt x="685800" y="0"/>
                  </a:lnTo>
                  <a:lnTo>
                    <a:pt x="685800" y="740004"/>
                  </a:lnTo>
                  <a:lnTo>
                    <a:pt x="0" y="740004"/>
                  </a:lnTo>
                  <a:close/>
                </a:path>
              </a:pathLst>
            </a:custGeom>
            <a:blipFill>
              <a:blip r:embed="rId8"/>
              <a:stretch>
                <a:fillRect l="-42394" t="0" r="-49879" b="0"/>
              </a:stretch>
            </a:blipFill>
          </p:spPr>
        </p:sp>
      </p:grpSp>
      <p:grpSp>
        <p:nvGrpSpPr>
          <p:cNvPr name="Group 12" id="12"/>
          <p:cNvGrpSpPr/>
          <p:nvPr/>
        </p:nvGrpSpPr>
        <p:grpSpPr>
          <a:xfrm rot="0">
            <a:off x="17243189" y="2515553"/>
            <a:ext cx="1044811" cy="5724034"/>
            <a:chOff x="0" y="0"/>
            <a:chExt cx="275176" cy="1507565"/>
          </a:xfrm>
        </p:grpSpPr>
        <p:sp>
          <p:nvSpPr>
            <p:cNvPr name="Freeform 13" id="13"/>
            <p:cNvSpPr/>
            <p:nvPr/>
          </p:nvSpPr>
          <p:spPr>
            <a:xfrm flipH="false" flipV="false" rot="0">
              <a:off x="0" y="0"/>
              <a:ext cx="275176" cy="1507565"/>
            </a:xfrm>
            <a:custGeom>
              <a:avLst/>
              <a:gdLst/>
              <a:ahLst/>
              <a:cxnLst/>
              <a:rect r="r" b="b" t="t" l="l"/>
              <a:pathLst>
                <a:path h="1507565" w="275176">
                  <a:moveTo>
                    <a:pt x="0" y="0"/>
                  </a:moveTo>
                  <a:lnTo>
                    <a:pt x="275176" y="0"/>
                  </a:lnTo>
                  <a:lnTo>
                    <a:pt x="275176" y="1507565"/>
                  </a:lnTo>
                  <a:lnTo>
                    <a:pt x="0" y="15075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14" id="14"/>
            <p:cNvSpPr txBox="true"/>
            <p:nvPr/>
          </p:nvSpPr>
          <p:spPr>
            <a:xfrm>
              <a:off x="0" y="-38100"/>
              <a:ext cx="275176" cy="1545665"/>
            </a:xfrm>
            <a:prstGeom prst="rect">
              <a:avLst/>
            </a:prstGeom>
          </p:spPr>
          <p:txBody>
            <a:bodyPr anchor="ctr" rtlCol="false" tIns="50800" lIns="50800" bIns="50800" rIns="50800"/>
            <a:lstStyle/>
            <a:p>
              <a:pPr algn="ctr">
                <a:lnSpc>
                  <a:spcPts val="2659"/>
                </a:lnSpc>
                <a:spcBef>
                  <a:spcPct val="0"/>
                </a:spcBef>
              </a:pPr>
            </a:p>
          </p:txBody>
        </p:sp>
      </p:grpSp>
      <p:sp>
        <p:nvSpPr>
          <p:cNvPr name="Freeform 15" id="15"/>
          <p:cNvSpPr/>
          <p:nvPr/>
        </p:nvSpPr>
        <p:spPr>
          <a:xfrm flipH="false" flipV="false" rot="-5400000">
            <a:off x="17461217" y="3621819"/>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16" id="16"/>
          <p:cNvSpPr/>
          <p:nvPr/>
        </p:nvSpPr>
        <p:spPr>
          <a:xfrm flipV="true">
            <a:off x="17807273" y="4615939"/>
            <a:ext cx="0" cy="1044644"/>
          </a:xfrm>
          <a:prstGeom prst="line">
            <a:avLst/>
          </a:prstGeom>
          <a:ln cap="flat" w="19050">
            <a:solidFill>
              <a:srgbClr val="FFFFFF"/>
            </a:solidFill>
            <a:prstDash val="solid"/>
            <a:headEnd type="none" len="sm" w="sm"/>
            <a:tailEnd type="none" len="sm" w="sm"/>
          </a:ln>
        </p:spPr>
      </p:sp>
      <p:sp>
        <p:nvSpPr>
          <p:cNvPr name="Freeform 17" id="17"/>
          <p:cNvSpPr/>
          <p:nvPr/>
        </p:nvSpPr>
        <p:spPr>
          <a:xfrm flipH="false" flipV="false" rot="-5400000">
            <a:off x="17461217" y="6544683"/>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8" id="18"/>
          <p:cNvSpPr/>
          <p:nvPr/>
        </p:nvSpPr>
        <p:spPr>
          <a:xfrm flipH="false" flipV="false" rot="0">
            <a:off x="1923339" y="3849160"/>
            <a:ext cx="585516" cy="555508"/>
          </a:xfrm>
          <a:custGeom>
            <a:avLst/>
            <a:gdLst/>
            <a:ahLst/>
            <a:cxnLst/>
            <a:rect r="r" b="b" t="t" l="l"/>
            <a:pathLst>
              <a:path h="555508" w="585516">
                <a:moveTo>
                  <a:pt x="0" y="0"/>
                </a:moveTo>
                <a:lnTo>
                  <a:pt x="585516" y="0"/>
                </a:lnTo>
                <a:lnTo>
                  <a:pt x="585516" y="555508"/>
                </a:lnTo>
                <a:lnTo>
                  <a:pt x="0" y="555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9" id="19"/>
          <p:cNvSpPr/>
          <p:nvPr/>
        </p:nvSpPr>
        <p:spPr>
          <a:xfrm flipH="false" flipV="false" rot="0">
            <a:off x="1923339" y="4555943"/>
            <a:ext cx="585516" cy="555508"/>
          </a:xfrm>
          <a:custGeom>
            <a:avLst/>
            <a:gdLst/>
            <a:ahLst/>
            <a:cxnLst/>
            <a:rect r="r" b="b" t="t" l="l"/>
            <a:pathLst>
              <a:path h="555508" w="585516">
                <a:moveTo>
                  <a:pt x="0" y="0"/>
                </a:moveTo>
                <a:lnTo>
                  <a:pt x="585516" y="0"/>
                </a:lnTo>
                <a:lnTo>
                  <a:pt x="585516" y="555508"/>
                </a:lnTo>
                <a:lnTo>
                  <a:pt x="0" y="555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0" id="20"/>
          <p:cNvSpPr/>
          <p:nvPr/>
        </p:nvSpPr>
        <p:spPr>
          <a:xfrm flipH="false" flipV="false" rot="0">
            <a:off x="1923339" y="5263851"/>
            <a:ext cx="585516" cy="555508"/>
          </a:xfrm>
          <a:custGeom>
            <a:avLst/>
            <a:gdLst/>
            <a:ahLst/>
            <a:cxnLst/>
            <a:rect r="r" b="b" t="t" l="l"/>
            <a:pathLst>
              <a:path h="555508" w="585516">
                <a:moveTo>
                  <a:pt x="0" y="0"/>
                </a:moveTo>
                <a:lnTo>
                  <a:pt x="585516" y="0"/>
                </a:lnTo>
                <a:lnTo>
                  <a:pt x="585516" y="555508"/>
                </a:lnTo>
                <a:lnTo>
                  <a:pt x="0" y="555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1" id="21"/>
          <p:cNvSpPr/>
          <p:nvPr/>
        </p:nvSpPr>
        <p:spPr>
          <a:xfrm flipH="false" flipV="false" rot="0">
            <a:off x="1923339" y="6508257"/>
            <a:ext cx="585516" cy="555508"/>
          </a:xfrm>
          <a:custGeom>
            <a:avLst/>
            <a:gdLst/>
            <a:ahLst/>
            <a:cxnLst/>
            <a:rect r="r" b="b" t="t" l="l"/>
            <a:pathLst>
              <a:path h="555508" w="585516">
                <a:moveTo>
                  <a:pt x="0" y="0"/>
                </a:moveTo>
                <a:lnTo>
                  <a:pt x="585516" y="0"/>
                </a:lnTo>
                <a:lnTo>
                  <a:pt x="585516" y="555508"/>
                </a:lnTo>
                <a:lnTo>
                  <a:pt x="0" y="555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2" id="22"/>
          <p:cNvSpPr/>
          <p:nvPr/>
        </p:nvSpPr>
        <p:spPr>
          <a:xfrm flipH="false" flipV="false" rot="0">
            <a:off x="1923339" y="7684079"/>
            <a:ext cx="585516" cy="555508"/>
          </a:xfrm>
          <a:custGeom>
            <a:avLst/>
            <a:gdLst/>
            <a:ahLst/>
            <a:cxnLst/>
            <a:rect r="r" b="b" t="t" l="l"/>
            <a:pathLst>
              <a:path h="555508" w="585516">
                <a:moveTo>
                  <a:pt x="0" y="0"/>
                </a:moveTo>
                <a:lnTo>
                  <a:pt x="585516" y="0"/>
                </a:lnTo>
                <a:lnTo>
                  <a:pt x="585516" y="555508"/>
                </a:lnTo>
                <a:lnTo>
                  <a:pt x="0" y="55550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23" id="23"/>
          <p:cNvSpPr/>
          <p:nvPr/>
        </p:nvSpPr>
        <p:spPr>
          <a:xfrm flipH="false" flipV="false" rot="5400000">
            <a:off x="9437425" y="1781744"/>
            <a:ext cx="517669" cy="1467617"/>
          </a:xfrm>
          <a:custGeom>
            <a:avLst/>
            <a:gdLst/>
            <a:ahLst/>
            <a:cxnLst/>
            <a:rect r="r" b="b" t="t" l="l"/>
            <a:pathLst>
              <a:path h="1467617" w="517669">
                <a:moveTo>
                  <a:pt x="0" y="0"/>
                </a:moveTo>
                <a:lnTo>
                  <a:pt x="517669" y="0"/>
                </a:lnTo>
                <a:lnTo>
                  <a:pt x="517669" y="1467617"/>
                </a:lnTo>
                <a:lnTo>
                  <a:pt x="0" y="14676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4" id="24"/>
          <p:cNvSpPr txBox="true"/>
          <p:nvPr/>
        </p:nvSpPr>
        <p:spPr>
          <a:xfrm rot="0">
            <a:off x="1482439" y="9051607"/>
            <a:ext cx="2415610" cy="365760"/>
          </a:xfrm>
          <a:prstGeom prst="rect">
            <a:avLst/>
          </a:prstGeom>
        </p:spPr>
        <p:txBody>
          <a:bodyPr anchor="t" rtlCol="false" tIns="0" lIns="0" bIns="0" rIns="0">
            <a:spAutoFit/>
          </a:bodyPr>
          <a:lstStyle/>
          <a:p>
            <a:pPr algn="l">
              <a:lnSpc>
                <a:spcPts val="2939"/>
              </a:lnSpc>
            </a:pPr>
            <a:r>
              <a:rPr lang="en-US" sz="2099">
                <a:solidFill>
                  <a:srgbClr val="69498D"/>
                </a:solidFill>
                <a:latin typeface="Roboto"/>
                <a:ea typeface="Roboto"/>
                <a:cs typeface="Roboto"/>
                <a:sym typeface="Roboto"/>
              </a:rPr>
              <a:t>E-Learning</a:t>
            </a:r>
          </a:p>
        </p:txBody>
      </p:sp>
      <p:sp>
        <p:nvSpPr>
          <p:cNvPr name="TextBox 25" id="25"/>
          <p:cNvSpPr txBox="true"/>
          <p:nvPr/>
        </p:nvSpPr>
        <p:spPr>
          <a:xfrm rot="0">
            <a:off x="1028700" y="2127439"/>
            <a:ext cx="7933751" cy="985778"/>
          </a:xfrm>
          <a:prstGeom prst="rect">
            <a:avLst/>
          </a:prstGeom>
        </p:spPr>
        <p:txBody>
          <a:bodyPr anchor="t" rtlCol="false" tIns="0" lIns="0" bIns="0" rIns="0">
            <a:spAutoFit/>
          </a:bodyPr>
          <a:lstStyle/>
          <a:p>
            <a:pPr algn="l">
              <a:lnSpc>
                <a:spcPts val="7268"/>
              </a:lnSpc>
            </a:pPr>
            <a:r>
              <a:rPr lang="en-US" sz="7900" b="true">
                <a:solidFill>
                  <a:srgbClr val="48276D"/>
                </a:solidFill>
                <a:latin typeface="Montserrat Heavy"/>
                <a:ea typeface="Montserrat Heavy"/>
                <a:cs typeface="Montserrat Heavy"/>
                <a:sym typeface="Montserrat Heavy"/>
              </a:rPr>
              <a:t>OVERVIEW</a:t>
            </a:r>
          </a:p>
        </p:txBody>
      </p:sp>
      <p:sp>
        <p:nvSpPr>
          <p:cNvPr name="TextBox 26" id="26"/>
          <p:cNvSpPr txBox="true"/>
          <p:nvPr/>
        </p:nvSpPr>
        <p:spPr>
          <a:xfrm rot="0">
            <a:off x="2658559" y="3952661"/>
            <a:ext cx="6763824" cy="453966"/>
          </a:xfrm>
          <a:prstGeom prst="rect">
            <a:avLst/>
          </a:prstGeom>
        </p:spPr>
        <p:txBody>
          <a:bodyPr anchor="t" rtlCol="false" tIns="0" lIns="0" bIns="0" rIns="0">
            <a:spAutoFit/>
          </a:bodyPr>
          <a:lstStyle/>
          <a:p>
            <a:pPr algn="l">
              <a:lnSpc>
                <a:spcPts val="3463"/>
              </a:lnSpc>
            </a:pPr>
            <a:r>
              <a:rPr lang="en-US" sz="3177" spc="117" b="true">
                <a:solidFill>
                  <a:srgbClr val="48276D"/>
                </a:solidFill>
                <a:latin typeface="Montserrat Bold"/>
                <a:ea typeface="Montserrat Bold"/>
                <a:cs typeface="Montserrat Bold"/>
                <a:sym typeface="Montserrat Bold"/>
              </a:rPr>
              <a:t>1. Mục tiêu học tập là gì?</a:t>
            </a:r>
          </a:p>
        </p:txBody>
      </p:sp>
      <p:sp>
        <p:nvSpPr>
          <p:cNvPr name="TextBox 27" id="27"/>
          <p:cNvSpPr txBox="true"/>
          <p:nvPr/>
        </p:nvSpPr>
        <p:spPr>
          <a:xfrm rot="0">
            <a:off x="2658559" y="4681639"/>
            <a:ext cx="7037700" cy="453966"/>
          </a:xfrm>
          <a:prstGeom prst="rect">
            <a:avLst/>
          </a:prstGeom>
        </p:spPr>
        <p:txBody>
          <a:bodyPr anchor="t" rtlCol="false" tIns="0" lIns="0" bIns="0" rIns="0">
            <a:spAutoFit/>
          </a:bodyPr>
          <a:lstStyle/>
          <a:p>
            <a:pPr algn="l">
              <a:lnSpc>
                <a:spcPts val="3463"/>
              </a:lnSpc>
            </a:pPr>
            <a:r>
              <a:rPr lang="en-US" b="true" sz="3177" spc="117">
                <a:solidFill>
                  <a:srgbClr val="48276D"/>
                </a:solidFill>
                <a:latin typeface="Montserrat Bold"/>
                <a:ea typeface="Montserrat Bold"/>
                <a:cs typeface="Montserrat Bold"/>
                <a:sym typeface="Montserrat Bold"/>
              </a:rPr>
              <a:t>2. THANG ĐO BLOOM  </a:t>
            </a:r>
          </a:p>
        </p:txBody>
      </p:sp>
      <p:sp>
        <p:nvSpPr>
          <p:cNvPr name="TextBox 28" id="28"/>
          <p:cNvSpPr txBox="true"/>
          <p:nvPr/>
        </p:nvSpPr>
        <p:spPr>
          <a:xfrm rot="0">
            <a:off x="2658559" y="5409871"/>
            <a:ext cx="5725599" cy="892116"/>
          </a:xfrm>
          <a:prstGeom prst="rect">
            <a:avLst/>
          </a:prstGeom>
        </p:spPr>
        <p:txBody>
          <a:bodyPr anchor="t" rtlCol="false" tIns="0" lIns="0" bIns="0" rIns="0">
            <a:spAutoFit/>
          </a:bodyPr>
          <a:lstStyle/>
          <a:p>
            <a:pPr algn="l">
              <a:lnSpc>
                <a:spcPts val="3463"/>
              </a:lnSpc>
            </a:pPr>
            <a:r>
              <a:rPr lang="en-US" b="true" sz="3177" spc="117">
                <a:solidFill>
                  <a:srgbClr val="48276D"/>
                </a:solidFill>
                <a:latin typeface="Montserrat Bold"/>
                <a:ea typeface="Montserrat Bold"/>
                <a:cs typeface="Montserrat Bold"/>
                <a:sym typeface="Montserrat Bold"/>
              </a:rPr>
              <a:t>3. SMART CHO MỤC TIÊU HỌC TẬP</a:t>
            </a:r>
          </a:p>
        </p:txBody>
      </p:sp>
      <p:sp>
        <p:nvSpPr>
          <p:cNvPr name="TextBox 29" id="29"/>
          <p:cNvSpPr txBox="true"/>
          <p:nvPr/>
        </p:nvSpPr>
        <p:spPr>
          <a:xfrm rot="0">
            <a:off x="2690244" y="6574295"/>
            <a:ext cx="7217915" cy="892116"/>
          </a:xfrm>
          <a:prstGeom prst="rect">
            <a:avLst/>
          </a:prstGeom>
        </p:spPr>
        <p:txBody>
          <a:bodyPr anchor="t" rtlCol="false" tIns="0" lIns="0" bIns="0" rIns="0">
            <a:spAutoFit/>
          </a:bodyPr>
          <a:lstStyle/>
          <a:p>
            <a:pPr algn="l">
              <a:lnSpc>
                <a:spcPts val="3463"/>
              </a:lnSpc>
            </a:pPr>
            <a:r>
              <a:rPr lang="en-US" b="true" sz="3177" spc="117">
                <a:solidFill>
                  <a:srgbClr val="48276D"/>
                </a:solidFill>
                <a:latin typeface="Montserrat Bold"/>
                <a:ea typeface="Montserrat Bold"/>
                <a:cs typeface="Montserrat Bold"/>
                <a:sym typeface="Montserrat Bold"/>
              </a:rPr>
              <a:t>4. SO SÁNH MỤC TIÊU KÉM VS MỤC TIÊU TỐT</a:t>
            </a:r>
          </a:p>
        </p:txBody>
      </p:sp>
      <p:sp>
        <p:nvSpPr>
          <p:cNvPr name="TextBox 30" id="30"/>
          <p:cNvSpPr txBox="true"/>
          <p:nvPr/>
        </p:nvSpPr>
        <p:spPr>
          <a:xfrm rot="0">
            <a:off x="2690244" y="7738719"/>
            <a:ext cx="7760840" cy="892116"/>
          </a:xfrm>
          <a:prstGeom prst="rect">
            <a:avLst/>
          </a:prstGeom>
        </p:spPr>
        <p:txBody>
          <a:bodyPr anchor="t" rtlCol="false" tIns="0" lIns="0" bIns="0" rIns="0">
            <a:spAutoFit/>
          </a:bodyPr>
          <a:lstStyle/>
          <a:p>
            <a:pPr algn="l">
              <a:lnSpc>
                <a:spcPts val="3463"/>
              </a:lnSpc>
            </a:pPr>
            <a:r>
              <a:rPr lang="en-US" b="true" sz="3177" spc="117">
                <a:solidFill>
                  <a:srgbClr val="48276D"/>
                </a:solidFill>
                <a:latin typeface="Montserrat Bold"/>
                <a:ea typeface="Montserrat Bold"/>
                <a:cs typeface="Montserrat Bold"/>
                <a:sym typeface="Montserrat Bold"/>
              </a:rPr>
              <a:t>5. VÌ SAO VIDEO PHẢI DỰA TRÊN MỤC TIÊU HỌC TẬP?</a:t>
            </a:r>
          </a:p>
        </p:txBody>
      </p:sp>
      <p:sp>
        <p:nvSpPr>
          <p:cNvPr name="TextBox 31" id="31"/>
          <p:cNvSpPr txBox="true"/>
          <p:nvPr/>
        </p:nvSpPr>
        <p:spPr>
          <a:xfrm rot="0">
            <a:off x="13318642" y="592747"/>
            <a:ext cx="3378212" cy="365760"/>
          </a:xfrm>
          <a:prstGeom prst="rect">
            <a:avLst/>
          </a:prstGeom>
        </p:spPr>
        <p:txBody>
          <a:bodyPr anchor="t" rtlCol="false" tIns="0" lIns="0" bIns="0" rIns="0">
            <a:spAutoFit/>
          </a:bodyPr>
          <a:lstStyle/>
          <a:p>
            <a:pPr algn="ctr">
              <a:lnSpc>
                <a:spcPts val="2939"/>
              </a:lnSpc>
            </a:pPr>
            <a:r>
              <a:rPr lang="en-US" sz="2099">
                <a:solidFill>
                  <a:srgbClr val="48276D"/>
                </a:solidFill>
                <a:latin typeface="Roboto"/>
                <a:ea typeface="Roboto"/>
                <a:cs typeface="Roboto"/>
                <a:sym typeface="Roboto"/>
              </a:rPr>
              <a:t>Đại học Bách Khoa Hà Nội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4800446" y="9258300"/>
            <a:ext cx="12458854" cy="0"/>
          </a:xfrm>
          <a:prstGeom prst="line">
            <a:avLst/>
          </a:prstGeom>
          <a:ln cap="flat" w="19050">
            <a:solidFill>
              <a:srgbClr val="48276D"/>
            </a:solidFill>
            <a:prstDash val="solid"/>
            <a:headEnd type="none" len="sm" w="sm"/>
            <a:tailEnd type="none" len="sm" w="sm"/>
          </a:ln>
        </p:spPr>
      </p:sp>
      <p:sp>
        <p:nvSpPr>
          <p:cNvPr name="Freeform 3" id="3"/>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1028700" y="1047750"/>
            <a:ext cx="16230600" cy="0"/>
          </a:xfrm>
          <a:prstGeom prst="line">
            <a:avLst/>
          </a:prstGeom>
          <a:ln cap="flat" w="19050">
            <a:solidFill>
              <a:srgbClr val="48276D"/>
            </a:solidFill>
            <a:prstDash val="solid"/>
            <a:headEnd type="none" len="sm" w="sm"/>
            <a:tailEnd type="none" len="sm" w="sm"/>
          </a:ln>
        </p:spPr>
      </p:sp>
      <p:grpSp>
        <p:nvGrpSpPr>
          <p:cNvPr name="Group 5" id="5"/>
          <p:cNvGrpSpPr/>
          <p:nvPr/>
        </p:nvGrpSpPr>
        <p:grpSpPr>
          <a:xfrm rot="0">
            <a:off x="-1063201" y="4079407"/>
            <a:ext cx="6175345" cy="10675921"/>
            <a:chOff x="0" y="0"/>
            <a:chExt cx="1626428" cy="2811765"/>
          </a:xfrm>
        </p:grpSpPr>
        <p:sp>
          <p:nvSpPr>
            <p:cNvPr name="Freeform 6" id="6"/>
            <p:cNvSpPr/>
            <p:nvPr/>
          </p:nvSpPr>
          <p:spPr>
            <a:xfrm flipH="false" flipV="false" rot="0">
              <a:off x="0" y="0"/>
              <a:ext cx="1626428" cy="2811765"/>
            </a:xfrm>
            <a:custGeom>
              <a:avLst/>
              <a:gdLst/>
              <a:ahLst/>
              <a:cxnLst/>
              <a:rect r="r" b="b" t="t" l="l"/>
              <a:pathLst>
                <a:path h="2811765" w="1626428">
                  <a:moveTo>
                    <a:pt x="0" y="0"/>
                  </a:moveTo>
                  <a:lnTo>
                    <a:pt x="1626428" y="0"/>
                  </a:lnTo>
                  <a:lnTo>
                    <a:pt x="1626428" y="2811765"/>
                  </a:lnTo>
                  <a:lnTo>
                    <a:pt x="0" y="28117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7" id="7"/>
            <p:cNvSpPr txBox="true"/>
            <p:nvPr/>
          </p:nvSpPr>
          <p:spPr>
            <a:xfrm>
              <a:off x="0" y="-38100"/>
              <a:ext cx="1626428" cy="2849865"/>
            </a:xfrm>
            <a:prstGeom prst="rect">
              <a:avLst/>
            </a:prstGeom>
          </p:spPr>
          <p:txBody>
            <a:bodyPr anchor="ctr" rtlCol="false" tIns="50800" lIns="50800" bIns="50800" rIns="50800"/>
            <a:lstStyle/>
            <a:p>
              <a:pPr algn="ctr">
                <a:lnSpc>
                  <a:spcPts val="2659"/>
                </a:lnSpc>
                <a:spcBef>
                  <a:spcPct val="0"/>
                </a:spcBef>
              </a:pPr>
            </a:p>
          </p:txBody>
        </p:sp>
      </p:grpSp>
      <p:grpSp>
        <p:nvGrpSpPr>
          <p:cNvPr name="Group 8" id="8"/>
          <p:cNvGrpSpPr/>
          <p:nvPr/>
        </p:nvGrpSpPr>
        <p:grpSpPr>
          <a:xfrm rot="0">
            <a:off x="1488459" y="3252581"/>
            <a:ext cx="5149097" cy="5556067"/>
            <a:chOff x="0" y="0"/>
            <a:chExt cx="685800" cy="740004"/>
          </a:xfrm>
        </p:grpSpPr>
        <p:sp>
          <p:nvSpPr>
            <p:cNvPr name="Freeform 9" id="9"/>
            <p:cNvSpPr/>
            <p:nvPr/>
          </p:nvSpPr>
          <p:spPr>
            <a:xfrm flipH="false" flipV="false" rot="0">
              <a:off x="0" y="0"/>
              <a:ext cx="685800" cy="740004"/>
            </a:xfrm>
            <a:custGeom>
              <a:avLst/>
              <a:gdLst/>
              <a:ahLst/>
              <a:cxnLst/>
              <a:rect r="r" b="b" t="t" l="l"/>
              <a:pathLst>
                <a:path h="740004" w="685800">
                  <a:moveTo>
                    <a:pt x="0" y="0"/>
                  </a:moveTo>
                  <a:lnTo>
                    <a:pt x="685800" y="0"/>
                  </a:lnTo>
                  <a:lnTo>
                    <a:pt x="685800" y="740004"/>
                  </a:lnTo>
                  <a:lnTo>
                    <a:pt x="0" y="740004"/>
                  </a:lnTo>
                  <a:close/>
                </a:path>
              </a:pathLst>
            </a:custGeom>
            <a:blipFill>
              <a:blip r:embed="rId4"/>
              <a:stretch>
                <a:fillRect l="-30978" t="0" r="-30978" b="0"/>
              </a:stretch>
            </a:blipFill>
          </p:spPr>
        </p:sp>
      </p:grpSp>
      <p:sp>
        <p:nvSpPr>
          <p:cNvPr name="TextBox 10" id="10"/>
          <p:cNvSpPr txBox="true"/>
          <p:nvPr/>
        </p:nvSpPr>
        <p:spPr>
          <a:xfrm rot="0">
            <a:off x="4392857" y="1819707"/>
            <a:ext cx="9502287" cy="851417"/>
          </a:xfrm>
          <a:prstGeom prst="rect">
            <a:avLst/>
          </a:prstGeom>
        </p:spPr>
        <p:txBody>
          <a:bodyPr anchor="t" rtlCol="false" tIns="0" lIns="0" bIns="0" rIns="0">
            <a:spAutoFit/>
          </a:bodyPr>
          <a:lstStyle/>
          <a:p>
            <a:pPr algn="ctr">
              <a:lnSpc>
                <a:spcPts val="6256"/>
              </a:lnSpc>
            </a:pPr>
            <a:r>
              <a:rPr lang="en-US" b="true" sz="6800">
                <a:solidFill>
                  <a:srgbClr val="48276D"/>
                </a:solidFill>
                <a:latin typeface="Montserrat Heavy"/>
                <a:ea typeface="Montserrat Heavy"/>
                <a:cs typeface="Montserrat Heavy"/>
                <a:sym typeface="Montserrat Heavy"/>
              </a:rPr>
              <a:t>MỤC TIÊU HỌC TẬP</a:t>
            </a:r>
          </a:p>
        </p:txBody>
      </p:sp>
      <p:sp>
        <p:nvSpPr>
          <p:cNvPr name="TextBox 11" id="11"/>
          <p:cNvSpPr txBox="true"/>
          <p:nvPr/>
        </p:nvSpPr>
        <p:spPr>
          <a:xfrm rot="0">
            <a:off x="119176" y="9051607"/>
            <a:ext cx="2738567" cy="365760"/>
          </a:xfrm>
          <a:prstGeom prst="rect">
            <a:avLst/>
          </a:prstGeom>
        </p:spPr>
        <p:txBody>
          <a:bodyPr anchor="t" rtlCol="false" tIns="0" lIns="0" bIns="0" rIns="0">
            <a:spAutoFit/>
          </a:bodyPr>
          <a:lstStyle/>
          <a:p>
            <a:pPr algn="r">
              <a:lnSpc>
                <a:spcPts val="2939"/>
              </a:lnSpc>
            </a:pPr>
            <a:r>
              <a:rPr lang="en-US" sz="2099">
                <a:solidFill>
                  <a:srgbClr val="FFFFFF"/>
                </a:solidFill>
                <a:latin typeface="Roboto"/>
                <a:ea typeface="Roboto"/>
                <a:cs typeface="Roboto"/>
                <a:sym typeface="Roboto"/>
              </a:rPr>
              <a:t>E-Learning</a:t>
            </a:r>
          </a:p>
        </p:txBody>
      </p:sp>
      <p:sp>
        <p:nvSpPr>
          <p:cNvPr name="TextBox 12" id="12"/>
          <p:cNvSpPr txBox="true"/>
          <p:nvPr/>
        </p:nvSpPr>
        <p:spPr>
          <a:xfrm rot="0">
            <a:off x="8376830" y="6856059"/>
            <a:ext cx="7998297" cy="485648"/>
          </a:xfrm>
          <a:prstGeom prst="rect">
            <a:avLst/>
          </a:prstGeom>
        </p:spPr>
        <p:txBody>
          <a:bodyPr anchor="t" rtlCol="false" tIns="0" lIns="0" bIns="0" rIns="0">
            <a:spAutoFit/>
          </a:bodyPr>
          <a:lstStyle/>
          <a:p>
            <a:pPr algn="l">
              <a:lnSpc>
                <a:spcPts val="3706"/>
              </a:lnSpc>
            </a:pPr>
            <a:r>
              <a:rPr lang="en-US" b="true" sz="3400" spc="125">
                <a:solidFill>
                  <a:srgbClr val="48276D"/>
                </a:solidFill>
                <a:latin typeface="Montserrat Heavy"/>
                <a:ea typeface="Montserrat Heavy"/>
                <a:cs typeface="Montserrat Heavy"/>
                <a:sym typeface="Montserrat Heavy"/>
              </a:rPr>
              <a:t>VAI TRÒ</a:t>
            </a:r>
          </a:p>
        </p:txBody>
      </p:sp>
      <p:sp>
        <p:nvSpPr>
          <p:cNvPr name="Freeform 13" id="13"/>
          <p:cNvSpPr/>
          <p:nvPr/>
        </p:nvSpPr>
        <p:spPr>
          <a:xfrm flipH="false" flipV="false" rot="0">
            <a:off x="7665826" y="2915299"/>
            <a:ext cx="711003" cy="674565"/>
          </a:xfrm>
          <a:custGeom>
            <a:avLst/>
            <a:gdLst/>
            <a:ahLst/>
            <a:cxnLst/>
            <a:rect r="r" b="b" t="t" l="l"/>
            <a:pathLst>
              <a:path h="674565" w="711003">
                <a:moveTo>
                  <a:pt x="0" y="0"/>
                </a:moveTo>
                <a:lnTo>
                  <a:pt x="711004" y="0"/>
                </a:lnTo>
                <a:lnTo>
                  <a:pt x="711004" y="674564"/>
                </a:lnTo>
                <a:lnTo>
                  <a:pt x="0" y="674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4" id="14"/>
          <p:cNvSpPr/>
          <p:nvPr/>
        </p:nvSpPr>
        <p:spPr>
          <a:xfrm flipH="false" flipV="false" rot="0">
            <a:off x="7665826" y="6667143"/>
            <a:ext cx="711003" cy="674565"/>
          </a:xfrm>
          <a:custGeom>
            <a:avLst/>
            <a:gdLst/>
            <a:ahLst/>
            <a:cxnLst/>
            <a:rect r="r" b="b" t="t" l="l"/>
            <a:pathLst>
              <a:path h="674565" w="711003">
                <a:moveTo>
                  <a:pt x="0" y="0"/>
                </a:moveTo>
                <a:lnTo>
                  <a:pt x="711004" y="0"/>
                </a:lnTo>
                <a:lnTo>
                  <a:pt x="711004" y="674564"/>
                </a:lnTo>
                <a:lnTo>
                  <a:pt x="0" y="67456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5" id="15"/>
          <p:cNvSpPr txBox="true"/>
          <p:nvPr/>
        </p:nvSpPr>
        <p:spPr>
          <a:xfrm rot="0">
            <a:off x="8378117" y="3107203"/>
            <a:ext cx="7999585" cy="485648"/>
          </a:xfrm>
          <a:prstGeom prst="rect">
            <a:avLst/>
          </a:prstGeom>
        </p:spPr>
        <p:txBody>
          <a:bodyPr anchor="t" rtlCol="false" tIns="0" lIns="0" bIns="0" rIns="0">
            <a:spAutoFit/>
          </a:bodyPr>
          <a:lstStyle/>
          <a:p>
            <a:pPr algn="l">
              <a:lnSpc>
                <a:spcPts val="3706"/>
              </a:lnSpc>
            </a:pPr>
            <a:r>
              <a:rPr lang="en-US" b="true" sz="3400" spc="125">
                <a:solidFill>
                  <a:srgbClr val="48276D"/>
                </a:solidFill>
                <a:latin typeface="Montserrat Heavy"/>
                <a:ea typeface="Montserrat Heavy"/>
                <a:cs typeface="Montserrat Heavy"/>
                <a:sym typeface="Montserrat Heavy"/>
              </a:rPr>
              <a:t>ĐỊNH NGHĨA</a:t>
            </a:r>
          </a:p>
        </p:txBody>
      </p:sp>
      <p:sp>
        <p:nvSpPr>
          <p:cNvPr name="TextBox 16" id="16"/>
          <p:cNvSpPr txBox="true"/>
          <p:nvPr/>
        </p:nvSpPr>
        <p:spPr>
          <a:xfrm rot="0">
            <a:off x="8375542" y="3771900"/>
            <a:ext cx="7999585" cy="2667000"/>
          </a:xfrm>
          <a:prstGeom prst="rect">
            <a:avLst/>
          </a:prstGeom>
        </p:spPr>
        <p:txBody>
          <a:bodyPr anchor="t" rtlCol="false" tIns="0" lIns="0" bIns="0" rIns="0">
            <a:spAutoFit/>
          </a:bodyPr>
          <a:lstStyle/>
          <a:p>
            <a:pPr algn="just">
              <a:lnSpc>
                <a:spcPts val="3000"/>
              </a:lnSpc>
            </a:pPr>
            <a:r>
              <a:rPr lang="en-US" sz="2000">
                <a:solidFill>
                  <a:srgbClr val="545454"/>
                </a:solidFill>
                <a:latin typeface="Roboto"/>
                <a:ea typeface="Roboto"/>
                <a:cs typeface="Roboto"/>
                <a:sym typeface="Roboto"/>
              </a:rPr>
              <a:t>Mục tiêu học tập là những kết quả cụ thể mà người học cần đạt được sau khi hoàn thành một bài học, một bài giảng hoặc một khóa học. Mục tiêu không chỉ nói về việc “dạy cái gì” mà quan trọng hơn là “sau khi học xong, người học làm được gì”.</a:t>
            </a:r>
          </a:p>
          <a:p>
            <a:pPr algn="just">
              <a:lnSpc>
                <a:spcPts val="3000"/>
              </a:lnSpc>
            </a:pPr>
            <a:r>
              <a:rPr lang="en-US" sz="2000">
                <a:solidFill>
                  <a:srgbClr val="545454"/>
                </a:solidFill>
                <a:latin typeface="Roboto"/>
                <a:ea typeface="Roboto"/>
                <a:cs typeface="Roboto"/>
                <a:sym typeface="Roboto"/>
              </a:rPr>
              <a:t>Mục tiêu học tập thường mô tả thông qua:Hành vi quan sát được (nhận biết, giải thích, thực hiện, phân tích…), nội dung kiến thức/kỹ năng/thái độ, mức độ đạt được.</a:t>
            </a:r>
          </a:p>
        </p:txBody>
      </p:sp>
      <p:sp>
        <p:nvSpPr>
          <p:cNvPr name="TextBox 17" id="17"/>
          <p:cNvSpPr txBox="true"/>
          <p:nvPr/>
        </p:nvSpPr>
        <p:spPr>
          <a:xfrm rot="0">
            <a:off x="8376830" y="7494107"/>
            <a:ext cx="8761430" cy="1524000"/>
          </a:xfrm>
          <a:prstGeom prst="rect">
            <a:avLst/>
          </a:prstGeom>
        </p:spPr>
        <p:txBody>
          <a:bodyPr anchor="t" rtlCol="false" tIns="0" lIns="0" bIns="0" rIns="0">
            <a:spAutoFit/>
          </a:bodyPr>
          <a:lstStyle/>
          <a:p>
            <a:pPr algn="just">
              <a:lnSpc>
                <a:spcPts val="3000"/>
              </a:lnSpc>
            </a:pPr>
            <a:r>
              <a:rPr lang="en-US" sz="2000">
                <a:solidFill>
                  <a:srgbClr val="545454"/>
                </a:solidFill>
                <a:latin typeface="Roboto"/>
                <a:ea typeface="Roboto"/>
                <a:cs typeface="Roboto"/>
                <a:sym typeface="Roboto"/>
              </a:rPr>
              <a:t>Vai trò của mục tiêu học tập:</a:t>
            </a:r>
          </a:p>
          <a:p>
            <a:pPr algn="just" marL="431802" indent="-215901" lvl="1">
              <a:lnSpc>
                <a:spcPts val="3000"/>
              </a:lnSpc>
              <a:buFont typeface="Arial"/>
              <a:buChar char="•"/>
            </a:pPr>
            <a:r>
              <a:rPr lang="en-US" sz="2000">
                <a:solidFill>
                  <a:srgbClr val="545454"/>
                </a:solidFill>
                <a:latin typeface="Roboto"/>
                <a:ea typeface="Roboto"/>
                <a:cs typeface="Roboto"/>
                <a:sym typeface="Roboto"/>
              </a:rPr>
              <a:t>Định hướng nội dung giảng dạy</a:t>
            </a:r>
          </a:p>
          <a:p>
            <a:pPr algn="just" marL="431802" indent="-215901" lvl="1">
              <a:lnSpc>
                <a:spcPts val="3000"/>
              </a:lnSpc>
              <a:buFont typeface="Arial"/>
              <a:buChar char="•"/>
            </a:pPr>
            <a:r>
              <a:rPr lang="en-US" sz="2000">
                <a:solidFill>
                  <a:srgbClr val="545454"/>
                </a:solidFill>
                <a:latin typeface="Roboto"/>
                <a:ea typeface="Roboto"/>
                <a:cs typeface="Roboto"/>
                <a:sym typeface="Roboto"/>
              </a:rPr>
              <a:t>Là cơ sở thiết kế video, bài tập, hoạt động</a:t>
            </a:r>
          </a:p>
          <a:p>
            <a:pPr algn="just" marL="431802" indent="-215901" lvl="1">
              <a:lnSpc>
                <a:spcPts val="3000"/>
              </a:lnSpc>
              <a:buFont typeface="Arial"/>
              <a:buChar char="•"/>
            </a:pPr>
            <a:r>
              <a:rPr lang="en-US" sz="2000">
                <a:solidFill>
                  <a:srgbClr val="545454"/>
                </a:solidFill>
                <a:latin typeface="Roboto"/>
                <a:ea typeface="Roboto"/>
                <a:cs typeface="Roboto"/>
                <a:sym typeface="Roboto"/>
              </a:rPr>
              <a:t>Là tiêu chí đánh giá kết quả học tập</a:t>
            </a:r>
          </a:p>
        </p:txBody>
      </p:sp>
      <p:grpSp>
        <p:nvGrpSpPr>
          <p:cNvPr name="Group 18" id="18"/>
          <p:cNvGrpSpPr/>
          <p:nvPr/>
        </p:nvGrpSpPr>
        <p:grpSpPr>
          <a:xfrm rot="0">
            <a:off x="17243189" y="2833442"/>
            <a:ext cx="1044811" cy="5724034"/>
            <a:chOff x="0" y="0"/>
            <a:chExt cx="275176" cy="1507565"/>
          </a:xfrm>
        </p:grpSpPr>
        <p:sp>
          <p:nvSpPr>
            <p:cNvPr name="Freeform 19" id="19"/>
            <p:cNvSpPr/>
            <p:nvPr/>
          </p:nvSpPr>
          <p:spPr>
            <a:xfrm flipH="false" flipV="false" rot="0">
              <a:off x="0" y="0"/>
              <a:ext cx="275176" cy="1507565"/>
            </a:xfrm>
            <a:custGeom>
              <a:avLst/>
              <a:gdLst/>
              <a:ahLst/>
              <a:cxnLst/>
              <a:rect r="r" b="b" t="t" l="l"/>
              <a:pathLst>
                <a:path h="1507565" w="275176">
                  <a:moveTo>
                    <a:pt x="0" y="0"/>
                  </a:moveTo>
                  <a:lnTo>
                    <a:pt x="275176" y="0"/>
                  </a:lnTo>
                  <a:lnTo>
                    <a:pt x="275176" y="1507565"/>
                  </a:lnTo>
                  <a:lnTo>
                    <a:pt x="0" y="15075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20" id="20"/>
            <p:cNvSpPr txBox="true"/>
            <p:nvPr/>
          </p:nvSpPr>
          <p:spPr>
            <a:xfrm>
              <a:off x="0" y="-38100"/>
              <a:ext cx="275176" cy="1545665"/>
            </a:xfrm>
            <a:prstGeom prst="rect">
              <a:avLst/>
            </a:prstGeom>
          </p:spPr>
          <p:txBody>
            <a:bodyPr anchor="ctr" rtlCol="false" tIns="50800" lIns="50800" bIns="50800" rIns="50800"/>
            <a:lstStyle/>
            <a:p>
              <a:pPr algn="ctr">
                <a:lnSpc>
                  <a:spcPts val="2659"/>
                </a:lnSpc>
                <a:spcBef>
                  <a:spcPct val="0"/>
                </a:spcBef>
              </a:pPr>
            </a:p>
          </p:txBody>
        </p:sp>
      </p:grpSp>
      <p:sp>
        <p:nvSpPr>
          <p:cNvPr name="Freeform 21" id="21"/>
          <p:cNvSpPr/>
          <p:nvPr/>
        </p:nvSpPr>
        <p:spPr>
          <a:xfrm flipH="false" flipV="false" rot="-5400000">
            <a:off x="17461217" y="3939708"/>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AutoShape 22" id="22"/>
          <p:cNvSpPr/>
          <p:nvPr/>
        </p:nvSpPr>
        <p:spPr>
          <a:xfrm flipV="true">
            <a:off x="17807273" y="4933828"/>
            <a:ext cx="0" cy="1044644"/>
          </a:xfrm>
          <a:prstGeom prst="line">
            <a:avLst/>
          </a:prstGeom>
          <a:ln cap="flat" w="19050">
            <a:solidFill>
              <a:srgbClr val="FFFFFF"/>
            </a:solidFill>
            <a:prstDash val="solid"/>
            <a:headEnd type="none" len="sm" w="sm"/>
            <a:tailEnd type="none" len="sm" w="sm"/>
          </a:ln>
        </p:spPr>
      </p:sp>
      <p:sp>
        <p:nvSpPr>
          <p:cNvPr name="Freeform 23" id="23"/>
          <p:cNvSpPr/>
          <p:nvPr/>
        </p:nvSpPr>
        <p:spPr>
          <a:xfrm flipH="false" flipV="false" rot="-5400000">
            <a:off x="17461217" y="6862572"/>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4" id="24"/>
          <p:cNvSpPr/>
          <p:nvPr/>
        </p:nvSpPr>
        <p:spPr>
          <a:xfrm flipH="false" flipV="false" rot="0">
            <a:off x="16696854" y="583203"/>
            <a:ext cx="562446" cy="375305"/>
          </a:xfrm>
          <a:custGeom>
            <a:avLst/>
            <a:gdLst/>
            <a:ahLst/>
            <a:cxnLst/>
            <a:rect r="r" b="b" t="t" l="l"/>
            <a:pathLst>
              <a:path h="375305" w="562446">
                <a:moveTo>
                  <a:pt x="0" y="0"/>
                </a:moveTo>
                <a:lnTo>
                  <a:pt x="562446" y="0"/>
                </a:lnTo>
                <a:lnTo>
                  <a:pt x="562446" y="375304"/>
                </a:lnTo>
                <a:lnTo>
                  <a:pt x="0" y="37530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5" id="25"/>
          <p:cNvSpPr txBox="true"/>
          <p:nvPr/>
        </p:nvSpPr>
        <p:spPr>
          <a:xfrm rot="0">
            <a:off x="13318642" y="592747"/>
            <a:ext cx="3378212" cy="365760"/>
          </a:xfrm>
          <a:prstGeom prst="rect">
            <a:avLst/>
          </a:prstGeom>
        </p:spPr>
        <p:txBody>
          <a:bodyPr anchor="t" rtlCol="false" tIns="0" lIns="0" bIns="0" rIns="0">
            <a:spAutoFit/>
          </a:bodyPr>
          <a:lstStyle/>
          <a:p>
            <a:pPr algn="ctr">
              <a:lnSpc>
                <a:spcPts val="2939"/>
              </a:lnSpc>
            </a:pPr>
            <a:r>
              <a:rPr lang="en-US" sz="2099">
                <a:solidFill>
                  <a:srgbClr val="48276D"/>
                </a:solidFill>
                <a:latin typeface="Roboto"/>
                <a:ea typeface="Roboto"/>
                <a:cs typeface="Roboto"/>
                <a:sym typeface="Roboto"/>
              </a:rPr>
              <a:t>Đại học Bách Khoa Hà Nội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2918067" y="9417368"/>
            <a:ext cx="14325122" cy="19050"/>
          </a:xfrm>
          <a:prstGeom prst="line">
            <a:avLst/>
          </a:prstGeom>
          <a:ln cap="flat" w="19050">
            <a:solidFill>
              <a:srgbClr val="48276D"/>
            </a:solidFill>
            <a:prstDash val="solid"/>
            <a:headEnd type="none" len="sm" w="sm"/>
            <a:tailEnd type="none" len="sm" w="sm"/>
          </a:ln>
        </p:spPr>
      </p:sp>
      <p:sp>
        <p:nvSpPr>
          <p:cNvPr name="Freeform 3" id="3"/>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1028700" y="1047750"/>
            <a:ext cx="16230600" cy="0"/>
          </a:xfrm>
          <a:prstGeom prst="line">
            <a:avLst/>
          </a:prstGeom>
          <a:ln cap="flat" w="19050">
            <a:solidFill>
              <a:srgbClr val="48276D"/>
            </a:solidFill>
            <a:prstDash val="solid"/>
            <a:headEnd type="none" len="sm" w="sm"/>
            <a:tailEnd type="none" len="sm" w="sm"/>
          </a:ln>
        </p:spPr>
      </p:sp>
      <p:grpSp>
        <p:nvGrpSpPr>
          <p:cNvPr name="Group 5" id="5"/>
          <p:cNvGrpSpPr/>
          <p:nvPr/>
        </p:nvGrpSpPr>
        <p:grpSpPr>
          <a:xfrm rot="0">
            <a:off x="1028700" y="2112451"/>
            <a:ext cx="7140828" cy="3862471"/>
            <a:chOff x="0" y="0"/>
            <a:chExt cx="951076" cy="514436"/>
          </a:xfrm>
        </p:grpSpPr>
        <p:sp>
          <p:nvSpPr>
            <p:cNvPr name="Freeform 6" id="6"/>
            <p:cNvSpPr/>
            <p:nvPr/>
          </p:nvSpPr>
          <p:spPr>
            <a:xfrm flipH="false" flipV="false" rot="0">
              <a:off x="0" y="0"/>
              <a:ext cx="951076" cy="514436"/>
            </a:xfrm>
            <a:custGeom>
              <a:avLst/>
              <a:gdLst/>
              <a:ahLst/>
              <a:cxnLst/>
              <a:rect r="r" b="b" t="t" l="l"/>
              <a:pathLst>
                <a:path h="514436" w="951076">
                  <a:moveTo>
                    <a:pt x="0" y="0"/>
                  </a:moveTo>
                  <a:lnTo>
                    <a:pt x="951076" y="0"/>
                  </a:lnTo>
                  <a:lnTo>
                    <a:pt x="951076" y="514436"/>
                  </a:lnTo>
                  <a:lnTo>
                    <a:pt x="0" y="514436"/>
                  </a:lnTo>
                  <a:close/>
                </a:path>
              </a:pathLst>
            </a:custGeom>
            <a:blipFill>
              <a:blip r:embed="rId4"/>
              <a:stretch>
                <a:fillRect l="0" t="-16046" r="-430" b="0"/>
              </a:stretch>
            </a:blipFill>
          </p:spPr>
        </p:sp>
      </p:grpSp>
      <p:grpSp>
        <p:nvGrpSpPr>
          <p:cNvPr name="Group 7" id="7"/>
          <p:cNvGrpSpPr/>
          <p:nvPr/>
        </p:nvGrpSpPr>
        <p:grpSpPr>
          <a:xfrm rot="0">
            <a:off x="17243189" y="2833442"/>
            <a:ext cx="1044811" cy="5724034"/>
            <a:chOff x="0" y="0"/>
            <a:chExt cx="275176" cy="1507565"/>
          </a:xfrm>
        </p:grpSpPr>
        <p:sp>
          <p:nvSpPr>
            <p:cNvPr name="Freeform 8" id="8"/>
            <p:cNvSpPr/>
            <p:nvPr/>
          </p:nvSpPr>
          <p:spPr>
            <a:xfrm flipH="false" flipV="false" rot="0">
              <a:off x="0" y="0"/>
              <a:ext cx="275176" cy="1507565"/>
            </a:xfrm>
            <a:custGeom>
              <a:avLst/>
              <a:gdLst/>
              <a:ahLst/>
              <a:cxnLst/>
              <a:rect r="r" b="b" t="t" l="l"/>
              <a:pathLst>
                <a:path h="1507565" w="275176">
                  <a:moveTo>
                    <a:pt x="0" y="0"/>
                  </a:moveTo>
                  <a:lnTo>
                    <a:pt x="275176" y="0"/>
                  </a:lnTo>
                  <a:lnTo>
                    <a:pt x="275176" y="1507565"/>
                  </a:lnTo>
                  <a:lnTo>
                    <a:pt x="0" y="15075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9" id="9"/>
            <p:cNvSpPr txBox="true"/>
            <p:nvPr/>
          </p:nvSpPr>
          <p:spPr>
            <a:xfrm>
              <a:off x="0" y="-38100"/>
              <a:ext cx="275176" cy="1545665"/>
            </a:xfrm>
            <a:prstGeom prst="rect">
              <a:avLst/>
            </a:prstGeom>
          </p:spPr>
          <p:txBody>
            <a:bodyPr anchor="ctr" rtlCol="false" tIns="50800" lIns="50800" bIns="50800" rIns="50800"/>
            <a:lstStyle/>
            <a:p>
              <a:pPr algn="ctr">
                <a:lnSpc>
                  <a:spcPts val="2659"/>
                </a:lnSpc>
                <a:spcBef>
                  <a:spcPct val="0"/>
                </a:spcBef>
              </a:pPr>
            </a:p>
          </p:txBody>
        </p:sp>
      </p:grpSp>
      <p:sp>
        <p:nvSpPr>
          <p:cNvPr name="Freeform 10" id="10"/>
          <p:cNvSpPr/>
          <p:nvPr/>
        </p:nvSpPr>
        <p:spPr>
          <a:xfrm flipH="false" flipV="false" rot="-5400000">
            <a:off x="17461217" y="3939708"/>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AutoShape 11" id="11"/>
          <p:cNvSpPr/>
          <p:nvPr/>
        </p:nvSpPr>
        <p:spPr>
          <a:xfrm flipV="true">
            <a:off x="17807273" y="4933828"/>
            <a:ext cx="0" cy="1044644"/>
          </a:xfrm>
          <a:prstGeom prst="line">
            <a:avLst/>
          </a:prstGeom>
          <a:ln cap="flat" w="19050">
            <a:solidFill>
              <a:srgbClr val="FFFFFF"/>
            </a:solidFill>
            <a:prstDash val="solid"/>
            <a:headEnd type="none" len="sm" w="sm"/>
            <a:tailEnd type="none" len="sm" w="sm"/>
          </a:ln>
        </p:spPr>
      </p:sp>
      <p:sp>
        <p:nvSpPr>
          <p:cNvPr name="Freeform 12" id="12"/>
          <p:cNvSpPr/>
          <p:nvPr/>
        </p:nvSpPr>
        <p:spPr>
          <a:xfrm flipH="false" flipV="false" rot="-5400000">
            <a:off x="17461217" y="6862572"/>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028700" y="5758931"/>
            <a:ext cx="7140828" cy="2645280"/>
            <a:chOff x="0" y="0"/>
            <a:chExt cx="1880712" cy="696699"/>
          </a:xfrm>
        </p:grpSpPr>
        <p:sp>
          <p:nvSpPr>
            <p:cNvPr name="Freeform 14" id="14"/>
            <p:cNvSpPr/>
            <p:nvPr/>
          </p:nvSpPr>
          <p:spPr>
            <a:xfrm flipH="false" flipV="false" rot="0">
              <a:off x="0" y="0"/>
              <a:ext cx="1880712" cy="696699"/>
            </a:xfrm>
            <a:custGeom>
              <a:avLst/>
              <a:gdLst/>
              <a:ahLst/>
              <a:cxnLst/>
              <a:rect r="r" b="b" t="t" l="l"/>
              <a:pathLst>
                <a:path h="696699" w="1880712">
                  <a:moveTo>
                    <a:pt x="0" y="0"/>
                  </a:moveTo>
                  <a:lnTo>
                    <a:pt x="1880712" y="0"/>
                  </a:lnTo>
                  <a:lnTo>
                    <a:pt x="1880712" y="696699"/>
                  </a:lnTo>
                  <a:lnTo>
                    <a:pt x="0" y="696699"/>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15" id="15"/>
            <p:cNvSpPr txBox="true"/>
            <p:nvPr/>
          </p:nvSpPr>
          <p:spPr>
            <a:xfrm>
              <a:off x="0" y="-38100"/>
              <a:ext cx="1880712" cy="734799"/>
            </a:xfrm>
            <a:prstGeom prst="rect">
              <a:avLst/>
            </a:prstGeom>
          </p:spPr>
          <p:txBody>
            <a:bodyPr anchor="ctr" rtlCol="false" tIns="50800" lIns="50800" bIns="50800" rIns="50800"/>
            <a:lstStyle/>
            <a:p>
              <a:pPr algn="ctr">
                <a:lnSpc>
                  <a:spcPts val="2659"/>
                </a:lnSpc>
                <a:spcBef>
                  <a:spcPct val="0"/>
                </a:spcBef>
              </a:pPr>
            </a:p>
          </p:txBody>
        </p:sp>
      </p:grpSp>
      <p:sp>
        <p:nvSpPr>
          <p:cNvPr name="TextBox 16" id="16"/>
          <p:cNvSpPr txBox="true"/>
          <p:nvPr/>
        </p:nvSpPr>
        <p:spPr>
          <a:xfrm rot="0">
            <a:off x="8578756" y="1632170"/>
            <a:ext cx="8255204" cy="782742"/>
          </a:xfrm>
          <a:prstGeom prst="rect">
            <a:avLst/>
          </a:prstGeom>
        </p:spPr>
        <p:txBody>
          <a:bodyPr anchor="t" rtlCol="false" tIns="0" lIns="0" bIns="0" rIns="0">
            <a:spAutoFit/>
          </a:bodyPr>
          <a:lstStyle/>
          <a:p>
            <a:pPr algn="l">
              <a:lnSpc>
                <a:spcPts val="6041"/>
              </a:lnSpc>
            </a:pPr>
            <a:r>
              <a:rPr lang="en-US" sz="5346" b="true">
                <a:solidFill>
                  <a:srgbClr val="48276D"/>
                </a:solidFill>
                <a:latin typeface="Montserrat Heavy"/>
                <a:ea typeface="Montserrat Heavy"/>
                <a:cs typeface="Montserrat Heavy"/>
                <a:sym typeface="Montserrat Heavy"/>
              </a:rPr>
              <a:t>2. THANG ĐO BLOOM  </a:t>
            </a:r>
          </a:p>
        </p:txBody>
      </p:sp>
      <p:sp>
        <p:nvSpPr>
          <p:cNvPr name="TextBox 17" id="17"/>
          <p:cNvSpPr txBox="true"/>
          <p:nvPr/>
        </p:nvSpPr>
        <p:spPr>
          <a:xfrm rot="0">
            <a:off x="9300203" y="2504604"/>
            <a:ext cx="6526764" cy="1524000"/>
          </a:xfrm>
          <a:prstGeom prst="rect">
            <a:avLst/>
          </a:prstGeom>
        </p:spPr>
        <p:txBody>
          <a:bodyPr anchor="t" rtlCol="false" tIns="0" lIns="0" bIns="0" rIns="0">
            <a:spAutoFit/>
          </a:bodyPr>
          <a:lstStyle/>
          <a:p>
            <a:pPr algn="just">
              <a:lnSpc>
                <a:spcPts val="3000"/>
              </a:lnSpc>
            </a:pPr>
            <a:r>
              <a:rPr lang="en-US" sz="2000" b="true">
                <a:solidFill>
                  <a:srgbClr val="545454"/>
                </a:solidFill>
                <a:latin typeface="Roboto Bold"/>
                <a:ea typeface="Roboto Bold"/>
                <a:cs typeface="Roboto Bold"/>
                <a:sym typeface="Roboto Bold"/>
              </a:rPr>
              <a:t>Remember (Nhớ)</a:t>
            </a:r>
          </a:p>
          <a:p>
            <a:pPr algn="just" marL="431802" indent="-215901" lvl="1">
              <a:lnSpc>
                <a:spcPts val="3000"/>
              </a:lnSpc>
              <a:buFont typeface="Arial"/>
              <a:buChar char="•"/>
            </a:pPr>
            <a:r>
              <a:rPr lang="en-US" sz="2000">
                <a:solidFill>
                  <a:srgbClr val="545454"/>
                </a:solidFill>
                <a:latin typeface="Roboto"/>
                <a:ea typeface="Roboto"/>
                <a:cs typeface="Roboto"/>
                <a:sym typeface="Roboto"/>
              </a:rPr>
              <a:t>Người học ghi nhớ, nhận biết, nhắc lại thông tin</a:t>
            </a:r>
          </a:p>
          <a:p>
            <a:pPr algn="just" marL="431802" indent="-215901" lvl="1">
              <a:lnSpc>
                <a:spcPts val="3000"/>
              </a:lnSpc>
              <a:buFont typeface="Arial"/>
              <a:buChar char="•"/>
            </a:pPr>
            <a:r>
              <a:rPr lang="en-US" sz="2000">
                <a:solidFill>
                  <a:srgbClr val="545454"/>
                </a:solidFill>
                <a:latin typeface="Roboto"/>
                <a:ea typeface="Roboto"/>
                <a:cs typeface="Roboto"/>
                <a:sym typeface="Roboto"/>
              </a:rPr>
              <a:t>Động từ thường dùng: kể tên, liệt kê, nêu, nhận diện</a:t>
            </a:r>
          </a:p>
          <a:p>
            <a:pPr algn="just">
              <a:lnSpc>
                <a:spcPts val="3000"/>
              </a:lnSpc>
            </a:pPr>
            <a:r>
              <a:rPr lang="en-US" sz="2000">
                <a:solidFill>
                  <a:srgbClr val="545454"/>
                </a:solidFill>
                <a:latin typeface="Roboto"/>
                <a:ea typeface="Roboto"/>
                <a:cs typeface="Roboto"/>
                <a:sym typeface="Roboto"/>
              </a:rPr>
              <a:t>Ví dụ: “Liệt kê 3 thành phần của máy tính.”</a:t>
            </a:r>
          </a:p>
        </p:txBody>
      </p:sp>
      <p:sp>
        <p:nvSpPr>
          <p:cNvPr name="TextBox 18" id="18"/>
          <p:cNvSpPr txBox="true"/>
          <p:nvPr/>
        </p:nvSpPr>
        <p:spPr>
          <a:xfrm rot="0">
            <a:off x="1459187" y="6276010"/>
            <a:ext cx="7215523" cy="382016"/>
          </a:xfrm>
          <a:prstGeom prst="rect">
            <a:avLst/>
          </a:prstGeom>
        </p:spPr>
        <p:txBody>
          <a:bodyPr anchor="t" rtlCol="false" tIns="0" lIns="0" bIns="0" rIns="0">
            <a:spAutoFit/>
          </a:bodyPr>
          <a:lstStyle/>
          <a:p>
            <a:pPr algn="l">
              <a:lnSpc>
                <a:spcPts val="3052"/>
              </a:lnSpc>
            </a:pPr>
            <a:r>
              <a:rPr lang="en-US" sz="2800" spc="103" b="true">
                <a:solidFill>
                  <a:srgbClr val="FFFFFF"/>
                </a:solidFill>
                <a:latin typeface="Montserrat Bold"/>
                <a:ea typeface="Montserrat Bold"/>
                <a:cs typeface="Montserrat Bold"/>
                <a:sym typeface="Montserrat Bold"/>
              </a:rPr>
              <a:t>Remember – Understand – Apply</a:t>
            </a:r>
          </a:p>
        </p:txBody>
      </p:sp>
      <p:sp>
        <p:nvSpPr>
          <p:cNvPr name="TextBox 19" id="19"/>
          <p:cNvSpPr txBox="true"/>
          <p:nvPr/>
        </p:nvSpPr>
        <p:spPr>
          <a:xfrm rot="0">
            <a:off x="1459187" y="6685078"/>
            <a:ext cx="6279853" cy="1240154"/>
          </a:xfrm>
          <a:prstGeom prst="rect">
            <a:avLst/>
          </a:prstGeom>
        </p:spPr>
        <p:txBody>
          <a:bodyPr anchor="t" rtlCol="false" tIns="0" lIns="0" bIns="0" rIns="0">
            <a:spAutoFit/>
          </a:bodyPr>
          <a:lstStyle/>
          <a:p>
            <a:pPr algn="just">
              <a:lnSpc>
                <a:spcPts val="3360"/>
              </a:lnSpc>
            </a:pPr>
            <a:r>
              <a:rPr lang="en-US" sz="2000">
                <a:solidFill>
                  <a:srgbClr val="FFFFFF"/>
                </a:solidFill>
                <a:latin typeface="Roboto"/>
                <a:ea typeface="Roboto"/>
                <a:cs typeface="Roboto"/>
                <a:sym typeface="Roboto"/>
              </a:rPr>
              <a:t>Thang phân loại mức độ nhận thức, giúp giáo viên xây dựng mục tiêu từ dễ → khó. Với 3 mức cơ bản là</a:t>
            </a:r>
          </a:p>
          <a:p>
            <a:pPr algn="just">
              <a:lnSpc>
                <a:spcPts val="3360"/>
              </a:lnSpc>
            </a:pPr>
            <a:r>
              <a:rPr lang="en-US" sz="2000">
                <a:solidFill>
                  <a:srgbClr val="FFFFFF"/>
                </a:solidFill>
                <a:latin typeface="Roboto"/>
                <a:ea typeface="Roboto"/>
                <a:cs typeface="Roboto"/>
                <a:sym typeface="Roboto"/>
              </a:rPr>
              <a:t>nhớ – hiểu – áp dụng</a:t>
            </a:r>
          </a:p>
        </p:txBody>
      </p:sp>
      <p:sp>
        <p:nvSpPr>
          <p:cNvPr name="TextBox 20" id="20"/>
          <p:cNvSpPr txBox="true"/>
          <p:nvPr/>
        </p:nvSpPr>
        <p:spPr>
          <a:xfrm rot="0">
            <a:off x="9300203" y="4114328"/>
            <a:ext cx="6526764" cy="1905000"/>
          </a:xfrm>
          <a:prstGeom prst="rect">
            <a:avLst/>
          </a:prstGeom>
        </p:spPr>
        <p:txBody>
          <a:bodyPr anchor="t" rtlCol="false" tIns="0" lIns="0" bIns="0" rIns="0">
            <a:spAutoFit/>
          </a:bodyPr>
          <a:lstStyle/>
          <a:p>
            <a:pPr algn="just">
              <a:lnSpc>
                <a:spcPts val="3000"/>
              </a:lnSpc>
            </a:pPr>
            <a:r>
              <a:rPr lang="en-US" sz="2000" b="true">
                <a:solidFill>
                  <a:srgbClr val="545454"/>
                </a:solidFill>
                <a:latin typeface="Roboto Bold"/>
                <a:ea typeface="Roboto Bold"/>
                <a:cs typeface="Roboto Bold"/>
                <a:sym typeface="Roboto Bold"/>
              </a:rPr>
              <a:t>Understand (Hiểu)</a:t>
            </a:r>
          </a:p>
          <a:p>
            <a:pPr algn="just" marL="431802" indent="-215901" lvl="1">
              <a:lnSpc>
                <a:spcPts val="3000"/>
              </a:lnSpc>
              <a:buFont typeface="Arial"/>
              <a:buChar char="•"/>
            </a:pPr>
            <a:r>
              <a:rPr lang="en-US" sz="2000">
                <a:solidFill>
                  <a:srgbClr val="545454"/>
                </a:solidFill>
                <a:latin typeface="Roboto"/>
                <a:ea typeface="Roboto"/>
                <a:cs typeface="Roboto"/>
                <a:sym typeface="Roboto"/>
              </a:rPr>
              <a:t>Người học giải thích, diễn đạt lại bằng lời của mình</a:t>
            </a:r>
          </a:p>
          <a:p>
            <a:pPr algn="just" marL="431802" indent="-215901" lvl="1">
              <a:lnSpc>
                <a:spcPts val="3000"/>
              </a:lnSpc>
              <a:buFont typeface="Arial"/>
              <a:buChar char="•"/>
            </a:pPr>
            <a:r>
              <a:rPr lang="en-US" sz="2000">
                <a:solidFill>
                  <a:srgbClr val="545454"/>
                </a:solidFill>
                <a:latin typeface="Roboto"/>
                <a:ea typeface="Roboto"/>
                <a:cs typeface="Roboto"/>
                <a:sym typeface="Roboto"/>
              </a:rPr>
              <a:t>Động từ: giải thích, mô tả, phân loại, so sánh</a:t>
            </a:r>
          </a:p>
          <a:p>
            <a:pPr algn="just">
              <a:lnSpc>
                <a:spcPts val="3000"/>
              </a:lnSpc>
            </a:pPr>
            <a:r>
              <a:rPr lang="en-US" sz="2000">
                <a:solidFill>
                  <a:srgbClr val="545454"/>
                </a:solidFill>
                <a:latin typeface="Roboto"/>
                <a:ea typeface="Roboto"/>
                <a:cs typeface="Roboto"/>
                <a:sym typeface="Roboto"/>
              </a:rPr>
              <a:t>Ví dụ: “Giải thích nguyên lý hoạt động của video e-learning.”</a:t>
            </a:r>
          </a:p>
        </p:txBody>
      </p:sp>
      <p:sp>
        <p:nvSpPr>
          <p:cNvPr name="TextBox 21" id="21"/>
          <p:cNvSpPr txBox="true"/>
          <p:nvPr/>
        </p:nvSpPr>
        <p:spPr>
          <a:xfrm rot="0">
            <a:off x="9300203" y="6090971"/>
            <a:ext cx="6526764" cy="1905000"/>
          </a:xfrm>
          <a:prstGeom prst="rect">
            <a:avLst/>
          </a:prstGeom>
        </p:spPr>
        <p:txBody>
          <a:bodyPr anchor="t" rtlCol="false" tIns="0" lIns="0" bIns="0" rIns="0">
            <a:spAutoFit/>
          </a:bodyPr>
          <a:lstStyle/>
          <a:p>
            <a:pPr algn="just">
              <a:lnSpc>
                <a:spcPts val="3000"/>
              </a:lnSpc>
            </a:pPr>
            <a:r>
              <a:rPr lang="en-US" sz="2000" b="true">
                <a:solidFill>
                  <a:srgbClr val="545454"/>
                </a:solidFill>
                <a:latin typeface="Roboto Bold"/>
                <a:ea typeface="Roboto Bold"/>
                <a:cs typeface="Roboto Bold"/>
                <a:sym typeface="Roboto Bold"/>
              </a:rPr>
              <a:t>Apply (Vận dụng)</a:t>
            </a:r>
          </a:p>
          <a:p>
            <a:pPr algn="just" marL="431802" indent="-215901" lvl="1">
              <a:lnSpc>
                <a:spcPts val="3000"/>
              </a:lnSpc>
              <a:buFont typeface="Arial"/>
              <a:buChar char="•"/>
            </a:pPr>
            <a:r>
              <a:rPr lang="en-US" sz="2000">
                <a:solidFill>
                  <a:srgbClr val="545454"/>
                </a:solidFill>
                <a:latin typeface="Roboto"/>
                <a:ea typeface="Roboto"/>
                <a:cs typeface="Roboto"/>
                <a:sym typeface="Roboto"/>
              </a:rPr>
              <a:t>Người học áp dụng kiến thức vào tình huống thực tế</a:t>
            </a:r>
          </a:p>
          <a:p>
            <a:pPr algn="just" marL="431802" indent="-215901" lvl="1">
              <a:lnSpc>
                <a:spcPts val="3000"/>
              </a:lnSpc>
              <a:buFont typeface="Arial"/>
              <a:buChar char="•"/>
            </a:pPr>
            <a:r>
              <a:rPr lang="en-US" sz="2000">
                <a:solidFill>
                  <a:srgbClr val="545454"/>
                </a:solidFill>
                <a:latin typeface="Roboto"/>
                <a:ea typeface="Roboto"/>
                <a:cs typeface="Roboto"/>
                <a:sym typeface="Roboto"/>
              </a:rPr>
              <a:t>Động từ: sử dụng, thực hiện, áp dụng, giải quyết</a:t>
            </a:r>
          </a:p>
          <a:p>
            <a:pPr algn="just">
              <a:lnSpc>
                <a:spcPts val="3000"/>
              </a:lnSpc>
            </a:pPr>
            <a:r>
              <a:rPr lang="en-US" sz="2000">
                <a:solidFill>
                  <a:srgbClr val="545454"/>
                </a:solidFill>
                <a:latin typeface="Roboto"/>
                <a:ea typeface="Roboto"/>
                <a:cs typeface="Roboto"/>
                <a:sym typeface="Roboto"/>
              </a:rPr>
              <a:t>Ví dụ: “Thiết kế một slide bài giảng theo nguyên tắc đa phương tiện.”</a:t>
            </a:r>
          </a:p>
        </p:txBody>
      </p:sp>
      <p:sp>
        <p:nvSpPr>
          <p:cNvPr name="TextBox 22" id="22"/>
          <p:cNvSpPr txBox="true"/>
          <p:nvPr/>
        </p:nvSpPr>
        <p:spPr>
          <a:xfrm rot="0">
            <a:off x="8415339" y="8115300"/>
            <a:ext cx="8582038" cy="1143000"/>
          </a:xfrm>
          <a:prstGeom prst="rect">
            <a:avLst/>
          </a:prstGeom>
        </p:spPr>
        <p:txBody>
          <a:bodyPr anchor="t" rtlCol="false" tIns="0" lIns="0" bIns="0" rIns="0">
            <a:spAutoFit/>
          </a:bodyPr>
          <a:lstStyle/>
          <a:p>
            <a:pPr algn="just">
              <a:lnSpc>
                <a:spcPts val="3000"/>
              </a:lnSpc>
            </a:pPr>
            <a:r>
              <a:rPr lang="en-US" sz="2000" b="true">
                <a:solidFill>
                  <a:srgbClr val="545454"/>
                </a:solidFill>
                <a:latin typeface="Roboto Bold"/>
                <a:ea typeface="Roboto Bold"/>
                <a:cs typeface="Roboto Bold"/>
                <a:sym typeface="Roboto Bold"/>
              </a:rPr>
              <a:t>Trong E-learning, 3 mức này rất quan trọng để: Thiết kế video không chỉ truyền đạt mà còn hướng dẫn làm hoàn chỉnh, xây dựng bài tập tương tác phù hợp trình độ</a:t>
            </a:r>
          </a:p>
        </p:txBody>
      </p:sp>
      <p:sp>
        <p:nvSpPr>
          <p:cNvPr name="Freeform 23" id="23"/>
          <p:cNvSpPr/>
          <p:nvPr/>
        </p:nvSpPr>
        <p:spPr>
          <a:xfrm flipH="false" flipV="false" rot="0">
            <a:off x="16696854" y="583203"/>
            <a:ext cx="562446" cy="375305"/>
          </a:xfrm>
          <a:custGeom>
            <a:avLst/>
            <a:gdLst/>
            <a:ahLst/>
            <a:cxnLst/>
            <a:rect r="r" b="b" t="t" l="l"/>
            <a:pathLst>
              <a:path h="375305" w="562446">
                <a:moveTo>
                  <a:pt x="0" y="0"/>
                </a:moveTo>
                <a:lnTo>
                  <a:pt x="562446" y="0"/>
                </a:lnTo>
                <a:lnTo>
                  <a:pt x="562446" y="375304"/>
                </a:lnTo>
                <a:lnTo>
                  <a:pt x="0" y="3753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24" id="24"/>
          <p:cNvSpPr txBox="true"/>
          <p:nvPr/>
        </p:nvSpPr>
        <p:spPr>
          <a:xfrm rot="0">
            <a:off x="13318642" y="592747"/>
            <a:ext cx="3378212" cy="365760"/>
          </a:xfrm>
          <a:prstGeom prst="rect">
            <a:avLst/>
          </a:prstGeom>
        </p:spPr>
        <p:txBody>
          <a:bodyPr anchor="t" rtlCol="false" tIns="0" lIns="0" bIns="0" rIns="0">
            <a:spAutoFit/>
          </a:bodyPr>
          <a:lstStyle/>
          <a:p>
            <a:pPr algn="ctr">
              <a:lnSpc>
                <a:spcPts val="2939"/>
              </a:lnSpc>
            </a:pPr>
            <a:r>
              <a:rPr lang="en-US" sz="2099">
                <a:solidFill>
                  <a:srgbClr val="48276D"/>
                </a:solidFill>
                <a:latin typeface="Roboto"/>
                <a:ea typeface="Roboto"/>
                <a:cs typeface="Roboto"/>
                <a:sym typeface="Roboto"/>
              </a:rPr>
              <a:t>Đại học Bách Khoa Hà Nội</a:t>
            </a:r>
          </a:p>
        </p:txBody>
      </p:sp>
      <p:sp>
        <p:nvSpPr>
          <p:cNvPr name="TextBox 25" id="25"/>
          <p:cNvSpPr txBox="true"/>
          <p:nvPr/>
        </p:nvSpPr>
        <p:spPr>
          <a:xfrm rot="0">
            <a:off x="1028700" y="9175736"/>
            <a:ext cx="1327923" cy="365760"/>
          </a:xfrm>
          <a:prstGeom prst="rect">
            <a:avLst/>
          </a:prstGeom>
        </p:spPr>
        <p:txBody>
          <a:bodyPr anchor="t" rtlCol="false" tIns="0" lIns="0" bIns="0" rIns="0">
            <a:spAutoFit/>
          </a:bodyPr>
          <a:lstStyle/>
          <a:p>
            <a:pPr algn="l">
              <a:lnSpc>
                <a:spcPts val="2939"/>
              </a:lnSpc>
            </a:pPr>
            <a:r>
              <a:rPr lang="en-US" sz="2099">
                <a:solidFill>
                  <a:srgbClr val="48276D"/>
                </a:solidFill>
                <a:latin typeface="Roboto"/>
                <a:ea typeface="Roboto"/>
                <a:cs typeface="Roboto"/>
                <a:sym typeface="Roboto"/>
              </a:rPr>
              <a:t>E-learning</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2853062" y="9258300"/>
            <a:ext cx="14406238" cy="0"/>
          </a:xfrm>
          <a:prstGeom prst="line">
            <a:avLst/>
          </a:prstGeom>
          <a:ln cap="flat" w="19050">
            <a:solidFill>
              <a:srgbClr val="48276D"/>
            </a:solidFill>
            <a:prstDash val="solid"/>
            <a:headEnd type="none" len="sm" w="sm"/>
            <a:tailEnd type="none" len="sm" w="sm"/>
          </a:ln>
        </p:spPr>
      </p:sp>
      <p:sp>
        <p:nvSpPr>
          <p:cNvPr name="Freeform 3" id="3"/>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1028700" y="1047750"/>
            <a:ext cx="16230600" cy="0"/>
          </a:xfrm>
          <a:prstGeom prst="line">
            <a:avLst/>
          </a:prstGeom>
          <a:ln cap="flat" w="19050">
            <a:solidFill>
              <a:srgbClr val="48276D"/>
            </a:solidFill>
            <a:prstDash val="solid"/>
            <a:headEnd type="none" len="sm" w="sm"/>
            <a:tailEnd type="none" len="sm" w="sm"/>
          </a:ln>
        </p:spPr>
      </p:sp>
      <p:grpSp>
        <p:nvGrpSpPr>
          <p:cNvPr name="Group 5" id="5"/>
          <p:cNvGrpSpPr/>
          <p:nvPr/>
        </p:nvGrpSpPr>
        <p:grpSpPr>
          <a:xfrm rot="0">
            <a:off x="17243189" y="2833442"/>
            <a:ext cx="1044811" cy="5724034"/>
            <a:chOff x="0" y="0"/>
            <a:chExt cx="275176" cy="1507565"/>
          </a:xfrm>
        </p:grpSpPr>
        <p:sp>
          <p:nvSpPr>
            <p:cNvPr name="Freeform 6" id="6"/>
            <p:cNvSpPr/>
            <p:nvPr/>
          </p:nvSpPr>
          <p:spPr>
            <a:xfrm flipH="false" flipV="false" rot="0">
              <a:off x="0" y="0"/>
              <a:ext cx="275176" cy="1507565"/>
            </a:xfrm>
            <a:custGeom>
              <a:avLst/>
              <a:gdLst/>
              <a:ahLst/>
              <a:cxnLst/>
              <a:rect r="r" b="b" t="t" l="l"/>
              <a:pathLst>
                <a:path h="1507565" w="275176">
                  <a:moveTo>
                    <a:pt x="0" y="0"/>
                  </a:moveTo>
                  <a:lnTo>
                    <a:pt x="275176" y="0"/>
                  </a:lnTo>
                  <a:lnTo>
                    <a:pt x="275176" y="1507565"/>
                  </a:lnTo>
                  <a:lnTo>
                    <a:pt x="0" y="15075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7" id="7"/>
            <p:cNvSpPr txBox="true"/>
            <p:nvPr/>
          </p:nvSpPr>
          <p:spPr>
            <a:xfrm>
              <a:off x="0" y="-38100"/>
              <a:ext cx="275176" cy="15456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5400000">
            <a:off x="17461217" y="3939708"/>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flipV="true">
            <a:off x="17807273" y="4933828"/>
            <a:ext cx="0" cy="1044644"/>
          </a:xfrm>
          <a:prstGeom prst="line">
            <a:avLst/>
          </a:prstGeom>
          <a:ln cap="flat" w="19050">
            <a:solidFill>
              <a:srgbClr val="FFFFFF"/>
            </a:solidFill>
            <a:prstDash val="solid"/>
            <a:headEnd type="none" len="sm" w="sm"/>
            <a:tailEnd type="none" len="sm" w="sm"/>
          </a:ln>
        </p:spPr>
      </p:sp>
      <p:sp>
        <p:nvSpPr>
          <p:cNvPr name="Freeform 10" id="10"/>
          <p:cNvSpPr/>
          <p:nvPr/>
        </p:nvSpPr>
        <p:spPr>
          <a:xfrm flipH="false" flipV="false" rot="-5400000">
            <a:off x="17461217" y="6862572"/>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268531" y="2246740"/>
            <a:ext cx="6999695" cy="3166194"/>
            <a:chOff x="0" y="0"/>
            <a:chExt cx="932278" cy="421700"/>
          </a:xfrm>
        </p:grpSpPr>
        <p:sp>
          <p:nvSpPr>
            <p:cNvPr name="Freeform 12" id="12"/>
            <p:cNvSpPr/>
            <p:nvPr/>
          </p:nvSpPr>
          <p:spPr>
            <a:xfrm flipH="false" flipV="false" rot="0">
              <a:off x="0" y="0"/>
              <a:ext cx="932278" cy="421700"/>
            </a:xfrm>
            <a:custGeom>
              <a:avLst/>
              <a:gdLst/>
              <a:ahLst/>
              <a:cxnLst/>
              <a:rect r="r" b="b" t="t" l="l"/>
              <a:pathLst>
                <a:path h="421700" w="932278">
                  <a:moveTo>
                    <a:pt x="0" y="0"/>
                  </a:moveTo>
                  <a:lnTo>
                    <a:pt x="932278" y="0"/>
                  </a:lnTo>
                  <a:lnTo>
                    <a:pt x="932278" y="421700"/>
                  </a:lnTo>
                  <a:lnTo>
                    <a:pt x="0" y="421700"/>
                  </a:lnTo>
                  <a:close/>
                </a:path>
              </a:pathLst>
            </a:custGeom>
            <a:blipFill>
              <a:blip r:embed="rId6"/>
              <a:stretch>
                <a:fillRect l="0" t="-23645" r="0" b="-23645"/>
              </a:stretch>
            </a:blipFill>
          </p:spPr>
        </p:sp>
      </p:grpSp>
      <p:sp>
        <p:nvSpPr>
          <p:cNvPr name="TextBox 13" id="13"/>
          <p:cNvSpPr txBox="true"/>
          <p:nvPr/>
        </p:nvSpPr>
        <p:spPr>
          <a:xfrm rot="0">
            <a:off x="1028700" y="4468654"/>
            <a:ext cx="6999695" cy="1143000"/>
          </a:xfrm>
          <a:prstGeom prst="rect">
            <a:avLst/>
          </a:prstGeom>
        </p:spPr>
        <p:txBody>
          <a:bodyPr anchor="t" rtlCol="false" tIns="0" lIns="0" bIns="0" rIns="0">
            <a:spAutoFit/>
          </a:bodyPr>
          <a:lstStyle/>
          <a:p>
            <a:pPr algn="just">
              <a:lnSpc>
                <a:spcPts val="3000"/>
              </a:lnSpc>
            </a:pPr>
            <a:r>
              <a:rPr lang="en-US" sz="2000">
                <a:solidFill>
                  <a:srgbClr val="545454"/>
                </a:solidFill>
                <a:latin typeface="Roboto"/>
                <a:ea typeface="Roboto"/>
                <a:cs typeface="Roboto"/>
                <a:sym typeface="Roboto"/>
              </a:rPr>
              <a:t>Mô hình SMART là công cụ xây dựng mục tiêu theo 5 tiêu chí: Cụ thể (Specifici), Đo lường được (Measurable), Khả thi (Achievable), Liên quan (Relevant), Có thời hạn (Timebound).</a:t>
            </a:r>
          </a:p>
        </p:txBody>
      </p:sp>
      <p:grpSp>
        <p:nvGrpSpPr>
          <p:cNvPr name="Group 14" id="14"/>
          <p:cNvGrpSpPr/>
          <p:nvPr/>
        </p:nvGrpSpPr>
        <p:grpSpPr>
          <a:xfrm rot="0">
            <a:off x="995521" y="5412933"/>
            <a:ext cx="7301460" cy="3417643"/>
            <a:chOff x="0" y="0"/>
            <a:chExt cx="9735280" cy="4556858"/>
          </a:xfrm>
        </p:grpSpPr>
        <p:sp>
          <p:nvSpPr>
            <p:cNvPr name="Freeform 15" id="15"/>
            <p:cNvSpPr/>
            <p:nvPr/>
          </p:nvSpPr>
          <p:spPr>
            <a:xfrm flipH="false" flipV="false" rot="0">
              <a:off x="116200" y="2079040"/>
              <a:ext cx="1378672" cy="2477817"/>
            </a:xfrm>
            <a:custGeom>
              <a:avLst/>
              <a:gdLst/>
              <a:ahLst/>
              <a:cxnLst/>
              <a:rect r="r" b="b" t="t" l="l"/>
              <a:pathLst>
                <a:path h="2477817" w="1378672">
                  <a:moveTo>
                    <a:pt x="0" y="0"/>
                  </a:moveTo>
                  <a:lnTo>
                    <a:pt x="1378673" y="0"/>
                  </a:lnTo>
                  <a:lnTo>
                    <a:pt x="1378673" y="2477818"/>
                  </a:lnTo>
                  <a:lnTo>
                    <a:pt x="0" y="2477818"/>
                  </a:lnTo>
                  <a:lnTo>
                    <a:pt x="0" y="0"/>
                  </a:lnTo>
                  <a:close/>
                </a:path>
              </a:pathLst>
            </a:custGeom>
            <a:blipFill>
              <a:blip r:embed="rId7">
                <a:extLst>
                  <a:ext uri="{96DAC541-7B7A-43D3-8B79-37D633B846F1}">
                    <asvg:svgBlip xmlns:asvg="http://schemas.microsoft.com/office/drawing/2016/SVG/main" r:embed="rId8"/>
                  </a:ext>
                </a:extLst>
              </a:blip>
              <a:stretch>
                <a:fillRect l="-10292" t="0" r="-9632" b="0"/>
              </a:stretch>
            </a:blipFill>
          </p:spPr>
        </p:sp>
        <p:sp>
          <p:nvSpPr>
            <p:cNvPr name="Freeform 16" id="16"/>
            <p:cNvSpPr/>
            <p:nvPr/>
          </p:nvSpPr>
          <p:spPr>
            <a:xfrm flipH="false" flipV="false" rot="0">
              <a:off x="2138769" y="2079040"/>
              <a:ext cx="1378672" cy="2477817"/>
            </a:xfrm>
            <a:custGeom>
              <a:avLst/>
              <a:gdLst/>
              <a:ahLst/>
              <a:cxnLst/>
              <a:rect r="r" b="b" t="t" l="l"/>
              <a:pathLst>
                <a:path h="2477817" w="1378672">
                  <a:moveTo>
                    <a:pt x="0" y="0"/>
                  </a:moveTo>
                  <a:lnTo>
                    <a:pt x="1378672" y="0"/>
                  </a:lnTo>
                  <a:lnTo>
                    <a:pt x="1378672" y="2477818"/>
                  </a:lnTo>
                  <a:lnTo>
                    <a:pt x="0" y="2477818"/>
                  </a:lnTo>
                  <a:lnTo>
                    <a:pt x="0" y="0"/>
                  </a:lnTo>
                  <a:close/>
                </a:path>
              </a:pathLst>
            </a:custGeom>
            <a:blipFill>
              <a:blip r:embed="rId9">
                <a:extLst>
                  <a:ext uri="{96DAC541-7B7A-43D3-8B79-37D633B846F1}">
                    <asvg:svgBlip xmlns:asvg="http://schemas.microsoft.com/office/drawing/2016/SVG/main" r:embed="rId10"/>
                  </a:ext>
                </a:extLst>
              </a:blip>
              <a:stretch>
                <a:fillRect l="-10292" t="0" r="-9632" b="0"/>
              </a:stretch>
            </a:blipFill>
          </p:spPr>
        </p:sp>
        <p:sp>
          <p:nvSpPr>
            <p:cNvPr name="Freeform 17" id="17"/>
            <p:cNvSpPr/>
            <p:nvPr/>
          </p:nvSpPr>
          <p:spPr>
            <a:xfrm flipH="false" flipV="false" rot="0">
              <a:off x="4164733" y="2079040"/>
              <a:ext cx="1378672" cy="2477817"/>
            </a:xfrm>
            <a:custGeom>
              <a:avLst/>
              <a:gdLst/>
              <a:ahLst/>
              <a:cxnLst/>
              <a:rect r="r" b="b" t="t" l="l"/>
              <a:pathLst>
                <a:path h="2477817" w="1378672">
                  <a:moveTo>
                    <a:pt x="0" y="0"/>
                  </a:moveTo>
                  <a:lnTo>
                    <a:pt x="1378673" y="0"/>
                  </a:lnTo>
                  <a:lnTo>
                    <a:pt x="1378673" y="2477818"/>
                  </a:lnTo>
                  <a:lnTo>
                    <a:pt x="0" y="2477818"/>
                  </a:lnTo>
                  <a:lnTo>
                    <a:pt x="0" y="0"/>
                  </a:lnTo>
                  <a:close/>
                </a:path>
              </a:pathLst>
            </a:custGeom>
            <a:blipFill>
              <a:blip r:embed="rId11">
                <a:extLst>
                  <a:ext uri="{96DAC541-7B7A-43D3-8B79-37D633B846F1}">
                    <asvg:svgBlip xmlns:asvg="http://schemas.microsoft.com/office/drawing/2016/SVG/main" r:embed="rId12"/>
                  </a:ext>
                </a:extLst>
              </a:blip>
              <a:stretch>
                <a:fillRect l="-10292" t="0" r="-9632" b="0"/>
              </a:stretch>
            </a:blipFill>
          </p:spPr>
        </p:sp>
        <p:sp>
          <p:nvSpPr>
            <p:cNvPr name="Freeform 18" id="18"/>
            <p:cNvSpPr/>
            <p:nvPr/>
          </p:nvSpPr>
          <p:spPr>
            <a:xfrm flipH="false" flipV="false" rot="0">
              <a:off x="6190698" y="2079040"/>
              <a:ext cx="1378672" cy="2477817"/>
            </a:xfrm>
            <a:custGeom>
              <a:avLst/>
              <a:gdLst/>
              <a:ahLst/>
              <a:cxnLst/>
              <a:rect r="r" b="b" t="t" l="l"/>
              <a:pathLst>
                <a:path h="2477817" w="1378672">
                  <a:moveTo>
                    <a:pt x="0" y="0"/>
                  </a:moveTo>
                  <a:lnTo>
                    <a:pt x="1378673" y="0"/>
                  </a:lnTo>
                  <a:lnTo>
                    <a:pt x="1378673" y="2477818"/>
                  </a:lnTo>
                  <a:lnTo>
                    <a:pt x="0" y="2477818"/>
                  </a:lnTo>
                  <a:lnTo>
                    <a:pt x="0" y="0"/>
                  </a:lnTo>
                  <a:close/>
                </a:path>
              </a:pathLst>
            </a:custGeom>
            <a:blipFill>
              <a:blip r:embed="rId13">
                <a:extLst>
                  <a:ext uri="{96DAC541-7B7A-43D3-8B79-37D633B846F1}">
                    <asvg:svgBlip xmlns:asvg="http://schemas.microsoft.com/office/drawing/2016/SVG/main" r:embed="rId14"/>
                  </a:ext>
                </a:extLst>
              </a:blip>
              <a:stretch>
                <a:fillRect l="-10292" t="0" r="-9632" b="0"/>
              </a:stretch>
            </a:blipFill>
          </p:spPr>
        </p:sp>
        <p:sp>
          <p:nvSpPr>
            <p:cNvPr name="Freeform 19" id="19"/>
            <p:cNvSpPr/>
            <p:nvPr/>
          </p:nvSpPr>
          <p:spPr>
            <a:xfrm flipH="false" flipV="false" rot="0">
              <a:off x="8216663" y="2079040"/>
              <a:ext cx="1378672" cy="2477817"/>
            </a:xfrm>
            <a:custGeom>
              <a:avLst/>
              <a:gdLst/>
              <a:ahLst/>
              <a:cxnLst/>
              <a:rect r="r" b="b" t="t" l="l"/>
              <a:pathLst>
                <a:path h="2477817" w="1378672">
                  <a:moveTo>
                    <a:pt x="0" y="0"/>
                  </a:moveTo>
                  <a:lnTo>
                    <a:pt x="1378672" y="0"/>
                  </a:lnTo>
                  <a:lnTo>
                    <a:pt x="1378672" y="2477818"/>
                  </a:lnTo>
                  <a:lnTo>
                    <a:pt x="0" y="2477818"/>
                  </a:lnTo>
                  <a:lnTo>
                    <a:pt x="0" y="0"/>
                  </a:lnTo>
                  <a:close/>
                </a:path>
              </a:pathLst>
            </a:custGeom>
            <a:blipFill>
              <a:blip r:embed="rId15">
                <a:extLst>
                  <a:ext uri="{96DAC541-7B7A-43D3-8B79-37D633B846F1}">
                    <asvg:svgBlip xmlns:asvg="http://schemas.microsoft.com/office/drawing/2016/SVG/main" r:embed="rId16"/>
                  </a:ext>
                </a:extLst>
              </a:blip>
              <a:stretch>
                <a:fillRect l="-10292" t="0" r="-9632" b="0"/>
              </a:stretch>
            </a:blipFill>
          </p:spPr>
        </p:sp>
        <p:sp>
          <p:nvSpPr>
            <p:cNvPr name="Freeform 20" id="20"/>
            <p:cNvSpPr/>
            <p:nvPr/>
          </p:nvSpPr>
          <p:spPr>
            <a:xfrm flipH="false" flipV="false" rot="0">
              <a:off x="563016" y="1836519"/>
              <a:ext cx="485042" cy="485042"/>
            </a:xfrm>
            <a:custGeom>
              <a:avLst/>
              <a:gdLst/>
              <a:ahLst/>
              <a:cxnLst/>
              <a:rect r="r" b="b" t="t" l="l"/>
              <a:pathLst>
                <a:path h="485042" w="485042">
                  <a:moveTo>
                    <a:pt x="0" y="0"/>
                  </a:moveTo>
                  <a:lnTo>
                    <a:pt x="485041" y="0"/>
                  </a:lnTo>
                  <a:lnTo>
                    <a:pt x="485041" y="485042"/>
                  </a:lnTo>
                  <a:lnTo>
                    <a:pt x="0" y="4850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TextBox 21" id="21"/>
            <p:cNvSpPr txBox="true"/>
            <p:nvPr/>
          </p:nvSpPr>
          <p:spPr>
            <a:xfrm rot="0">
              <a:off x="1996514" y="-190500"/>
              <a:ext cx="1663181" cy="2269540"/>
            </a:xfrm>
            <a:prstGeom prst="rect">
              <a:avLst/>
            </a:prstGeom>
          </p:spPr>
          <p:txBody>
            <a:bodyPr anchor="t" rtlCol="false" tIns="0" lIns="0" bIns="0" rIns="0">
              <a:spAutoFit/>
            </a:bodyPr>
            <a:lstStyle/>
            <a:p>
              <a:pPr algn="ctr">
                <a:lnSpc>
                  <a:spcPts val="14398"/>
                </a:lnSpc>
                <a:spcBef>
                  <a:spcPct val="0"/>
                </a:spcBef>
              </a:pPr>
              <a:r>
                <a:rPr lang="en-US" b="true" sz="10284">
                  <a:solidFill>
                    <a:srgbClr val="FF751F"/>
                  </a:solidFill>
                  <a:latin typeface="Montserrat Bold"/>
                  <a:ea typeface="Montserrat Bold"/>
                  <a:cs typeface="Montserrat Bold"/>
                  <a:sym typeface="Montserrat Bold"/>
                </a:rPr>
                <a:t>M</a:t>
              </a:r>
            </a:p>
          </p:txBody>
        </p:sp>
        <p:sp>
          <p:nvSpPr>
            <p:cNvPr name="TextBox 22" id="22"/>
            <p:cNvSpPr txBox="true"/>
            <p:nvPr/>
          </p:nvSpPr>
          <p:spPr>
            <a:xfrm rot="0">
              <a:off x="4209393" y="-190500"/>
              <a:ext cx="1334013" cy="2269540"/>
            </a:xfrm>
            <a:prstGeom prst="rect">
              <a:avLst/>
            </a:prstGeom>
          </p:spPr>
          <p:txBody>
            <a:bodyPr anchor="t" rtlCol="false" tIns="0" lIns="0" bIns="0" rIns="0">
              <a:spAutoFit/>
            </a:bodyPr>
            <a:lstStyle/>
            <a:p>
              <a:pPr algn="ctr">
                <a:lnSpc>
                  <a:spcPts val="14398"/>
                </a:lnSpc>
                <a:spcBef>
                  <a:spcPct val="0"/>
                </a:spcBef>
              </a:pPr>
              <a:r>
                <a:rPr lang="en-US" b="true" sz="10284">
                  <a:solidFill>
                    <a:srgbClr val="FFA61F"/>
                  </a:solidFill>
                  <a:latin typeface="Montserrat Bold"/>
                  <a:ea typeface="Montserrat Bold"/>
                  <a:cs typeface="Montserrat Bold"/>
                  <a:sym typeface="Montserrat Bold"/>
                </a:rPr>
                <a:t>A</a:t>
              </a:r>
            </a:p>
          </p:txBody>
        </p:sp>
        <p:sp>
          <p:nvSpPr>
            <p:cNvPr name="TextBox 23" id="23"/>
            <p:cNvSpPr txBox="true"/>
            <p:nvPr/>
          </p:nvSpPr>
          <p:spPr>
            <a:xfrm rot="0">
              <a:off x="6215875" y="-190500"/>
              <a:ext cx="1280072" cy="2269540"/>
            </a:xfrm>
            <a:prstGeom prst="rect">
              <a:avLst/>
            </a:prstGeom>
          </p:spPr>
          <p:txBody>
            <a:bodyPr anchor="t" rtlCol="false" tIns="0" lIns="0" bIns="0" rIns="0">
              <a:spAutoFit/>
            </a:bodyPr>
            <a:lstStyle/>
            <a:p>
              <a:pPr algn="ctr">
                <a:lnSpc>
                  <a:spcPts val="14398"/>
                </a:lnSpc>
                <a:spcBef>
                  <a:spcPct val="0"/>
                </a:spcBef>
              </a:pPr>
              <a:r>
                <a:rPr lang="en-US" b="true" sz="10284">
                  <a:solidFill>
                    <a:srgbClr val="00BF63"/>
                  </a:solidFill>
                  <a:latin typeface="Montserrat Bold"/>
                  <a:ea typeface="Montserrat Bold"/>
                  <a:cs typeface="Montserrat Bold"/>
                  <a:sym typeface="Montserrat Bold"/>
                </a:rPr>
                <a:t>R</a:t>
              </a:r>
            </a:p>
          </p:txBody>
        </p:sp>
        <p:sp>
          <p:nvSpPr>
            <p:cNvPr name="TextBox 24" id="24"/>
            <p:cNvSpPr txBox="true"/>
            <p:nvPr/>
          </p:nvSpPr>
          <p:spPr>
            <a:xfrm rot="0">
              <a:off x="8367841" y="-190500"/>
              <a:ext cx="1076316" cy="2269540"/>
            </a:xfrm>
            <a:prstGeom prst="rect">
              <a:avLst/>
            </a:prstGeom>
          </p:spPr>
          <p:txBody>
            <a:bodyPr anchor="t" rtlCol="false" tIns="0" lIns="0" bIns="0" rIns="0">
              <a:spAutoFit/>
            </a:bodyPr>
            <a:lstStyle/>
            <a:p>
              <a:pPr algn="ctr">
                <a:lnSpc>
                  <a:spcPts val="14398"/>
                </a:lnSpc>
                <a:spcBef>
                  <a:spcPct val="0"/>
                </a:spcBef>
              </a:pPr>
              <a:r>
                <a:rPr lang="en-US" b="true" sz="10284">
                  <a:solidFill>
                    <a:srgbClr val="15A7B5"/>
                  </a:solidFill>
                  <a:latin typeface="Montserrat Bold"/>
                  <a:ea typeface="Montserrat Bold"/>
                  <a:cs typeface="Montserrat Bold"/>
                  <a:sym typeface="Montserrat Bold"/>
                </a:rPr>
                <a:t>T</a:t>
              </a:r>
            </a:p>
          </p:txBody>
        </p:sp>
        <p:sp>
          <p:nvSpPr>
            <p:cNvPr name="Freeform 25" id="25"/>
            <p:cNvSpPr/>
            <p:nvPr/>
          </p:nvSpPr>
          <p:spPr>
            <a:xfrm flipH="false" flipV="false" rot="0">
              <a:off x="2585584" y="1836519"/>
              <a:ext cx="485042" cy="485042"/>
            </a:xfrm>
            <a:custGeom>
              <a:avLst/>
              <a:gdLst/>
              <a:ahLst/>
              <a:cxnLst/>
              <a:rect r="r" b="b" t="t" l="l"/>
              <a:pathLst>
                <a:path h="485042" w="485042">
                  <a:moveTo>
                    <a:pt x="0" y="0"/>
                  </a:moveTo>
                  <a:lnTo>
                    <a:pt x="485042" y="0"/>
                  </a:lnTo>
                  <a:lnTo>
                    <a:pt x="485042" y="485042"/>
                  </a:lnTo>
                  <a:lnTo>
                    <a:pt x="0" y="4850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6" id="26"/>
            <p:cNvSpPr/>
            <p:nvPr/>
          </p:nvSpPr>
          <p:spPr>
            <a:xfrm flipH="false" flipV="false" rot="0">
              <a:off x="4633879" y="1836519"/>
              <a:ext cx="485042" cy="485042"/>
            </a:xfrm>
            <a:custGeom>
              <a:avLst/>
              <a:gdLst/>
              <a:ahLst/>
              <a:cxnLst/>
              <a:rect r="r" b="b" t="t" l="l"/>
              <a:pathLst>
                <a:path h="485042" w="485042">
                  <a:moveTo>
                    <a:pt x="0" y="0"/>
                  </a:moveTo>
                  <a:lnTo>
                    <a:pt x="485041" y="0"/>
                  </a:lnTo>
                  <a:lnTo>
                    <a:pt x="485041" y="485042"/>
                  </a:lnTo>
                  <a:lnTo>
                    <a:pt x="0" y="4850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7" id="27"/>
            <p:cNvSpPr/>
            <p:nvPr/>
          </p:nvSpPr>
          <p:spPr>
            <a:xfrm flipH="false" flipV="false" rot="0">
              <a:off x="6637514" y="1836519"/>
              <a:ext cx="485042" cy="485042"/>
            </a:xfrm>
            <a:custGeom>
              <a:avLst/>
              <a:gdLst/>
              <a:ahLst/>
              <a:cxnLst/>
              <a:rect r="r" b="b" t="t" l="l"/>
              <a:pathLst>
                <a:path h="485042" w="485042">
                  <a:moveTo>
                    <a:pt x="0" y="0"/>
                  </a:moveTo>
                  <a:lnTo>
                    <a:pt x="485041" y="0"/>
                  </a:lnTo>
                  <a:lnTo>
                    <a:pt x="485041" y="485042"/>
                  </a:lnTo>
                  <a:lnTo>
                    <a:pt x="0" y="4850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8" id="28"/>
            <p:cNvSpPr/>
            <p:nvPr/>
          </p:nvSpPr>
          <p:spPr>
            <a:xfrm flipH="false" flipV="false" rot="0">
              <a:off x="8663478" y="1836519"/>
              <a:ext cx="485042" cy="485042"/>
            </a:xfrm>
            <a:custGeom>
              <a:avLst/>
              <a:gdLst/>
              <a:ahLst/>
              <a:cxnLst/>
              <a:rect r="r" b="b" t="t" l="l"/>
              <a:pathLst>
                <a:path h="485042" w="485042">
                  <a:moveTo>
                    <a:pt x="0" y="0"/>
                  </a:moveTo>
                  <a:lnTo>
                    <a:pt x="485042" y="0"/>
                  </a:lnTo>
                  <a:lnTo>
                    <a:pt x="485042" y="485042"/>
                  </a:lnTo>
                  <a:lnTo>
                    <a:pt x="0" y="48504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29" id="29"/>
            <p:cNvSpPr/>
            <p:nvPr/>
          </p:nvSpPr>
          <p:spPr>
            <a:xfrm flipH="false" flipV="false" rot="0">
              <a:off x="249976" y="2817819"/>
              <a:ext cx="1206517" cy="1206517"/>
            </a:xfrm>
            <a:custGeom>
              <a:avLst/>
              <a:gdLst/>
              <a:ahLst/>
              <a:cxnLst/>
              <a:rect r="r" b="b" t="t" l="l"/>
              <a:pathLst>
                <a:path h="1206517" w="1206517">
                  <a:moveTo>
                    <a:pt x="0" y="0"/>
                  </a:moveTo>
                  <a:lnTo>
                    <a:pt x="1206517" y="0"/>
                  </a:lnTo>
                  <a:lnTo>
                    <a:pt x="1206517" y="1206517"/>
                  </a:lnTo>
                  <a:lnTo>
                    <a:pt x="0" y="1206517"/>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30" id="30"/>
            <p:cNvSpPr/>
            <p:nvPr/>
          </p:nvSpPr>
          <p:spPr>
            <a:xfrm flipH="false" flipV="false" rot="0">
              <a:off x="2334868" y="3064766"/>
              <a:ext cx="986474" cy="959570"/>
            </a:xfrm>
            <a:custGeom>
              <a:avLst/>
              <a:gdLst/>
              <a:ahLst/>
              <a:cxnLst/>
              <a:rect r="r" b="b" t="t" l="l"/>
              <a:pathLst>
                <a:path h="959570" w="986474">
                  <a:moveTo>
                    <a:pt x="0" y="0"/>
                  </a:moveTo>
                  <a:lnTo>
                    <a:pt x="986474" y="0"/>
                  </a:lnTo>
                  <a:lnTo>
                    <a:pt x="986474" y="959570"/>
                  </a:lnTo>
                  <a:lnTo>
                    <a:pt x="0" y="95957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31" id="31"/>
            <p:cNvSpPr/>
            <p:nvPr/>
          </p:nvSpPr>
          <p:spPr>
            <a:xfrm flipH="false" flipV="false" rot="0">
              <a:off x="4437551" y="2887435"/>
              <a:ext cx="833038" cy="1136900"/>
            </a:xfrm>
            <a:custGeom>
              <a:avLst/>
              <a:gdLst/>
              <a:ahLst/>
              <a:cxnLst/>
              <a:rect r="r" b="b" t="t" l="l"/>
              <a:pathLst>
                <a:path h="1136900" w="833038">
                  <a:moveTo>
                    <a:pt x="0" y="0"/>
                  </a:moveTo>
                  <a:lnTo>
                    <a:pt x="833038" y="0"/>
                  </a:lnTo>
                  <a:lnTo>
                    <a:pt x="833038" y="1136901"/>
                  </a:lnTo>
                  <a:lnTo>
                    <a:pt x="0" y="113690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32" id="32"/>
            <p:cNvSpPr/>
            <p:nvPr/>
          </p:nvSpPr>
          <p:spPr>
            <a:xfrm flipH="false" flipV="false" rot="0">
              <a:off x="6478416" y="2967444"/>
              <a:ext cx="803237" cy="1056891"/>
            </a:xfrm>
            <a:custGeom>
              <a:avLst/>
              <a:gdLst/>
              <a:ahLst/>
              <a:cxnLst/>
              <a:rect r="r" b="b" t="t" l="l"/>
              <a:pathLst>
                <a:path h="1056891" w="803237">
                  <a:moveTo>
                    <a:pt x="0" y="0"/>
                  </a:moveTo>
                  <a:lnTo>
                    <a:pt x="803237" y="0"/>
                  </a:lnTo>
                  <a:lnTo>
                    <a:pt x="803237" y="1056892"/>
                  </a:lnTo>
                  <a:lnTo>
                    <a:pt x="0" y="1056892"/>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33" id="33"/>
            <p:cNvSpPr/>
            <p:nvPr/>
          </p:nvSpPr>
          <p:spPr>
            <a:xfrm flipH="false" flipV="false" rot="0">
              <a:off x="8413235" y="3038808"/>
              <a:ext cx="985528" cy="985528"/>
            </a:xfrm>
            <a:custGeom>
              <a:avLst/>
              <a:gdLst/>
              <a:ahLst/>
              <a:cxnLst/>
              <a:rect r="r" b="b" t="t" l="l"/>
              <a:pathLst>
                <a:path h="985528" w="985528">
                  <a:moveTo>
                    <a:pt x="0" y="0"/>
                  </a:moveTo>
                  <a:lnTo>
                    <a:pt x="985528" y="0"/>
                  </a:lnTo>
                  <a:lnTo>
                    <a:pt x="985528" y="985528"/>
                  </a:lnTo>
                  <a:lnTo>
                    <a:pt x="0" y="98552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p:spPr>
        </p:sp>
        <p:sp>
          <p:nvSpPr>
            <p:cNvPr name="TextBox 34" id="34"/>
            <p:cNvSpPr txBox="true"/>
            <p:nvPr/>
          </p:nvSpPr>
          <p:spPr>
            <a:xfrm rot="0">
              <a:off x="249976" y="-190500"/>
              <a:ext cx="1111121" cy="2269540"/>
            </a:xfrm>
            <a:prstGeom prst="rect">
              <a:avLst/>
            </a:prstGeom>
          </p:spPr>
          <p:txBody>
            <a:bodyPr anchor="t" rtlCol="false" tIns="0" lIns="0" bIns="0" rIns="0">
              <a:spAutoFit/>
            </a:bodyPr>
            <a:lstStyle/>
            <a:p>
              <a:pPr algn="ctr">
                <a:lnSpc>
                  <a:spcPts val="14398"/>
                </a:lnSpc>
                <a:spcBef>
                  <a:spcPct val="0"/>
                </a:spcBef>
              </a:pPr>
              <a:r>
                <a:rPr lang="en-US" b="true" sz="10284">
                  <a:solidFill>
                    <a:srgbClr val="C00000"/>
                  </a:solidFill>
                  <a:latin typeface="Montserrat Bold"/>
                  <a:ea typeface="Montserrat Bold"/>
                  <a:cs typeface="Montserrat Bold"/>
                  <a:sym typeface="Montserrat Bold"/>
                </a:rPr>
                <a:t>S</a:t>
              </a:r>
            </a:p>
          </p:txBody>
        </p:sp>
        <p:sp>
          <p:nvSpPr>
            <p:cNvPr name="TextBox 35" id="35"/>
            <p:cNvSpPr txBox="true"/>
            <p:nvPr/>
          </p:nvSpPr>
          <p:spPr>
            <a:xfrm rot="0">
              <a:off x="685940" y="1799255"/>
              <a:ext cx="224048" cy="522306"/>
            </a:xfrm>
            <a:prstGeom prst="rect">
              <a:avLst/>
            </a:prstGeom>
          </p:spPr>
          <p:txBody>
            <a:bodyPr anchor="t" rtlCol="false" tIns="0" lIns="0" bIns="0" rIns="0">
              <a:spAutoFit/>
            </a:bodyPr>
            <a:lstStyle/>
            <a:p>
              <a:pPr algn="ctr">
                <a:lnSpc>
                  <a:spcPts val="3312"/>
                </a:lnSpc>
                <a:spcBef>
                  <a:spcPct val="0"/>
                </a:spcBef>
              </a:pPr>
              <a:r>
                <a:rPr lang="en-US" b="true" sz="2366">
                  <a:solidFill>
                    <a:srgbClr val="000000"/>
                  </a:solidFill>
                  <a:latin typeface="Noto Serif Display Bold"/>
                  <a:ea typeface="Noto Serif Display Bold"/>
                  <a:cs typeface="Noto Serif Display Bold"/>
                  <a:sym typeface="Noto Serif Display Bold"/>
                </a:rPr>
                <a:t>1</a:t>
              </a:r>
            </a:p>
          </p:txBody>
        </p:sp>
        <p:sp>
          <p:nvSpPr>
            <p:cNvPr name="TextBox 36" id="36"/>
            <p:cNvSpPr txBox="true"/>
            <p:nvPr/>
          </p:nvSpPr>
          <p:spPr>
            <a:xfrm rot="0">
              <a:off x="2738571" y="1799255"/>
              <a:ext cx="224048" cy="522306"/>
            </a:xfrm>
            <a:prstGeom prst="rect">
              <a:avLst/>
            </a:prstGeom>
          </p:spPr>
          <p:txBody>
            <a:bodyPr anchor="t" rtlCol="false" tIns="0" lIns="0" bIns="0" rIns="0">
              <a:spAutoFit/>
            </a:bodyPr>
            <a:lstStyle/>
            <a:p>
              <a:pPr algn="ctr">
                <a:lnSpc>
                  <a:spcPts val="3312"/>
                </a:lnSpc>
                <a:spcBef>
                  <a:spcPct val="0"/>
                </a:spcBef>
              </a:pPr>
              <a:r>
                <a:rPr lang="en-US" b="true" sz="2366">
                  <a:solidFill>
                    <a:srgbClr val="000000"/>
                  </a:solidFill>
                  <a:latin typeface="Noto Serif Display Bold"/>
                  <a:ea typeface="Noto Serif Display Bold"/>
                  <a:cs typeface="Noto Serif Display Bold"/>
                  <a:sym typeface="Noto Serif Display Bold"/>
                </a:rPr>
                <a:t>2</a:t>
              </a:r>
            </a:p>
          </p:txBody>
        </p:sp>
        <p:sp>
          <p:nvSpPr>
            <p:cNvPr name="TextBox 37" id="37"/>
            <p:cNvSpPr txBox="true"/>
            <p:nvPr/>
          </p:nvSpPr>
          <p:spPr>
            <a:xfrm rot="0">
              <a:off x="4764376" y="1799255"/>
              <a:ext cx="224048" cy="522306"/>
            </a:xfrm>
            <a:prstGeom prst="rect">
              <a:avLst/>
            </a:prstGeom>
          </p:spPr>
          <p:txBody>
            <a:bodyPr anchor="t" rtlCol="false" tIns="0" lIns="0" bIns="0" rIns="0">
              <a:spAutoFit/>
            </a:bodyPr>
            <a:lstStyle/>
            <a:p>
              <a:pPr algn="ctr">
                <a:lnSpc>
                  <a:spcPts val="3312"/>
                </a:lnSpc>
                <a:spcBef>
                  <a:spcPct val="0"/>
                </a:spcBef>
              </a:pPr>
              <a:r>
                <a:rPr lang="en-US" b="true" sz="2366">
                  <a:solidFill>
                    <a:srgbClr val="000000"/>
                  </a:solidFill>
                  <a:latin typeface="Noto Serif Display Bold"/>
                  <a:ea typeface="Noto Serif Display Bold"/>
                  <a:cs typeface="Noto Serif Display Bold"/>
                  <a:sym typeface="Noto Serif Display Bold"/>
                </a:rPr>
                <a:t>3</a:t>
              </a:r>
            </a:p>
          </p:txBody>
        </p:sp>
        <p:sp>
          <p:nvSpPr>
            <p:cNvPr name="TextBox 38" id="38"/>
            <p:cNvSpPr txBox="true"/>
            <p:nvPr/>
          </p:nvSpPr>
          <p:spPr>
            <a:xfrm rot="0">
              <a:off x="6768010" y="1788894"/>
              <a:ext cx="224048" cy="522306"/>
            </a:xfrm>
            <a:prstGeom prst="rect">
              <a:avLst/>
            </a:prstGeom>
          </p:spPr>
          <p:txBody>
            <a:bodyPr anchor="t" rtlCol="false" tIns="0" lIns="0" bIns="0" rIns="0">
              <a:spAutoFit/>
            </a:bodyPr>
            <a:lstStyle/>
            <a:p>
              <a:pPr algn="ctr">
                <a:lnSpc>
                  <a:spcPts val="3312"/>
                </a:lnSpc>
                <a:spcBef>
                  <a:spcPct val="0"/>
                </a:spcBef>
              </a:pPr>
              <a:r>
                <a:rPr lang="en-US" b="true" sz="2366">
                  <a:solidFill>
                    <a:srgbClr val="000000"/>
                  </a:solidFill>
                  <a:latin typeface="Noto Serif Display Bold"/>
                  <a:ea typeface="Noto Serif Display Bold"/>
                  <a:cs typeface="Noto Serif Display Bold"/>
                  <a:sym typeface="Noto Serif Display Bold"/>
                </a:rPr>
                <a:t>4</a:t>
              </a:r>
            </a:p>
          </p:txBody>
        </p:sp>
        <p:sp>
          <p:nvSpPr>
            <p:cNvPr name="TextBox 39" id="39"/>
            <p:cNvSpPr txBox="true"/>
            <p:nvPr/>
          </p:nvSpPr>
          <p:spPr>
            <a:xfrm rot="0">
              <a:off x="8817720" y="1799255"/>
              <a:ext cx="224048" cy="522306"/>
            </a:xfrm>
            <a:prstGeom prst="rect">
              <a:avLst/>
            </a:prstGeom>
          </p:spPr>
          <p:txBody>
            <a:bodyPr anchor="t" rtlCol="false" tIns="0" lIns="0" bIns="0" rIns="0">
              <a:spAutoFit/>
            </a:bodyPr>
            <a:lstStyle/>
            <a:p>
              <a:pPr algn="ctr">
                <a:lnSpc>
                  <a:spcPts val="3312"/>
                </a:lnSpc>
                <a:spcBef>
                  <a:spcPct val="0"/>
                </a:spcBef>
              </a:pPr>
              <a:r>
                <a:rPr lang="en-US" b="true" sz="2366">
                  <a:solidFill>
                    <a:srgbClr val="000000"/>
                  </a:solidFill>
                  <a:latin typeface="Noto Serif Display Bold"/>
                  <a:ea typeface="Noto Serif Display Bold"/>
                  <a:cs typeface="Noto Serif Display Bold"/>
                  <a:sym typeface="Noto Serif Display Bold"/>
                </a:rPr>
                <a:t>5</a:t>
              </a:r>
            </a:p>
          </p:txBody>
        </p:sp>
        <p:sp>
          <p:nvSpPr>
            <p:cNvPr name="TextBox 40" id="40"/>
            <p:cNvSpPr txBox="true"/>
            <p:nvPr/>
          </p:nvSpPr>
          <p:spPr>
            <a:xfrm rot="0">
              <a:off x="0" y="2452775"/>
              <a:ext cx="1611073" cy="276426"/>
            </a:xfrm>
            <a:prstGeom prst="rect">
              <a:avLst/>
            </a:prstGeom>
          </p:spPr>
          <p:txBody>
            <a:bodyPr anchor="t" rtlCol="false" tIns="0" lIns="0" bIns="0" rIns="0">
              <a:spAutoFit/>
            </a:bodyPr>
            <a:lstStyle/>
            <a:p>
              <a:pPr algn="ctr">
                <a:lnSpc>
                  <a:spcPts val="1783"/>
                </a:lnSpc>
                <a:spcBef>
                  <a:spcPct val="0"/>
                </a:spcBef>
              </a:pPr>
              <a:r>
                <a:rPr lang="en-US" b="true" sz="1274">
                  <a:solidFill>
                    <a:srgbClr val="FFFFFF"/>
                  </a:solidFill>
                  <a:latin typeface="Montserrat Bold"/>
                  <a:ea typeface="Montserrat Bold"/>
                  <a:cs typeface="Montserrat Bold"/>
                  <a:sym typeface="Montserrat Bold"/>
                </a:rPr>
                <a:t>Specific</a:t>
              </a:r>
            </a:p>
          </p:txBody>
        </p:sp>
        <p:sp>
          <p:nvSpPr>
            <p:cNvPr name="TextBox 41" id="41"/>
            <p:cNvSpPr txBox="true"/>
            <p:nvPr/>
          </p:nvSpPr>
          <p:spPr>
            <a:xfrm rot="0">
              <a:off x="2022569" y="2452775"/>
              <a:ext cx="1611073" cy="276426"/>
            </a:xfrm>
            <a:prstGeom prst="rect">
              <a:avLst/>
            </a:prstGeom>
          </p:spPr>
          <p:txBody>
            <a:bodyPr anchor="t" rtlCol="false" tIns="0" lIns="0" bIns="0" rIns="0">
              <a:spAutoFit/>
            </a:bodyPr>
            <a:lstStyle/>
            <a:p>
              <a:pPr algn="ctr">
                <a:lnSpc>
                  <a:spcPts val="1783"/>
                </a:lnSpc>
                <a:spcBef>
                  <a:spcPct val="0"/>
                </a:spcBef>
              </a:pPr>
              <a:r>
                <a:rPr lang="en-US" b="true" sz="1274">
                  <a:solidFill>
                    <a:srgbClr val="FFFFFF"/>
                  </a:solidFill>
                  <a:latin typeface="Montserrat Bold"/>
                  <a:ea typeface="Montserrat Bold"/>
                  <a:cs typeface="Montserrat Bold"/>
                  <a:sym typeface="Montserrat Bold"/>
                </a:rPr>
                <a:t>Measurable</a:t>
              </a:r>
            </a:p>
          </p:txBody>
        </p:sp>
        <p:sp>
          <p:nvSpPr>
            <p:cNvPr name="TextBox 42" id="42"/>
            <p:cNvSpPr txBox="true"/>
            <p:nvPr/>
          </p:nvSpPr>
          <p:spPr>
            <a:xfrm rot="0">
              <a:off x="4070863" y="2452775"/>
              <a:ext cx="1611073" cy="276426"/>
            </a:xfrm>
            <a:prstGeom prst="rect">
              <a:avLst/>
            </a:prstGeom>
          </p:spPr>
          <p:txBody>
            <a:bodyPr anchor="t" rtlCol="false" tIns="0" lIns="0" bIns="0" rIns="0">
              <a:spAutoFit/>
            </a:bodyPr>
            <a:lstStyle/>
            <a:p>
              <a:pPr algn="ctr">
                <a:lnSpc>
                  <a:spcPts val="1783"/>
                </a:lnSpc>
                <a:spcBef>
                  <a:spcPct val="0"/>
                </a:spcBef>
              </a:pPr>
              <a:r>
                <a:rPr lang="en-US" b="true" sz="1274">
                  <a:solidFill>
                    <a:srgbClr val="FFFFFF"/>
                  </a:solidFill>
                  <a:latin typeface="Montserrat Bold"/>
                  <a:ea typeface="Montserrat Bold"/>
                  <a:cs typeface="Montserrat Bold"/>
                  <a:sym typeface="Montserrat Bold"/>
                </a:rPr>
                <a:t>Achievable</a:t>
              </a:r>
            </a:p>
          </p:txBody>
        </p:sp>
        <p:sp>
          <p:nvSpPr>
            <p:cNvPr name="TextBox 43" id="43"/>
            <p:cNvSpPr txBox="true"/>
            <p:nvPr/>
          </p:nvSpPr>
          <p:spPr>
            <a:xfrm rot="0">
              <a:off x="6074498" y="2452775"/>
              <a:ext cx="1611073" cy="276426"/>
            </a:xfrm>
            <a:prstGeom prst="rect">
              <a:avLst/>
            </a:prstGeom>
          </p:spPr>
          <p:txBody>
            <a:bodyPr anchor="t" rtlCol="false" tIns="0" lIns="0" bIns="0" rIns="0">
              <a:spAutoFit/>
            </a:bodyPr>
            <a:lstStyle/>
            <a:p>
              <a:pPr algn="ctr">
                <a:lnSpc>
                  <a:spcPts val="1783"/>
                </a:lnSpc>
                <a:spcBef>
                  <a:spcPct val="0"/>
                </a:spcBef>
              </a:pPr>
              <a:r>
                <a:rPr lang="en-US" b="true" sz="1274">
                  <a:solidFill>
                    <a:srgbClr val="FFFFFF"/>
                  </a:solidFill>
                  <a:latin typeface="Montserrat Bold"/>
                  <a:ea typeface="Montserrat Bold"/>
                  <a:cs typeface="Montserrat Bold"/>
                  <a:sym typeface="Montserrat Bold"/>
                </a:rPr>
                <a:t>Relevant</a:t>
              </a:r>
            </a:p>
          </p:txBody>
        </p:sp>
        <p:sp>
          <p:nvSpPr>
            <p:cNvPr name="TextBox 44" id="44"/>
            <p:cNvSpPr txBox="true"/>
            <p:nvPr/>
          </p:nvSpPr>
          <p:spPr>
            <a:xfrm rot="0">
              <a:off x="8124207" y="2452775"/>
              <a:ext cx="1611073" cy="276426"/>
            </a:xfrm>
            <a:prstGeom prst="rect">
              <a:avLst/>
            </a:prstGeom>
          </p:spPr>
          <p:txBody>
            <a:bodyPr anchor="t" rtlCol="false" tIns="0" lIns="0" bIns="0" rIns="0">
              <a:spAutoFit/>
            </a:bodyPr>
            <a:lstStyle/>
            <a:p>
              <a:pPr algn="ctr">
                <a:lnSpc>
                  <a:spcPts val="1783"/>
                </a:lnSpc>
                <a:spcBef>
                  <a:spcPct val="0"/>
                </a:spcBef>
              </a:pPr>
              <a:r>
                <a:rPr lang="en-US" b="true" sz="1274">
                  <a:solidFill>
                    <a:srgbClr val="FFFFFF"/>
                  </a:solidFill>
                  <a:latin typeface="Montserrat Bold"/>
                  <a:ea typeface="Montserrat Bold"/>
                  <a:cs typeface="Montserrat Bold"/>
                  <a:sym typeface="Montserrat Bold"/>
                </a:rPr>
                <a:t>Timebound</a:t>
              </a:r>
            </a:p>
          </p:txBody>
        </p:sp>
      </p:grpSp>
      <p:sp>
        <p:nvSpPr>
          <p:cNvPr name="TextBox 45" id="45"/>
          <p:cNvSpPr txBox="true"/>
          <p:nvPr/>
        </p:nvSpPr>
        <p:spPr>
          <a:xfrm rot="0">
            <a:off x="995521" y="1575957"/>
            <a:ext cx="6999695" cy="2808227"/>
          </a:xfrm>
          <a:prstGeom prst="rect">
            <a:avLst/>
          </a:prstGeom>
        </p:spPr>
        <p:txBody>
          <a:bodyPr anchor="t" rtlCol="false" tIns="0" lIns="0" bIns="0" rIns="0">
            <a:spAutoFit/>
          </a:bodyPr>
          <a:lstStyle/>
          <a:p>
            <a:pPr algn="l">
              <a:lnSpc>
                <a:spcPts val="7303"/>
              </a:lnSpc>
            </a:pPr>
            <a:r>
              <a:rPr lang="en-US" sz="6700" b="true">
                <a:solidFill>
                  <a:srgbClr val="48276D"/>
                </a:solidFill>
                <a:latin typeface="Montserrat Heavy"/>
                <a:ea typeface="Montserrat Heavy"/>
                <a:cs typeface="Montserrat Heavy"/>
                <a:sym typeface="Montserrat Heavy"/>
              </a:rPr>
              <a:t>3. SMART CHO MỤC TIÊU HỌC TẬP</a:t>
            </a:r>
          </a:p>
        </p:txBody>
      </p:sp>
      <p:sp>
        <p:nvSpPr>
          <p:cNvPr name="TextBox 46" id="46"/>
          <p:cNvSpPr txBox="true"/>
          <p:nvPr/>
        </p:nvSpPr>
        <p:spPr>
          <a:xfrm rot="0">
            <a:off x="9144000" y="5374833"/>
            <a:ext cx="6999695" cy="3541395"/>
          </a:xfrm>
          <a:prstGeom prst="rect">
            <a:avLst/>
          </a:prstGeom>
        </p:spPr>
        <p:txBody>
          <a:bodyPr anchor="t" rtlCol="false" tIns="0" lIns="0" bIns="0" rIns="0">
            <a:spAutoFit/>
          </a:bodyPr>
          <a:lstStyle/>
          <a:p>
            <a:pPr algn="just">
              <a:lnSpc>
                <a:spcPts val="3900"/>
              </a:lnSpc>
            </a:pPr>
            <a:r>
              <a:rPr lang="en-US" sz="2600" b="true">
                <a:solidFill>
                  <a:srgbClr val="545454"/>
                </a:solidFill>
                <a:latin typeface="Roboto Bold"/>
                <a:ea typeface="Roboto Bold"/>
                <a:cs typeface="Roboto Bold"/>
                <a:sym typeface="Roboto Bold"/>
              </a:rPr>
              <a:t>Ví dụ:</a:t>
            </a:r>
          </a:p>
          <a:p>
            <a:pPr algn="just">
              <a:lnSpc>
                <a:spcPts val="3000"/>
              </a:lnSpc>
            </a:pPr>
            <a:r>
              <a:rPr lang="en-US" sz="2000">
                <a:solidFill>
                  <a:srgbClr val="545454"/>
                </a:solidFill>
                <a:latin typeface="Roboto"/>
                <a:ea typeface="Roboto"/>
                <a:cs typeface="Roboto"/>
                <a:sym typeface="Roboto"/>
              </a:rPr>
              <a:t>Mục tiêu mơ hồ: “Sinh viên hiểu về video e-learning.”</a:t>
            </a:r>
          </a:p>
          <a:p>
            <a:pPr algn="just">
              <a:lnSpc>
                <a:spcPts val="3000"/>
              </a:lnSpc>
            </a:pPr>
            <a:r>
              <a:rPr lang="en-US" sz="2000">
                <a:solidFill>
                  <a:srgbClr val="545454"/>
                </a:solidFill>
                <a:latin typeface="Roboto"/>
                <a:ea typeface="Roboto"/>
                <a:cs typeface="Roboto"/>
                <a:sym typeface="Roboto"/>
              </a:rPr>
              <a:t>Mục tiêu SMART: “Sau 30 phút học, sinh viên giải thích được 3 vai trò của video trong e-learning và thiết kế được 1 kịch bản video ngắn 2 phút.”</a:t>
            </a:r>
          </a:p>
          <a:p>
            <a:pPr algn="just">
              <a:lnSpc>
                <a:spcPts val="3000"/>
              </a:lnSpc>
            </a:pPr>
            <a:r>
              <a:rPr lang="en-US" sz="2000">
                <a:solidFill>
                  <a:srgbClr val="545454"/>
                </a:solidFill>
                <a:latin typeface="Roboto"/>
                <a:ea typeface="Roboto"/>
                <a:cs typeface="Roboto"/>
                <a:sym typeface="Roboto"/>
              </a:rPr>
              <a:t>SMART giúp:</a:t>
            </a:r>
          </a:p>
          <a:p>
            <a:pPr algn="just" marL="431802" indent="-215901" lvl="1">
              <a:lnSpc>
                <a:spcPts val="3000"/>
              </a:lnSpc>
              <a:buFont typeface="Arial"/>
              <a:buChar char="•"/>
            </a:pPr>
            <a:r>
              <a:rPr lang="en-US" sz="2000">
                <a:solidFill>
                  <a:srgbClr val="545454"/>
                </a:solidFill>
                <a:latin typeface="Roboto"/>
                <a:ea typeface="Roboto"/>
                <a:cs typeface="Roboto"/>
                <a:sym typeface="Roboto"/>
              </a:rPr>
              <a:t>Tránh mục tiêu chung chung</a:t>
            </a:r>
          </a:p>
          <a:p>
            <a:pPr algn="just" marL="431802" indent="-215901" lvl="1">
              <a:lnSpc>
                <a:spcPts val="3000"/>
              </a:lnSpc>
              <a:buFont typeface="Arial"/>
              <a:buChar char="•"/>
            </a:pPr>
            <a:r>
              <a:rPr lang="en-US" sz="2000">
                <a:solidFill>
                  <a:srgbClr val="545454"/>
                </a:solidFill>
                <a:latin typeface="Roboto"/>
                <a:ea typeface="Roboto"/>
                <a:cs typeface="Roboto"/>
                <a:sym typeface="Roboto"/>
              </a:rPr>
              <a:t>Giúp đánh giá chính xác kết quả học tập</a:t>
            </a:r>
          </a:p>
          <a:p>
            <a:pPr algn="just" marL="431802" indent="-215901" lvl="1">
              <a:lnSpc>
                <a:spcPts val="3000"/>
              </a:lnSpc>
              <a:buFont typeface="Arial"/>
              <a:buChar char="•"/>
            </a:pPr>
            <a:r>
              <a:rPr lang="en-US" sz="2000">
                <a:solidFill>
                  <a:srgbClr val="545454"/>
                </a:solidFill>
                <a:latin typeface="Roboto"/>
                <a:ea typeface="Roboto"/>
                <a:cs typeface="Roboto"/>
                <a:sym typeface="Roboto"/>
              </a:rPr>
              <a:t>Hỗ trợ xây dựng nội dung video đúng trọng tâm</a:t>
            </a:r>
          </a:p>
        </p:txBody>
      </p:sp>
      <p:sp>
        <p:nvSpPr>
          <p:cNvPr name="Freeform 47" id="47"/>
          <p:cNvSpPr/>
          <p:nvPr/>
        </p:nvSpPr>
        <p:spPr>
          <a:xfrm flipH="false" flipV="false" rot="0">
            <a:off x="16696854" y="583203"/>
            <a:ext cx="562446" cy="375305"/>
          </a:xfrm>
          <a:custGeom>
            <a:avLst/>
            <a:gdLst/>
            <a:ahLst/>
            <a:cxnLst/>
            <a:rect r="r" b="b" t="t" l="l"/>
            <a:pathLst>
              <a:path h="375305" w="562446">
                <a:moveTo>
                  <a:pt x="0" y="0"/>
                </a:moveTo>
                <a:lnTo>
                  <a:pt x="562446" y="0"/>
                </a:lnTo>
                <a:lnTo>
                  <a:pt x="562446" y="375304"/>
                </a:lnTo>
                <a:lnTo>
                  <a:pt x="0" y="375304"/>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p:spPr>
      </p:sp>
      <p:sp>
        <p:nvSpPr>
          <p:cNvPr name="TextBox 48" id="48"/>
          <p:cNvSpPr txBox="true"/>
          <p:nvPr/>
        </p:nvSpPr>
        <p:spPr>
          <a:xfrm rot="0">
            <a:off x="13318642" y="592747"/>
            <a:ext cx="3378212" cy="365760"/>
          </a:xfrm>
          <a:prstGeom prst="rect">
            <a:avLst/>
          </a:prstGeom>
        </p:spPr>
        <p:txBody>
          <a:bodyPr anchor="t" rtlCol="false" tIns="0" lIns="0" bIns="0" rIns="0">
            <a:spAutoFit/>
          </a:bodyPr>
          <a:lstStyle/>
          <a:p>
            <a:pPr algn="ctr">
              <a:lnSpc>
                <a:spcPts val="2939"/>
              </a:lnSpc>
            </a:pPr>
            <a:r>
              <a:rPr lang="en-US" sz="2099">
                <a:solidFill>
                  <a:srgbClr val="48276D"/>
                </a:solidFill>
                <a:latin typeface="Roboto"/>
                <a:ea typeface="Roboto"/>
                <a:cs typeface="Roboto"/>
                <a:sym typeface="Roboto"/>
              </a:rPr>
              <a:t>Đại học Bách Khoa Hà Nội</a:t>
            </a:r>
          </a:p>
        </p:txBody>
      </p:sp>
      <p:sp>
        <p:nvSpPr>
          <p:cNvPr name="TextBox 49" id="49"/>
          <p:cNvSpPr txBox="true"/>
          <p:nvPr/>
        </p:nvSpPr>
        <p:spPr>
          <a:xfrm rot="0">
            <a:off x="1028700" y="9051607"/>
            <a:ext cx="1327923" cy="365760"/>
          </a:xfrm>
          <a:prstGeom prst="rect">
            <a:avLst/>
          </a:prstGeom>
        </p:spPr>
        <p:txBody>
          <a:bodyPr anchor="t" rtlCol="false" tIns="0" lIns="0" bIns="0" rIns="0">
            <a:spAutoFit/>
          </a:bodyPr>
          <a:lstStyle/>
          <a:p>
            <a:pPr algn="l">
              <a:lnSpc>
                <a:spcPts val="2939"/>
              </a:lnSpc>
            </a:pPr>
            <a:r>
              <a:rPr lang="en-US" sz="2099">
                <a:solidFill>
                  <a:srgbClr val="48276D"/>
                </a:solidFill>
                <a:latin typeface="Roboto"/>
                <a:ea typeface="Roboto"/>
                <a:cs typeface="Roboto"/>
                <a:sym typeface="Roboto"/>
              </a:rPr>
              <a:t>E-learning</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a:off x="7173478" y="9258300"/>
            <a:ext cx="10085822" cy="0"/>
          </a:xfrm>
          <a:prstGeom prst="line">
            <a:avLst/>
          </a:prstGeom>
          <a:ln cap="flat" w="19050">
            <a:solidFill>
              <a:srgbClr val="48276D"/>
            </a:solidFill>
            <a:prstDash val="solid"/>
            <a:headEnd type="none" len="sm" w="sm"/>
            <a:tailEnd type="none" len="sm" w="sm"/>
          </a:ln>
        </p:spPr>
      </p:sp>
      <p:sp>
        <p:nvSpPr>
          <p:cNvPr name="Freeform 3" id="3"/>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sp>
        <p:nvSpPr>
          <p:cNvPr name="AutoShape 4" id="4"/>
          <p:cNvSpPr/>
          <p:nvPr/>
        </p:nvSpPr>
        <p:spPr>
          <a:xfrm flipV="true">
            <a:off x="1028700" y="1047750"/>
            <a:ext cx="16230600" cy="0"/>
          </a:xfrm>
          <a:prstGeom prst="line">
            <a:avLst/>
          </a:prstGeom>
          <a:ln cap="flat" w="19050">
            <a:solidFill>
              <a:srgbClr val="48276D"/>
            </a:solidFill>
            <a:prstDash val="solid"/>
            <a:headEnd type="none" len="sm" w="sm"/>
            <a:tailEnd type="none" len="sm" w="sm"/>
          </a:ln>
        </p:spPr>
      </p:sp>
      <p:grpSp>
        <p:nvGrpSpPr>
          <p:cNvPr name="Group 5" id="5"/>
          <p:cNvGrpSpPr/>
          <p:nvPr/>
        </p:nvGrpSpPr>
        <p:grpSpPr>
          <a:xfrm rot="0">
            <a:off x="17243189" y="2833442"/>
            <a:ext cx="1044811" cy="5724034"/>
            <a:chOff x="0" y="0"/>
            <a:chExt cx="275176" cy="1507565"/>
          </a:xfrm>
        </p:grpSpPr>
        <p:sp>
          <p:nvSpPr>
            <p:cNvPr name="Freeform 6" id="6"/>
            <p:cNvSpPr/>
            <p:nvPr/>
          </p:nvSpPr>
          <p:spPr>
            <a:xfrm flipH="false" flipV="false" rot="0">
              <a:off x="0" y="0"/>
              <a:ext cx="275176" cy="1507565"/>
            </a:xfrm>
            <a:custGeom>
              <a:avLst/>
              <a:gdLst/>
              <a:ahLst/>
              <a:cxnLst/>
              <a:rect r="r" b="b" t="t" l="l"/>
              <a:pathLst>
                <a:path h="1507565" w="275176">
                  <a:moveTo>
                    <a:pt x="0" y="0"/>
                  </a:moveTo>
                  <a:lnTo>
                    <a:pt x="275176" y="0"/>
                  </a:lnTo>
                  <a:lnTo>
                    <a:pt x="275176" y="1507565"/>
                  </a:lnTo>
                  <a:lnTo>
                    <a:pt x="0" y="15075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7" id="7"/>
            <p:cNvSpPr txBox="true"/>
            <p:nvPr/>
          </p:nvSpPr>
          <p:spPr>
            <a:xfrm>
              <a:off x="0" y="-38100"/>
              <a:ext cx="275176" cy="1545665"/>
            </a:xfrm>
            <a:prstGeom prst="rect">
              <a:avLst/>
            </a:prstGeom>
          </p:spPr>
          <p:txBody>
            <a:bodyPr anchor="ctr" rtlCol="false" tIns="50800" lIns="50800" bIns="50800" rIns="50800"/>
            <a:lstStyle/>
            <a:p>
              <a:pPr algn="ctr">
                <a:lnSpc>
                  <a:spcPts val="2659"/>
                </a:lnSpc>
                <a:spcBef>
                  <a:spcPct val="0"/>
                </a:spcBef>
              </a:pPr>
            </a:p>
          </p:txBody>
        </p:sp>
      </p:grpSp>
      <p:sp>
        <p:nvSpPr>
          <p:cNvPr name="Freeform 8" id="8"/>
          <p:cNvSpPr/>
          <p:nvPr/>
        </p:nvSpPr>
        <p:spPr>
          <a:xfrm flipH="false" flipV="false" rot="-5400000">
            <a:off x="17461217" y="3939708"/>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flipV="true">
            <a:off x="17807273" y="4933828"/>
            <a:ext cx="0" cy="1044644"/>
          </a:xfrm>
          <a:prstGeom prst="line">
            <a:avLst/>
          </a:prstGeom>
          <a:ln cap="flat" w="19050">
            <a:solidFill>
              <a:srgbClr val="FFFFFF"/>
            </a:solidFill>
            <a:prstDash val="solid"/>
            <a:headEnd type="none" len="sm" w="sm"/>
            <a:tailEnd type="none" len="sm" w="sm"/>
          </a:ln>
        </p:spPr>
      </p:sp>
      <p:sp>
        <p:nvSpPr>
          <p:cNvPr name="Freeform 10" id="10"/>
          <p:cNvSpPr/>
          <p:nvPr/>
        </p:nvSpPr>
        <p:spPr>
          <a:xfrm flipH="false" flipV="false" rot="-5400000">
            <a:off x="17461217" y="6862572"/>
            <a:ext cx="711163" cy="177791"/>
          </a:xfrm>
          <a:custGeom>
            <a:avLst/>
            <a:gdLst/>
            <a:ahLst/>
            <a:cxnLst/>
            <a:rect r="r" b="b" t="t" l="l"/>
            <a:pathLst>
              <a:path h="177791" w="711163">
                <a:moveTo>
                  <a:pt x="0" y="0"/>
                </a:moveTo>
                <a:lnTo>
                  <a:pt x="711162" y="0"/>
                </a:lnTo>
                <a:lnTo>
                  <a:pt x="711162" y="177791"/>
                </a:lnTo>
                <a:lnTo>
                  <a:pt x="0" y="17779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1" id="11"/>
          <p:cNvGrpSpPr/>
          <p:nvPr/>
        </p:nvGrpSpPr>
        <p:grpSpPr>
          <a:xfrm rot="0">
            <a:off x="9380286" y="5143500"/>
            <a:ext cx="6663215" cy="3507346"/>
            <a:chOff x="0" y="0"/>
            <a:chExt cx="817459" cy="430290"/>
          </a:xfrm>
        </p:grpSpPr>
        <p:sp>
          <p:nvSpPr>
            <p:cNvPr name="Freeform 12" id="12"/>
            <p:cNvSpPr/>
            <p:nvPr/>
          </p:nvSpPr>
          <p:spPr>
            <a:xfrm flipH="false" flipV="false" rot="0">
              <a:off x="0" y="0"/>
              <a:ext cx="817459" cy="430290"/>
            </a:xfrm>
            <a:custGeom>
              <a:avLst/>
              <a:gdLst/>
              <a:ahLst/>
              <a:cxnLst/>
              <a:rect r="r" b="b" t="t" l="l"/>
              <a:pathLst>
                <a:path h="430290" w="817459">
                  <a:moveTo>
                    <a:pt x="0" y="0"/>
                  </a:moveTo>
                  <a:lnTo>
                    <a:pt x="817459" y="0"/>
                  </a:lnTo>
                  <a:lnTo>
                    <a:pt x="817459" y="430290"/>
                  </a:lnTo>
                  <a:lnTo>
                    <a:pt x="0" y="430290"/>
                  </a:lnTo>
                  <a:close/>
                </a:path>
              </a:pathLst>
            </a:custGeom>
            <a:blipFill>
              <a:blip r:embed="rId6"/>
              <a:stretch>
                <a:fillRect l="-6114" t="-16282" r="-15432" b="-13606"/>
              </a:stretch>
            </a:blipFill>
          </p:spPr>
        </p:sp>
      </p:grpSp>
      <p:grpSp>
        <p:nvGrpSpPr>
          <p:cNvPr name="Group 13" id="13"/>
          <p:cNvGrpSpPr/>
          <p:nvPr/>
        </p:nvGrpSpPr>
        <p:grpSpPr>
          <a:xfrm rot="0">
            <a:off x="7173478" y="5630588"/>
            <a:ext cx="1044811" cy="2641758"/>
            <a:chOff x="0" y="0"/>
            <a:chExt cx="275176" cy="695772"/>
          </a:xfrm>
        </p:grpSpPr>
        <p:sp>
          <p:nvSpPr>
            <p:cNvPr name="Freeform 14" id="14"/>
            <p:cNvSpPr/>
            <p:nvPr/>
          </p:nvSpPr>
          <p:spPr>
            <a:xfrm flipH="false" flipV="false" rot="0">
              <a:off x="0" y="0"/>
              <a:ext cx="275176" cy="695772"/>
            </a:xfrm>
            <a:custGeom>
              <a:avLst/>
              <a:gdLst/>
              <a:ahLst/>
              <a:cxnLst/>
              <a:rect r="r" b="b" t="t" l="l"/>
              <a:pathLst>
                <a:path h="695772" w="275176">
                  <a:moveTo>
                    <a:pt x="0" y="0"/>
                  </a:moveTo>
                  <a:lnTo>
                    <a:pt x="275176" y="0"/>
                  </a:lnTo>
                  <a:lnTo>
                    <a:pt x="275176" y="695772"/>
                  </a:lnTo>
                  <a:lnTo>
                    <a:pt x="0" y="695772"/>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15" id="15"/>
            <p:cNvSpPr txBox="true"/>
            <p:nvPr/>
          </p:nvSpPr>
          <p:spPr>
            <a:xfrm>
              <a:off x="0" y="-38100"/>
              <a:ext cx="275176" cy="733872"/>
            </a:xfrm>
            <a:prstGeom prst="rect">
              <a:avLst/>
            </a:prstGeom>
          </p:spPr>
          <p:txBody>
            <a:bodyPr anchor="ctr" rtlCol="false" tIns="50800" lIns="50800" bIns="50800" rIns="50800"/>
            <a:lstStyle/>
            <a:p>
              <a:pPr algn="ctr">
                <a:lnSpc>
                  <a:spcPts val="2659"/>
                </a:lnSpc>
                <a:spcBef>
                  <a:spcPct val="0"/>
                </a:spcBef>
              </a:pPr>
            </a:p>
          </p:txBody>
        </p:sp>
      </p:grpSp>
      <p:grpSp>
        <p:nvGrpSpPr>
          <p:cNvPr name="Group 16" id="16"/>
          <p:cNvGrpSpPr/>
          <p:nvPr/>
        </p:nvGrpSpPr>
        <p:grpSpPr>
          <a:xfrm rot="0">
            <a:off x="15521095" y="5607671"/>
            <a:ext cx="1044811" cy="2579004"/>
            <a:chOff x="0" y="0"/>
            <a:chExt cx="275176" cy="679244"/>
          </a:xfrm>
        </p:grpSpPr>
        <p:sp>
          <p:nvSpPr>
            <p:cNvPr name="Freeform 17" id="17"/>
            <p:cNvSpPr/>
            <p:nvPr/>
          </p:nvSpPr>
          <p:spPr>
            <a:xfrm flipH="false" flipV="false" rot="0">
              <a:off x="0" y="0"/>
              <a:ext cx="275176" cy="679244"/>
            </a:xfrm>
            <a:custGeom>
              <a:avLst/>
              <a:gdLst/>
              <a:ahLst/>
              <a:cxnLst/>
              <a:rect r="r" b="b" t="t" l="l"/>
              <a:pathLst>
                <a:path h="679244" w="275176">
                  <a:moveTo>
                    <a:pt x="0" y="0"/>
                  </a:moveTo>
                  <a:lnTo>
                    <a:pt x="275176" y="0"/>
                  </a:lnTo>
                  <a:lnTo>
                    <a:pt x="275176" y="679244"/>
                  </a:lnTo>
                  <a:lnTo>
                    <a:pt x="0" y="679244"/>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18" id="18"/>
            <p:cNvSpPr txBox="true"/>
            <p:nvPr/>
          </p:nvSpPr>
          <p:spPr>
            <a:xfrm>
              <a:off x="0" y="-38100"/>
              <a:ext cx="275176" cy="717344"/>
            </a:xfrm>
            <a:prstGeom prst="rect">
              <a:avLst/>
            </a:prstGeom>
          </p:spPr>
          <p:txBody>
            <a:bodyPr anchor="ctr" rtlCol="false" tIns="50800" lIns="50800" bIns="50800" rIns="50800"/>
            <a:lstStyle/>
            <a:p>
              <a:pPr algn="ctr">
                <a:lnSpc>
                  <a:spcPts val="2659"/>
                </a:lnSpc>
                <a:spcBef>
                  <a:spcPct val="0"/>
                </a:spcBef>
              </a:pPr>
            </a:p>
          </p:txBody>
        </p:sp>
      </p:grpSp>
      <p:sp>
        <p:nvSpPr>
          <p:cNvPr name="AutoShape 19" id="19"/>
          <p:cNvSpPr/>
          <p:nvPr/>
        </p:nvSpPr>
        <p:spPr>
          <a:xfrm flipH="true" flipV="true">
            <a:off x="2365868" y="4933828"/>
            <a:ext cx="0" cy="4636183"/>
          </a:xfrm>
          <a:prstGeom prst="line">
            <a:avLst/>
          </a:prstGeom>
          <a:ln cap="flat" w="19050">
            <a:solidFill>
              <a:srgbClr val="48276D"/>
            </a:solidFill>
            <a:prstDash val="sysDash"/>
            <a:headEnd type="none" len="sm" w="sm"/>
            <a:tailEnd type="none" len="sm" w="sm"/>
          </a:ln>
        </p:spPr>
      </p:sp>
      <p:sp>
        <p:nvSpPr>
          <p:cNvPr name="AutoShape 20" id="20"/>
          <p:cNvSpPr/>
          <p:nvPr/>
        </p:nvSpPr>
        <p:spPr>
          <a:xfrm flipV="true">
            <a:off x="4456563" y="4933515"/>
            <a:ext cx="0" cy="4636809"/>
          </a:xfrm>
          <a:prstGeom prst="line">
            <a:avLst/>
          </a:prstGeom>
          <a:ln cap="flat" w="19050">
            <a:solidFill>
              <a:srgbClr val="48276D"/>
            </a:solidFill>
            <a:prstDash val="sysDash"/>
            <a:headEnd type="none" len="sm" w="sm"/>
            <a:tailEnd type="none" len="sm" w="sm"/>
          </a:ln>
        </p:spPr>
      </p:sp>
      <p:sp>
        <p:nvSpPr>
          <p:cNvPr name="TextBox 21" id="21"/>
          <p:cNvSpPr txBox="true"/>
          <p:nvPr/>
        </p:nvSpPr>
        <p:spPr>
          <a:xfrm rot="0">
            <a:off x="4551813" y="5035334"/>
            <a:ext cx="1731132" cy="392430"/>
          </a:xfrm>
          <a:prstGeom prst="rect">
            <a:avLst/>
          </a:prstGeom>
        </p:spPr>
        <p:txBody>
          <a:bodyPr anchor="t" rtlCol="false" tIns="0" lIns="0" bIns="0" rIns="0">
            <a:spAutoFit/>
          </a:bodyPr>
          <a:lstStyle/>
          <a:p>
            <a:pPr algn="just">
              <a:lnSpc>
                <a:spcPts val="3299"/>
              </a:lnSpc>
            </a:pPr>
            <a:r>
              <a:rPr lang="en-US" sz="2199" b="true">
                <a:solidFill>
                  <a:srgbClr val="545454"/>
                </a:solidFill>
                <a:latin typeface="Roboto Bold"/>
                <a:ea typeface="Roboto Bold"/>
                <a:cs typeface="Roboto Bold"/>
                <a:sym typeface="Roboto Bold"/>
              </a:rPr>
              <a:t>Mục tiêu tốt</a:t>
            </a:r>
          </a:p>
        </p:txBody>
      </p:sp>
      <p:sp>
        <p:nvSpPr>
          <p:cNvPr name="AutoShape 22" id="22"/>
          <p:cNvSpPr/>
          <p:nvPr/>
        </p:nvSpPr>
        <p:spPr>
          <a:xfrm flipH="true" flipV="true">
            <a:off x="688042" y="5630588"/>
            <a:ext cx="5537752" cy="0"/>
          </a:xfrm>
          <a:prstGeom prst="line">
            <a:avLst/>
          </a:prstGeom>
          <a:ln cap="flat" w="19050">
            <a:solidFill>
              <a:srgbClr val="48276D"/>
            </a:solidFill>
            <a:prstDash val="sysDash"/>
            <a:headEnd type="none" len="sm" w="sm"/>
            <a:tailEnd type="none" len="sm" w="sm"/>
          </a:ln>
        </p:spPr>
      </p:sp>
      <p:sp>
        <p:nvSpPr>
          <p:cNvPr name="AutoShape 23" id="23"/>
          <p:cNvSpPr/>
          <p:nvPr/>
        </p:nvSpPr>
        <p:spPr>
          <a:xfrm flipH="true" flipV="true">
            <a:off x="688042" y="6290133"/>
            <a:ext cx="5537752" cy="0"/>
          </a:xfrm>
          <a:prstGeom prst="line">
            <a:avLst/>
          </a:prstGeom>
          <a:ln cap="flat" w="19050">
            <a:solidFill>
              <a:srgbClr val="48276D"/>
            </a:solidFill>
            <a:prstDash val="sysDash"/>
            <a:headEnd type="none" len="sm" w="sm"/>
            <a:tailEnd type="none" len="sm" w="sm"/>
          </a:ln>
        </p:spPr>
      </p:sp>
      <p:sp>
        <p:nvSpPr>
          <p:cNvPr name="AutoShape 24" id="24"/>
          <p:cNvSpPr/>
          <p:nvPr/>
        </p:nvSpPr>
        <p:spPr>
          <a:xfrm flipH="true" flipV="true">
            <a:off x="688042" y="6949678"/>
            <a:ext cx="5537752" cy="0"/>
          </a:xfrm>
          <a:prstGeom prst="line">
            <a:avLst/>
          </a:prstGeom>
          <a:ln cap="flat" w="19050">
            <a:solidFill>
              <a:srgbClr val="48276D"/>
            </a:solidFill>
            <a:prstDash val="sysDash"/>
            <a:headEnd type="none" len="sm" w="sm"/>
            <a:tailEnd type="none" len="sm" w="sm"/>
          </a:ln>
        </p:spPr>
      </p:sp>
      <p:sp>
        <p:nvSpPr>
          <p:cNvPr name="AutoShape 25" id="25"/>
          <p:cNvSpPr/>
          <p:nvPr/>
        </p:nvSpPr>
        <p:spPr>
          <a:xfrm flipH="true" flipV="true">
            <a:off x="688042" y="7933988"/>
            <a:ext cx="5537752" cy="0"/>
          </a:xfrm>
          <a:prstGeom prst="line">
            <a:avLst/>
          </a:prstGeom>
          <a:ln cap="flat" w="19050">
            <a:solidFill>
              <a:srgbClr val="48276D"/>
            </a:solidFill>
            <a:prstDash val="sysDash"/>
            <a:headEnd type="none" len="sm" w="sm"/>
            <a:tailEnd type="none" len="sm" w="sm"/>
          </a:ln>
        </p:spPr>
      </p:sp>
      <p:sp>
        <p:nvSpPr>
          <p:cNvPr name="AutoShape 26" id="26"/>
          <p:cNvSpPr/>
          <p:nvPr/>
        </p:nvSpPr>
        <p:spPr>
          <a:xfrm flipH="true" flipV="true">
            <a:off x="688042" y="8593118"/>
            <a:ext cx="5537752" cy="0"/>
          </a:xfrm>
          <a:prstGeom prst="line">
            <a:avLst/>
          </a:prstGeom>
          <a:ln cap="flat" w="19050">
            <a:solidFill>
              <a:srgbClr val="48276D"/>
            </a:solidFill>
            <a:prstDash val="sysDash"/>
            <a:headEnd type="none" len="sm" w="sm"/>
            <a:tailEnd type="none" len="sm" w="sm"/>
          </a:ln>
        </p:spPr>
      </p:sp>
      <p:sp>
        <p:nvSpPr>
          <p:cNvPr name="AutoShape 27" id="27"/>
          <p:cNvSpPr/>
          <p:nvPr/>
        </p:nvSpPr>
        <p:spPr>
          <a:xfrm flipH="true" flipV="true">
            <a:off x="688042" y="4899185"/>
            <a:ext cx="5537752" cy="0"/>
          </a:xfrm>
          <a:prstGeom prst="line">
            <a:avLst/>
          </a:prstGeom>
          <a:ln cap="flat" w="19050">
            <a:solidFill>
              <a:srgbClr val="48276D"/>
            </a:solidFill>
            <a:prstDash val="sysDash"/>
            <a:headEnd type="none" len="sm" w="sm"/>
            <a:tailEnd type="none" len="sm" w="sm"/>
          </a:ln>
        </p:spPr>
      </p:sp>
      <p:sp>
        <p:nvSpPr>
          <p:cNvPr name="AutoShape 28" id="28"/>
          <p:cNvSpPr/>
          <p:nvPr/>
        </p:nvSpPr>
        <p:spPr>
          <a:xfrm flipH="true" flipV="true">
            <a:off x="678517" y="4899185"/>
            <a:ext cx="0" cy="4636183"/>
          </a:xfrm>
          <a:prstGeom prst="line">
            <a:avLst/>
          </a:prstGeom>
          <a:ln cap="flat" w="19050">
            <a:solidFill>
              <a:srgbClr val="48276D"/>
            </a:solidFill>
            <a:prstDash val="sysDash"/>
            <a:headEnd type="none" len="sm" w="sm"/>
            <a:tailEnd type="none" len="sm" w="sm"/>
          </a:ln>
        </p:spPr>
      </p:sp>
      <p:sp>
        <p:nvSpPr>
          <p:cNvPr name="AutoShape 29" id="29"/>
          <p:cNvSpPr/>
          <p:nvPr/>
        </p:nvSpPr>
        <p:spPr>
          <a:xfrm flipH="true" flipV="true">
            <a:off x="6244844" y="4899185"/>
            <a:ext cx="0" cy="4636183"/>
          </a:xfrm>
          <a:prstGeom prst="line">
            <a:avLst/>
          </a:prstGeom>
          <a:ln cap="flat" w="19050">
            <a:solidFill>
              <a:srgbClr val="48276D"/>
            </a:solidFill>
            <a:prstDash val="sysDash"/>
            <a:headEnd type="none" len="sm" w="sm"/>
            <a:tailEnd type="none" len="sm" w="sm"/>
          </a:ln>
        </p:spPr>
      </p:sp>
      <p:sp>
        <p:nvSpPr>
          <p:cNvPr name="AutoShape 30" id="30"/>
          <p:cNvSpPr/>
          <p:nvPr/>
        </p:nvSpPr>
        <p:spPr>
          <a:xfrm flipH="true" flipV="true">
            <a:off x="678517" y="9579849"/>
            <a:ext cx="5537752" cy="0"/>
          </a:xfrm>
          <a:prstGeom prst="line">
            <a:avLst/>
          </a:prstGeom>
          <a:ln cap="flat" w="19050">
            <a:solidFill>
              <a:srgbClr val="48276D"/>
            </a:solidFill>
            <a:prstDash val="sysDash"/>
            <a:headEnd type="none" len="sm" w="sm"/>
            <a:tailEnd type="none" len="sm" w="sm"/>
          </a:ln>
        </p:spPr>
      </p:sp>
      <p:sp>
        <p:nvSpPr>
          <p:cNvPr name="TextBox 31" id="31"/>
          <p:cNvSpPr txBox="true"/>
          <p:nvPr/>
        </p:nvSpPr>
        <p:spPr>
          <a:xfrm rot="0">
            <a:off x="646816" y="1793400"/>
            <a:ext cx="8497184" cy="2791460"/>
          </a:xfrm>
          <a:prstGeom prst="rect">
            <a:avLst/>
          </a:prstGeom>
        </p:spPr>
        <p:txBody>
          <a:bodyPr anchor="t" rtlCol="false" tIns="0" lIns="0" bIns="0" rIns="0">
            <a:spAutoFit/>
          </a:bodyPr>
          <a:lstStyle/>
          <a:p>
            <a:pPr algn="l">
              <a:lnSpc>
                <a:spcPts val="7345"/>
              </a:lnSpc>
            </a:pPr>
            <a:r>
              <a:rPr lang="en-US" sz="6500" b="true">
                <a:solidFill>
                  <a:srgbClr val="48276D"/>
                </a:solidFill>
                <a:latin typeface="Montserrat Heavy"/>
                <a:ea typeface="Montserrat Heavy"/>
                <a:cs typeface="Montserrat Heavy"/>
                <a:sym typeface="Montserrat Heavy"/>
              </a:rPr>
              <a:t>4. SO SÁNH MỤC TIÊU KÉM VS MỤC TIÊU TỐT</a:t>
            </a:r>
          </a:p>
        </p:txBody>
      </p:sp>
      <p:sp>
        <p:nvSpPr>
          <p:cNvPr name="TextBox 32" id="32"/>
          <p:cNvSpPr txBox="true"/>
          <p:nvPr/>
        </p:nvSpPr>
        <p:spPr>
          <a:xfrm rot="0">
            <a:off x="9380286" y="2489065"/>
            <a:ext cx="6805689" cy="2301240"/>
          </a:xfrm>
          <a:prstGeom prst="rect">
            <a:avLst/>
          </a:prstGeom>
        </p:spPr>
        <p:txBody>
          <a:bodyPr anchor="t" rtlCol="false" tIns="0" lIns="0" bIns="0" rIns="0">
            <a:spAutoFit/>
          </a:bodyPr>
          <a:lstStyle/>
          <a:p>
            <a:pPr algn="just">
              <a:lnSpc>
                <a:spcPts val="3299"/>
              </a:lnSpc>
            </a:pPr>
            <a:r>
              <a:rPr lang="en-US" sz="2199">
                <a:solidFill>
                  <a:srgbClr val="545454"/>
                </a:solidFill>
                <a:latin typeface="Roboto"/>
                <a:ea typeface="Roboto"/>
                <a:cs typeface="Roboto"/>
                <a:sym typeface="Roboto"/>
              </a:rPr>
              <a:t> </a:t>
            </a:r>
            <a:r>
              <a:rPr lang="en-US" sz="2199" b="true">
                <a:solidFill>
                  <a:srgbClr val="545454"/>
                </a:solidFill>
                <a:latin typeface="Roboto Bold"/>
                <a:ea typeface="Roboto Bold"/>
                <a:cs typeface="Roboto Bold"/>
                <a:sym typeface="Roboto Bold"/>
              </a:rPr>
              <a:t>Ví dụ:</a:t>
            </a:r>
          </a:p>
          <a:p>
            <a:pPr algn="just">
              <a:lnSpc>
                <a:spcPts val="3000"/>
              </a:lnSpc>
            </a:pPr>
            <a:r>
              <a:rPr lang="en-US" sz="2000">
                <a:solidFill>
                  <a:srgbClr val="545454"/>
                </a:solidFill>
                <a:latin typeface="Roboto"/>
                <a:ea typeface="Roboto"/>
                <a:cs typeface="Roboto"/>
                <a:sym typeface="Roboto"/>
              </a:rPr>
              <a:t> Mục tiêu kém:</a:t>
            </a:r>
          </a:p>
          <a:p>
            <a:pPr algn="just">
              <a:lnSpc>
                <a:spcPts val="3000"/>
              </a:lnSpc>
            </a:pPr>
            <a:r>
              <a:rPr lang="en-US" sz="2000">
                <a:solidFill>
                  <a:srgbClr val="545454"/>
                </a:solidFill>
                <a:latin typeface="Roboto"/>
                <a:ea typeface="Roboto"/>
                <a:cs typeface="Roboto"/>
                <a:sym typeface="Roboto"/>
              </a:rPr>
              <a:t>“Sinh viên hiểu về an toàn mạng.”</a:t>
            </a:r>
          </a:p>
          <a:p>
            <a:pPr algn="just">
              <a:lnSpc>
                <a:spcPts val="3000"/>
              </a:lnSpc>
            </a:pPr>
            <a:r>
              <a:rPr lang="en-US" sz="2000">
                <a:solidFill>
                  <a:srgbClr val="545454"/>
                </a:solidFill>
                <a:latin typeface="Roboto"/>
                <a:ea typeface="Roboto"/>
                <a:cs typeface="Roboto"/>
                <a:sym typeface="Roboto"/>
              </a:rPr>
              <a:t> Mục tiêu tốt:</a:t>
            </a:r>
          </a:p>
          <a:p>
            <a:pPr algn="just">
              <a:lnSpc>
                <a:spcPts val="3000"/>
              </a:lnSpc>
            </a:pPr>
            <a:r>
              <a:rPr lang="en-US" sz="2000">
                <a:solidFill>
                  <a:srgbClr val="545454"/>
                </a:solidFill>
                <a:latin typeface="Roboto"/>
                <a:ea typeface="Roboto"/>
                <a:cs typeface="Roboto"/>
                <a:sym typeface="Roboto"/>
              </a:rPr>
              <a:t>“Sau bài học, sinh viên nhận diện được 5 nguy cơ mất an toàn mạng và thực hiện đúng 3 thao tác bảo mật cơ bản.”</a:t>
            </a:r>
          </a:p>
        </p:txBody>
      </p:sp>
      <p:sp>
        <p:nvSpPr>
          <p:cNvPr name="TextBox 33" id="33"/>
          <p:cNvSpPr txBox="true"/>
          <p:nvPr/>
        </p:nvSpPr>
        <p:spPr>
          <a:xfrm rot="0">
            <a:off x="976780" y="5038133"/>
            <a:ext cx="1090826" cy="392430"/>
          </a:xfrm>
          <a:prstGeom prst="rect">
            <a:avLst/>
          </a:prstGeom>
        </p:spPr>
        <p:txBody>
          <a:bodyPr anchor="t" rtlCol="false" tIns="0" lIns="0" bIns="0" rIns="0">
            <a:spAutoFit/>
          </a:bodyPr>
          <a:lstStyle/>
          <a:p>
            <a:pPr algn="just">
              <a:lnSpc>
                <a:spcPts val="3299"/>
              </a:lnSpc>
            </a:pPr>
            <a:r>
              <a:rPr lang="en-US" sz="2199" b="true">
                <a:solidFill>
                  <a:srgbClr val="545454"/>
                </a:solidFill>
                <a:latin typeface="Roboto Bold"/>
                <a:ea typeface="Roboto Bold"/>
                <a:cs typeface="Roboto Bold"/>
                <a:sym typeface="Roboto Bold"/>
              </a:rPr>
              <a:t>Tiêu chí</a:t>
            </a:r>
          </a:p>
        </p:txBody>
      </p:sp>
      <p:sp>
        <p:nvSpPr>
          <p:cNvPr name="TextBox 34" id="34"/>
          <p:cNvSpPr txBox="true"/>
          <p:nvPr/>
        </p:nvSpPr>
        <p:spPr>
          <a:xfrm rot="0">
            <a:off x="2457810" y="5038133"/>
            <a:ext cx="1865403" cy="392430"/>
          </a:xfrm>
          <a:prstGeom prst="rect">
            <a:avLst/>
          </a:prstGeom>
        </p:spPr>
        <p:txBody>
          <a:bodyPr anchor="t" rtlCol="false" tIns="0" lIns="0" bIns="0" rIns="0">
            <a:spAutoFit/>
          </a:bodyPr>
          <a:lstStyle/>
          <a:p>
            <a:pPr algn="just">
              <a:lnSpc>
                <a:spcPts val="3299"/>
              </a:lnSpc>
            </a:pPr>
            <a:r>
              <a:rPr lang="en-US" sz="2199" b="true">
                <a:solidFill>
                  <a:srgbClr val="545454"/>
                </a:solidFill>
                <a:latin typeface="Roboto Bold"/>
                <a:ea typeface="Roboto Bold"/>
                <a:cs typeface="Roboto Bold"/>
                <a:sym typeface="Roboto Bold"/>
              </a:rPr>
              <a:t>Mục tiêu kém</a:t>
            </a:r>
          </a:p>
        </p:txBody>
      </p:sp>
      <p:sp>
        <p:nvSpPr>
          <p:cNvPr name="TextBox 35" id="35"/>
          <p:cNvSpPr txBox="true"/>
          <p:nvPr/>
        </p:nvSpPr>
        <p:spPr>
          <a:xfrm rot="0">
            <a:off x="766466" y="5748919"/>
            <a:ext cx="1923778" cy="392430"/>
          </a:xfrm>
          <a:prstGeom prst="rect">
            <a:avLst/>
          </a:prstGeom>
        </p:spPr>
        <p:txBody>
          <a:bodyPr anchor="t" rtlCol="false" tIns="0" lIns="0" bIns="0" rIns="0">
            <a:spAutoFit/>
          </a:bodyPr>
          <a:lstStyle/>
          <a:p>
            <a:pPr algn="l">
              <a:lnSpc>
                <a:spcPts val="3299"/>
              </a:lnSpc>
            </a:pPr>
            <a:r>
              <a:rPr lang="en-US" sz="2199" b="true">
                <a:solidFill>
                  <a:srgbClr val="545454"/>
                </a:solidFill>
                <a:latin typeface="Roboto Bold"/>
                <a:ea typeface="Roboto Bold"/>
                <a:cs typeface="Roboto Bold"/>
                <a:sym typeface="Roboto Bold"/>
              </a:rPr>
              <a:t>Độ rõ ràng</a:t>
            </a:r>
          </a:p>
        </p:txBody>
      </p:sp>
      <p:sp>
        <p:nvSpPr>
          <p:cNvPr name="TextBox 36" id="36"/>
          <p:cNvSpPr txBox="true"/>
          <p:nvPr/>
        </p:nvSpPr>
        <p:spPr>
          <a:xfrm rot="0">
            <a:off x="746110" y="6395323"/>
            <a:ext cx="1923778" cy="392430"/>
          </a:xfrm>
          <a:prstGeom prst="rect">
            <a:avLst/>
          </a:prstGeom>
        </p:spPr>
        <p:txBody>
          <a:bodyPr anchor="t" rtlCol="false" tIns="0" lIns="0" bIns="0" rIns="0">
            <a:spAutoFit/>
          </a:bodyPr>
          <a:lstStyle/>
          <a:p>
            <a:pPr algn="l">
              <a:lnSpc>
                <a:spcPts val="3299"/>
              </a:lnSpc>
            </a:pPr>
            <a:r>
              <a:rPr lang="en-US" sz="2199" b="true">
                <a:solidFill>
                  <a:srgbClr val="545454"/>
                </a:solidFill>
                <a:latin typeface="Roboto Bold"/>
                <a:ea typeface="Roboto Bold"/>
                <a:cs typeface="Roboto Bold"/>
                <a:sym typeface="Roboto Bold"/>
              </a:rPr>
              <a:t>Đo lường</a:t>
            </a:r>
          </a:p>
        </p:txBody>
      </p:sp>
      <p:sp>
        <p:nvSpPr>
          <p:cNvPr name="TextBox 37" id="37"/>
          <p:cNvSpPr txBox="true"/>
          <p:nvPr/>
        </p:nvSpPr>
        <p:spPr>
          <a:xfrm rot="0">
            <a:off x="746110" y="7206853"/>
            <a:ext cx="1923778" cy="392430"/>
          </a:xfrm>
          <a:prstGeom prst="rect">
            <a:avLst/>
          </a:prstGeom>
        </p:spPr>
        <p:txBody>
          <a:bodyPr anchor="t" rtlCol="false" tIns="0" lIns="0" bIns="0" rIns="0">
            <a:spAutoFit/>
          </a:bodyPr>
          <a:lstStyle/>
          <a:p>
            <a:pPr algn="l">
              <a:lnSpc>
                <a:spcPts val="3299"/>
              </a:lnSpc>
            </a:pPr>
            <a:r>
              <a:rPr lang="en-US" sz="2199" b="true">
                <a:solidFill>
                  <a:srgbClr val="545454"/>
                </a:solidFill>
                <a:latin typeface="Roboto Bold"/>
                <a:ea typeface="Roboto Bold"/>
                <a:cs typeface="Roboto Bold"/>
                <a:sym typeface="Roboto Bold"/>
              </a:rPr>
              <a:t>Hành động</a:t>
            </a:r>
          </a:p>
        </p:txBody>
      </p:sp>
      <p:sp>
        <p:nvSpPr>
          <p:cNvPr name="TextBox 38" id="38"/>
          <p:cNvSpPr txBox="true"/>
          <p:nvPr/>
        </p:nvSpPr>
        <p:spPr>
          <a:xfrm rot="0">
            <a:off x="746110" y="8029238"/>
            <a:ext cx="1923778" cy="392430"/>
          </a:xfrm>
          <a:prstGeom prst="rect">
            <a:avLst/>
          </a:prstGeom>
        </p:spPr>
        <p:txBody>
          <a:bodyPr anchor="t" rtlCol="false" tIns="0" lIns="0" bIns="0" rIns="0">
            <a:spAutoFit/>
          </a:bodyPr>
          <a:lstStyle/>
          <a:p>
            <a:pPr algn="l">
              <a:lnSpc>
                <a:spcPts val="3299"/>
              </a:lnSpc>
            </a:pPr>
            <a:r>
              <a:rPr lang="en-US" sz="2199" b="true">
                <a:solidFill>
                  <a:srgbClr val="545454"/>
                </a:solidFill>
                <a:latin typeface="Roboto Bold"/>
                <a:ea typeface="Roboto Bold"/>
                <a:cs typeface="Roboto Bold"/>
                <a:sym typeface="Roboto Bold"/>
              </a:rPr>
              <a:t>Khả thi</a:t>
            </a:r>
          </a:p>
        </p:txBody>
      </p:sp>
      <p:sp>
        <p:nvSpPr>
          <p:cNvPr name="TextBox 39" id="39"/>
          <p:cNvSpPr txBox="true"/>
          <p:nvPr/>
        </p:nvSpPr>
        <p:spPr>
          <a:xfrm rot="0">
            <a:off x="766466" y="8730278"/>
            <a:ext cx="1923778" cy="392430"/>
          </a:xfrm>
          <a:prstGeom prst="rect">
            <a:avLst/>
          </a:prstGeom>
        </p:spPr>
        <p:txBody>
          <a:bodyPr anchor="t" rtlCol="false" tIns="0" lIns="0" bIns="0" rIns="0">
            <a:spAutoFit/>
          </a:bodyPr>
          <a:lstStyle/>
          <a:p>
            <a:pPr algn="l">
              <a:lnSpc>
                <a:spcPts val="3299"/>
              </a:lnSpc>
            </a:pPr>
            <a:r>
              <a:rPr lang="en-US" sz="2199" b="true">
                <a:solidFill>
                  <a:srgbClr val="545454"/>
                </a:solidFill>
                <a:latin typeface="Roboto Bold"/>
                <a:ea typeface="Roboto Bold"/>
                <a:cs typeface="Roboto Bold"/>
                <a:sym typeface="Roboto Bold"/>
              </a:rPr>
              <a:t>Đáng giá</a:t>
            </a:r>
          </a:p>
        </p:txBody>
      </p:sp>
      <p:sp>
        <p:nvSpPr>
          <p:cNvPr name="TextBox 40" id="40"/>
          <p:cNvSpPr txBox="true"/>
          <p:nvPr/>
        </p:nvSpPr>
        <p:spPr>
          <a:xfrm rot="0">
            <a:off x="2387299" y="5735778"/>
            <a:ext cx="1923778" cy="392430"/>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Mơ hồ</a:t>
            </a:r>
          </a:p>
        </p:txBody>
      </p:sp>
      <p:sp>
        <p:nvSpPr>
          <p:cNvPr name="TextBox 41" id="41"/>
          <p:cNvSpPr txBox="true"/>
          <p:nvPr/>
        </p:nvSpPr>
        <p:spPr>
          <a:xfrm rot="0">
            <a:off x="2387299" y="6394908"/>
            <a:ext cx="1923778" cy="392430"/>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Không đo được</a:t>
            </a:r>
          </a:p>
        </p:txBody>
      </p:sp>
      <p:sp>
        <p:nvSpPr>
          <p:cNvPr name="TextBox 42" id="42"/>
          <p:cNvSpPr txBox="true"/>
          <p:nvPr/>
        </p:nvSpPr>
        <p:spPr>
          <a:xfrm rot="0">
            <a:off x="2399435" y="7054038"/>
            <a:ext cx="1923778" cy="802005"/>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Không có động từ hành vi</a:t>
            </a:r>
          </a:p>
        </p:txBody>
      </p:sp>
      <p:sp>
        <p:nvSpPr>
          <p:cNvPr name="TextBox 43" id="43"/>
          <p:cNvSpPr txBox="true"/>
          <p:nvPr/>
        </p:nvSpPr>
        <p:spPr>
          <a:xfrm rot="0">
            <a:off x="2328924" y="8029238"/>
            <a:ext cx="1923778" cy="392430"/>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	</a:t>
            </a:r>
            <a:r>
              <a:rPr lang="en-US" sz="2199">
                <a:solidFill>
                  <a:srgbClr val="545454"/>
                </a:solidFill>
                <a:latin typeface="Roboto"/>
                <a:ea typeface="Roboto"/>
                <a:cs typeface="Roboto"/>
                <a:sym typeface="Roboto"/>
              </a:rPr>
              <a:t>Viển vông</a:t>
            </a:r>
          </a:p>
        </p:txBody>
      </p:sp>
      <p:sp>
        <p:nvSpPr>
          <p:cNvPr name="TextBox 44" id="44"/>
          <p:cNvSpPr txBox="true"/>
          <p:nvPr/>
        </p:nvSpPr>
        <p:spPr>
          <a:xfrm rot="0">
            <a:off x="2365868" y="8688368"/>
            <a:ext cx="1923778" cy="802005"/>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Không đánh giá được</a:t>
            </a:r>
          </a:p>
        </p:txBody>
      </p:sp>
      <p:sp>
        <p:nvSpPr>
          <p:cNvPr name="TextBox 45" id="45"/>
          <p:cNvSpPr txBox="true"/>
          <p:nvPr/>
        </p:nvSpPr>
        <p:spPr>
          <a:xfrm rot="0">
            <a:off x="4323213" y="5763938"/>
            <a:ext cx="1923778" cy="392430"/>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Cụ thể</a:t>
            </a:r>
          </a:p>
        </p:txBody>
      </p:sp>
      <p:sp>
        <p:nvSpPr>
          <p:cNvPr name="TextBox 46" id="46"/>
          <p:cNvSpPr txBox="true"/>
          <p:nvPr/>
        </p:nvSpPr>
        <p:spPr>
          <a:xfrm rot="0">
            <a:off x="4368227" y="6390353"/>
            <a:ext cx="1923778" cy="392430"/>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Đo được</a:t>
            </a:r>
          </a:p>
        </p:txBody>
      </p:sp>
      <p:sp>
        <p:nvSpPr>
          <p:cNvPr name="TextBox 47" id="47"/>
          <p:cNvSpPr txBox="true"/>
          <p:nvPr/>
        </p:nvSpPr>
        <p:spPr>
          <a:xfrm rot="0">
            <a:off x="4380363" y="7083028"/>
            <a:ext cx="1923778" cy="802005"/>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Có động từ rõ ràng</a:t>
            </a:r>
          </a:p>
        </p:txBody>
      </p:sp>
      <p:sp>
        <p:nvSpPr>
          <p:cNvPr name="TextBox 48" id="48"/>
          <p:cNvSpPr txBox="true"/>
          <p:nvPr/>
        </p:nvSpPr>
        <p:spPr>
          <a:xfrm rot="0">
            <a:off x="4359166" y="8029238"/>
            <a:ext cx="1923778" cy="392430"/>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Phù hợp </a:t>
            </a:r>
          </a:p>
        </p:txBody>
      </p:sp>
      <p:sp>
        <p:nvSpPr>
          <p:cNvPr name="TextBox 49" id="49"/>
          <p:cNvSpPr txBox="true"/>
          <p:nvPr/>
        </p:nvSpPr>
        <p:spPr>
          <a:xfrm rot="0">
            <a:off x="4380363" y="8697893"/>
            <a:ext cx="1923778" cy="802005"/>
          </a:xfrm>
          <a:prstGeom prst="rect">
            <a:avLst/>
          </a:prstGeom>
        </p:spPr>
        <p:txBody>
          <a:bodyPr anchor="t" rtlCol="false" tIns="0" lIns="0" bIns="0" rIns="0">
            <a:spAutoFit/>
          </a:bodyPr>
          <a:lstStyle/>
          <a:p>
            <a:pPr algn="ctr">
              <a:lnSpc>
                <a:spcPts val="3299"/>
              </a:lnSpc>
            </a:pPr>
            <a:r>
              <a:rPr lang="en-US" sz="2199">
                <a:solidFill>
                  <a:srgbClr val="545454"/>
                </a:solidFill>
                <a:latin typeface="Roboto"/>
                <a:ea typeface="Roboto"/>
                <a:cs typeface="Roboto"/>
                <a:sym typeface="Roboto"/>
              </a:rPr>
              <a:t>Đánh giá </a:t>
            </a:r>
          </a:p>
          <a:p>
            <a:pPr algn="ctr">
              <a:lnSpc>
                <a:spcPts val="3299"/>
              </a:lnSpc>
            </a:pPr>
            <a:r>
              <a:rPr lang="en-US" sz="2199">
                <a:solidFill>
                  <a:srgbClr val="545454"/>
                </a:solidFill>
                <a:latin typeface="Roboto"/>
                <a:ea typeface="Roboto"/>
                <a:cs typeface="Roboto"/>
                <a:sym typeface="Roboto"/>
              </a:rPr>
              <a:t>được</a:t>
            </a:r>
          </a:p>
        </p:txBody>
      </p:sp>
      <p:sp>
        <p:nvSpPr>
          <p:cNvPr name="Freeform 50" id="50"/>
          <p:cNvSpPr/>
          <p:nvPr/>
        </p:nvSpPr>
        <p:spPr>
          <a:xfrm flipH="false" flipV="false" rot="0">
            <a:off x="16696854" y="583203"/>
            <a:ext cx="562446" cy="375305"/>
          </a:xfrm>
          <a:custGeom>
            <a:avLst/>
            <a:gdLst/>
            <a:ahLst/>
            <a:cxnLst/>
            <a:rect r="r" b="b" t="t" l="l"/>
            <a:pathLst>
              <a:path h="375305" w="562446">
                <a:moveTo>
                  <a:pt x="0" y="0"/>
                </a:moveTo>
                <a:lnTo>
                  <a:pt x="562446" y="0"/>
                </a:lnTo>
                <a:lnTo>
                  <a:pt x="562446" y="375304"/>
                </a:lnTo>
                <a:lnTo>
                  <a:pt x="0" y="3753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51" id="51"/>
          <p:cNvSpPr txBox="true"/>
          <p:nvPr/>
        </p:nvSpPr>
        <p:spPr>
          <a:xfrm rot="0">
            <a:off x="13318642" y="592747"/>
            <a:ext cx="3378212" cy="365760"/>
          </a:xfrm>
          <a:prstGeom prst="rect">
            <a:avLst/>
          </a:prstGeom>
        </p:spPr>
        <p:txBody>
          <a:bodyPr anchor="t" rtlCol="false" tIns="0" lIns="0" bIns="0" rIns="0">
            <a:spAutoFit/>
          </a:bodyPr>
          <a:lstStyle/>
          <a:p>
            <a:pPr algn="ctr">
              <a:lnSpc>
                <a:spcPts val="2939"/>
              </a:lnSpc>
            </a:pPr>
            <a:r>
              <a:rPr lang="en-US" sz="2099">
                <a:solidFill>
                  <a:srgbClr val="48276D"/>
                </a:solidFill>
                <a:latin typeface="Roboto"/>
                <a:ea typeface="Roboto"/>
                <a:cs typeface="Roboto"/>
                <a:sym typeface="Roboto"/>
              </a:rPr>
              <a:t>Đại học Bách Khoa Hà Nội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028700" y="9258300"/>
            <a:ext cx="2343200" cy="166258"/>
          </a:xfrm>
          <a:custGeom>
            <a:avLst/>
            <a:gdLst/>
            <a:ahLst/>
            <a:cxnLst/>
            <a:rect r="r" b="b" t="t" l="l"/>
            <a:pathLst>
              <a:path h="166258" w="2343200">
                <a:moveTo>
                  <a:pt x="0" y="0"/>
                </a:moveTo>
                <a:lnTo>
                  <a:pt x="2343200" y="0"/>
                </a:lnTo>
                <a:lnTo>
                  <a:pt x="2343200" y="166258"/>
                </a:lnTo>
                <a:lnTo>
                  <a:pt x="0" y="1662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6301529" y="663529"/>
            <a:ext cx="957771" cy="415636"/>
          </a:xfrm>
          <a:custGeom>
            <a:avLst/>
            <a:gdLst/>
            <a:ahLst/>
            <a:cxnLst/>
            <a:rect r="r" b="b" t="t" l="l"/>
            <a:pathLst>
              <a:path h="415636" w="957771">
                <a:moveTo>
                  <a:pt x="0" y="0"/>
                </a:moveTo>
                <a:lnTo>
                  <a:pt x="957771" y="0"/>
                </a:lnTo>
                <a:lnTo>
                  <a:pt x="957771" y="415636"/>
                </a:lnTo>
                <a:lnTo>
                  <a:pt x="0" y="4156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744505"/>
            <a:ext cx="8516162" cy="1166429"/>
          </a:xfrm>
          <a:prstGeom prst="rect">
            <a:avLst/>
          </a:prstGeom>
        </p:spPr>
        <p:txBody>
          <a:bodyPr anchor="t" rtlCol="false" tIns="0" lIns="0" bIns="0" rIns="0">
            <a:spAutoFit/>
          </a:bodyPr>
          <a:lstStyle/>
          <a:p>
            <a:pPr algn="l">
              <a:lnSpc>
                <a:spcPts val="4605"/>
              </a:lnSpc>
            </a:pPr>
            <a:r>
              <a:rPr lang="en-US" sz="4076" b="true">
                <a:solidFill>
                  <a:srgbClr val="48276D"/>
                </a:solidFill>
                <a:latin typeface="Montserrat Heavy"/>
                <a:ea typeface="Montserrat Heavy"/>
                <a:cs typeface="Montserrat Heavy"/>
                <a:sym typeface="Montserrat Heavy"/>
              </a:rPr>
              <a:t>5. VÌ SAO VIDEO PHẢI DỰA TRÊN MỤC TIÊU HỌC TẬP?</a:t>
            </a:r>
          </a:p>
        </p:txBody>
      </p:sp>
      <p:sp>
        <p:nvSpPr>
          <p:cNvPr name="TextBox 5" id="5"/>
          <p:cNvSpPr txBox="true"/>
          <p:nvPr/>
        </p:nvSpPr>
        <p:spPr>
          <a:xfrm rot="0">
            <a:off x="8774569" y="1449785"/>
            <a:ext cx="6805689" cy="1211580"/>
          </a:xfrm>
          <a:prstGeom prst="rect">
            <a:avLst/>
          </a:prstGeom>
        </p:spPr>
        <p:txBody>
          <a:bodyPr anchor="t" rtlCol="false" tIns="0" lIns="0" bIns="0" rIns="0">
            <a:spAutoFit/>
          </a:bodyPr>
          <a:lstStyle/>
          <a:p>
            <a:pPr algn="just">
              <a:lnSpc>
                <a:spcPts val="3299"/>
              </a:lnSpc>
            </a:pPr>
            <a:r>
              <a:rPr lang="en-US" sz="2199">
                <a:solidFill>
                  <a:srgbClr val="545454"/>
                </a:solidFill>
                <a:latin typeface="Roboto"/>
                <a:ea typeface="Roboto"/>
                <a:cs typeface="Roboto"/>
                <a:sym typeface="Roboto"/>
              </a:rPr>
              <a:t>Video trong E-learning không phải video giải trí, mà là video sư phạm, nên bắt buộc phải bám sát mục tiêu học tập, vì:</a:t>
            </a:r>
          </a:p>
        </p:txBody>
      </p:sp>
      <p:grpSp>
        <p:nvGrpSpPr>
          <p:cNvPr name="Group 6" id="6"/>
          <p:cNvGrpSpPr/>
          <p:nvPr/>
        </p:nvGrpSpPr>
        <p:grpSpPr>
          <a:xfrm rot="0">
            <a:off x="4849843" y="3693466"/>
            <a:ext cx="3988725" cy="5140954"/>
            <a:chOff x="0" y="0"/>
            <a:chExt cx="1050528" cy="1353996"/>
          </a:xfrm>
        </p:grpSpPr>
        <p:sp>
          <p:nvSpPr>
            <p:cNvPr name="Freeform 7" id="7"/>
            <p:cNvSpPr/>
            <p:nvPr/>
          </p:nvSpPr>
          <p:spPr>
            <a:xfrm flipH="false" flipV="false" rot="0">
              <a:off x="0" y="0"/>
              <a:ext cx="1050528" cy="1353996"/>
            </a:xfrm>
            <a:custGeom>
              <a:avLst/>
              <a:gdLst/>
              <a:ahLst/>
              <a:cxnLst/>
              <a:rect r="r" b="b" t="t" l="l"/>
              <a:pathLst>
                <a:path h="1353996" w="1050528">
                  <a:moveTo>
                    <a:pt x="98989" y="0"/>
                  </a:moveTo>
                  <a:lnTo>
                    <a:pt x="951540" y="0"/>
                  </a:lnTo>
                  <a:cubicBezTo>
                    <a:pt x="977793" y="0"/>
                    <a:pt x="1002971" y="10429"/>
                    <a:pt x="1021535" y="28993"/>
                  </a:cubicBezTo>
                  <a:cubicBezTo>
                    <a:pt x="1040099" y="47557"/>
                    <a:pt x="1050528" y="72735"/>
                    <a:pt x="1050528" y="98989"/>
                  </a:cubicBezTo>
                  <a:lnTo>
                    <a:pt x="1050528" y="1255008"/>
                  </a:lnTo>
                  <a:cubicBezTo>
                    <a:pt x="1050528" y="1309678"/>
                    <a:pt x="1006210" y="1353996"/>
                    <a:pt x="951540" y="1353996"/>
                  </a:cubicBezTo>
                  <a:lnTo>
                    <a:pt x="98989" y="1353996"/>
                  </a:lnTo>
                  <a:cubicBezTo>
                    <a:pt x="72735" y="1353996"/>
                    <a:pt x="47557" y="1343567"/>
                    <a:pt x="28993" y="1325003"/>
                  </a:cubicBezTo>
                  <a:cubicBezTo>
                    <a:pt x="10429" y="1306439"/>
                    <a:pt x="0" y="1281261"/>
                    <a:pt x="0" y="1255008"/>
                  </a:cubicBezTo>
                  <a:lnTo>
                    <a:pt x="0" y="98989"/>
                  </a:lnTo>
                  <a:cubicBezTo>
                    <a:pt x="0" y="72735"/>
                    <a:pt x="10429" y="47557"/>
                    <a:pt x="28993" y="28993"/>
                  </a:cubicBezTo>
                  <a:cubicBezTo>
                    <a:pt x="47557" y="10429"/>
                    <a:pt x="72735" y="0"/>
                    <a:pt x="98989" y="0"/>
                  </a:cubicBezTo>
                  <a:close/>
                </a:path>
              </a:pathLst>
            </a:custGeom>
            <a:solidFill>
              <a:srgbClr val="2F1150"/>
            </a:solidFill>
          </p:spPr>
        </p:sp>
        <p:sp>
          <p:nvSpPr>
            <p:cNvPr name="TextBox 8" id="8"/>
            <p:cNvSpPr txBox="true"/>
            <p:nvPr/>
          </p:nvSpPr>
          <p:spPr>
            <a:xfrm>
              <a:off x="0" y="28575"/>
              <a:ext cx="1050528" cy="1325421"/>
            </a:xfrm>
            <a:prstGeom prst="rect">
              <a:avLst/>
            </a:prstGeom>
          </p:spPr>
          <p:txBody>
            <a:bodyPr anchor="ctr" rtlCol="false" tIns="50800" lIns="50800" bIns="50800" rIns="50800"/>
            <a:lstStyle/>
            <a:p>
              <a:pPr algn="ctr">
                <a:lnSpc>
                  <a:spcPts val="1663"/>
                </a:lnSpc>
              </a:pPr>
            </a:p>
          </p:txBody>
        </p:sp>
      </p:grpSp>
      <p:grpSp>
        <p:nvGrpSpPr>
          <p:cNvPr name="Group 9" id="9"/>
          <p:cNvGrpSpPr/>
          <p:nvPr/>
        </p:nvGrpSpPr>
        <p:grpSpPr>
          <a:xfrm rot="0">
            <a:off x="9333868" y="3693466"/>
            <a:ext cx="3988725" cy="5140954"/>
            <a:chOff x="0" y="0"/>
            <a:chExt cx="1050528" cy="1353996"/>
          </a:xfrm>
        </p:grpSpPr>
        <p:sp>
          <p:nvSpPr>
            <p:cNvPr name="Freeform 10" id="10"/>
            <p:cNvSpPr/>
            <p:nvPr/>
          </p:nvSpPr>
          <p:spPr>
            <a:xfrm flipH="false" flipV="false" rot="0">
              <a:off x="0" y="0"/>
              <a:ext cx="1050528" cy="1353996"/>
            </a:xfrm>
            <a:custGeom>
              <a:avLst/>
              <a:gdLst/>
              <a:ahLst/>
              <a:cxnLst/>
              <a:rect r="r" b="b" t="t" l="l"/>
              <a:pathLst>
                <a:path h="1353996" w="1050528">
                  <a:moveTo>
                    <a:pt x="98989" y="0"/>
                  </a:moveTo>
                  <a:lnTo>
                    <a:pt x="951540" y="0"/>
                  </a:lnTo>
                  <a:cubicBezTo>
                    <a:pt x="977793" y="0"/>
                    <a:pt x="1002971" y="10429"/>
                    <a:pt x="1021535" y="28993"/>
                  </a:cubicBezTo>
                  <a:cubicBezTo>
                    <a:pt x="1040099" y="47557"/>
                    <a:pt x="1050528" y="72735"/>
                    <a:pt x="1050528" y="98989"/>
                  </a:cubicBezTo>
                  <a:lnTo>
                    <a:pt x="1050528" y="1255008"/>
                  </a:lnTo>
                  <a:cubicBezTo>
                    <a:pt x="1050528" y="1309678"/>
                    <a:pt x="1006210" y="1353996"/>
                    <a:pt x="951540" y="1353996"/>
                  </a:cubicBezTo>
                  <a:lnTo>
                    <a:pt x="98989" y="1353996"/>
                  </a:lnTo>
                  <a:cubicBezTo>
                    <a:pt x="72735" y="1353996"/>
                    <a:pt x="47557" y="1343567"/>
                    <a:pt x="28993" y="1325003"/>
                  </a:cubicBezTo>
                  <a:cubicBezTo>
                    <a:pt x="10429" y="1306439"/>
                    <a:pt x="0" y="1281261"/>
                    <a:pt x="0" y="1255008"/>
                  </a:cubicBezTo>
                  <a:lnTo>
                    <a:pt x="0" y="98989"/>
                  </a:lnTo>
                  <a:cubicBezTo>
                    <a:pt x="0" y="72735"/>
                    <a:pt x="10429" y="47557"/>
                    <a:pt x="28993" y="28993"/>
                  </a:cubicBezTo>
                  <a:cubicBezTo>
                    <a:pt x="47557" y="10429"/>
                    <a:pt x="72735" y="0"/>
                    <a:pt x="98989" y="0"/>
                  </a:cubicBezTo>
                  <a:close/>
                </a:path>
              </a:pathLst>
            </a:custGeom>
            <a:solidFill>
              <a:srgbClr val="2F1150"/>
            </a:solidFill>
          </p:spPr>
        </p:sp>
        <p:sp>
          <p:nvSpPr>
            <p:cNvPr name="TextBox 11" id="11"/>
            <p:cNvSpPr txBox="true"/>
            <p:nvPr/>
          </p:nvSpPr>
          <p:spPr>
            <a:xfrm>
              <a:off x="0" y="28575"/>
              <a:ext cx="1050528" cy="1325421"/>
            </a:xfrm>
            <a:prstGeom prst="rect">
              <a:avLst/>
            </a:prstGeom>
          </p:spPr>
          <p:txBody>
            <a:bodyPr anchor="ctr" rtlCol="false" tIns="50800" lIns="50800" bIns="50800" rIns="50800"/>
            <a:lstStyle/>
            <a:p>
              <a:pPr algn="ctr">
                <a:lnSpc>
                  <a:spcPts val="1663"/>
                </a:lnSpc>
              </a:pPr>
            </a:p>
          </p:txBody>
        </p:sp>
      </p:grpSp>
      <p:sp>
        <p:nvSpPr>
          <p:cNvPr name="Freeform 12" id="12"/>
          <p:cNvSpPr/>
          <p:nvPr/>
        </p:nvSpPr>
        <p:spPr>
          <a:xfrm flipH="false" flipV="false" rot="0">
            <a:off x="5787598" y="715930"/>
            <a:ext cx="3630502" cy="3630502"/>
          </a:xfrm>
          <a:custGeom>
            <a:avLst/>
            <a:gdLst/>
            <a:ahLst/>
            <a:cxnLst/>
            <a:rect r="r" b="b" t="t" l="l"/>
            <a:pathLst>
              <a:path h="3630502" w="3630502">
                <a:moveTo>
                  <a:pt x="0" y="0"/>
                </a:moveTo>
                <a:lnTo>
                  <a:pt x="3630502" y="0"/>
                </a:lnTo>
                <a:lnTo>
                  <a:pt x="3630502" y="3630502"/>
                </a:lnTo>
                <a:lnTo>
                  <a:pt x="0" y="3630502"/>
                </a:lnTo>
                <a:lnTo>
                  <a:pt x="0" y="0"/>
                </a:lnTo>
                <a:close/>
              </a:path>
            </a:pathLst>
          </a:custGeom>
          <a:blipFill>
            <a:blip r:embed="rId6">
              <a:alphaModFix amt="5000"/>
              <a:extLst>
                <a:ext uri="{96DAC541-7B7A-43D3-8B79-37D633B846F1}">
                  <asvg:svgBlip xmlns:asvg="http://schemas.microsoft.com/office/drawing/2016/SVG/main" r:embed="rId7"/>
                </a:ext>
              </a:extLst>
            </a:blip>
            <a:stretch>
              <a:fillRect l="0" t="0" r="0" b="0"/>
            </a:stretch>
          </a:blipFill>
        </p:spPr>
      </p:sp>
      <p:sp>
        <p:nvSpPr>
          <p:cNvPr name="Freeform 13" id="13"/>
          <p:cNvSpPr/>
          <p:nvPr/>
        </p:nvSpPr>
        <p:spPr>
          <a:xfrm flipH="false" flipV="false" rot="0">
            <a:off x="5087606" y="2483423"/>
            <a:ext cx="2287222" cy="2287222"/>
          </a:xfrm>
          <a:custGeom>
            <a:avLst/>
            <a:gdLst/>
            <a:ahLst/>
            <a:cxnLst/>
            <a:rect r="r" b="b" t="t" l="l"/>
            <a:pathLst>
              <a:path h="2287222" w="2287222">
                <a:moveTo>
                  <a:pt x="0" y="0"/>
                </a:moveTo>
                <a:lnTo>
                  <a:pt x="2287222" y="0"/>
                </a:lnTo>
                <a:lnTo>
                  <a:pt x="2287222" y="2287222"/>
                </a:lnTo>
                <a:lnTo>
                  <a:pt x="0" y="2287222"/>
                </a:lnTo>
                <a:lnTo>
                  <a:pt x="0" y="0"/>
                </a:lnTo>
                <a:close/>
              </a:path>
            </a:pathLst>
          </a:custGeom>
          <a:blipFill>
            <a:blip r:embed="rId8">
              <a:alphaModFix amt="7999"/>
              <a:extLst>
                <a:ext uri="{96DAC541-7B7A-43D3-8B79-37D633B846F1}">
                  <asvg:svgBlip xmlns:asvg="http://schemas.microsoft.com/office/drawing/2016/SVG/main" r:embed="rId9"/>
                </a:ext>
              </a:extLst>
            </a:blip>
            <a:stretch>
              <a:fillRect l="0" t="0" r="0" b="0"/>
            </a:stretch>
          </a:blipFill>
        </p:spPr>
      </p:sp>
      <p:grpSp>
        <p:nvGrpSpPr>
          <p:cNvPr name="Group 14" id="14"/>
          <p:cNvGrpSpPr/>
          <p:nvPr/>
        </p:nvGrpSpPr>
        <p:grpSpPr>
          <a:xfrm rot="0">
            <a:off x="481383" y="3693466"/>
            <a:ext cx="3988725" cy="5140954"/>
            <a:chOff x="0" y="0"/>
            <a:chExt cx="1050528" cy="1353996"/>
          </a:xfrm>
        </p:grpSpPr>
        <p:sp>
          <p:nvSpPr>
            <p:cNvPr name="Freeform 15" id="15"/>
            <p:cNvSpPr/>
            <p:nvPr/>
          </p:nvSpPr>
          <p:spPr>
            <a:xfrm flipH="false" flipV="false" rot="0">
              <a:off x="0" y="0"/>
              <a:ext cx="1050528" cy="1353996"/>
            </a:xfrm>
            <a:custGeom>
              <a:avLst/>
              <a:gdLst/>
              <a:ahLst/>
              <a:cxnLst/>
              <a:rect r="r" b="b" t="t" l="l"/>
              <a:pathLst>
                <a:path h="1353996" w="1050528">
                  <a:moveTo>
                    <a:pt x="98989" y="0"/>
                  </a:moveTo>
                  <a:lnTo>
                    <a:pt x="951540" y="0"/>
                  </a:lnTo>
                  <a:cubicBezTo>
                    <a:pt x="977793" y="0"/>
                    <a:pt x="1002971" y="10429"/>
                    <a:pt x="1021535" y="28993"/>
                  </a:cubicBezTo>
                  <a:cubicBezTo>
                    <a:pt x="1040099" y="47557"/>
                    <a:pt x="1050528" y="72735"/>
                    <a:pt x="1050528" y="98989"/>
                  </a:cubicBezTo>
                  <a:lnTo>
                    <a:pt x="1050528" y="1255008"/>
                  </a:lnTo>
                  <a:cubicBezTo>
                    <a:pt x="1050528" y="1309678"/>
                    <a:pt x="1006210" y="1353996"/>
                    <a:pt x="951540" y="1353996"/>
                  </a:cubicBezTo>
                  <a:lnTo>
                    <a:pt x="98989" y="1353996"/>
                  </a:lnTo>
                  <a:cubicBezTo>
                    <a:pt x="72735" y="1353996"/>
                    <a:pt x="47557" y="1343567"/>
                    <a:pt x="28993" y="1325003"/>
                  </a:cubicBezTo>
                  <a:cubicBezTo>
                    <a:pt x="10429" y="1306439"/>
                    <a:pt x="0" y="1281261"/>
                    <a:pt x="0" y="1255008"/>
                  </a:cubicBezTo>
                  <a:lnTo>
                    <a:pt x="0" y="98989"/>
                  </a:lnTo>
                  <a:cubicBezTo>
                    <a:pt x="0" y="72735"/>
                    <a:pt x="10429" y="47557"/>
                    <a:pt x="28993" y="28993"/>
                  </a:cubicBezTo>
                  <a:cubicBezTo>
                    <a:pt x="47557" y="10429"/>
                    <a:pt x="72735" y="0"/>
                    <a:pt x="98989" y="0"/>
                  </a:cubicBezTo>
                  <a:close/>
                </a:path>
              </a:pathLst>
            </a:custGeom>
            <a:solidFill>
              <a:srgbClr val="2F1150"/>
            </a:solidFill>
          </p:spPr>
        </p:sp>
        <p:sp>
          <p:nvSpPr>
            <p:cNvPr name="TextBox 16" id="16"/>
            <p:cNvSpPr txBox="true"/>
            <p:nvPr/>
          </p:nvSpPr>
          <p:spPr>
            <a:xfrm>
              <a:off x="0" y="28575"/>
              <a:ext cx="1050528" cy="1325421"/>
            </a:xfrm>
            <a:prstGeom prst="rect">
              <a:avLst/>
            </a:prstGeom>
          </p:spPr>
          <p:txBody>
            <a:bodyPr anchor="ctr" rtlCol="false" tIns="50800" lIns="50800" bIns="50800" rIns="50800"/>
            <a:lstStyle/>
            <a:p>
              <a:pPr algn="ctr">
                <a:lnSpc>
                  <a:spcPts val="1663"/>
                </a:lnSpc>
              </a:pPr>
            </a:p>
          </p:txBody>
        </p:sp>
      </p:grpSp>
      <p:grpSp>
        <p:nvGrpSpPr>
          <p:cNvPr name="Group 17" id="17"/>
          <p:cNvGrpSpPr/>
          <p:nvPr/>
        </p:nvGrpSpPr>
        <p:grpSpPr>
          <a:xfrm rot="0">
            <a:off x="1663067" y="2740369"/>
            <a:ext cx="1625356" cy="162535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ED8C02"/>
              </a:solidFill>
              <a:prstDash val="solid"/>
              <a:miter/>
            </a:ln>
          </p:spPr>
        </p:sp>
        <p:sp>
          <p:nvSpPr>
            <p:cNvPr name="TextBox 19" id="19"/>
            <p:cNvSpPr txBox="true"/>
            <p:nvPr/>
          </p:nvSpPr>
          <p:spPr>
            <a:xfrm>
              <a:off x="76200" y="95250"/>
              <a:ext cx="660400" cy="641350"/>
            </a:xfrm>
            <a:prstGeom prst="rect">
              <a:avLst/>
            </a:prstGeom>
          </p:spPr>
          <p:txBody>
            <a:bodyPr anchor="ctr" rtlCol="false" tIns="50800" lIns="50800" bIns="50800" rIns="50800"/>
            <a:lstStyle/>
            <a:p>
              <a:pPr algn="ctr">
                <a:lnSpc>
                  <a:spcPts val="1942"/>
                </a:lnSpc>
              </a:pPr>
            </a:p>
          </p:txBody>
        </p:sp>
      </p:grpSp>
      <p:sp>
        <p:nvSpPr>
          <p:cNvPr name="TextBox 20" id="20"/>
          <p:cNvSpPr txBox="true"/>
          <p:nvPr/>
        </p:nvSpPr>
        <p:spPr>
          <a:xfrm rot="0">
            <a:off x="813101" y="4334937"/>
            <a:ext cx="3440869" cy="1022405"/>
          </a:xfrm>
          <a:prstGeom prst="rect">
            <a:avLst/>
          </a:prstGeom>
        </p:spPr>
        <p:txBody>
          <a:bodyPr anchor="t" rtlCol="false" tIns="0" lIns="0" bIns="0" rIns="0">
            <a:spAutoFit/>
          </a:bodyPr>
          <a:lstStyle/>
          <a:p>
            <a:pPr algn="ctr">
              <a:lnSpc>
                <a:spcPts val="4147"/>
              </a:lnSpc>
            </a:pPr>
            <a:r>
              <a:rPr lang="en-US" sz="2592" b="true">
                <a:solidFill>
                  <a:srgbClr val="FFFFFF"/>
                </a:solidFill>
                <a:latin typeface="Roboto Bold"/>
                <a:ea typeface="Roboto Bold"/>
                <a:cs typeface="Roboto Bold"/>
                <a:sym typeface="Roboto Bold"/>
              </a:rPr>
              <a:t>Tránh lan man – dàn trải nội dung</a:t>
            </a:r>
          </a:p>
        </p:txBody>
      </p:sp>
      <p:grpSp>
        <p:nvGrpSpPr>
          <p:cNvPr name="Group 21" id="21"/>
          <p:cNvGrpSpPr/>
          <p:nvPr/>
        </p:nvGrpSpPr>
        <p:grpSpPr>
          <a:xfrm rot="0">
            <a:off x="6089309" y="2740369"/>
            <a:ext cx="1625356" cy="162535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ED8C02"/>
              </a:solidFill>
              <a:prstDash val="solid"/>
              <a:miter/>
            </a:ln>
          </p:spPr>
        </p:sp>
        <p:sp>
          <p:nvSpPr>
            <p:cNvPr name="TextBox 23" id="23"/>
            <p:cNvSpPr txBox="true"/>
            <p:nvPr/>
          </p:nvSpPr>
          <p:spPr>
            <a:xfrm>
              <a:off x="76200" y="95250"/>
              <a:ext cx="660400" cy="641350"/>
            </a:xfrm>
            <a:prstGeom prst="rect">
              <a:avLst/>
            </a:prstGeom>
          </p:spPr>
          <p:txBody>
            <a:bodyPr anchor="ctr" rtlCol="false" tIns="50800" lIns="50800" bIns="50800" rIns="50800"/>
            <a:lstStyle/>
            <a:p>
              <a:pPr algn="ctr">
                <a:lnSpc>
                  <a:spcPts val="1942"/>
                </a:lnSpc>
              </a:pPr>
            </a:p>
          </p:txBody>
        </p:sp>
      </p:grpSp>
      <p:sp>
        <p:nvSpPr>
          <p:cNvPr name="TextBox 24" id="24"/>
          <p:cNvSpPr txBox="true"/>
          <p:nvPr/>
        </p:nvSpPr>
        <p:spPr>
          <a:xfrm rot="0">
            <a:off x="6182870" y="3317040"/>
            <a:ext cx="1438235" cy="614889"/>
          </a:xfrm>
          <a:prstGeom prst="rect">
            <a:avLst/>
          </a:prstGeom>
        </p:spPr>
        <p:txBody>
          <a:bodyPr anchor="t" rtlCol="false" tIns="0" lIns="0" bIns="0" rIns="0">
            <a:spAutoFit/>
          </a:bodyPr>
          <a:lstStyle/>
          <a:p>
            <a:pPr algn="ctr">
              <a:lnSpc>
                <a:spcPts val="4474"/>
              </a:lnSpc>
            </a:pPr>
            <a:r>
              <a:rPr lang="en-US" sz="4972">
                <a:solidFill>
                  <a:srgbClr val="0B2F3D"/>
                </a:solidFill>
                <a:latin typeface="Abril Fatface"/>
                <a:ea typeface="Abril Fatface"/>
                <a:cs typeface="Abril Fatface"/>
                <a:sym typeface="Abril Fatface"/>
              </a:rPr>
              <a:t>02</a:t>
            </a:r>
          </a:p>
        </p:txBody>
      </p:sp>
      <p:grpSp>
        <p:nvGrpSpPr>
          <p:cNvPr name="Group 25" id="25"/>
          <p:cNvGrpSpPr/>
          <p:nvPr/>
        </p:nvGrpSpPr>
        <p:grpSpPr>
          <a:xfrm rot="0">
            <a:off x="10515552" y="2814356"/>
            <a:ext cx="1625356" cy="1625356"/>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ED8C02"/>
              </a:solidFill>
              <a:prstDash val="solid"/>
              <a:miter/>
            </a:ln>
          </p:spPr>
        </p:sp>
        <p:sp>
          <p:nvSpPr>
            <p:cNvPr name="TextBox 27" id="27"/>
            <p:cNvSpPr txBox="true"/>
            <p:nvPr/>
          </p:nvSpPr>
          <p:spPr>
            <a:xfrm>
              <a:off x="76200" y="95250"/>
              <a:ext cx="660400" cy="641350"/>
            </a:xfrm>
            <a:prstGeom prst="rect">
              <a:avLst/>
            </a:prstGeom>
          </p:spPr>
          <p:txBody>
            <a:bodyPr anchor="ctr" rtlCol="false" tIns="50800" lIns="50800" bIns="50800" rIns="50800"/>
            <a:lstStyle/>
            <a:p>
              <a:pPr algn="ctr">
                <a:lnSpc>
                  <a:spcPts val="1942"/>
                </a:lnSpc>
              </a:pPr>
            </a:p>
          </p:txBody>
        </p:sp>
      </p:grpSp>
      <p:sp>
        <p:nvSpPr>
          <p:cNvPr name="TextBox 28" id="28"/>
          <p:cNvSpPr txBox="true"/>
          <p:nvPr/>
        </p:nvSpPr>
        <p:spPr>
          <a:xfrm rot="0">
            <a:off x="10609112" y="3391027"/>
            <a:ext cx="1438235" cy="614889"/>
          </a:xfrm>
          <a:prstGeom prst="rect">
            <a:avLst/>
          </a:prstGeom>
        </p:spPr>
        <p:txBody>
          <a:bodyPr anchor="t" rtlCol="false" tIns="0" lIns="0" bIns="0" rIns="0">
            <a:spAutoFit/>
          </a:bodyPr>
          <a:lstStyle/>
          <a:p>
            <a:pPr algn="ctr">
              <a:lnSpc>
                <a:spcPts val="4474"/>
              </a:lnSpc>
            </a:pPr>
            <a:r>
              <a:rPr lang="en-US" sz="4972">
                <a:solidFill>
                  <a:srgbClr val="0B2F3D"/>
                </a:solidFill>
                <a:latin typeface="Abril Fatface"/>
                <a:ea typeface="Abril Fatface"/>
                <a:cs typeface="Abril Fatface"/>
                <a:sym typeface="Abril Fatface"/>
              </a:rPr>
              <a:t>03</a:t>
            </a:r>
          </a:p>
        </p:txBody>
      </p:sp>
      <p:sp>
        <p:nvSpPr>
          <p:cNvPr name="TextBox 29" id="29"/>
          <p:cNvSpPr txBox="true"/>
          <p:nvPr/>
        </p:nvSpPr>
        <p:spPr>
          <a:xfrm rot="0">
            <a:off x="813101" y="5511846"/>
            <a:ext cx="3325289" cy="2384425"/>
          </a:xfrm>
          <a:prstGeom prst="rect">
            <a:avLst/>
          </a:prstGeom>
        </p:spPr>
        <p:txBody>
          <a:bodyPr anchor="t" rtlCol="false" tIns="0" lIns="0" bIns="0" rIns="0">
            <a:spAutoFit/>
          </a:bodyPr>
          <a:lstStyle/>
          <a:p>
            <a:pPr algn="l">
              <a:lnSpc>
                <a:spcPts val="3199"/>
              </a:lnSpc>
            </a:pPr>
            <a:r>
              <a:rPr lang="en-US" sz="1999">
                <a:solidFill>
                  <a:srgbClr val="FFFFFF"/>
                </a:solidFill>
                <a:latin typeface="Roboto"/>
                <a:ea typeface="Roboto"/>
                <a:cs typeface="Roboto"/>
                <a:sym typeface="Roboto"/>
              </a:rPr>
              <a:t>Nếu không có mục tiêu, video dễ:</a:t>
            </a:r>
          </a:p>
          <a:p>
            <a:pPr algn="l" marL="431799" indent="-215899" lvl="1">
              <a:lnSpc>
                <a:spcPts val="3199"/>
              </a:lnSpc>
              <a:buFont typeface="Arial"/>
              <a:buChar char="•"/>
            </a:pPr>
            <a:r>
              <a:rPr lang="en-US" sz="1999">
                <a:solidFill>
                  <a:srgbClr val="FFFFFF"/>
                </a:solidFill>
                <a:latin typeface="Roboto"/>
                <a:ea typeface="Roboto"/>
                <a:cs typeface="Roboto"/>
                <a:sym typeface="Roboto"/>
              </a:rPr>
              <a:t>Dài dòng</a:t>
            </a:r>
          </a:p>
          <a:p>
            <a:pPr algn="l" marL="431799" indent="-215899" lvl="1">
              <a:lnSpc>
                <a:spcPts val="3199"/>
              </a:lnSpc>
              <a:buFont typeface="Arial"/>
              <a:buChar char="•"/>
            </a:pPr>
            <a:r>
              <a:rPr lang="en-US" sz="1999">
                <a:solidFill>
                  <a:srgbClr val="FFFFFF"/>
                </a:solidFill>
                <a:latin typeface="Roboto"/>
                <a:ea typeface="Roboto"/>
                <a:cs typeface="Roboto"/>
                <a:sym typeface="Roboto"/>
              </a:rPr>
              <a:t>Lạc đề</a:t>
            </a:r>
          </a:p>
          <a:p>
            <a:pPr algn="l" marL="431799" indent="-215899" lvl="1">
              <a:lnSpc>
                <a:spcPts val="3199"/>
              </a:lnSpc>
              <a:buFont typeface="Arial"/>
              <a:buChar char="•"/>
            </a:pPr>
            <a:r>
              <a:rPr lang="en-US" sz="1999">
                <a:solidFill>
                  <a:srgbClr val="FFFFFF"/>
                </a:solidFill>
                <a:latin typeface="Roboto"/>
                <a:ea typeface="Roboto"/>
                <a:cs typeface="Roboto"/>
                <a:sym typeface="Roboto"/>
              </a:rPr>
              <a:t>Người học không biết “xem để làm gì”</a:t>
            </a:r>
          </a:p>
        </p:txBody>
      </p:sp>
      <p:sp>
        <p:nvSpPr>
          <p:cNvPr name="TextBox 30" id="30"/>
          <p:cNvSpPr txBox="true"/>
          <p:nvPr/>
        </p:nvSpPr>
        <p:spPr>
          <a:xfrm rot="0">
            <a:off x="4822810" y="4334937"/>
            <a:ext cx="4158355" cy="1022405"/>
          </a:xfrm>
          <a:prstGeom prst="rect">
            <a:avLst/>
          </a:prstGeom>
        </p:spPr>
        <p:txBody>
          <a:bodyPr anchor="t" rtlCol="false" tIns="0" lIns="0" bIns="0" rIns="0">
            <a:spAutoFit/>
          </a:bodyPr>
          <a:lstStyle/>
          <a:p>
            <a:pPr algn="ctr">
              <a:lnSpc>
                <a:spcPts val="4147"/>
              </a:lnSpc>
            </a:pPr>
            <a:r>
              <a:rPr lang="en-US" sz="2592" b="true">
                <a:solidFill>
                  <a:srgbClr val="FFFFFF"/>
                </a:solidFill>
                <a:latin typeface="Roboto Bold"/>
                <a:ea typeface="Roboto Bold"/>
                <a:cs typeface="Roboto Bold"/>
                <a:sym typeface="Roboto Bold"/>
              </a:rPr>
              <a:t>Đảm bảo người học đạt đúng năng lực cần có</a:t>
            </a:r>
          </a:p>
        </p:txBody>
      </p:sp>
      <p:sp>
        <p:nvSpPr>
          <p:cNvPr name="TextBox 31" id="31"/>
          <p:cNvSpPr txBox="true"/>
          <p:nvPr/>
        </p:nvSpPr>
        <p:spPr>
          <a:xfrm rot="0">
            <a:off x="1756628" y="3317040"/>
            <a:ext cx="1438235" cy="614889"/>
          </a:xfrm>
          <a:prstGeom prst="rect">
            <a:avLst/>
          </a:prstGeom>
        </p:spPr>
        <p:txBody>
          <a:bodyPr anchor="t" rtlCol="false" tIns="0" lIns="0" bIns="0" rIns="0">
            <a:spAutoFit/>
          </a:bodyPr>
          <a:lstStyle/>
          <a:p>
            <a:pPr algn="ctr">
              <a:lnSpc>
                <a:spcPts val="4474"/>
              </a:lnSpc>
            </a:pPr>
            <a:r>
              <a:rPr lang="en-US" sz="4972">
                <a:solidFill>
                  <a:srgbClr val="0B2F3D"/>
                </a:solidFill>
                <a:latin typeface="Abril Fatface"/>
                <a:ea typeface="Abril Fatface"/>
                <a:cs typeface="Abril Fatface"/>
                <a:sym typeface="Abril Fatface"/>
              </a:rPr>
              <a:t>01</a:t>
            </a:r>
          </a:p>
        </p:txBody>
      </p:sp>
      <p:sp>
        <p:nvSpPr>
          <p:cNvPr name="TextBox 32" id="32"/>
          <p:cNvSpPr txBox="true"/>
          <p:nvPr/>
        </p:nvSpPr>
        <p:spPr>
          <a:xfrm rot="0">
            <a:off x="9635983" y="4334937"/>
            <a:ext cx="3440869" cy="1022405"/>
          </a:xfrm>
          <a:prstGeom prst="rect">
            <a:avLst/>
          </a:prstGeom>
        </p:spPr>
        <p:txBody>
          <a:bodyPr anchor="t" rtlCol="false" tIns="0" lIns="0" bIns="0" rIns="0">
            <a:spAutoFit/>
          </a:bodyPr>
          <a:lstStyle/>
          <a:p>
            <a:pPr algn="ctr">
              <a:lnSpc>
                <a:spcPts val="4147"/>
              </a:lnSpc>
            </a:pPr>
            <a:r>
              <a:rPr lang="en-US" sz="2592" b="true">
                <a:solidFill>
                  <a:srgbClr val="FFFFFF"/>
                </a:solidFill>
                <a:latin typeface="Roboto Bold"/>
                <a:ea typeface="Roboto Bold"/>
                <a:cs typeface="Roboto Bold"/>
                <a:sym typeface="Roboto Bold"/>
              </a:rPr>
              <a:t>Hỗ trợ thiết kế kiểm tra đánh giá</a:t>
            </a:r>
          </a:p>
        </p:txBody>
      </p:sp>
      <p:sp>
        <p:nvSpPr>
          <p:cNvPr name="TextBox 33" id="33"/>
          <p:cNvSpPr txBox="true"/>
          <p:nvPr/>
        </p:nvSpPr>
        <p:spPr>
          <a:xfrm rot="0">
            <a:off x="9552943" y="5511846"/>
            <a:ext cx="3586020" cy="1984375"/>
          </a:xfrm>
          <a:prstGeom prst="rect">
            <a:avLst/>
          </a:prstGeom>
        </p:spPr>
        <p:txBody>
          <a:bodyPr anchor="t" rtlCol="false" tIns="0" lIns="0" bIns="0" rIns="0">
            <a:spAutoFit/>
          </a:bodyPr>
          <a:lstStyle/>
          <a:p>
            <a:pPr algn="l" marL="431799" indent="-215899" lvl="1">
              <a:lnSpc>
                <a:spcPts val="3199"/>
              </a:lnSpc>
              <a:buFont typeface="Arial"/>
              <a:buChar char="•"/>
            </a:pPr>
            <a:r>
              <a:rPr lang="en-US" sz="1999">
                <a:solidFill>
                  <a:srgbClr val="FFFFFF"/>
                </a:solidFill>
                <a:latin typeface="Roboto"/>
                <a:ea typeface="Roboto"/>
                <a:cs typeface="Roboto"/>
                <a:sym typeface="Roboto"/>
              </a:rPr>
              <a:t>Có mục tiêu → mới ra được câu hỏi trắc nghiệm, bài tập.</a:t>
            </a:r>
          </a:p>
          <a:p>
            <a:pPr algn="l" marL="431799" indent="-215899" lvl="1">
              <a:lnSpc>
                <a:spcPts val="3199"/>
              </a:lnSpc>
              <a:buFont typeface="Arial"/>
              <a:buChar char="•"/>
            </a:pPr>
            <a:r>
              <a:rPr lang="en-US" sz="1999">
                <a:solidFill>
                  <a:srgbClr val="FFFFFF"/>
                </a:solidFill>
                <a:latin typeface="Roboto"/>
                <a:ea typeface="Roboto"/>
                <a:cs typeface="Roboto"/>
                <a:sym typeface="Roboto"/>
              </a:rPr>
              <a:t>Không có mục tiêu → đánh giá mang tính cảm tính.</a:t>
            </a:r>
          </a:p>
        </p:txBody>
      </p:sp>
      <p:sp>
        <p:nvSpPr>
          <p:cNvPr name="TextBox 34" id="34"/>
          <p:cNvSpPr txBox="true"/>
          <p:nvPr/>
        </p:nvSpPr>
        <p:spPr>
          <a:xfrm rot="0">
            <a:off x="4962898" y="5511846"/>
            <a:ext cx="3762614" cy="3184525"/>
          </a:xfrm>
          <a:prstGeom prst="rect">
            <a:avLst/>
          </a:prstGeom>
        </p:spPr>
        <p:txBody>
          <a:bodyPr anchor="t" rtlCol="false" tIns="0" lIns="0" bIns="0" rIns="0">
            <a:spAutoFit/>
          </a:bodyPr>
          <a:lstStyle/>
          <a:p>
            <a:pPr algn="l">
              <a:lnSpc>
                <a:spcPts val="3199"/>
              </a:lnSpc>
            </a:pPr>
            <a:r>
              <a:rPr lang="en-US" sz="1999">
                <a:solidFill>
                  <a:srgbClr val="FFFFFF"/>
                </a:solidFill>
                <a:latin typeface="Roboto"/>
                <a:ea typeface="Roboto"/>
                <a:cs typeface="Roboto"/>
                <a:sym typeface="Roboto"/>
              </a:rPr>
              <a:t>Mỗi video cần trả lời được: </a:t>
            </a:r>
            <a:r>
              <a:rPr lang="en-US" sz="1999">
                <a:solidFill>
                  <a:srgbClr val="FFFFFF"/>
                </a:solidFill>
                <a:latin typeface="Roboto"/>
                <a:ea typeface="Roboto"/>
                <a:cs typeface="Roboto"/>
                <a:sym typeface="Roboto"/>
              </a:rPr>
              <a:t>“Xem xong, người học làm được gì?”, ví dụ:</a:t>
            </a:r>
          </a:p>
          <a:p>
            <a:pPr algn="l" marL="431799" indent="-215899" lvl="1">
              <a:lnSpc>
                <a:spcPts val="3199"/>
              </a:lnSpc>
              <a:buFont typeface="Arial"/>
              <a:buChar char="•"/>
            </a:pPr>
            <a:r>
              <a:rPr lang="en-US" sz="1999">
                <a:solidFill>
                  <a:srgbClr val="FFFFFF"/>
                </a:solidFill>
                <a:latin typeface="Roboto"/>
                <a:ea typeface="Roboto"/>
                <a:cs typeface="Roboto"/>
                <a:sym typeface="Roboto"/>
              </a:rPr>
              <a:t>Mục tiêu “Apply” → Video phải có hướng dẫn thực hành</a:t>
            </a:r>
          </a:p>
          <a:p>
            <a:pPr algn="l" marL="431799" indent="-215899" lvl="1">
              <a:lnSpc>
                <a:spcPts val="3199"/>
              </a:lnSpc>
              <a:buFont typeface="Arial"/>
              <a:buChar char="•"/>
            </a:pPr>
            <a:r>
              <a:rPr lang="en-US" sz="1999">
                <a:solidFill>
                  <a:srgbClr val="FFFFFF"/>
                </a:solidFill>
                <a:latin typeface="Roboto"/>
                <a:ea typeface="Roboto"/>
                <a:cs typeface="Roboto"/>
                <a:sym typeface="Roboto"/>
              </a:rPr>
              <a:t>Mục tiêu: “Remember” → Video chỉ cần trình bày khái niệm ngắn gọn.</a:t>
            </a:r>
          </a:p>
        </p:txBody>
      </p:sp>
      <p:grpSp>
        <p:nvGrpSpPr>
          <p:cNvPr name="Group 35" id="35"/>
          <p:cNvGrpSpPr/>
          <p:nvPr/>
        </p:nvGrpSpPr>
        <p:grpSpPr>
          <a:xfrm rot="0">
            <a:off x="13817892" y="3693466"/>
            <a:ext cx="3988725" cy="5140954"/>
            <a:chOff x="0" y="0"/>
            <a:chExt cx="1050528" cy="1353996"/>
          </a:xfrm>
        </p:grpSpPr>
        <p:sp>
          <p:nvSpPr>
            <p:cNvPr name="Freeform 36" id="36"/>
            <p:cNvSpPr/>
            <p:nvPr/>
          </p:nvSpPr>
          <p:spPr>
            <a:xfrm flipH="false" flipV="false" rot="0">
              <a:off x="0" y="0"/>
              <a:ext cx="1050528" cy="1353996"/>
            </a:xfrm>
            <a:custGeom>
              <a:avLst/>
              <a:gdLst/>
              <a:ahLst/>
              <a:cxnLst/>
              <a:rect r="r" b="b" t="t" l="l"/>
              <a:pathLst>
                <a:path h="1353996" w="1050528">
                  <a:moveTo>
                    <a:pt x="98989" y="0"/>
                  </a:moveTo>
                  <a:lnTo>
                    <a:pt x="951540" y="0"/>
                  </a:lnTo>
                  <a:cubicBezTo>
                    <a:pt x="977793" y="0"/>
                    <a:pt x="1002971" y="10429"/>
                    <a:pt x="1021535" y="28993"/>
                  </a:cubicBezTo>
                  <a:cubicBezTo>
                    <a:pt x="1040099" y="47557"/>
                    <a:pt x="1050528" y="72735"/>
                    <a:pt x="1050528" y="98989"/>
                  </a:cubicBezTo>
                  <a:lnTo>
                    <a:pt x="1050528" y="1255008"/>
                  </a:lnTo>
                  <a:cubicBezTo>
                    <a:pt x="1050528" y="1309678"/>
                    <a:pt x="1006210" y="1353996"/>
                    <a:pt x="951540" y="1353996"/>
                  </a:cubicBezTo>
                  <a:lnTo>
                    <a:pt x="98989" y="1353996"/>
                  </a:lnTo>
                  <a:cubicBezTo>
                    <a:pt x="72735" y="1353996"/>
                    <a:pt x="47557" y="1343567"/>
                    <a:pt x="28993" y="1325003"/>
                  </a:cubicBezTo>
                  <a:cubicBezTo>
                    <a:pt x="10429" y="1306439"/>
                    <a:pt x="0" y="1281261"/>
                    <a:pt x="0" y="1255008"/>
                  </a:cubicBezTo>
                  <a:lnTo>
                    <a:pt x="0" y="98989"/>
                  </a:lnTo>
                  <a:cubicBezTo>
                    <a:pt x="0" y="72735"/>
                    <a:pt x="10429" y="47557"/>
                    <a:pt x="28993" y="28993"/>
                  </a:cubicBezTo>
                  <a:cubicBezTo>
                    <a:pt x="47557" y="10429"/>
                    <a:pt x="72735" y="0"/>
                    <a:pt x="98989" y="0"/>
                  </a:cubicBezTo>
                  <a:close/>
                </a:path>
              </a:pathLst>
            </a:custGeom>
            <a:solidFill>
              <a:srgbClr val="2F1150"/>
            </a:solidFill>
          </p:spPr>
        </p:sp>
        <p:sp>
          <p:nvSpPr>
            <p:cNvPr name="TextBox 37" id="37"/>
            <p:cNvSpPr txBox="true"/>
            <p:nvPr/>
          </p:nvSpPr>
          <p:spPr>
            <a:xfrm>
              <a:off x="0" y="28575"/>
              <a:ext cx="1050528" cy="1325421"/>
            </a:xfrm>
            <a:prstGeom prst="rect">
              <a:avLst/>
            </a:prstGeom>
          </p:spPr>
          <p:txBody>
            <a:bodyPr anchor="ctr" rtlCol="false" tIns="50800" lIns="50800" bIns="50800" rIns="50800"/>
            <a:lstStyle/>
            <a:p>
              <a:pPr algn="ctr">
                <a:lnSpc>
                  <a:spcPts val="1663"/>
                </a:lnSpc>
              </a:pPr>
            </a:p>
          </p:txBody>
        </p:sp>
      </p:grpSp>
      <p:grpSp>
        <p:nvGrpSpPr>
          <p:cNvPr name="Group 38" id="38"/>
          <p:cNvGrpSpPr/>
          <p:nvPr/>
        </p:nvGrpSpPr>
        <p:grpSpPr>
          <a:xfrm rot="0">
            <a:off x="15041681" y="2880787"/>
            <a:ext cx="1625356" cy="1625356"/>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95250" cap="sq">
              <a:solidFill>
                <a:srgbClr val="ED8C02"/>
              </a:solidFill>
              <a:prstDash val="solid"/>
              <a:miter/>
            </a:ln>
          </p:spPr>
        </p:sp>
        <p:sp>
          <p:nvSpPr>
            <p:cNvPr name="TextBox 40" id="40"/>
            <p:cNvSpPr txBox="true"/>
            <p:nvPr/>
          </p:nvSpPr>
          <p:spPr>
            <a:xfrm>
              <a:off x="76200" y="95250"/>
              <a:ext cx="660400" cy="641350"/>
            </a:xfrm>
            <a:prstGeom prst="rect">
              <a:avLst/>
            </a:prstGeom>
          </p:spPr>
          <p:txBody>
            <a:bodyPr anchor="ctr" rtlCol="false" tIns="50800" lIns="50800" bIns="50800" rIns="50800"/>
            <a:lstStyle/>
            <a:p>
              <a:pPr algn="ctr">
                <a:lnSpc>
                  <a:spcPts val="1942"/>
                </a:lnSpc>
              </a:pPr>
            </a:p>
          </p:txBody>
        </p:sp>
      </p:grpSp>
      <p:sp>
        <p:nvSpPr>
          <p:cNvPr name="TextBox 41" id="41"/>
          <p:cNvSpPr txBox="true"/>
          <p:nvPr/>
        </p:nvSpPr>
        <p:spPr>
          <a:xfrm rot="0">
            <a:off x="15135241" y="3391027"/>
            <a:ext cx="1438235" cy="614889"/>
          </a:xfrm>
          <a:prstGeom prst="rect">
            <a:avLst/>
          </a:prstGeom>
        </p:spPr>
        <p:txBody>
          <a:bodyPr anchor="t" rtlCol="false" tIns="0" lIns="0" bIns="0" rIns="0">
            <a:spAutoFit/>
          </a:bodyPr>
          <a:lstStyle/>
          <a:p>
            <a:pPr algn="ctr">
              <a:lnSpc>
                <a:spcPts val="4474"/>
              </a:lnSpc>
            </a:pPr>
            <a:r>
              <a:rPr lang="en-US" sz="4972">
                <a:solidFill>
                  <a:srgbClr val="0B2F3D"/>
                </a:solidFill>
                <a:latin typeface="Abril Fatface"/>
                <a:ea typeface="Abril Fatface"/>
                <a:cs typeface="Abril Fatface"/>
                <a:sym typeface="Abril Fatface"/>
              </a:rPr>
              <a:t>04</a:t>
            </a:r>
          </a:p>
        </p:txBody>
      </p:sp>
      <p:sp>
        <p:nvSpPr>
          <p:cNvPr name="TextBox 42" id="42"/>
          <p:cNvSpPr txBox="true"/>
          <p:nvPr/>
        </p:nvSpPr>
        <p:spPr>
          <a:xfrm rot="0">
            <a:off x="14160792" y="4449726"/>
            <a:ext cx="3440869" cy="1022405"/>
          </a:xfrm>
          <a:prstGeom prst="rect">
            <a:avLst/>
          </a:prstGeom>
        </p:spPr>
        <p:txBody>
          <a:bodyPr anchor="t" rtlCol="false" tIns="0" lIns="0" bIns="0" rIns="0">
            <a:spAutoFit/>
          </a:bodyPr>
          <a:lstStyle/>
          <a:p>
            <a:pPr algn="ctr">
              <a:lnSpc>
                <a:spcPts val="4147"/>
              </a:lnSpc>
            </a:pPr>
            <a:r>
              <a:rPr lang="en-US" sz="2592" b="true">
                <a:solidFill>
                  <a:srgbClr val="FFFFFF"/>
                </a:solidFill>
                <a:latin typeface="Roboto Bold"/>
                <a:ea typeface="Roboto Bold"/>
                <a:cs typeface="Roboto Bold"/>
                <a:sym typeface="Roboto Bold"/>
              </a:rPr>
              <a:t>Tối ưu thời lượng và trải nghiệm học tập</a:t>
            </a:r>
          </a:p>
        </p:txBody>
      </p:sp>
      <p:sp>
        <p:nvSpPr>
          <p:cNvPr name="TextBox 43" id="43"/>
          <p:cNvSpPr txBox="true"/>
          <p:nvPr/>
        </p:nvSpPr>
        <p:spPr>
          <a:xfrm rot="0">
            <a:off x="14061349" y="5605481"/>
            <a:ext cx="3586020" cy="1584325"/>
          </a:xfrm>
          <a:prstGeom prst="rect">
            <a:avLst/>
          </a:prstGeom>
        </p:spPr>
        <p:txBody>
          <a:bodyPr anchor="t" rtlCol="false" tIns="0" lIns="0" bIns="0" rIns="0">
            <a:spAutoFit/>
          </a:bodyPr>
          <a:lstStyle/>
          <a:p>
            <a:pPr algn="l" marL="431799" indent="-215899" lvl="1">
              <a:lnSpc>
                <a:spcPts val="3199"/>
              </a:lnSpc>
              <a:buFont typeface="Arial"/>
              <a:buChar char="•"/>
            </a:pPr>
            <a:r>
              <a:rPr lang="en-US" sz="1999">
                <a:solidFill>
                  <a:srgbClr val="FFFFFF"/>
                </a:solidFill>
                <a:latin typeface="Roboto"/>
                <a:ea typeface="Roboto"/>
                <a:cs typeface="Roboto"/>
                <a:sym typeface="Roboto"/>
              </a:rPr>
              <a:t>Mỗi video chỉ nên phục vụ 1–2 mục tiêu cụ thể </a:t>
            </a:r>
          </a:p>
          <a:p>
            <a:pPr algn="l" marL="431799" indent="-215899" lvl="1">
              <a:lnSpc>
                <a:spcPts val="3199"/>
              </a:lnSpc>
              <a:buFont typeface="Arial"/>
              <a:buChar char="•"/>
            </a:pPr>
            <a:r>
              <a:rPr lang="en-US" sz="1999">
                <a:solidFill>
                  <a:srgbClr val="FFFFFF"/>
                </a:solidFill>
                <a:latin typeface="Roboto"/>
                <a:ea typeface="Roboto"/>
                <a:cs typeface="Roboto"/>
                <a:sym typeface="Roboto"/>
              </a:rPr>
              <a:t>Tránh video quá dài, quá nặng lý thuyết.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AutoShape 2" id="2"/>
          <p:cNvSpPr/>
          <p:nvPr/>
        </p:nvSpPr>
        <p:spPr>
          <a:xfrm flipV="true">
            <a:off x="3055914" y="9258300"/>
            <a:ext cx="10489468" cy="0"/>
          </a:xfrm>
          <a:prstGeom prst="line">
            <a:avLst/>
          </a:prstGeom>
          <a:ln cap="flat" w="19050">
            <a:solidFill>
              <a:srgbClr val="48276D"/>
            </a:solidFill>
            <a:prstDash val="solid"/>
            <a:headEnd type="none" len="sm" w="sm"/>
            <a:tailEnd type="none" len="sm" w="sm"/>
          </a:ln>
        </p:spPr>
      </p:sp>
      <p:grpSp>
        <p:nvGrpSpPr>
          <p:cNvPr name="Group 3" id="3"/>
          <p:cNvGrpSpPr/>
          <p:nvPr/>
        </p:nvGrpSpPr>
        <p:grpSpPr>
          <a:xfrm rot="0">
            <a:off x="13361619" y="-194461"/>
            <a:ext cx="5093325" cy="10675921"/>
            <a:chOff x="0" y="0"/>
            <a:chExt cx="1341452" cy="2811765"/>
          </a:xfrm>
        </p:grpSpPr>
        <p:sp>
          <p:nvSpPr>
            <p:cNvPr name="Freeform 4" id="4"/>
            <p:cNvSpPr/>
            <p:nvPr/>
          </p:nvSpPr>
          <p:spPr>
            <a:xfrm flipH="false" flipV="false" rot="0">
              <a:off x="0" y="0"/>
              <a:ext cx="1341452" cy="2811765"/>
            </a:xfrm>
            <a:custGeom>
              <a:avLst/>
              <a:gdLst/>
              <a:ahLst/>
              <a:cxnLst/>
              <a:rect r="r" b="b" t="t" l="l"/>
              <a:pathLst>
                <a:path h="2811765" w="1341452">
                  <a:moveTo>
                    <a:pt x="0" y="0"/>
                  </a:moveTo>
                  <a:lnTo>
                    <a:pt x="1341452" y="0"/>
                  </a:lnTo>
                  <a:lnTo>
                    <a:pt x="1341452" y="2811765"/>
                  </a:lnTo>
                  <a:lnTo>
                    <a:pt x="0" y="2811765"/>
                  </a:lnTo>
                  <a:close/>
                </a:path>
              </a:pathLst>
            </a:custGeom>
            <a:gradFill rotWithShape="true">
              <a:gsLst>
                <a:gs pos="0">
                  <a:srgbClr val="9374B3">
                    <a:alpha val="100000"/>
                  </a:srgbClr>
                </a:gs>
                <a:gs pos="50000">
                  <a:srgbClr val="7161A6">
                    <a:alpha val="100000"/>
                  </a:srgbClr>
                </a:gs>
                <a:gs pos="100000">
                  <a:srgbClr val="4A4D9C">
                    <a:alpha val="100000"/>
                  </a:srgbClr>
                </a:gs>
              </a:gsLst>
              <a:lin ang="0"/>
            </a:gradFill>
          </p:spPr>
        </p:sp>
        <p:sp>
          <p:nvSpPr>
            <p:cNvPr name="TextBox 5" id="5"/>
            <p:cNvSpPr txBox="true"/>
            <p:nvPr/>
          </p:nvSpPr>
          <p:spPr>
            <a:xfrm>
              <a:off x="0" y="-38100"/>
              <a:ext cx="1341452" cy="2849865"/>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5498007" y="7924463"/>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alphaModFix amt="35000"/>
              <a:extLst>
                <a:ext uri="{96DAC541-7B7A-43D3-8B79-37D633B846F1}">
                  <asvg:svgBlip xmlns:asvg="http://schemas.microsoft.com/office/drawing/2016/SVG/main" r:embed="rId3"/>
                </a:ext>
              </a:extLst>
            </a:blip>
            <a:stretch>
              <a:fillRect l="0" t="0" r="0" b="0"/>
            </a:stretch>
          </a:blipFill>
        </p:spPr>
      </p:sp>
      <p:grpSp>
        <p:nvGrpSpPr>
          <p:cNvPr name="Group 7" id="7"/>
          <p:cNvGrpSpPr>
            <a:grpSpLocks noChangeAspect="true"/>
          </p:cNvGrpSpPr>
          <p:nvPr/>
        </p:nvGrpSpPr>
        <p:grpSpPr>
          <a:xfrm rot="0">
            <a:off x="10731853" y="1927564"/>
            <a:ext cx="6176262" cy="6784428"/>
            <a:chOff x="0" y="0"/>
            <a:chExt cx="5803900" cy="6375400"/>
          </a:xfrm>
        </p:grpSpPr>
        <p:sp>
          <p:nvSpPr>
            <p:cNvPr name="Freeform 8" id="8"/>
            <p:cNvSpPr/>
            <p:nvPr/>
          </p:nvSpPr>
          <p:spPr>
            <a:xfrm flipH="false" flipV="false" rot="0">
              <a:off x="12700" y="12700"/>
              <a:ext cx="5778500" cy="6350000"/>
            </a:xfrm>
            <a:custGeom>
              <a:avLst/>
              <a:gdLst/>
              <a:ahLst/>
              <a:cxnLst/>
              <a:rect r="r" b="b" t="t" l="l"/>
              <a:pathLst>
                <a:path h="6350000" w="5778500">
                  <a:moveTo>
                    <a:pt x="2889250" y="0"/>
                  </a:moveTo>
                  <a:cubicBezTo>
                    <a:pt x="1258570" y="0"/>
                    <a:pt x="0" y="1144270"/>
                    <a:pt x="0" y="2917190"/>
                  </a:cubicBezTo>
                  <a:cubicBezTo>
                    <a:pt x="0" y="4175760"/>
                    <a:pt x="0" y="6350000"/>
                    <a:pt x="0" y="6350000"/>
                  </a:cubicBezTo>
                  <a:lnTo>
                    <a:pt x="2889250" y="6350000"/>
                  </a:lnTo>
                  <a:lnTo>
                    <a:pt x="5778500" y="6350000"/>
                  </a:lnTo>
                  <a:cubicBezTo>
                    <a:pt x="5778500" y="6350000"/>
                    <a:pt x="5778500" y="4175760"/>
                    <a:pt x="5778500" y="2917190"/>
                  </a:cubicBezTo>
                  <a:cubicBezTo>
                    <a:pt x="5778500" y="1144270"/>
                    <a:pt x="4519930" y="0"/>
                    <a:pt x="2889250" y="0"/>
                  </a:cubicBezTo>
                  <a:close/>
                </a:path>
              </a:pathLst>
            </a:custGeom>
            <a:blipFill>
              <a:blip r:embed="rId4"/>
              <a:stretch>
                <a:fillRect l="-73616" t="0" r="-21743" b="0"/>
              </a:stretch>
            </a:blipFill>
          </p:spPr>
        </p:sp>
        <p:sp>
          <p:nvSpPr>
            <p:cNvPr name="Freeform 9" id="9"/>
            <p:cNvSpPr/>
            <p:nvPr/>
          </p:nvSpPr>
          <p:spPr>
            <a:xfrm flipH="false" flipV="false" rot="0">
              <a:off x="0" y="0"/>
              <a:ext cx="5803900" cy="6375400"/>
            </a:xfrm>
            <a:custGeom>
              <a:avLst/>
              <a:gdLst/>
              <a:ahLst/>
              <a:cxnLst/>
              <a:rect r="r" b="b" t="t" l="l"/>
              <a:pathLst>
                <a:path h="6375400" w="5803900">
                  <a:moveTo>
                    <a:pt x="5803900" y="6375400"/>
                  </a:moveTo>
                  <a:lnTo>
                    <a:pt x="0" y="6375400"/>
                  </a:lnTo>
                  <a:lnTo>
                    <a:pt x="0" y="2929890"/>
                  </a:lnTo>
                  <a:cubicBezTo>
                    <a:pt x="0" y="2495550"/>
                    <a:pt x="74930" y="2089150"/>
                    <a:pt x="223520" y="1720850"/>
                  </a:cubicBezTo>
                  <a:cubicBezTo>
                    <a:pt x="365760" y="1367790"/>
                    <a:pt x="571500" y="1056640"/>
                    <a:pt x="836930" y="797560"/>
                  </a:cubicBezTo>
                  <a:cubicBezTo>
                    <a:pt x="1361440" y="283210"/>
                    <a:pt x="2095500" y="0"/>
                    <a:pt x="2901950" y="0"/>
                  </a:cubicBezTo>
                  <a:cubicBezTo>
                    <a:pt x="3708400" y="0"/>
                    <a:pt x="4441190" y="283210"/>
                    <a:pt x="4966970" y="797560"/>
                  </a:cubicBezTo>
                  <a:cubicBezTo>
                    <a:pt x="5232400" y="1056640"/>
                    <a:pt x="5438140" y="1367790"/>
                    <a:pt x="5580380" y="1722120"/>
                  </a:cubicBezTo>
                  <a:cubicBezTo>
                    <a:pt x="5728970" y="2090420"/>
                    <a:pt x="5803900" y="2496820"/>
                    <a:pt x="5803900" y="2931160"/>
                  </a:cubicBezTo>
                  <a:lnTo>
                    <a:pt x="5803900" y="6375400"/>
                  </a:lnTo>
                  <a:close/>
                  <a:moveTo>
                    <a:pt x="25400" y="6350000"/>
                  </a:moveTo>
                  <a:lnTo>
                    <a:pt x="5778500" y="6350000"/>
                  </a:lnTo>
                  <a:lnTo>
                    <a:pt x="5778500" y="2929890"/>
                  </a:lnTo>
                  <a:cubicBezTo>
                    <a:pt x="5778500" y="2499360"/>
                    <a:pt x="5703570" y="2095500"/>
                    <a:pt x="5557520" y="1731010"/>
                  </a:cubicBezTo>
                  <a:cubicBezTo>
                    <a:pt x="5416550" y="1380490"/>
                    <a:pt x="5212080" y="1073150"/>
                    <a:pt x="4949190" y="815340"/>
                  </a:cubicBezTo>
                  <a:cubicBezTo>
                    <a:pt x="4428490" y="306070"/>
                    <a:pt x="3700780" y="25400"/>
                    <a:pt x="2901950" y="25400"/>
                  </a:cubicBezTo>
                  <a:cubicBezTo>
                    <a:pt x="2103120" y="25400"/>
                    <a:pt x="1375410" y="306070"/>
                    <a:pt x="854710" y="815340"/>
                  </a:cubicBezTo>
                  <a:cubicBezTo>
                    <a:pt x="591820" y="1071880"/>
                    <a:pt x="387350" y="1380490"/>
                    <a:pt x="246380" y="1731010"/>
                  </a:cubicBezTo>
                  <a:cubicBezTo>
                    <a:pt x="100330" y="2095500"/>
                    <a:pt x="25400" y="2499360"/>
                    <a:pt x="25400" y="2929890"/>
                  </a:cubicBezTo>
                  <a:lnTo>
                    <a:pt x="25400" y="6350000"/>
                  </a:lnTo>
                  <a:close/>
                </a:path>
              </a:pathLst>
            </a:custGeom>
            <a:solidFill>
              <a:srgbClr val="FFFFFF"/>
            </a:solidFill>
          </p:spPr>
        </p:sp>
      </p:grpSp>
      <p:sp>
        <p:nvSpPr>
          <p:cNvPr name="AutoShape 10" id="10"/>
          <p:cNvSpPr/>
          <p:nvPr/>
        </p:nvSpPr>
        <p:spPr>
          <a:xfrm>
            <a:off x="1028700" y="1047750"/>
            <a:ext cx="12332919" cy="0"/>
          </a:xfrm>
          <a:prstGeom prst="line">
            <a:avLst/>
          </a:prstGeom>
          <a:ln cap="flat" w="19050">
            <a:solidFill>
              <a:srgbClr val="48276D"/>
            </a:solidFill>
            <a:prstDash val="solid"/>
            <a:headEnd type="none" len="sm" w="sm"/>
            <a:tailEnd type="none" len="sm" w="sm"/>
          </a:ln>
        </p:spPr>
      </p:sp>
      <p:sp>
        <p:nvSpPr>
          <p:cNvPr name="Freeform 11" id="11"/>
          <p:cNvSpPr/>
          <p:nvPr/>
        </p:nvSpPr>
        <p:spPr>
          <a:xfrm flipH="false" flipV="false" rot="0">
            <a:off x="10170313" y="729247"/>
            <a:ext cx="561540" cy="140385"/>
          </a:xfrm>
          <a:custGeom>
            <a:avLst/>
            <a:gdLst/>
            <a:ahLst/>
            <a:cxnLst/>
            <a:rect r="r" b="b" t="t" l="l"/>
            <a:pathLst>
              <a:path h="140385" w="561540">
                <a:moveTo>
                  <a:pt x="0" y="0"/>
                </a:moveTo>
                <a:lnTo>
                  <a:pt x="561540" y="0"/>
                </a:lnTo>
                <a:lnTo>
                  <a:pt x="561540" y="140385"/>
                </a:lnTo>
                <a:lnTo>
                  <a:pt x="0" y="1403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17259300" y="611788"/>
            <a:ext cx="562446" cy="375305"/>
          </a:xfrm>
          <a:custGeom>
            <a:avLst/>
            <a:gdLst/>
            <a:ahLst/>
            <a:cxnLst/>
            <a:rect r="r" b="b" t="t" l="l"/>
            <a:pathLst>
              <a:path h="375305" w="562446">
                <a:moveTo>
                  <a:pt x="0" y="0"/>
                </a:moveTo>
                <a:lnTo>
                  <a:pt x="562446" y="0"/>
                </a:lnTo>
                <a:lnTo>
                  <a:pt x="562446" y="375304"/>
                </a:lnTo>
                <a:lnTo>
                  <a:pt x="0" y="3753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13" id="13"/>
          <p:cNvGrpSpPr/>
          <p:nvPr/>
        </p:nvGrpSpPr>
        <p:grpSpPr>
          <a:xfrm rot="0">
            <a:off x="1028700" y="7569219"/>
            <a:ext cx="2450613" cy="710489"/>
            <a:chOff x="0" y="0"/>
            <a:chExt cx="645429" cy="187125"/>
          </a:xfrm>
        </p:grpSpPr>
        <p:sp>
          <p:nvSpPr>
            <p:cNvPr name="Freeform 14" id="14"/>
            <p:cNvSpPr/>
            <p:nvPr/>
          </p:nvSpPr>
          <p:spPr>
            <a:xfrm flipH="false" flipV="false" rot="0">
              <a:off x="0" y="0"/>
              <a:ext cx="645429" cy="187125"/>
            </a:xfrm>
            <a:custGeom>
              <a:avLst/>
              <a:gdLst/>
              <a:ahLst/>
              <a:cxnLst/>
              <a:rect r="r" b="b" t="t" l="l"/>
              <a:pathLst>
                <a:path h="187125" w="645429">
                  <a:moveTo>
                    <a:pt x="69502" y="0"/>
                  </a:moveTo>
                  <a:lnTo>
                    <a:pt x="575927" y="0"/>
                  </a:lnTo>
                  <a:cubicBezTo>
                    <a:pt x="594360" y="0"/>
                    <a:pt x="612038" y="7322"/>
                    <a:pt x="625072" y="20357"/>
                  </a:cubicBezTo>
                  <a:cubicBezTo>
                    <a:pt x="638107" y="33391"/>
                    <a:pt x="645429" y="51069"/>
                    <a:pt x="645429" y="69502"/>
                  </a:cubicBezTo>
                  <a:lnTo>
                    <a:pt x="645429" y="117623"/>
                  </a:lnTo>
                  <a:cubicBezTo>
                    <a:pt x="645429" y="156008"/>
                    <a:pt x="614312" y="187125"/>
                    <a:pt x="575927" y="187125"/>
                  </a:cubicBezTo>
                  <a:lnTo>
                    <a:pt x="69502" y="187125"/>
                  </a:lnTo>
                  <a:cubicBezTo>
                    <a:pt x="51069" y="187125"/>
                    <a:pt x="33391" y="179802"/>
                    <a:pt x="20357" y="166768"/>
                  </a:cubicBezTo>
                  <a:cubicBezTo>
                    <a:pt x="7322" y="153734"/>
                    <a:pt x="0" y="136056"/>
                    <a:pt x="0" y="117623"/>
                  </a:cubicBezTo>
                  <a:lnTo>
                    <a:pt x="0" y="69502"/>
                  </a:lnTo>
                  <a:cubicBezTo>
                    <a:pt x="0" y="31117"/>
                    <a:pt x="31117" y="0"/>
                    <a:pt x="69502" y="0"/>
                  </a:cubicBezTo>
                  <a:close/>
                </a:path>
              </a:pathLst>
            </a:custGeom>
            <a:solidFill>
              <a:srgbClr val="48276D"/>
            </a:solidFill>
            <a:ln w="38100" cap="rnd">
              <a:solidFill>
                <a:srgbClr val="FFFFFF"/>
              </a:solidFill>
              <a:prstDash val="solid"/>
              <a:round/>
            </a:ln>
          </p:spPr>
        </p:sp>
        <p:sp>
          <p:nvSpPr>
            <p:cNvPr name="TextBox 15" id="15"/>
            <p:cNvSpPr txBox="true"/>
            <p:nvPr/>
          </p:nvSpPr>
          <p:spPr>
            <a:xfrm>
              <a:off x="0" y="-47625"/>
              <a:ext cx="645429" cy="234750"/>
            </a:xfrm>
            <a:prstGeom prst="rect">
              <a:avLst/>
            </a:prstGeom>
          </p:spPr>
          <p:txBody>
            <a:bodyPr anchor="ctr" rtlCol="false" tIns="50800" lIns="50800" bIns="50800" rIns="50800"/>
            <a:lstStyle/>
            <a:p>
              <a:pPr algn="ctr">
                <a:lnSpc>
                  <a:spcPts val="2939"/>
                </a:lnSpc>
              </a:pPr>
            </a:p>
          </p:txBody>
        </p:sp>
      </p:grpSp>
      <p:sp>
        <p:nvSpPr>
          <p:cNvPr name="Freeform 16" id="16"/>
          <p:cNvSpPr/>
          <p:nvPr/>
        </p:nvSpPr>
        <p:spPr>
          <a:xfrm flipH="false" flipV="false" rot="0">
            <a:off x="2858198" y="7726747"/>
            <a:ext cx="395433" cy="395433"/>
          </a:xfrm>
          <a:custGeom>
            <a:avLst/>
            <a:gdLst/>
            <a:ahLst/>
            <a:cxnLst/>
            <a:rect r="r" b="b" t="t" l="l"/>
            <a:pathLst>
              <a:path h="395433" w="395433">
                <a:moveTo>
                  <a:pt x="0" y="0"/>
                </a:moveTo>
                <a:lnTo>
                  <a:pt x="395433" y="0"/>
                </a:lnTo>
                <a:lnTo>
                  <a:pt x="395433" y="395433"/>
                </a:lnTo>
                <a:lnTo>
                  <a:pt x="0" y="39543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7" id="17"/>
          <p:cNvSpPr/>
          <p:nvPr/>
        </p:nvSpPr>
        <p:spPr>
          <a:xfrm flipH="false" flipV="false" rot="5400000">
            <a:off x="9458441" y="1452590"/>
            <a:ext cx="517669" cy="1467617"/>
          </a:xfrm>
          <a:custGeom>
            <a:avLst/>
            <a:gdLst/>
            <a:ahLst/>
            <a:cxnLst/>
            <a:rect r="r" b="b" t="t" l="l"/>
            <a:pathLst>
              <a:path h="1467617" w="517669">
                <a:moveTo>
                  <a:pt x="0" y="0"/>
                </a:moveTo>
                <a:lnTo>
                  <a:pt x="517668" y="0"/>
                </a:lnTo>
                <a:lnTo>
                  <a:pt x="517668" y="1467617"/>
                </a:lnTo>
                <a:lnTo>
                  <a:pt x="0" y="14676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8" id="18"/>
          <p:cNvSpPr/>
          <p:nvPr/>
        </p:nvSpPr>
        <p:spPr>
          <a:xfrm flipH="false" flipV="false" rot="5400000">
            <a:off x="5891575" y="7287647"/>
            <a:ext cx="585966" cy="1661243"/>
          </a:xfrm>
          <a:custGeom>
            <a:avLst/>
            <a:gdLst/>
            <a:ahLst/>
            <a:cxnLst/>
            <a:rect r="r" b="b" t="t" l="l"/>
            <a:pathLst>
              <a:path h="1661243" w="585966">
                <a:moveTo>
                  <a:pt x="0" y="0"/>
                </a:moveTo>
                <a:lnTo>
                  <a:pt x="585965" y="0"/>
                </a:lnTo>
                <a:lnTo>
                  <a:pt x="585965" y="1661242"/>
                </a:lnTo>
                <a:lnTo>
                  <a:pt x="0" y="16612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9" id="19"/>
          <p:cNvSpPr txBox="true"/>
          <p:nvPr/>
        </p:nvSpPr>
        <p:spPr>
          <a:xfrm rot="0">
            <a:off x="1028700" y="3076015"/>
            <a:ext cx="9141613" cy="3225661"/>
          </a:xfrm>
          <a:prstGeom prst="rect">
            <a:avLst/>
          </a:prstGeom>
        </p:spPr>
        <p:txBody>
          <a:bodyPr anchor="t" rtlCol="false" tIns="0" lIns="0" bIns="0" rIns="0">
            <a:spAutoFit/>
          </a:bodyPr>
          <a:lstStyle/>
          <a:p>
            <a:pPr algn="l">
              <a:lnSpc>
                <a:spcPts val="12235"/>
              </a:lnSpc>
            </a:pPr>
            <a:r>
              <a:rPr lang="en-US" sz="13299" b="true">
                <a:solidFill>
                  <a:srgbClr val="48276D"/>
                </a:solidFill>
                <a:latin typeface="Montserrat Heavy"/>
                <a:ea typeface="Montserrat Heavy"/>
                <a:cs typeface="Montserrat Heavy"/>
                <a:sym typeface="Montserrat Heavy"/>
              </a:rPr>
              <a:t>THANK YOU</a:t>
            </a:r>
          </a:p>
        </p:txBody>
      </p:sp>
      <p:sp>
        <p:nvSpPr>
          <p:cNvPr name="TextBox 20" id="20"/>
          <p:cNvSpPr txBox="true"/>
          <p:nvPr/>
        </p:nvSpPr>
        <p:spPr>
          <a:xfrm rot="0">
            <a:off x="1306274" y="7717770"/>
            <a:ext cx="1542690" cy="365760"/>
          </a:xfrm>
          <a:prstGeom prst="rect">
            <a:avLst/>
          </a:prstGeom>
        </p:spPr>
        <p:txBody>
          <a:bodyPr anchor="t" rtlCol="false" tIns="0" lIns="0" bIns="0" rIns="0">
            <a:spAutoFit/>
          </a:bodyPr>
          <a:lstStyle/>
          <a:p>
            <a:pPr algn="l">
              <a:lnSpc>
                <a:spcPts val="2939"/>
              </a:lnSpc>
            </a:pPr>
            <a:r>
              <a:rPr lang="en-US" sz="2099">
                <a:solidFill>
                  <a:srgbClr val="FFFFFF"/>
                </a:solidFill>
                <a:latin typeface="Roboto"/>
                <a:ea typeface="Roboto"/>
                <a:cs typeface="Roboto"/>
                <a:sym typeface="Roboto"/>
              </a:rPr>
              <a:t>Read More</a:t>
            </a:r>
          </a:p>
        </p:txBody>
      </p:sp>
      <p:sp>
        <p:nvSpPr>
          <p:cNvPr name="TextBox 21" id="21"/>
          <p:cNvSpPr txBox="true"/>
          <p:nvPr/>
        </p:nvSpPr>
        <p:spPr>
          <a:xfrm rot="0">
            <a:off x="13808901" y="592747"/>
            <a:ext cx="3378212" cy="365760"/>
          </a:xfrm>
          <a:prstGeom prst="rect">
            <a:avLst/>
          </a:prstGeom>
        </p:spPr>
        <p:txBody>
          <a:bodyPr anchor="t" rtlCol="false" tIns="0" lIns="0" bIns="0" rIns="0">
            <a:spAutoFit/>
          </a:bodyPr>
          <a:lstStyle/>
          <a:p>
            <a:pPr algn="ctr">
              <a:lnSpc>
                <a:spcPts val="2939"/>
              </a:lnSpc>
            </a:pPr>
            <a:r>
              <a:rPr lang="en-US" sz="2099">
                <a:solidFill>
                  <a:srgbClr val="FFFFFF"/>
                </a:solidFill>
                <a:latin typeface="Roboto"/>
                <a:ea typeface="Roboto"/>
                <a:cs typeface="Roboto"/>
                <a:sym typeface="Roboto"/>
              </a:rPr>
              <a:t>Đại học Bách Khoa Hà Nội</a:t>
            </a:r>
          </a:p>
        </p:txBody>
      </p:sp>
      <p:sp>
        <p:nvSpPr>
          <p:cNvPr name="TextBox 22" id="22"/>
          <p:cNvSpPr txBox="true"/>
          <p:nvPr/>
        </p:nvSpPr>
        <p:spPr>
          <a:xfrm rot="0">
            <a:off x="1028700" y="9051607"/>
            <a:ext cx="1327923" cy="365760"/>
          </a:xfrm>
          <a:prstGeom prst="rect">
            <a:avLst/>
          </a:prstGeom>
        </p:spPr>
        <p:txBody>
          <a:bodyPr anchor="t" rtlCol="false" tIns="0" lIns="0" bIns="0" rIns="0">
            <a:spAutoFit/>
          </a:bodyPr>
          <a:lstStyle/>
          <a:p>
            <a:pPr algn="l">
              <a:lnSpc>
                <a:spcPts val="2939"/>
              </a:lnSpc>
            </a:pPr>
            <a:r>
              <a:rPr lang="en-US" sz="2099">
                <a:solidFill>
                  <a:srgbClr val="48276D"/>
                </a:solidFill>
                <a:latin typeface="Roboto"/>
                <a:ea typeface="Roboto"/>
                <a:cs typeface="Roboto"/>
                <a:sym typeface="Roboto"/>
              </a:rPr>
              <a:t>E-learning</a:t>
            </a:r>
          </a:p>
        </p:txBody>
      </p:sp>
      <p:sp>
        <p:nvSpPr>
          <p:cNvPr name="TextBox 23" id="23"/>
          <p:cNvSpPr txBox="true"/>
          <p:nvPr/>
        </p:nvSpPr>
        <p:spPr>
          <a:xfrm rot="0">
            <a:off x="1028700" y="6134118"/>
            <a:ext cx="8650473" cy="596901"/>
          </a:xfrm>
          <a:prstGeom prst="rect">
            <a:avLst/>
          </a:prstGeom>
        </p:spPr>
        <p:txBody>
          <a:bodyPr anchor="t" rtlCol="false" tIns="0" lIns="0" bIns="0" rIns="0">
            <a:spAutoFit/>
          </a:bodyPr>
          <a:lstStyle/>
          <a:p>
            <a:pPr algn="l">
              <a:lnSpc>
                <a:spcPts val="4899"/>
              </a:lnSpc>
            </a:pPr>
            <a:r>
              <a:rPr lang="en-US" sz="3499">
                <a:solidFill>
                  <a:srgbClr val="69498D"/>
                </a:solidFill>
                <a:latin typeface="Roboto"/>
                <a:ea typeface="Roboto"/>
                <a:cs typeface="Roboto"/>
                <a:sym typeface="Roboto"/>
              </a:rPr>
              <a:t>Presentation by Nhóm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DAG7dPDeKVM</dc:identifier>
  <dcterms:modified xsi:type="dcterms:W3CDTF">2011-08-01T06:04:30Z</dcterms:modified>
  <cp:revision>1</cp:revision>
  <dc:title>E-Learning: Mục tiêu học tập  (Bloom + SMART)</dc:title>
</cp:coreProperties>
</file>