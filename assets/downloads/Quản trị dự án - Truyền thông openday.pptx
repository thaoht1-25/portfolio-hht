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8288000" cy="10287000"/>
  <p:notesSz cx="6858000" cy="9144000"/>
  <p:embeddedFontLst>
    <p:embeddedFont>
      <p:font typeface="Ojuju Semi-Bold" charset="1" panose="00000000000000000000"/>
      <p:regular r:id="rId46"/>
    </p:embeddedFont>
    <p:embeddedFont>
      <p:font typeface="Work Sans Bold" charset="1" panose="00000000000000000000"/>
      <p:regular r:id="rId47"/>
    </p:embeddedFont>
    <p:embeddedFont>
      <p:font typeface="Work Sans" charset="1" panose="00000000000000000000"/>
      <p:regular r:id="rId48"/>
    </p:embeddedFont>
    <p:embeddedFont>
      <p:font typeface="Work Sans Semi-Bold" charset="1" panose="00000000000000000000"/>
      <p:regular r:id="rId49"/>
    </p:embeddedFont>
    <p:embeddedFont>
      <p:font typeface="Ojuju Bold" charset="1" panose="00000000000000000000"/>
      <p:regular r:id="rId50"/>
    </p:embeddedFont>
    <p:embeddedFont>
      <p:font typeface="Work Sans Medium" charset="1" panose="00000000000000000000"/>
      <p:regular r:id="rId51"/>
    </p:embeddedFont>
    <p:embeddedFont>
      <p:font typeface="Work Sans Italics" charset="1" panose="00000000000000000000"/>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 Id="rId5" Target="../embeddings/oleObject1.bin" Type="http://schemas.openxmlformats.org/officeDocument/2006/relationships/oleObject"/><Relationship Id="rId6" Target="../media/image32.png" Type="http://schemas.openxmlformats.org/officeDocument/2006/relationships/image"/><Relationship Id="rId7" Target="../embeddings/oleObject2.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embeddings/oleObject3.bin" Type="http://schemas.openxmlformats.org/officeDocument/2006/relationships/oleObject"/><Relationship Id="rId6" Target="../media/image46.png" Type="http://schemas.openxmlformats.org/officeDocument/2006/relationships/image"/><Relationship Id="rId7" Target="../embeddings/oleObject4.bin" Type="http://schemas.openxmlformats.org/officeDocument/2006/relationships/oleObjec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2" Target="../media/image47.pn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 Id="rId5" Target="../media/image50.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2" Target="../media/image47.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2" Target="../media/image47.png" Type="http://schemas.openxmlformats.org/officeDocument/2006/relationships/image"/><Relationship Id="rId3" Target="../media/image54.png" Type="http://schemas.openxmlformats.org/officeDocument/2006/relationships/image"/><Relationship Id="rId4" Target="../media/image55.png" Type="http://schemas.openxmlformats.org/officeDocument/2006/relationships/image"/><Relationship Id="rId5" Target="../media/image56.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 Id="rId6" Target="../media/image63.png" Type="http://schemas.openxmlformats.org/officeDocument/2006/relationships/image"/><Relationship Id="rId7" Target="../media/image6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03714" y="1957420"/>
            <a:ext cx="17149112" cy="3719009"/>
          </a:xfrm>
          <a:prstGeom prst="rect">
            <a:avLst/>
          </a:prstGeom>
        </p:spPr>
        <p:txBody>
          <a:bodyPr anchor="t" rtlCol="false" tIns="0" lIns="0" bIns="0" rIns="0">
            <a:spAutoFit/>
          </a:bodyPr>
          <a:lstStyle/>
          <a:p>
            <a:pPr algn="ctr">
              <a:lnSpc>
                <a:spcPts val="14946"/>
              </a:lnSpc>
            </a:pPr>
            <a:r>
              <a:rPr lang="en-US" b="true" sz="10676">
                <a:solidFill>
                  <a:srgbClr val="50212A"/>
                </a:solidFill>
                <a:latin typeface="Ojuju Semi-Bold"/>
                <a:ea typeface="Ojuju Semi-Bold"/>
                <a:cs typeface="Ojuju Semi-Bold"/>
                <a:sym typeface="Ojuju Semi-Bold"/>
              </a:rPr>
              <a:t>BÁO CÁO TRUYỀN THÔNG OPENDAY EDTECH</a:t>
            </a:r>
          </a:p>
        </p:txBody>
      </p:sp>
      <p:sp>
        <p:nvSpPr>
          <p:cNvPr name="TextBox 10" id="10"/>
          <p:cNvSpPr txBox="true"/>
          <p:nvPr/>
        </p:nvSpPr>
        <p:spPr>
          <a:xfrm rot="0">
            <a:off x="263530" y="7160041"/>
            <a:ext cx="5639897" cy="448310"/>
          </a:xfrm>
          <a:prstGeom prst="rect">
            <a:avLst/>
          </a:prstGeom>
        </p:spPr>
        <p:txBody>
          <a:bodyPr anchor="t" rtlCol="false" tIns="0" lIns="0" bIns="0" rIns="0">
            <a:spAutoFit/>
          </a:bodyPr>
          <a:lstStyle/>
          <a:p>
            <a:pPr algn="l">
              <a:lnSpc>
                <a:spcPts val="3640"/>
              </a:lnSpc>
              <a:spcBef>
                <a:spcPct val="0"/>
              </a:spcBef>
            </a:pPr>
            <a:r>
              <a:rPr lang="en-US" b="true" sz="2600">
                <a:solidFill>
                  <a:srgbClr val="50212A"/>
                </a:solidFill>
                <a:latin typeface="Work Sans Bold"/>
                <a:ea typeface="Work Sans Bold"/>
                <a:cs typeface="Work Sans Bold"/>
                <a:sym typeface="Work Sans Bold"/>
              </a:rPr>
              <a:t>GVHD: </a:t>
            </a:r>
            <a:r>
              <a:rPr lang="en-US" sz="2600">
                <a:solidFill>
                  <a:srgbClr val="50212A"/>
                </a:solidFill>
                <a:latin typeface="Work Sans"/>
                <a:ea typeface="Work Sans"/>
                <a:cs typeface="Work Sans"/>
                <a:sym typeface="Work Sans"/>
              </a:rPr>
              <a:t>PGS.TS</a:t>
            </a:r>
            <a:r>
              <a:rPr lang="en-US" b="true" sz="2600">
                <a:solidFill>
                  <a:srgbClr val="50212A"/>
                </a:solidFill>
                <a:latin typeface="Work Sans Bold"/>
                <a:ea typeface="Work Sans Bold"/>
                <a:cs typeface="Work Sans Bold"/>
                <a:sym typeface="Work Sans Bold"/>
              </a:rPr>
              <a:t> </a:t>
            </a:r>
            <a:r>
              <a:rPr lang="en-US" sz="2600">
                <a:solidFill>
                  <a:srgbClr val="50212A"/>
                </a:solidFill>
                <a:latin typeface="Work Sans"/>
                <a:ea typeface="Work Sans"/>
                <a:cs typeface="Work Sans"/>
                <a:sym typeface="Work Sans"/>
              </a:rPr>
              <a:t>Bùi Thị Thuý Hằng</a:t>
            </a:r>
          </a:p>
        </p:txBody>
      </p:sp>
      <p:grpSp>
        <p:nvGrpSpPr>
          <p:cNvPr name="Group 11" id="11"/>
          <p:cNvGrpSpPr/>
          <p:nvPr/>
        </p:nvGrpSpPr>
        <p:grpSpPr>
          <a:xfrm rot="0">
            <a:off x="6552946" y="5398877"/>
            <a:ext cx="5182107" cy="1818314"/>
            <a:chOff x="0" y="0"/>
            <a:chExt cx="6909476" cy="2424419"/>
          </a:xfrm>
        </p:grpSpPr>
        <p:grpSp>
          <p:nvGrpSpPr>
            <p:cNvPr name="Group 12" id="12"/>
            <p:cNvGrpSpPr/>
            <p:nvPr/>
          </p:nvGrpSpPr>
          <p:grpSpPr>
            <a:xfrm rot="-348285">
              <a:off x="71093" y="337734"/>
              <a:ext cx="6767290" cy="1748950"/>
              <a:chOff x="0" y="0"/>
              <a:chExt cx="789483" cy="204036"/>
            </a:xfrm>
          </p:grpSpPr>
          <p:sp>
            <p:nvSpPr>
              <p:cNvPr name="Freeform 13" id="13"/>
              <p:cNvSpPr/>
              <p:nvPr/>
            </p:nvSpPr>
            <p:spPr>
              <a:xfrm flipH="false" flipV="false" rot="0">
                <a:off x="0" y="0"/>
                <a:ext cx="789483" cy="204036"/>
              </a:xfrm>
              <a:custGeom>
                <a:avLst/>
                <a:gdLst/>
                <a:ahLst/>
                <a:cxnLst/>
                <a:rect r="r" b="b" t="t" l="l"/>
                <a:pathLst>
                  <a:path h="204036" w="789483">
                    <a:moveTo>
                      <a:pt x="102018" y="0"/>
                    </a:moveTo>
                    <a:lnTo>
                      <a:pt x="687466" y="0"/>
                    </a:lnTo>
                    <a:cubicBezTo>
                      <a:pt x="714522" y="0"/>
                      <a:pt x="740471" y="10748"/>
                      <a:pt x="759603" y="29880"/>
                    </a:cubicBezTo>
                    <a:cubicBezTo>
                      <a:pt x="778735" y="49012"/>
                      <a:pt x="789483" y="74961"/>
                      <a:pt x="789483" y="102018"/>
                    </a:cubicBezTo>
                    <a:lnTo>
                      <a:pt x="789483" y="102018"/>
                    </a:lnTo>
                    <a:cubicBezTo>
                      <a:pt x="789483" y="129075"/>
                      <a:pt x="778735" y="155023"/>
                      <a:pt x="759603" y="174155"/>
                    </a:cubicBezTo>
                    <a:cubicBezTo>
                      <a:pt x="740471" y="193287"/>
                      <a:pt x="714522" y="204036"/>
                      <a:pt x="687466" y="204036"/>
                    </a:cubicBezTo>
                    <a:lnTo>
                      <a:pt x="102018" y="204036"/>
                    </a:lnTo>
                    <a:cubicBezTo>
                      <a:pt x="74961" y="204036"/>
                      <a:pt x="49012" y="193287"/>
                      <a:pt x="29880" y="174155"/>
                    </a:cubicBezTo>
                    <a:cubicBezTo>
                      <a:pt x="10748" y="155023"/>
                      <a:pt x="0" y="129075"/>
                      <a:pt x="0" y="102018"/>
                    </a:cubicBezTo>
                    <a:lnTo>
                      <a:pt x="0" y="102018"/>
                    </a:lnTo>
                    <a:cubicBezTo>
                      <a:pt x="0" y="74961"/>
                      <a:pt x="10748" y="49012"/>
                      <a:pt x="29880" y="29880"/>
                    </a:cubicBezTo>
                    <a:cubicBezTo>
                      <a:pt x="49012" y="10748"/>
                      <a:pt x="74961" y="0"/>
                      <a:pt x="102018" y="0"/>
                    </a:cubicBezTo>
                    <a:close/>
                  </a:path>
                </a:pathLst>
              </a:custGeom>
              <a:solidFill>
                <a:srgbClr val="FFFFFF"/>
              </a:solidFill>
              <a:ln w="19050" cap="rnd">
                <a:solidFill>
                  <a:srgbClr val="000000"/>
                </a:solidFill>
                <a:prstDash val="solid"/>
                <a:round/>
              </a:ln>
            </p:spPr>
          </p:sp>
          <p:sp>
            <p:nvSpPr>
              <p:cNvPr name="TextBox 14" id="14"/>
              <p:cNvSpPr txBox="true"/>
              <p:nvPr/>
            </p:nvSpPr>
            <p:spPr>
              <a:xfrm>
                <a:off x="0" y="-57150"/>
                <a:ext cx="789483" cy="261186"/>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348285">
              <a:off x="318024" y="383602"/>
              <a:ext cx="6283341" cy="1449917"/>
            </a:xfrm>
            <a:prstGeom prst="rect">
              <a:avLst/>
            </a:prstGeom>
          </p:spPr>
          <p:txBody>
            <a:bodyPr anchor="t" rtlCol="false" tIns="0" lIns="0" bIns="0" rIns="0">
              <a:spAutoFit/>
            </a:bodyPr>
            <a:lstStyle/>
            <a:p>
              <a:pPr algn="ctr">
                <a:lnSpc>
                  <a:spcPts val="9100"/>
                </a:lnSpc>
                <a:spcBef>
                  <a:spcPct val="0"/>
                </a:spcBef>
              </a:pPr>
              <a:r>
                <a:rPr lang="en-US" b="true" sz="6500">
                  <a:solidFill>
                    <a:srgbClr val="50212A"/>
                  </a:solidFill>
                  <a:latin typeface="Ojuju Semi-Bold"/>
                  <a:ea typeface="Ojuju Semi-Bold"/>
                  <a:cs typeface="Ojuju Semi-Bold"/>
                  <a:sym typeface="Ojuju Semi-Bold"/>
                </a:rPr>
                <a:t>2026</a:t>
              </a:r>
            </a:p>
          </p:txBody>
        </p:sp>
      </p:grpSp>
      <p:sp>
        <p:nvSpPr>
          <p:cNvPr name="Freeform 16" id="16"/>
          <p:cNvSpPr/>
          <p:nvPr/>
        </p:nvSpPr>
        <p:spPr>
          <a:xfrm flipH="false" flipV="false" rot="0">
            <a:off x="6829618" y="6585586"/>
            <a:ext cx="4340947" cy="4407053"/>
          </a:xfrm>
          <a:custGeom>
            <a:avLst/>
            <a:gdLst/>
            <a:ahLst/>
            <a:cxnLst/>
            <a:rect r="r" b="b" t="t" l="l"/>
            <a:pathLst>
              <a:path h="4407053" w="4340947">
                <a:moveTo>
                  <a:pt x="0" y="0"/>
                </a:moveTo>
                <a:lnTo>
                  <a:pt x="4340947" y="0"/>
                </a:lnTo>
                <a:lnTo>
                  <a:pt x="4340947" y="4407052"/>
                </a:lnTo>
                <a:lnTo>
                  <a:pt x="0" y="44070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263530" y="8120113"/>
            <a:ext cx="5012273" cy="1801495"/>
          </a:xfrm>
          <a:prstGeom prst="rect">
            <a:avLst/>
          </a:prstGeom>
        </p:spPr>
        <p:txBody>
          <a:bodyPr anchor="t" rtlCol="false" tIns="0" lIns="0" bIns="0" rIns="0">
            <a:spAutoFit/>
          </a:bodyPr>
          <a:lstStyle/>
          <a:p>
            <a:pPr algn="l">
              <a:lnSpc>
                <a:spcPts val="2875"/>
              </a:lnSpc>
            </a:pPr>
            <a:r>
              <a:rPr lang="en-US" sz="2053">
                <a:solidFill>
                  <a:srgbClr val="50212A"/>
                </a:solidFill>
                <a:latin typeface="Work Sans"/>
                <a:ea typeface="Work Sans"/>
                <a:cs typeface="Work Sans"/>
                <a:sym typeface="Work Sans"/>
              </a:rPr>
              <a:t>1. Nguyễn Phương Thảo - </a:t>
            </a:r>
            <a:r>
              <a:rPr lang="en-US" sz="2053">
                <a:solidFill>
                  <a:srgbClr val="50212A"/>
                </a:solidFill>
                <a:latin typeface="Work Sans"/>
                <a:ea typeface="Work Sans"/>
                <a:cs typeface="Work Sans"/>
                <a:sym typeface="Work Sans"/>
              </a:rPr>
              <a:t>20231632</a:t>
            </a:r>
          </a:p>
          <a:p>
            <a:pPr algn="l">
              <a:lnSpc>
                <a:spcPts val="2875"/>
              </a:lnSpc>
            </a:pPr>
            <a:r>
              <a:rPr lang="en-US" sz="2053">
                <a:solidFill>
                  <a:srgbClr val="50212A"/>
                </a:solidFill>
                <a:latin typeface="Work Sans"/>
                <a:ea typeface="Work Sans"/>
                <a:cs typeface="Work Sans"/>
                <a:sym typeface="Work Sans"/>
              </a:rPr>
              <a:t>2. Hoàng Thị Thảo - 20231630</a:t>
            </a:r>
          </a:p>
          <a:p>
            <a:pPr algn="l">
              <a:lnSpc>
                <a:spcPts val="2875"/>
              </a:lnSpc>
            </a:pPr>
            <a:r>
              <a:rPr lang="en-US" sz="2053">
                <a:solidFill>
                  <a:srgbClr val="50212A"/>
                </a:solidFill>
                <a:latin typeface="Work Sans"/>
                <a:ea typeface="Work Sans"/>
                <a:cs typeface="Work Sans"/>
                <a:sym typeface="Work Sans"/>
              </a:rPr>
              <a:t>3. Hoàng Hoài Thương - 20231636</a:t>
            </a:r>
          </a:p>
          <a:p>
            <a:pPr algn="l">
              <a:lnSpc>
                <a:spcPts val="2875"/>
              </a:lnSpc>
            </a:pPr>
            <a:r>
              <a:rPr lang="en-US" sz="2053">
                <a:solidFill>
                  <a:srgbClr val="50212A"/>
                </a:solidFill>
                <a:latin typeface="Work Sans"/>
                <a:ea typeface="Work Sans"/>
                <a:cs typeface="Work Sans"/>
                <a:sym typeface="Work Sans"/>
              </a:rPr>
              <a:t>4. Nguyễn Anh Thư - 202412008</a:t>
            </a:r>
          </a:p>
          <a:p>
            <a:pPr algn="l">
              <a:lnSpc>
                <a:spcPts val="2875"/>
              </a:lnSpc>
              <a:spcBef>
                <a:spcPct val="0"/>
              </a:spcBef>
            </a:pPr>
            <a:r>
              <a:rPr lang="en-US" sz="2053">
                <a:solidFill>
                  <a:srgbClr val="50212A"/>
                </a:solidFill>
                <a:latin typeface="Work Sans"/>
                <a:ea typeface="Work Sans"/>
                <a:cs typeface="Work Sans"/>
                <a:sym typeface="Work Sans"/>
              </a:rPr>
              <a:t>5.</a:t>
            </a:r>
            <a:r>
              <a:rPr lang="en-US" sz="2053">
                <a:solidFill>
                  <a:srgbClr val="50212A"/>
                </a:solidFill>
                <a:latin typeface="Work Sans"/>
                <a:ea typeface="Work Sans"/>
                <a:cs typeface="Work Sans"/>
                <a:sym typeface="Work Sans"/>
              </a:rPr>
              <a:t> </a:t>
            </a:r>
            <a:r>
              <a:rPr lang="en-US" sz="2053">
                <a:solidFill>
                  <a:srgbClr val="50212A"/>
                </a:solidFill>
                <a:latin typeface="Work Sans"/>
                <a:ea typeface="Work Sans"/>
                <a:cs typeface="Work Sans"/>
                <a:sym typeface="Work Sans"/>
              </a:rPr>
              <a:t>L</a:t>
            </a:r>
            <a:r>
              <a:rPr lang="en-US" sz="2053">
                <a:solidFill>
                  <a:srgbClr val="50212A"/>
                </a:solidFill>
                <a:latin typeface="Work Sans"/>
                <a:ea typeface="Work Sans"/>
                <a:cs typeface="Work Sans"/>
                <a:sym typeface="Work Sans"/>
              </a:rPr>
              <a:t>ê Thanh Thảo - 20231631</a:t>
            </a:r>
          </a:p>
        </p:txBody>
      </p:sp>
      <p:grpSp>
        <p:nvGrpSpPr>
          <p:cNvPr name="Group 18" id="18"/>
          <p:cNvGrpSpPr/>
          <p:nvPr/>
        </p:nvGrpSpPr>
        <p:grpSpPr>
          <a:xfrm rot="0">
            <a:off x="497417" y="490255"/>
            <a:ext cx="4507717" cy="888116"/>
            <a:chOff x="0" y="0"/>
            <a:chExt cx="6010290" cy="1184154"/>
          </a:xfrm>
        </p:grpSpPr>
        <p:grpSp>
          <p:nvGrpSpPr>
            <p:cNvPr name="Group 19" id="19"/>
            <p:cNvGrpSpPr/>
            <p:nvPr/>
          </p:nvGrpSpPr>
          <p:grpSpPr>
            <a:xfrm rot="0">
              <a:off x="0" y="0"/>
              <a:ext cx="6010290" cy="1184154"/>
              <a:chOff x="0" y="0"/>
              <a:chExt cx="1187218" cy="233907"/>
            </a:xfrm>
          </p:grpSpPr>
          <p:sp>
            <p:nvSpPr>
              <p:cNvPr name="Freeform 20" id="20"/>
              <p:cNvSpPr/>
              <p:nvPr/>
            </p:nvSpPr>
            <p:spPr>
              <a:xfrm flipH="false" flipV="false" rot="0">
                <a:off x="0" y="0"/>
                <a:ext cx="1187218" cy="233907"/>
              </a:xfrm>
              <a:custGeom>
                <a:avLst/>
                <a:gdLst/>
                <a:ahLst/>
                <a:cxnLst/>
                <a:rect r="r" b="b" t="t" l="l"/>
                <a:pathLst>
                  <a:path h="233907" w="1187218">
                    <a:moveTo>
                      <a:pt x="116954" y="0"/>
                    </a:moveTo>
                    <a:lnTo>
                      <a:pt x="1070264" y="0"/>
                    </a:lnTo>
                    <a:cubicBezTo>
                      <a:pt x="1101282" y="0"/>
                      <a:pt x="1131030" y="12322"/>
                      <a:pt x="1152963" y="34255"/>
                    </a:cubicBezTo>
                    <a:cubicBezTo>
                      <a:pt x="1174896" y="56188"/>
                      <a:pt x="1187218" y="85936"/>
                      <a:pt x="1187218" y="116954"/>
                    </a:cubicBezTo>
                    <a:lnTo>
                      <a:pt x="1187218" y="116954"/>
                    </a:lnTo>
                    <a:cubicBezTo>
                      <a:pt x="1187218" y="181545"/>
                      <a:pt x="1134856" y="233907"/>
                      <a:pt x="1070264"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21" id="21"/>
              <p:cNvSpPr txBox="true"/>
              <p:nvPr/>
            </p:nvSpPr>
            <p:spPr>
              <a:xfrm>
                <a:off x="0" y="-57150"/>
                <a:ext cx="1187218" cy="291057"/>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357186" y="141884"/>
              <a:ext cx="5653104"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Quản trị dự án</a:t>
              </a:r>
            </a:p>
          </p:txBody>
        </p:sp>
      </p:grpSp>
      <p:sp>
        <p:nvSpPr>
          <p:cNvPr name="TextBox 23" id="23"/>
          <p:cNvSpPr txBox="true"/>
          <p:nvPr/>
        </p:nvSpPr>
        <p:spPr>
          <a:xfrm rot="0">
            <a:off x="263530" y="7620086"/>
            <a:ext cx="4851478" cy="448343"/>
          </a:xfrm>
          <a:prstGeom prst="rect">
            <a:avLst/>
          </a:prstGeom>
        </p:spPr>
        <p:txBody>
          <a:bodyPr anchor="t" rtlCol="false" tIns="0" lIns="0" bIns="0" rIns="0">
            <a:spAutoFit/>
          </a:bodyPr>
          <a:lstStyle/>
          <a:p>
            <a:pPr algn="l">
              <a:lnSpc>
                <a:spcPts val="3640"/>
              </a:lnSpc>
              <a:spcBef>
                <a:spcPct val="0"/>
              </a:spcBef>
            </a:pPr>
            <a:r>
              <a:rPr lang="en-US" b="true" sz="2600">
                <a:solidFill>
                  <a:srgbClr val="50212A"/>
                </a:solidFill>
                <a:latin typeface="Work Sans Bold"/>
                <a:ea typeface="Work Sans Bold"/>
                <a:cs typeface="Work Sans Bold"/>
                <a:sym typeface="Work Sans Bold"/>
              </a:rPr>
              <a:t>Nhóm 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0736" y="490255"/>
            <a:ext cx="3518820" cy="888116"/>
            <a:chOff x="0" y="0"/>
            <a:chExt cx="926767" cy="233907"/>
          </a:xfrm>
        </p:grpSpPr>
        <p:sp>
          <p:nvSpPr>
            <p:cNvPr name="Freeform 10" id="10"/>
            <p:cNvSpPr/>
            <p:nvPr/>
          </p:nvSpPr>
          <p:spPr>
            <a:xfrm flipH="false" flipV="false" rot="0">
              <a:off x="0" y="0"/>
              <a:ext cx="926767" cy="233907"/>
            </a:xfrm>
            <a:custGeom>
              <a:avLst/>
              <a:gdLst/>
              <a:ahLst/>
              <a:cxnLst/>
              <a:rect r="r" b="b" t="t" l="l"/>
              <a:pathLst>
                <a:path h="233907" w="926767">
                  <a:moveTo>
                    <a:pt x="116954" y="0"/>
                  </a:moveTo>
                  <a:lnTo>
                    <a:pt x="809814" y="0"/>
                  </a:lnTo>
                  <a:cubicBezTo>
                    <a:pt x="840832" y="0"/>
                    <a:pt x="870580" y="12322"/>
                    <a:pt x="892513" y="34255"/>
                  </a:cubicBezTo>
                  <a:cubicBezTo>
                    <a:pt x="914446" y="56188"/>
                    <a:pt x="926767" y="85936"/>
                    <a:pt x="926767" y="116954"/>
                  </a:cubicBezTo>
                  <a:lnTo>
                    <a:pt x="926767" y="116954"/>
                  </a:lnTo>
                  <a:cubicBezTo>
                    <a:pt x="926767" y="181545"/>
                    <a:pt x="874406" y="233907"/>
                    <a:pt x="809814"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1" id="11"/>
            <p:cNvSpPr txBox="true"/>
            <p:nvPr/>
          </p:nvSpPr>
          <p:spPr>
            <a:xfrm>
              <a:off x="0" y="-57150"/>
              <a:ext cx="926767" cy="29105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28700" y="1880492"/>
            <a:ext cx="16230600" cy="9596104"/>
            <a:chOff x="0" y="0"/>
            <a:chExt cx="4274726" cy="2527369"/>
          </a:xfrm>
        </p:grpSpPr>
        <p:sp>
          <p:nvSpPr>
            <p:cNvPr name="Freeform 13" id="13"/>
            <p:cNvSpPr/>
            <p:nvPr/>
          </p:nvSpPr>
          <p:spPr>
            <a:xfrm flipH="false" flipV="false" rot="0">
              <a:off x="0" y="0"/>
              <a:ext cx="4274726" cy="2527369"/>
            </a:xfrm>
            <a:custGeom>
              <a:avLst/>
              <a:gdLst/>
              <a:ahLst/>
              <a:cxnLst/>
              <a:rect r="r" b="b" t="t" l="l"/>
              <a:pathLst>
                <a:path h="2527369" w="4274726">
                  <a:moveTo>
                    <a:pt x="42930" y="0"/>
                  </a:moveTo>
                  <a:lnTo>
                    <a:pt x="4231796" y="0"/>
                  </a:lnTo>
                  <a:cubicBezTo>
                    <a:pt x="4255506" y="0"/>
                    <a:pt x="4274726" y="19220"/>
                    <a:pt x="4274726" y="42930"/>
                  </a:cubicBezTo>
                  <a:lnTo>
                    <a:pt x="4274726" y="2484439"/>
                  </a:lnTo>
                  <a:cubicBezTo>
                    <a:pt x="4274726" y="2495825"/>
                    <a:pt x="4270203" y="2506744"/>
                    <a:pt x="4262152" y="2514795"/>
                  </a:cubicBezTo>
                  <a:cubicBezTo>
                    <a:pt x="4254101" y="2522846"/>
                    <a:pt x="4243182" y="2527369"/>
                    <a:pt x="4231796" y="2527369"/>
                  </a:cubicBezTo>
                  <a:lnTo>
                    <a:pt x="42930" y="2527369"/>
                  </a:lnTo>
                  <a:cubicBezTo>
                    <a:pt x="19220" y="2527369"/>
                    <a:pt x="0" y="2508149"/>
                    <a:pt x="0" y="2484439"/>
                  </a:cubicBezTo>
                  <a:lnTo>
                    <a:pt x="0" y="42930"/>
                  </a:lnTo>
                  <a:cubicBezTo>
                    <a:pt x="0" y="31544"/>
                    <a:pt x="4523" y="20625"/>
                    <a:pt x="12574" y="12574"/>
                  </a:cubicBezTo>
                  <a:cubicBezTo>
                    <a:pt x="20625" y="4523"/>
                    <a:pt x="31544" y="0"/>
                    <a:pt x="42930" y="0"/>
                  </a:cubicBezTo>
                  <a:close/>
                </a:path>
              </a:pathLst>
            </a:custGeom>
            <a:solidFill>
              <a:srgbClr val="50212A"/>
            </a:solidFill>
            <a:ln cap="rnd">
              <a:noFill/>
              <a:prstDash val="solid"/>
              <a:round/>
            </a:ln>
          </p:spPr>
        </p:sp>
        <p:sp>
          <p:nvSpPr>
            <p:cNvPr name="TextBox 14" id="14"/>
            <p:cNvSpPr txBox="true"/>
            <p:nvPr/>
          </p:nvSpPr>
          <p:spPr>
            <a:xfrm>
              <a:off x="0" y="-57150"/>
              <a:ext cx="4274726" cy="2584519"/>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5417642" y="4562419"/>
            <a:ext cx="676465" cy="676465"/>
          </a:xfrm>
          <a:custGeom>
            <a:avLst/>
            <a:gdLst/>
            <a:ahLst/>
            <a:cxnLst/>
            <a:rect r="r" b="b" t="t" l="l"/>
            <a:pathLst>
              <a:path h="676465" w="676465">
                <a:moveTo>
                  <a:pt x="0" y="0"/>
                </a:moveTo>
                <a:lnTo>
                  <a:pt x="676466" y="0"/>
                </a:lnTo>
                <a:lnTo>
                  <a:pt x="676466" y="676465"/>
                </a:lnTo>
                <a:lnTo>
                  <a:pt x="0" y="6764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5417642" y="3152529"/>
            <a:ext cx="676465" cy="676465"/>
          </a:xfrm>
          <a:custGeom>
            <a:avLst/>
            <a:gdLst/>
            <a:ahLst/>
            <a:cxnLst/>
            <a:rect r="r" b="b" t="t" l="l"/>
            <a:pathLst>
              <a:path h="676465" w="676465">
                <a:moveTo>
                  <a:pt x="0" y="0"/>
                </a:moveTo>
                <a:lnTo>
                  <a:pt x="676466" y="0"/>
                </a:lnTo>
                <a:lnTo>
                  <a:pt x="676466" y="676465"/>
                </a:lnTo>
                <a:lnTo>
                  <a:pt x="0" y="6764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5417642" y="5972309"/>
            <a:ext cx="676465" cy="676465"/>
          </a:xfrm>
          <a:custGeom>
            <a:avLst/>
            <a:gdLst/>
            <a:ahLst/>
            <a:cxnLst/>
            <a:rect r="r" b="b" t="t" l="l"/>
            <a:pathLst>
              <a:path h="676465" w="676465">
                <a:moveTo>
                  <a:pt x="0" y="0"/>
                </a:moveTo>
                <a:lnTo>
                  <a:pt x="676466" y="0"/>
                </a:lnTo>
                <a:lnTo>
                  <a:pt x="676466" y="676466"/>
                </a:lnTo>
                <a:lnTo>
                  <a:pt x="0" y="6764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15417642" y="7382200"/>
            <a:ext cx="676465" cy="676465"/>
          </a:xfrm>
          <a:custGeom>
            <a:avLst/>
            <a:gdLst/>
            <a:ahLst/>
            <a:cxnLst/>
            <a:rect r="r" b="b" t="t" l="l"/>
            <a:pathLst>
              <a:path h="676465" w="676465">
                <a:moveTo>
                  <a:pt x="0" y="0"/>
                </a:moveTo>
                <a:lnTo>
                  <a:pt x="676466" y="0"/>
                </a:lnTo>
                <a:lnTo>
                  <a:pt x="676466" y="676465"/>
                </a:lnTo>
                <a:lnTo>
                  <a:pt x="0" y="6764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3999556" y="2944605"/>
            <a:ext cx="5788995" cy="790426"/>
          </a:xfrm>
          <a:prstGeom prst="rect">
            <a:avLst/>
          </a:prstGeom>
        </p:spPr>
        <p:txBody>
          <a:bodyPr anchor="t" rtlCol="false" tIns="0" lIns="0" bIns="0" rIns="0">
            <a:spAutoFit/>
          </a:bodyPr>
          <a:lstStyle/>
          <a:p>
            <a:pPr algn="l" marL="0" indent="0" lvl="0">
              <a:lnSpc>
                <a:spcPts val="6304"/>
              </a:lnSpc>
              <a:spcBef>
                <a:spcPct val="0"/>
              </a:spcBef>
            </a:pPr>
            <a:r>
              <a:rPr lang="en-US" sz="4503">
                <a:solidFill>
                  <a:srgbClr val="FDF6F2"/>
                </a:solidFill>
                <a:latin typeface="Work Sans"/>
                <a:ea typeface="Work Sans"/>
                <a:cs typeface="Work Sans"/>
                <a:sym typeface="Work Sans"/>
              </a:rPr>
              <a:t>TỔNG QUAN DỰ ÁN</a:t>
            </a:r>
          </a:p>
        </p:txBody>
      </p:sp>
      <p:sp>
        <p:nvSpPr>
          <p:cNvPr name="TextBox 20" id="20"/>
          <p:cNvSpPr txBox="true"/>
          <p:nvPr/>
        </p:nvSpPr>
        <p:spPr>
          <a:xfrm rot="0">
            <a:off x="3999556" y="4341170"/>
            <a:ext cx="6492566" cy="790426"/>
          </a:xfrm>
          <a:prstGeom prst="rect">
            <a:avLst/>
          </a:prstGeom>
        </p:spPr>
        <p:txBody>
          <a:bodyPr anchor="t" rtlCol="false" tIns="0" lIns="0" bIns="0" rIns="0">
            <a:spAutoFit/>
          </a:bodyPr>
          <a:lstStyle/>
          <a:p>
            <a:pPr algn="l" marL="0" indent="0" lvl="0">
              <a:lnSpc>
                <a:spcPts val="6304"/>
              </a:lnSpc>
              <a:spcBef>
                <a:spcPct val="0"/>
              </a:spcBef>
            </a:pPr>
            <a:r>
              <a:rPr lang="en-US" sz="4503">
                <a:solidFill>
                  <a:srgbClr val="FDF6F2"/>
                </a:solidFill>
                <a:latin typeface="Work Sans"/>
                <a:ea typeface="Work Sans"/>
                <a:cs typeface="Work Sans"/>
                <a:sym typeface="Work Sans"/>
              </a:rPr>
              <a:t>KẾ HOẠCH THỰC HIỆN</a:t>
            </a:r>
          </a:p>
        </p:txBody>
      </p:sp>
      <p:sp>
        <p:nvSpPr>
          <p:cNvPr name="TextBox 21" id="21"/>
          <p:cNvSpPr txBox="true"/>
          <p:nvPr/>
        </p:nvSpPr>
        <p:spPr>
          <a:xfrm rot="0">
            <a:off x="3999556" y="5858349"/>
            <a:ext cx="6376825" cy="790426"/>
          </a:xfrm>
          <a:prstGeom prst="rect">
            <a:avLst/>
          </a:prstGeom>
        </p:spPr>
        <p:txBody>
          <a:bodyPr anchor="t" rtlCol="false" tIns="0" lIns="0" bIns="0" rIns="0">
            <a:spAutoFit/>
          </a:bodyPr>
          <a:lstStyle/>
          <a:p>
            <a:pPr algn="l" marL="0" indent="0" lvl="0">
              <a:lnSpc>
                <a:spcPts val="6304"/>
              </a:lnSpc>
              <a:spcBef>
                <a:spcPct val="0"/>
              </a:spcBef>
            </a:pPr>
            <a:r>
              <a:rPr lang="en-US" sz="4503">
                <a:solidFill>
                  <a:srgbClr val="FDF6F2"/>
                </a:solidFill>
                <a:latin typeface="Work Sans"/>
                <a:ea typeface="Work Sans"/>
                <a:cs typeface="Work Sans"/>
                <a:sym typeface="Work Sans"/>
              </a:rPr>
              <a:t>TRIỂN KHAI DỰ ÁN</a:t>
            </a:r>
          </a:p>
        </p:txBody>
      </p:sp>
      <p:sp>
        <p:nvSpPr>
          <p:cNvPr name="TextBox 22" id="22"/>
          <p:cNvSpPr txBox="true"/>
          <p:nvPr/>
        </p:nvSpPr>
        <p:spPr>
          <a:xfrm rot="0">
            <a:off x="3999556" y="7268173"/>
            <a:ext cx="10651738" cy="790492"/>
          </a:xfrm>
          <a:prstGeom prst="rect">
            <a:avLst/>
          </a:prstGeom>
        </p:spPr>
        <p:txBody>
          <a:bodyPr anchor="t" rtlCol="false" tIns="0" lIns="0" bIns="0" rIns="0">
            <a:spAutoFit/>
          </a:bodyPr>
          <a:lstStyle/>
          <a:p>
            <a:pPr algn="l" marL="0" indent="0" lvl="0">
              <a:lnSpc>
                <a:spcPts val="6304"/>
              </a:lnSpc>
              <a:spcBef>
                <a:spcPct val="0"/>
              </a:spcBef>
            </a:pPr>
            <a:r>
              <a:rPr lang="en-US" sz="4503">
                <a:solidFill>
                  <a:srgbClr val="FDF6F2"/>
                </a:solidFill>
                <a:latin typeface="Work Sans"/>
                <a:ea typeface="Work Sans"/>
                <a:cs typeface="Work Sans"/>
                <a:sym typeface="Work Sans"/>
              </a:rPr>
              <a:t>GIÁM SÁT VÀ KIỂM SOÁT TIẾN ĐỘ</a:t>
            </a:r>
          </a:p>
        </p:txBody>
      </p:sp>
      <p:sp>
        <p:nvSpPr>
          <p:cNvPr name="TextBox 23" id="23"/>
          <p:cNvSpPr txBox="true"/>
          <p:nvPr/>
        </p:nvSpPr>
        <p:spPr>
          <a:xfrm rot="0">
            <a:off x="569234" y="575220"/>
            <a:ext cx="3341825" cy="632460"/>
          </a:xfrm>
          <a:prstGeom prst="rect">
            <a:avLst/>
          </a:prstGeom>
        </p:spPr>
        <p:txBody>
          <a:bodyPr anchor="t" rtlCol="false" tIns="0" lIns="0" bIns="0" rIns="0">
            <a:spAutoFit/>
          </a:bodyPr>
          <a:lstStyle/>
          <a:p>
            <a:pPr algn="ctr" marL="0" indent="0" lvl="0">
              <a:lnSpc>
                <a:spcPts val="5040"/>
              </a:lnSpc>
              <a:spcBef>
                <a:spcPct val="0"/>
              </a:spcBef>
            </a:pPr>
            <a:r>
              <a:rPr lang="en-US" b="true" sz="3600">
                <a:solidFill>
                  <a:srgbClr val="50212A"/>
                </a:solidFill>
                <a:latin typeface="Work Sans Semi-Bold"/>
                <a:ea typeface="Work Sans Semi-Bold"/>
                <a:cs typeface="Work Sans Semi-Bold"/>
                <a:sym typeface="Work Sans Semi-Bold"/>
              </a:rPr>
              <a:t>Mục lục</a:t>
            </a:r>
          </a:p>
        </p:txBody>
      </p:sp>
      <p:sp>
        <p:nvSpPr>
          <p:cNvPr name="TextBox 24" id="24"/>
          <p:cNvSpPr txBox="true"/>
          <p:nvPr/>
        </p:nvSpPr>
        <p:spPr>
          <a:xfrm rot="0">
            <a:off x="2829461" y="2800316"/>
            <a:ext cx="711454" cy="1049411"/>
          </a:xfrm>
          <a:prstGeom prst="rect">
            <a:avLst/>
          </a:prstGeom>
        </p:spPr>
        <p:txBody>
          <a:bodyPr anchor="t" rtlCol="false" tIns="0" lIns="0" bIns="0" rIns="0">
            <a:spAutoFit/>
          </a:bodyPr>
          <a:lstStyle/>
          <a:p>
            <a:pPr algn="ctr">
              <a:lnSpc>
                <a:spcPts val="8519"/>
              </a:lnSpc>
            </a:pPr>
            <a:r>
              <a:rPr lang="en-US" b="true" sz="6085">
                <a:solidFill>
                  <a:srgbClr val="FDF6F2"/>
                </a:solidFill>
                <a:latin typeface="Ojuju Semi-Bold"/>
                <a:ea typeface="Ojuju Semi-Bold"/>
                <a:cs typeface="Ojuju Semi-Bold"/>
                <a:sym typeface="Ojuju Semi-Bold"/>
              </a:rPr>
              <a:t>1</a:t>
            </a:r>
          </a:p>
        </p:txBody>
      </p:sp>
      <p:sp>
        <p:nvSpPr>
          <p:cNvPr name="TextBox 25" id="25"/>
          <p:cNvSpPr txBox="true"/>
          <p:nvPr/>
        </p:nvSpPr>
        <p:spPr>
          <a:xfrm rot="0">
            <a:off x="2829461" y="4202153"/>
            <a:ext cx="711454" cy="1049411"/>
          </a:xfrm>
          <a:prstGeom prst="rect">
            <a:avLst/>
          </a:prstGeom>
        </p:spPr>
        <p:txBody>
          <a:bodyPr anchor="t" rtlCol="false" tIns="0" lIns="0" bIns="0" rIns="0">
            <a:spAutoFit/>
          </a:bodyPr>
          <a:lstStyle/>
          <a:p>
            <a:pPr algn="ctr">
              <a:lnSpc>
                <a:spcPts val="8519"/>
              </a:lnSpc>
            </a:pPr>
            <a:r>
              <a:rPr lang="en-US" sz="6085" b="true">
                <a:solidFill>
                  <a:srgbClr val="FDF6F2"/>
                </a:solidFill>
                <a:latin typeface="Ojuju Semi-Bold"/>
                <a:ea typeface="Ojuju Semi-Bold"/>
                <a:cs typeface="Ojuju Semi-Bold"/>
                <a:sym typeface="Ojuju Semi-Bold"/>
              </a:rPr>
              <a:t>2</a:t>
            </a:r>
          </a:p>
        </p:txBody>
      </p:sp>
      <p:sp>
        <p:nvSpPr>
          <p:cNvPr name="TextBox 26" id="26"/>
          <p:cNvSpPr txBox="true"/>
          <p:nvPr/>
        </p:nvSpPr>
        <p:spPr>
          <a:xfrm rot="0">
            <a:off x="2829461" y="5607417"/>
            <a:ext cx="711454" cy="1049411"/>
          </a:xfrm>
          <a:prstGeom prst="rect">
            <a:avLst/>
          </a:prstGeom>
        </p:spPr>
        <p:txBody>
          <a:bodyPr anchor="t" rtlCol="false" tIns="0" lIns="0" bIns="0" rIns="0">
            <a:spAutoFit/>
          </a:bodyPr>
          <a:lstStyle/>
          <a:p>
            <a:pPr algn="ctr">
              <a:lnSpc>
                <a:spcPts val="8519"/>
              </a:lnSpc>
            </a:pPr>
            <a:r>
              <a:rPr lang="en-US" sz="6085" b="true">
                <a:solidFill>
                  <a:srgbClr val="FDF6F2"/>
                </a:solidFill>
                <a:latin typeface="Ojuju Semi-Bold"/>
                <a:ea typeface="Ojuju Semi-Bold"/>
                <a:cs typeface="Ojuju Semi-Bold"/>
                <a:sym typeface="Ojuju Semi-Bold"/>
              </a:rPr>
              <a:t>3</a:t>
            </a:r>
          </a:p>
        </p:txBody>
      </p:sp>
      <p:sp>
        <p:nvSpPr>
          <p:cNvPr name="TextBox 27" id="27"/>
          <p:cNvSpPr txBox="true"/>
          <p:nvPr/>
        </p:nvSpPr>
        <p:spPr>
          <a:xfrm rot="0">
            <a:off x="2829461" y="7009253"/>
            <a:ext cx="711454" cy="1049411"/>
          </a:xfrm>
          <a:prstGeom prst="rect">
            <a:avLst/>
          </a:prstGeom>
        </p:spPr>
        <p:txBody>
          <a:bodyPr anchor="t" rtlCol="false" tIns="0" lIns="0" bIns="0" rIns="0">
            <a:spAutoFit/>
          </a:bodyPr>
          <a:lstStyle/>
          <a:p>
            <a:pPr algn="ctr">
              <a:lnSpc>
                <a:spcPts val="8519"/>
              </a:lnSpc>
            </a:pPr>
            <a:r>
              <a:rPr lang="en-US" sz="6085" b="true">
                <a:solidFill>
                  <a:srgbClr val="FDF6F2"/>
                </a:solidFill>
                <a:latin typeface="Ojuju Semi-Bold"/>
                <a:ea typeface="Ojuju Semi-Bold"/>
                <a:cs typeface="Ojuju Semi-Bold"/>
                <a:sym typeface="Ojuju Semi-Bold"/>
              </a:rPr>
              <a:t>4</a:t>
            </a:r>
          </a:p>
        </p:txBody>
      </p:sp>
      <p:sp>
        <p:nvSpPr>
          <p:cNvPr name="TextBox 28" id="28"/>
          <p:cNvSpPr txBox="true"/>
          <p:nvPr/>
        </p:nvSpPr>
        <p:spPr>
          <a:xfrm rot="0">
            <a:off x="3999556" y="8658740"/>
            <a:ext cx="6776550" cy="790492"/>
          </a:xfrm>
          <a:prstGeom prst="rect">
            <a:avLst/>
          </a:prstGeom>
        </p:spPr>
        <p:txBody>
          <a:bodyPr anchor="t" rtlCol="false" tIns="0" lIns="0" bIns="0" rIns="0">
            <a:spAutoFit/>
          </a:bodyPr>
          <a:lstStyle/>
          <a:p>
            <a:pPr algn="l" marL="0" indent="0" lvl="0">
              <a:lnSpc>
                <a:spcPts val="6304"/>
              </a:lnSpc>
              <a:spcBef>
                <a:spcPct val="0"/>
              </a:spcBef>
            </a:pPr>
            <a:r>
              <a:rPr lang="en-US" sz="4503">
                <a:solidFill>
                  <a:srgbClr val="FDF6F2"/>
                </a:solidFill>
                <a:latin typeface="Work Sans"/>
                <a:ea typeface="Work Sans"/>
                <a:cs typeface="Work Sans"/>
                <a:sym typeface="Work Sans"/>
              </a:rPr>
              <a:t>KẾT QUẢ</a:t>
            </a:r>
          </a:p>
        </p:txBody>
      </p:sp>
      <p:sp>
        <p:nvSpPr>
          <p:cNvPr name="TextBox 29" id="29"/>
          <p:cNvSpPr txBox="true"/>
          <p:nvPr/>
        </p:nvSpPr>
        <p:spPr>
          <a:xfrm rot="0">
            <a:off x="2829461" y="8411090"/>
            <a:ext cx="711454" cy="1049411"/>
          </a:xfrm>
          <a:prstGeom prst="rect">
            <a:avLst/>
          </a:prstGeom>
        </p:spPr>
        <p:txBody>
          <a:bodyPr anchor="t" rtlCol="false" tIns="0" lIns="0" bIns="0" rIns="0">
            <a:spAutoFit/>
          </a:bodyPr>
          <a:lstStyle/>
          <a:p>
            <a:pPr algn="ctr">
              <a:lnSpc>
                <a:spcPts val="8519"/>
              </a:lnSpc>
            </a:pPr>
            <a:r>
              <a:rPr lang="en-US" sz="6085" b="true">
                <a:solidFill>
                  <a:srgbClr val="FDF6F2"/>
                </a:solidFill>
                <a:latin typeface="Ojuju Semi-Bold"/>
                <a:ea typeface="Ojuju Semi-Bold"/>
                <a:cs typeface="Ojuju Semi-Bold"/>
                <a:sym typeface="Ojuju Semi-Bold"/>
              </a:rPr>
              <a:t>5</a:t>
            </a:r>
          </a:p>
        </p:txBody>
      </p:sp>
      <p:sp>
        <p:nvSpPr>
          <p:cNvPr name="Freeform 30" id="30"/>
          <p:cNvSpPr/>
          <p:nvPr/>
        </p:nvSpPr>
        <p:spPr>
          <a:xfrm flipH="false" flipV="false" rot="0">
            <a:off x="15417642" y="8920067"/>
            <a:ext cx="676465" cy="676465"/>
          </a:xfrm>
          <a:custGeom>
            <a:avLst/>
            <a:gdLst/>
            <a:ahLst/>
            <a:cxnLst/>
            <a:rect r="r" b="b" t="t" l="l"/>
            <a:pathLst>
              <a:path h="676465" w="676465">
                <a:moveTo>
                  <a:pt x="0" y="0"/>
                </a:moveTo>
                <a:lnTo>
                  <a:pt x="676466" y="0"/>
                </a:lnTo>
                <a:lnTo>
                  <a:pt x="676466" y="676466"/>
                </a:lnTo>
                <a:lnTo>
                  <a:pt x="0" y="6764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8681502" y="3408351"/>
            <a:ext cx="9062529" cy="4336104"/>
          </a:xfrm>
          <a:prstGeom prst="rect">
            <a:avLst/>
          </a:prstGeom>
        </p:spPr>
        <p:txBody>
          <a:bodyPr anchor="t" rtlCol="false" tIns="0" lIns="0" bIns="0" rIns="0">
            <a:spAutoFit/>
          </a:bodyPr>
          <a:lstStyle/>
          <a:p>
            <a:pPr algn="ctr" marL="0" indent="0" lvl="0">
              <a:lnSpc>
                <a:spcPts val="17450"/>
              </a:lnSpc>
              <a:spcBef>
                <a:spcPct val="0"/>
              </a:spcBef>
            </a:pPr>
            <a:r>
              <a:rPr lang="en-US" b="true" sz="12464">
                <a:solidFill>
                  <a:srgbClr val="50212A"/>
                </a:solidFill>
                <a:latin typeface="Ojuju Bold"/>
                <a:ea typeface="Ojuju Bold"/>
                <a:cs typeface="Ojuju Bold"/>
                <a:sym typeface="Ojuju Bold"/>
              </a:rPr>
              <a:t>1. TỔNG QUAN DỰ ÁN</a:t>
            </a:r>
          </a:p>
        </p:txBody>
      </p:sp>
      <p:sp>
        <p:nvSpPr>
          <p:cNvPr name="Freeform 10" id="10"/>
          <p:cNvSpPr/>
          <p:nvPr/>
        </p:nvSpPr>
        <p:spPr>
          <a:xfrm flipH="false" flipV="false" rot="0">
            <a:off x="303714" y="2225684"/>
            <a:ext cx="7767338" cy="7796576"/>
          </a:xfrm>
          <a:custGeom>
            <a:avLst/>
            <a:gdLst/>
            <a:ahLst/>
            <a:cxnLst/>
            <a:rect r="r" b="b" t="t" l="l"/>
            <a:pathLst>
              <a:path h="7796576" w="7767338">
                <a:moveTo>
                  <a:pt x="0" y="0"/>
                </a:moveTo>
                <a:lnTo>
                  <a:pt x="7767339" y="0"/>
                </a:lnTo>
                <a:lnTo>
                  <a:pt x="7767339" y="7796576"/>
                </a:lnTo>
                <a:lnTo>
                  <a:pt x="0" y="779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954906" y="253082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954906" y="604719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28700" y="1765051"/>
            <a:ext cx="7952868" cy="8449263"/>
          </a:xfrm>
          <a:custGeom>
            <a:avLst/>
            <a:gdLst/>
            <a:ahLst/>
            <a:cxnLst/>
            <a:rect r="r" b="b" t="t" l="l"/>
            <a:pathLst>
              <a:path h="8449263" w="7952868">
                <a:moveTo>
                  <a:pt x="0" y="0"/>
                </a:moveTo>
                <a:lnTo>
                  <a:pt x="7952868" y="0"/>
                </a:lnTo>
                <a:lnTo>
                  <a:pt x="7952868" y="8449263"/>
                </a:lnTo>
                <a:lnTo>
                  <a:pt x="0" y="84492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0966628" y="2388582"/>
            <a:ext cx="3747194" cy="622902"/>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Ojuju Semi-Bold"/>
                <a:ea typeface="Ojuju Semi-Bold"/>
                <a:cs typeface="Ojuju Semi-Bold"/>
                <a:sym typeface="Ojuju Semi-Bold"/>
              </a:rPr>
              <a:t>NGHIÊN CỨU </a:t>
            </a:r>
          </a:p>
        </p:txBody>
      </p:sp>
      <p:sp>
        <p:nvSpPr>
          <p:cNvPr name="TextBox 13" id="13"/>
          <p:cNvSpPr txBox="true"/>
          <p:nvPr/>
        </p:nvSpPr>
        <p:spPr>
          <a:xfrm rot="0">
            <a:off x="10966628" y="5904952"/>
            <a:ext cx="3747194" cy="622902"/>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Ojuju Semi-Bold"/>
                <a:ea typeface="Ojuju Semi-Bold"/>
                <a:cs typeface="Ojuju Semi-Bold"/>
                <a:sym typeface="Ojuju Semi-Bold"/>
              </a:rPr>
              <a:t>VẤN ĐỀ</a:t>
            </a:r>
          </a:p>
        </p:txBody>
      </p:sp>
      <p:sp>
        <p:nvSpPr>
          <p:cNvPr name="TextBox 14" id="14"/>
          <p:cNvSpPr txBox="true"/>
          <p:nvPr/>
        </p:nvSpPr>
        <p:spPr>
          <a:xfrm rot="0">
            <a:off x="9954906" y="3241358"/>
            <a:ext cx="7542560" cy="2463569"/>
          </a:xfrm>
          <a:prstGeom prst="rect">
            <a:avLst/>
          </a:prstGeom>
        </p:spPr>
        <p:txBody>
          <a:bodyPr anchor="t" rtlCol="false" tIns="0" lIns="0" bIns="0" rIns="0">
            <a:spAutoFit/>
          </a:bodyPr>
          <a:lstStyle/>
          <a:p>
            <a:pPr algn="just" marL="431797" indent="-215899" lvl="1">
              <a:lnSpc>
                <a:spcPts val="2799"/>
              </a:lnSpc>
              <a:buFont typeface="Arial"/>
              <a:buChar char="•"/>
            </a:pPr>
            <a:r>
              <a:rPr lang="en-US" sz="1999">
                <a:solidFill>
                  <a:srgbClr val="50212A"/>
                </a:solidFill>
                <a:latin typeface="Work Sans"/>
                <a:ea typeface="Work Sans"/>
                <a:cs typeface="Work Sans"/>
                <a:sym typeface="Work Sans"/>
              </a:rPr>
              <a:t>Ngành Công nghệ Giáo dục (EdTech) phát triển mạnh trong kỷ nguyên số và CMCN 4.0.</a:t>
            </a:r>
          </a:p>
          <a:p>
            <a:pPr algn="just" marL="431797" indent="-215899" lvl="1">
              <a:lnSpc>
                <a:spcPts val="2799"/>
              </a:lnSpc>
              <a:buFont typeface="Arial"/>
              <a:buChar char="•"/>
            </a:pPr>
            <a:r>
              <a:rPr lang="en-US" sz="1999">
                <a:solidFill>
                  <a:srgbClr val="50212A"/>
                </a:solidFill>
                <a:latin typeface="Work Sans"/>
                <a:ea typeface="Work Sans"/>
                <a:cs typeface="Work Sans"/>
                <a:sym typeface="Work Sans"/>
              </a:rPr>
              <a:t>Tại Việt Nam, mức độ nhận diện ngành chưa chưa cao.</a:t>
            </a:r>
          </a:p>
          <a:p>
            <a:pPr algn="just" marL="431797" indent="-215899" lvl="1">
              <a:lnSpc>
                <a:spcPts val="2799"/>
              </a:lnSpc>
              <a:buFont typeface="Arial"/>
              <a:buChar char="•"/>
            </a:pPr>
            <a:r>
              <a:rPr lang="en-US" sz="1999">
                <a:solidFill>
                  <a:srgbClr val="50212A"/>
                </a:solidFill>
                <a:latin typeface="Work Sans"/>
                <a:ea typeface="Work Sans"/>
                <a:cs typeface="Work Sans"/>
                <a:sym typeface="Work Sans"/>
              </a:rPr>
              <a:t>Dễ bị nhầm với CNTT, Sư phạm hoặc Thiết kế.</a:t>
            </a:r>
          </a:p>
          <a:p>
            <a:pPr algn="just" marL="431797" indent="-215899" lvl="1">
              <a:lnSpc>
                <a:spcPts val="2799"/>
              </a:lnSpc>
              <a:spcBef>
                <a:spcPct val="0"/>
              </a:spcBef>
              <a:buFont typeface="Arial"/>
              <a:buChar char="•"/>
            </a:pPr>
            <a:r>
              <a:rPr lang="en-US" sz="1999">
                <a:solidFill>
                  <a:srgbClr val="50212A"/>
                </a:solidFill>
                <a:latin typeface="Work Sans"/>
                <a:ea typeface="Work Sans"/>
                <a:cs typeface="Work Sans"/>
                <a:sym typeface="Work Sans"/>
              </a:rPr>
              <a:t>Nhận thức của học sinh THPT và phụ huynh về ngành vẫn còn một số hạn chế.</a:t>
            </a:r>
          </a:p>
          <a:p>
            <a:pPr algn="just" marL="0" indent="0" lvl="0">
              <a:lnSpc>
                <a:spcPts val="2799"/>
              </a:lnSpc>
              <a:spcBef>
                <a:spcPct val="0"/>
              </a:spcBef>
            </a:pPr>
          </a:p>
        </p:txBody>
      </p:sp>
      <p:sp>
        <p:nvSpPr>
          <p:cNvPr name="TextBox 15" id="15"/>
          <p:cNvSpPr txBox="true"/>
          <p:nvPr/>
        </p:nvSpPr>
        <p:spPr>
          <a:xfrm rot="0">
            <a:off x="9954906" y="6757728"/>
            <a:ext cx="7542560" cy="3168353"/>
          </a:xfrm>
          <a:prstGeom prst="rect">
            <a:avLst/>
          </a:prstGeom>
        </p:spPr>
        <p:txBody>
          <a:bodyPr anchor="t" rtlCol="false" tIns="0" lIns="0" bIns="0" rIns="0">
            <a:spAutoFit/>
          </a:bodyPr>
          <a:lstStyle/>
          <a:p>
            <a:pPr algn="just" marL="431797" indent="-215899" lvl="1">
              <a:lnSpc>
                <a:spcPts val="2799"/>
              </a:lnSpc>
              <a:spcBef>
                <a:spcPct val="0"/>
              </a:spcBef>
              <a:buFont typeface="Arial"/>
              <a:buChar char="•"/>
            </a:pPr>
            <a:r>
              <a:rPr lang="en-US" sz="1999">
                <a:solidFill>
                  <a:srgbClr val="50212A"/>
                </a:solidFill>
                <a:latin typeface="Work Sans"/>
                <a:ea typeface="Work Sans"/>
                <a:cs typeface="Work Sans"/>
                <a:sym typeface="Work Sans"/>
              </a:rPr>
              <a:t>Cần nâ</a:t>
            </a:r>
            <a:r>
              <a:rPr lang="en-US" sz="1999" strike="noStrike" u="none">
                <a:solidFill>
                  <a:srgbClr val="50212A"/>
                </a:solidFill>
                <a:latin typeface="Work Sans"/>
                <a:ea typeface="Work Sans"/>
                <a:cs typeface="Work Sans"/>
                <a:sym typeface="Work Sans"/>
              </a:rPr>
              <a:t>n</a:t>
            </a:r>
            <a:r>
              <a:rPr lang="en-US" sz="1999" strike="noStrike" u="none">
                <a:solidFill>
                  <a:srgbClr val="50212A"/>
                </a:solidFill>
                <a:latin typeface="Work Sans"/>
                <a:ea typeface="Work Sans"/>
                <a:cs typeface="Work Sans"/>
                <a:sym typeface="Work Sans"/>
              </a:rPr>
              <a:t>g </a:t>
            </a:r>
            <a:r>
              <a:rPr lang="en-US" sz="1999" strike="noStrike" u="none">
                <a:solidFill>
                  <a:srgbClr val="50212A"/>
                </a:solidFill>
                <a:latin typeface="Work Sans"/>
                <a:ea typeface="Work Sans"/>
                <a:cs typeface="Work Sans"/>
                <a:sym typeface="Work Sans"/>
              </a:rPr>
              <a:t>cao nhận di</a:t>
            </a:r>
            <a:r>
              <a:rPr lang="en-US" sz="1999" strike="noStrike" u="none">
                <a:solidFill>
                  <a:srgbClr val="50212A"/>
                </a:solidFill>
                <a:latin typeface="Work Sans"/>
                <a:ea typeface="Work Sans"/>
                <a:cs typeface="Work Sans"/>
                <a:sym typeface="Work Sans"/>
              </a:rPr>
              <a:t>ện</a:t>
            </a:r>
            <a:r>
              <a:rPr lang="en-US" sz="1999" strike="noStrike" u="none">
                <a:solidFill>
                  <a:srgbClr val="50212A"/>
                </a:solidFill>
                <a:latin typeface="Work Sans"/>
                <a:ea typeface="Work Sans"/>
                <a:cs typeface="Work Sans"/>
                <a:sym typeface="Work Sans"/>
              </a:rPr>
              <a:t> và </a:t>
            </a:r>
            <a:r>
              <a:rPr lang="en-US" sz="1999" strike="noStrike" u="none">
                <a:solidFill>
                  <a:srgbClr val="50212A"/>
                </a:solidFill>
                <a:latin typeface="Work Sans"/>
                <a:ea typeface="Work Sans"/>
                <a:cs typeface="Work Sans"/>
                <a:sym typeface="Work Sans"/>
              </a:rPr>
              <a:t>đị</a:t>
            </a:r>
            <a:r>
              <a:rPr lang="en-US" sz="1999" strike="noStrike" u="none">
                <a:solidFill>
                  <a:srgbClr val="50212A"/>
                </a:solidFill>
                <a:latin typeface="Work Sans"/>
                <a:ea typeface="Work Sans"/>
                <a:cs typeface="Work Sans"/>
                <a:sym typeface="Work Sans"/>
              </a:rPr>
              <a:t>nh </a:t>
            </a:r>
            <a:r>
              <a:rPr lang="en-US" sz="1999" strike="noStrike" u="none">
                <a:solidFill>
                  <a:srgbClr val="50212A"/>
                </a:solidFill>
                <a:latin typeface="Work Sans"/>
                <a:ea typeface="Work Sans"/>
                <a:cs typeface="Work Sans"/>
                <a:sym typeface="Work Sans"/>
              </a:rPr>
              <a:t>vị</a:t>
            </a:r>
            <a:r>
              <a:rPr lang="en-US" sz="1999" strike="noStrike" u="none">
                <a:solidFill>
                  <a:srgbClr val="50212A"/>
                </a:solidFill>
                <a:latin typeface="Work Sans"/>
                <a:ea typeface="Work Sans"/>
                <a:cs typeface="Work Sans"/>
                <a:sym typeface="Work Sans"/>
              </a:rPr>
              <a:t> </a:t>
            </a:r>
            <a:r>
              <a:rPr lang="en-US" sz="1999" strike="noStrike" u="none">
                <a:solidFill>
                  <a:srgbClr val="50212A"/>
                </a:solidFill>
                <a:latin typeface="Work Sans"/>
                <a:ea typeface="Work Sans"/>
                <a:cs typeface="Work Sans"/>
                <a:sym typeface="Work Sans"/>
              </a:rPr>
              <a:t>đúng</a:t>
            </a:r>
            <a:r>
              <a:rPr lang="en-US" sz="1999" strike="noStrike" u="none">
                <a:solidFill>
                  <a:srgbClr val="50212A"/>
                </a:solidFill>
                <a:latin typeface="Work Sans"/>
                <a:ea typeface="Work Sans"/>
                <a:cs typeface="Work Sans"/>
                <a:sym typeface="Work Sans"/>
              </a:rPr>
              <a:t> </a:t>
            </a:r>
            <a:r>
              <a:rPr lang="en-US" sz="1999" strike="noStrike" u="none">
                <a:solidFill>
                  <a:srgbClr val="50212A"/>
                </a:solidFill>
                <a:latin typeface="Work Sans"/>
                <a:ea typeface="Work Sans"/>
                <a:cs typeface="Work Sans"/>
                <a:sym typeface="Work Sans"/>
              </a:rPr>
              <a:t>ngành Công nghệ Giáo dụ</a:t>
            </a:r>
            <a:r>
              <a:rPr lang="en-US" sz="1999" strike="noStrike" u="none">
                <a:solidFill>
                  <a:srgbClr val="50212A"/>
                </a:solidFill>
                <a:latin typeface="Work Sans"/>
                <a:ea typeface="Work Sans"/>
                <a:cs typeface="Work Sans"/>
                <a:sym typeface="Work Sans"/>
              </a:rPr>
              <a:t>c.</a:t>
            </a:r>
          </a:p>
          <a:p>
            <a:pPr algn="just" marL="431797" indent="-215899" lvl="1">
              <a:lnSpc>
                <a:spcPts val="2799"/>
              </a:lnSpc>
              <a:spcBef>
                <a:spcPct val="0"/>
              </a:spcBef>
              <a:buFont typeface="Arial"/>
              <a:buChar char="•"/>
            </a:pPr>
            <a:r>
              <a:rPr lang="en-US" sz="1999" strike="noStrike" u="none">
                <a:solidFill>
                  <a:srgbClr val="50212A"/>
                </a:solidFill>
                <a:latin typeface="Work Sans"/>
                <a:ea typeface="Work Sans"/>
                <a:cs typeface="Work Sans"/>
                <a:sym typeface="Work Sans"/>
              </a:rPr>
              <a:t>Chu</a:t>
            </a:r>
            <a:r>
              <a:rPr lang="en-US" sz="1999" strike="noStrike" u="none">
                <a:solidFill>
                  <a:srgbClr val="50212A"/>
                </a:solidFill>
                <a:latin typeface="Work Sans"/>
                <a:ea typeface="Work Sans"/>
                <a:cs typeface="Work Sans"/>
                <a:sym typeface="Work Sans"/>
              </a:rPr>
              <a:t>ẩn</a:t>
            </a:r>
            <a:r>
              <a:rPr lang="en-US" sz="1999" strike="noStrike" u="none">
                <a:solidFill>
                  <a:srgbClr val="50212A"/>
                </a:solidFill>
                <a:latin typeface="Work Sans"/>
                <a:ea typeface="Work Sans"/>
                <a:cs typeface="Work Sans"/>
                <a:sym typeface="Work Sans"/>
              </a:rPr>
              <a:t> hóa</a:t>
            </a:r>
            <a:r>
              <a:rPr lang="en-US" sz="1999" strike="noStrike" u="none">
                <a:solidFill>
                  <a:srgbClr val="50212A"/>
                </a:solidFill>
                <a:latin typeface="Work Sans"/>
                <a:ea typeface="Work Sans"/>
                <a:cs typeface="Work Sans"/>
                <a:sym typeface="Work Sans"/>
              </a:rPr>
              <a:t> nộ</a:t>
            </a:r>
            <a:r>
              <a:rPr lang="en-US" sz="1999" strike="noStrike" u="none">
                <a:solidFill>
                  <a:srgbClr val="50212A"/>
                </a:solidFill>
                <a:latin typeface="Work Sans"/>
                <a:ea typeface="Work Sans"/>
                <a:cs typeface="Work Sans"/>
                <a:sym typeface="Work Sans"/>
              </a:rPr>
              <a:t>i</a:t>
            </a:r>
            <a:r>
              <a:rPr lang="en-US" sz="1999" strike="noStrike" u="none">
                <a:solidFill>
                  <a:srgbClr val="50212A"/>
                </a:solidFill>
                <a:latin typeface="Work Sans"/>
                <a:ea typeface="Work Sans"/>
                <a:cs typeface="Work Sans"/>
                <a:sym typeface="Work Sans"/>
              </a:rPr>
              <a:t> dung </a:t>
            </a:r>
            <a:r>
              <a:rPr lang="en-US" sz="1999" strike="noStrike" u="none">
                <a:solidFill>
                  <a:srgbClr val="50212A"/>
                </a:solidFill>
                <a:latin typeface="Work Sans"/>
                <a:ea typeface="Work Sans"/>
                <a:cs typeface="Work Sans"/>
                <a:sym typeface="Work Sans"/>
              </a:rPr>
              <a:t>t</a:t>
            </a:r>
            <a:r>
              <a:rPr lang="en-US" sz="1999" strike="noStrike" u="none">
                <a:solidFill>
                  <a:srgbClr val="50212A"/>
                </a:solidFill>
                <a:latin typeface="Work Sans"/>
                <a:ea typeface="Work Sans"/>
                <a:cs typeface="Work Sans"/>
                <a:sym typeface="Work Sans"/>
              </a:rPr>
              <a:t>ruyền thông</a:t>
            </a:r>
            <a:r>
              <a:rPr lang="en-US" sz="1999" strike="noStrike" u="none">
                <a:solidFill>
                  <a:srgbClr val="50212A"/>
                </a:solidFill>
                <a:latin typeface="Work Sans"/>
                <a:ea typeface="Work Sans"/>
                <a:cs typeface="Work Sans"/>
                <a:sym typeface="Work Sans"/>
              </a:rPr>
              <a:t>, làm rõ tính giao thoa</a:t>
            </a:r>
            <a:r>
              <a:rPr lang="en-US" sz="1999" strike="noStrike" u="none">
                <a:solidFill>
                  <a:srgbClr val="50212A"/>
                </a:solidFill>
                <a:latin typeface="Work Sans"/>
                <a:ea typeface="Work Sans"/>
                <a:cs typeface="Work Sans"/>
                <a:sym typeface="Work Sans"/>
              </a:rPr>
              <a:t> Cô</a:t>
            </a:r>
            <a:r>
              <a:rPr lang="en-US" sz="1999" strike="noStrike" u="none">
                <a:solidFill>
                  <a:srgbClr val="50212A"/>
                </a:solidFill>
                <a:latin typeface="Work Sans"/>
                <a:ea typeface="Work Sans"/>
                <a:cs typeface="Work Sans"/>
                <a:sym typeface="Work Sans"/>
              </a:rPr>
              <a:t>n</a:t>
            </a:r>
            <a:r>
              <a:rPr lang="en-US" sz="1999" strike="noStrike" u="none">
                <a:solidFill>
                  <a:srgbClr val="50212A"/>
                </a:solidFill>
                <a:latin typeface="Work Sans"/>
                <a:ea typeface="Work Sans"/>
                <a:cs typeface="Work Sans"/>
                <a:sym typeface="Work Sans"/>
              </a:rPr>
              <a:t>g</a:t>
            </a:r>
            <a:r>
              <a:rPr lang="en-US" sz="1999" strike="noStrike" u="none">
                <a:solidFill>
                  <a:srgbClr val="50212A"/>
                </a:solidFill>
                <a:latin typeface="Work Sans"/>
                <a:ea typeface="Work Sans"/>
                <a:cs typeface="Work Sans"/>
                <a:sym typeface="Work Sans"/>
              </a:rPr>
              <a:t> nghệ – Gi</a:t>
            </a:r>
            <a:r>
              <a:rPr lang="en-US" sz="1999" strike="noStrike" u="none">
                <a:solidFill>
                  <a:srgbClr val="50212A"/>
                </a:solidFill>
                <a:latin typeface="Work Sans"/>
                <a:ea typeface="Work Sans"/>
                <a:cs typeface="Work Sans"/>
                <a:sym typeface="Work Sans"/>
              </a:rPr>
              <a:t>áo</a:t>
            </a:r>
            <a:r>
              <a:rPr lang="en-US" sz="1999" strike="noStrike" u="none">
                <a:solidFill>
                  <a:srgbClr val="50212A"/>
                </a:solidFill>
                <a:latin typeface="Work Sans"/>
                <a:ea typeface="Work Sans"/>
                <a:cs typeface="Work Sans"/>
                <a:sym typeface="Work Sans"/>
              </a:rPr>
              <a:t> dục.</a:t>
            </a:r>
          </a:p>
          <a:p>
            <a:pPr algn="just" marL="431797" indent="-215899" lvl="1">
              <a:lnSpc>
                <a:spcPts val="2799"/>
              </a:lnSpc>
              <a:spcBef>
                <a:spcPct val="0"/>
              </a:spcBef>
              <a:buFont typeface="Arial"/>
              <a:buChar char="•"/>
            </a:pPr>
            <a:r>
              <a:rPr lang="en-US" sz="1999" strike="noStrike" u="none">
                <a:solidFill>
                  <a:srgbClr val="50212A"/>
                </a:solidFill>
                <a:latin typeface="Work Sans"/>
                <a:ea typeface="Work Sans"/>
                <a:cs typeface="Work Sans"/>
                <a:sym typeface="Work Sans"/>
              </a:rPr>
              <a:t>Xây d</a:t>
            </a:r>
            <a:r>
              <a:rPr lang="en-US" sz="1999" strike="noStrike" u="none">
                <a:solidFill>
                  <a:srgbClr val="50212A"/>
                </a:solidFill>
                <a:latin typeface="Work Sans"/>
                <a:ea typeface="Work Sans"/>
                <a:cs typeface="Work Sans"/>
                <a:sym typeface="Work Sans"/>
              </a:rPr>
              <a:t>ự</a:t>
            </a:r>
            <a:r>
              <a:rPr lang="en-US" sz="1999" strike="noStrike" u="none">
                <a:solidFill>
                  <a:srgbClr val="50212A"/>
                </a:solidFill>
                <a:latin typeface="Work Sans"/>
                <a:ea typeface="Work Sans"/>
                <a:cs typeface="Work Sans"/>
                <a:sym typeface="Work Sans"/>
              </a:rPr>
              <a:t>ng chi</a:t>
            </a:r>
            <a:r>
              <a:rPr lang="en-US" sz="1999" strike="noStrike" u="none">
                <a:solidFill>
                  <a:srgbClr val="50212A"/>
                </a:solidFill>
                <a:latin typeface="Work Sans"/>
                <a:ea typeface="Work Sans"/>
                <a:cs typeface="Work Sans"/>
                <a:sym typeface="Work Sans"/>
              </a:rPr>
              <a:t>ến</a:t>
            </a:r>
            <a:r>
              <a:rPr lang="en-US" sz="1999" strike="noStrike" u="none">
                <a:solidFill>
                  <a:srgbClr val="50212A"/>
                </a:solidFill>
                <a:latin typeface="Work Sans"/>
                <a:ea typeface="Work Sans"/>
                <a:cs typeface="Work Sans"/>
                <a:sym typeface="Work Sans"/>
              </a:rPr>
              <a:t> lược</a:t>
            </a:r>
            <a:r>
              <a:rPr lang="en-US" sz="1999" strike="noStrike" u="none">
                <a:solidFill>
                  <a:srgbClr val="50212A"/>
                </a:solidFill>
                <a:latin typeface="Work Sans"/>
                <a:ea typeface="Work Sans"/>
                <a:cs typeface="Work Sans"/>
                <a:sym typeface="Work Sans"/>
              </a:rPr>
              <a:t> t</a:t>
            </a:r>
            <a:r>
              <a:rPr lang="en-US" sz="1999" strike="noStrike" u="none">
                <a:solidFill>
                  <a:srgbClr val="50212A"/>
                </a:solidFill>
                <a:latin typeface="Work Sans"/>
                <a:ea typeface="Work Sans"/>
                <a:cs typeface="Work Sans"/>
                <a:sym typeface="Work Sans"/>
              </a:rPr>
              <a:t>ruyền thông nhất quán, hiện đại.</a:t>
            </a:r>
          </a:p>
          <a:p>
            <a:pPr algn="just" marL="431797" indent="-215899" lvl="1">
              <a:lnSpc>
                <a:spcPts val="2799"/>
              </a:lnSpc>
              <a:spcBef>
                <a:spcPct val="0"/>
              </a:spcBef>
              <a:buFont typeface="Arial"/>
              <a:buChar char="•"/>
            </a:pPr>
            <a:r>
              <a:rPr lang="en-US" sz="1999" strike="noStrike" u="none">
                <a:solidFill>
                  <a:srgbClr val="50212A"/>
                </a:solidFill>
                <a:latin typeface="Work Sans"/>
                <a:ea typeface="Work Sans"/>
                <a:cs typeface="Work Sans"/>
                <a:sym typeface="Work Sans"/>
              </a:rPr>
              <a:t>Tăng khả năng tiếp cận đúng nhóm thí sinh mục tiêu.</a:t>
            </a:r>
          </a:p>
          <a:p>
            <a:pPr algn="just" marL="431797" indent="-215899" lvl="1">
              <a:lnSpc>
                <a:spcPts val="2799"/>
              </a:lnSpc>
              <a:spcBef>
                <a:spcPct val="0"/>
              </a:spcBef>
              <a:buFont typeface="Arial"/>
              <a:buChar char="•"/>
            </a:pPr>
            <a:r>
              <a:rPr lang="en-US" sz="1999" strike="noStrike" u="none">
                <a:solidFill>
                  <a:srgbClr val="50212A"/>
                </a:solidFill>
                <a:latin typeface="Work Sans"/>
                <a:ea typeface="Work Sans"/>
                <a:cs typeface="Work Sans"/>
                <a:sym typeface="Work Sans"/>
              </a:rPr>
              <a:t>Chuyển hóa nhận thức thành hành động (đăng ký OpenDay và xét tuyển).</a:t>
            </a:r>
          </a:p>
          <a:p>
            <a:pPr algn="just" marL="0" indent="0" lvl="0">
              <a:lnSpc>
                <a:spcPts val="2799"/>
              </a:lnSpc>
              <a:spcBef>
                <a:spcPct val="0"/>
              </a:spcBef>
            </a:pPr>
          </a:p>
        </p:txBody>
      </p:sp>
      <p:grpSp>
        <p:nvGrpSpPr>
          <p:cNvPr name="Group 16" id="16"/>
          <p:cNvGrpSpPr/>
          <p:nvPr/>
        </p:nvGrpSpPr>
        <p:grpSpPr>
          <a:xfrm rot="0">
            <a:off x="497417" y="490255"/>
            <a:ext cx="4507717" cy="888116"/>
            <a:chOff x="0" y="0"/>
            <a:chExt cx="6010290" cy="1184154"/>
          </a:xfrm>
        </p:grpSpPr>
        <p:grpSp>
          <p:nvGrpSpPr>
            <p:cNvPr name="Group 17" id="17"/>
            <p:cNvGrpSpPr/>
            <p:nvPr/>
          </p:nvGrpSpPr>
          <p:grpSpPr>
            <a:xfrm rot="0">
              <a:off x="0" y="0"/>
              <a:ext cx="6010290" cy="1184154"/>
              <a:chOff x="0" y="0"/>
              <a:chExt cx="1187218" cy="233907"/>
            </a:xfrm>
          </p:grpSpPr>
          <p:sp>
            <p:nvSpPr>
              <p:cNvPr name="Freeform 18" id="18"/>
              <p:cNvSpPr/>
              <p:nvPr/>
            </p:nvSpPr>
            <p:spPr>
              <a:xfrm flipH="false" flipV="false" rot="0">
                <a:off x="0" y="0"/>
                <a:ext cx="1187218" cy="233907"/>
              </a:xfrm>
              <a:custGeom>
                <a:avLst/>
                <a:gdLst/>
                <a:ahLst/>
                <a:cxnLst/>
                <a:rect r="r" b="b" t="t" l="l"/>
                <a:pathLst>
                  <a:path h="233907" w="1187218">
                    <a:moveTo>
                      <a:pt x="116954" y="0"/>
                    </a:moveTo>
                    <a:lnTo>
                      <a:pt x="1070264" y="0"/>
                    </a:lnTo>
                    <a:cubicBezTo>
                      <a:pt x="1101282" y="0"/>
                      <a:pt x="1131030" y="12322"/>
                      <a:pt x="1152963" y="34255"/>
                    </a:cubicBezTo>
                    <a:cubicBezTo>
                      <a:pt x="1174896" y="56188"/>
                      <a:pt x="1187218" y="85936"/>
                      <a:pt x="1187218" y="116954"/>
                    </a:cubicBezTo>
                    <a:lnTo>
                      <a:pt x="1187218" y="116954"/>
                    </a:lnTo>
                    <a:cubicBezTo>
                      <a:pt x="1187218" y="181545"/>
                      <a:pt x="1134856" y="233907"/>
                      <a:pt x="1070264"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9" id="19"/>
              <p:cNvSpPr txBox="true"/>
              <p:nvPr/>
            </p:nvSpPr>
            <p:spPr>
              <a:xfrm>
                <a:off x="0" y="-57150"/>
                <a:ext cx="1187218" cy="291057"/>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357186" y="141884"/>
              <a:ext cx="5653104"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1. Vấn đề cốt lõi</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625059" y="2168355"/>
            <a:ext cx="5138377" cy="3306967"/>
            <a:chOff x="0" y="0"/>
            <a:chExt cx="1262932" cy="812800"/>
          </a:xfrm>
        </p:grpSpPr>
        <p:sp>
          <p:nvSpPr>
            <p:cNvPr name="Freeform 10" id="10"/>
            <p:cNvSpPr/>
            <p:nvPr/>
          </p:nvSpPr>
          <p:spPr>
            <a:xfrm flipH="false" flipV="false" rot="0">
              <a:off x="0" y="0"/>
              <a:ext cx="1262932" cy="812800"/>
            </a:xfrm>
            <a:custGeom>
              <a:avLst/>
              <a:gdLst/>
              <a:ahLst/>
              <a:cxnLst/>
              <a:rect r="r" b="b" t="t" l="l"/>
              <a:pathLst>
                <a:path h="812800" w="1262932">
                  <a:moveTo>
                    <a:pt x="0" y="0"/>
                  </a:moveTo>
                  <a:lnTo>
                    <a:pt x="1262932" y="0"/>
                  </a:lnTo>
                  <a:lnTo>
                    <a:pt x="1262932" y="812800"/>
                  </a:lnTo>
                  <a:lnTo>
                    <a:pt x="0" y="812800"/>
                  </a:lnTo>
                  <a:close/>
                </a:path>
              </a:pathLst>
            </a:custGeom>
            <a:solidFill>
              <a:srgbClr val="FDF6F2"/>
            </a:solidFill>
            <a:ln w="57150" cap="sq">
              <a:solidFill>
                <a:srgbClr val="50212A"/>
              </a:solidFill>
              <a:prstDash val="solid"/>
              <a:miter/>
            </a:ln>
          </p:spPr>
        </p:sp>
      </p:grpSp>
      <p:grpSp>
        <p:nvGrpSpPr>
          <p:cNvPr name="Group 11" id="11"/>
          <p:cNvGrpSpPr/>
          <p:nvPr/>
        </p:nvGrpSpPr>
        <p:grpSpPr>
          <a:xfrm rot="0">
            <a:off x="6608217" y="2168355"/>
            <a:ext cx="5138377" cy="3306967"/>
            <a:chOff x="0" y="0"/>
            <a:chExt cx="1262932" cy="812800"/>
          </a:xfrm>
        </p:grpSpPr>
        <p:sp>
          <p:nvSpPr>
            <p:cNvPr name="Freeform 12" id="12"/>
            <p:cNvSpPr/>
            <p:nvPr/>
          </p:nvSpPr>
          <p:spPr>
            <a:xfrm flipH="false" flipV="false" rot="0">
              <a:off x="0" y="0"/>
              <a:ext cx="1262932" cy="812800"/>
            </a:xfrm>
            <a:custGeom>
              <a:avLst/>
              <a:gdLst/>
              <a:ahLst/>
              <a:cxnLst/>
              <a:rect r="r" b="b" t="t" l="l"/>
              <a:pathLst>
                <a:path h="812800" w="1262932">
                  <a:moveTo>
                    <a:pt x="0" y="0"/>
                  </a:moveTo>
                  <a:lnTo>
                    <a:pt x="1262932" y="0"/>
                  </a:lnTo>
                  <a:lnTo>
                    <a:pt x="1262932" y="812800"/>
                  </a:lnTo>
                  <a:lnTo>
                    <a:pt x="0" y="812800"/>
                  </a:lnTo>
                  <a:close/>
                </a:path>
              </a:pathLst>
            </a:custGeom>
            <a:solidFill>
              <a:srgbClr val="FDF6F2"/>
            </a:solidFill>
            <a:ln w="57150" cap="sq">
              <a:solidFill>
                <a:srgbClr val="50212A"/>
              </a:solidFill>
              <a:prstDash val="solid"/>
              <a:miter/>
            </a:ln>
          </p:spPr>
        </p:sp>
      </p:grpSp>
      <p:grpSp>
        <p:nvGrpSpPr>
          <p:cNvPr name="Group 13" id="13"/>
          <p:cNvGrpSpPr/>
          <p:nvPr/>
        </p:nvGrpSpPr>
        <p:grpSpPr>
          <a:xfrm rot="0">
            <a:off x="1625059" y="5450193"/>
            <a:ext cx="5138377" cy="3306967"/>
            <a:chOff x="0" y="0"/>
            <a:chExt cx="1262932" cy="812800"/>
          </a:xfrm>
        </p:grpSpPr>
        <p:sp>
          <p:nvSpPr>
            <p:cNvPr name="Freeform 14" id="14"/>
            <p:cNvSpPr/>
            <p:nvPr/>
          </p:nvSpPr>
          <p:spPr>
            <a:xfrm flipH="false" flipV="false" rot="0">
              <a:off x="0" y="0"/>
              <a:ext cx="1262932" cy="812800"/>
            </a:xfrm>
            <a:custGeom>
              <a:avLst/>
              <a:gdLst/>
              <a:ahLst/>
              <a:cxnLst/>
              <a:rect r="r" b="b" t="t" l="l"/>
              <a:pathLst>
                <a:path h="812800" w="1262932">
                  <a:moveTo>
                    <a:pt x="0" y="0"/>
                  </a:moveTo>
                  <a:lnTo>
                    <a:pt x="1262932" y="0"/>
                  </a:lnTo>
                  <a:lnTo>
                    <a:pt x="1262932" y="812800"/>
                  </a:lnTo>
                  <a:lnTo>
                    <a:pt x="0" y="812800"/>
                  </a:lnTo>
                  <a:close/>
                </a:path>
              </a:pathLst>
            </a:custGeom>
            <a:solidFill>
              <a:srgbClr val="FDF6F2"/>
            </a:solidFill>
            <a:ln w="57150" cap="sq">
              <a:solidFill>
                <a:srgbClr val="50212A"/>
              </a:solidFill>
              <a:prstDash val="solid"/>
              <a:miter/>
            </a:ln>
          </p:spPr>
        </p:sp>
      </p:grpSp>
      <p:grpSp>
        <p:nvGrpSpPr>
          <p:cNvPr name="Group 15" id="15"/>
          <p:cNvGrpSpPr/>
          <p:nvPr/>
        </p:nvGrpSpPr>
        <p:grpSpPr>
          <a:xfrm rot="0">
            <a:off x="6608217" y="5450193"/>
            <a:ext cx="5138377" cy="3306967"/>
            <a:chOff x="0" y="0"/>
            <a:chExt cx="1262932" cy="812800"/>
          </a:xfrm>
        </p:grpSpPr>
        <p:sp>
          <p:nvSpPr>
            <p:cNvPr name="Freeform 16" id="16"/>
            <p:cNvSpPr/>
            <p:nvPr/>
          </p:nvSpPr>
          <p:spPr>
            <a:xfrm flipH="false" flipV="false" rot="0">
              <a:off x="0" y="0"/>
              <a:ext cx="1262932" cy="812800"/>
            </a:xfrm>
            <a:custGeom>
              <a:avLst/>
              <a:gdLst/>
              <a:ahLst/>
              <a:cxnLst/>
              <a:rect r="r" b="b" t="t" l="l"/>
              <a:pathLst>
                <a:path h="812800" w="1262932">
                  <a:moveTo>
                    <a:pt x="0" y="0"/>
                  </a:moveTo>
                  <a:lnTo>
                    <a:pt x="1262932" y="0"/>
                  </a:lnTo>
                  <a:lnTo>
                    <a:pt x="1262932" y="812800"/>
                  </a:lnTo>
                  <a:lnTo>
                    <a:pt x="0" y="812800"/>
                  </a:lnTo>
                  <a:close/>
                </a:path>
              </a:pathLst>
            </a:custGeom>
            <a:solidFill>
              <a:srgbClr val="FDF6F2"/>
            </a:solidFill>
            <a:ln w="57150" cap="sq">
              <a:solidFill>
                <a:srgbClr val="50212A"/>
              </a:solidFill>
              <a:prstDash val="solid"/>
              <a:miter/>
            </a:ln>
          </p:spPr>
        </p:sp>
      </p:grpSp>
      <p:grpSp>
        <p:nvGrpSpPr>
          <p:cNvPr name="Group 17" id="17"/>
          <p:cNvGrpSpPr/>
          <p:nvPr/>
        </p:nvGrpSpPr>
        <p:grpSpPr>
          <a:xfrm rot="0">
            <a:off x="7144436" y="2496946"/>
            <a:ext cx="4184572" cy="2758351"/>
            <a:chOff x="0" y="0"/>
            <a:chExt cx="1233063" cy="812800"/>
          </a:xfrm>
        </p:grpSpPr>
        <p:sp>
          <p:nvSpPr>
            <p:cNvPr name="Freeform 18" id="18"/>
            <p:cNvSpPr/>
            <p:nvPr/>
          </p:nvSpPr>
          <p:spPr>
            <a:xfrm flipH="false" flipV="false" rot="0">
              <a:off x="0" y="0"/>
              <a:ext cx="1233063" cy="812800"/>
            </a:xfrm>
            <a:custGeom>
              <a:avLst/>
              <a:gdLst/>
              <a:ahLst/>
              <a:cxnLst/>
              <a:rect r="r" b="b" t="t" l="l"/>
              <a:pathLst>
                <a:path h="812800" w="1233063">
                  <a:moveTo>
                    <a:pt x="44403" y="0"/>
                  </a:moveTo>
                  <a:lnTo>
                    <a:pt x="1188660" y="0"/>
                  </a:lnTo>
                  <a:cubicBezTo>
                    <a:pt x="1213183" y="0"/>
                    <a:pt x="1233063" y="19880"/>
                    <a:pt x="1233063" y="44403"/>
                  </a:cubicBezTo>
                  <a:lnTo>
                    <a:pt x="1233063" y="768397"/>
                  </a:lnTo>
                  <a:cubicBezTo>
                    <a:pt x="1233063" y="780174"/>
                    <a:pt x="1228385" y="791468"/>
                    <a:pt x="1220057" y="799795"/>
                  </a:cubicBezTo>
                  <a:cubicBezTo>
                    <a:pt x="1211730" y="808122"/>
                    <a:pt x="1200436" y="812800"/>
                    <a:pt x="1188660" y="812800"/>
                  </a:cubicBezTo>
                  <a:lnTo>
                    <a:pt x="44403" y="812800"/>
                  </a:lnTo>
                  <a:cubicBezTo>
                    <a:pt x="32626" y="812800"/>
                    <a:pt x="21332" y="808122"/>
                    <a:pt x="13005" y="799795"/>
                  </a:cubicBezTo>
                  <a:cubicBezTo>
                    <a:pt x="4678" y="791468"/>
                    <a:pt x="0" y="780174"/>
                    <a:pt x="0" y="768397"/>
                  </a:cubicBezTo>
                  <a:lnTo>
                    <a:pt x="0" y="44403"/>
                  </a:lnTo>
                  <a:cubicBezTo>
                    <a:pt x="0" y="32626"/>
                    <a:pt x="4678" y="21332"/>
                    <a:pt x="13005" y="13005"/>
                  </a:cubicBezTo>
                  <a:cubicBezTo>
                    <a:pt x="21332" y="4678"/>
                    <a:pt x="32626" y="0"/>
                    <a:pt x="44403" y="0"/>
                  </a:cubicBezTo>
                  <a:close/>
                </a:path>
              </a:pathLst>
            </a:custGeom>
            <a:solidFill>
              <a:srgbClr val="FDF6F2"/>
            </a:solidFill>
            <a:ln w="142875" cap="rnd">
              <a:solidFill>
                <a:srgbClr val="AC211C"/>
              </a:solidFill>
              <a:prstDash val="solid"/>
              <a:round/>
            </a:ln>
          </p:spPr>
        </p:sp>
      </p:grpSp>
      <p:sp>
        <p:nvSpPr>
          <p:cNvPr name="TextBox 19" id="19"/>
          <p:cNvSpPr txBox="true"/>
          <p:nvPr/>
        </p:nvSpPr>
        <p:spPr>
          <a:xfrm rot="0">
            <a:off x="2486930" y="6123128"/>
            <a:ext cx="3240453" cy="646431"/>
          </a:xfrm>
          <a:prstGeom prst="rect">
            <a:avLst/>
          </a:prstGeom>
        </p:spPr>
        <p:txBody>
          <a:bodyPr anchor="t" rtlCol="false" tIns="0" lIns="0" bIns="0" rIns="0">
            <a:spAutoFit/>
          </a:bodyPr>
          <a:lstStyle/>
          <a:p>
            <a:pPr algn="just" marL="0" indent="0" lvl="0">
              <a:lnSpc>
                <a:spcPts val="5319"/>
              </a:lnSpc>
              <a:spcBef>
                <a:spcPct val="0"/>
              </a:spcBef>
            </a:pPr>
            <a:r>
              <a:rPr lang="en-US" b="true" sz="3799">
                <a:solidFill>
                  <a:srgbClr val="50212A"/>
                </a:solidFill>
                <a:latin typeface="Work Sans Bold"/>
                <a:ea typeface="Work Sans Bold"/>
                <a:cs typeface="Work Sans Bold"/>
                <a:sym typeface="Work Sans Bold"/>
              </a:rPr>
              <a:t>Phương án 1</a:t>
            </a:r>
          </a:p>
        </p:txBody>
      </p:sp>
      <p:sp>
        <p:nvSpPr>
          <p:cNvPr name="TextBox 20" id="20"/>
          <p:cNvSpPr txBox="true"/>
          <p:nvPr/>
        </p:nvSpPr>
        <p:spPr>
          <a:xfrm rot="0">
            <a:off x="7639395" y="6123128"/>
            <a:ext cx="3240453" cy="646431"/>
          </a:xfrm>
          <a:prstGeom prst="rect">
            <a:avLst/>
          </a:prstGeom>
        </p:spPr>
        <p:txBody>
          <a:bodyPr anchor="t" rtlCol="false" tIns="0" lIns="0" bIns="0" rIns="0">
            <a:spAutoFit/>
          </a:bodyPr>
          <a:lstStyle/>
          <a:p>
            <a:pPr algn="just" marL="0" indent="0" lvl="0">
              <a:lnSpc>
                <a:spcPts val="5319"/>
              </a:lnSpc>
              <a:spcBef>
                <a:spcPct val="0"/>
              </a:spcBef>
            </a:pPr>
            <a:r>
              <a:rPr lang="en-US" b="true" sz="3799">
                <a:solidFill>
                  <a:srgbClr val="50212A"/>
                </a:solidFill>
                <a:latin typeface="Work Sans Bold"/>
                <a:ea typeface="Work Sans Bold"/>
                <a:cs typeface="Work Sans Bold"/>
                <a:sym typeface="Work Sans Bold"/>
              </a:rPr>
              <a:t>Phương án 2</a:t>
            </a:r>
          </a:p>
        </p:txBody>
      </p:sp>
      <p:sp>
        <p:nvSpPr>
          <p:cNvPr name="TextBox 21" id="21"/>
          <p:cNvSpPr txBox="true"/>
          <p:nvPr/>
        </p:nvSpPr>
        <p:spPr>
          <a:xfrm rot="0">
            <a:off x="2486930" y="2700403"/>
            <a:ext cx="3240453" cy="646431"/>
          </a:xfrm>
          <a:prstGeom prst="rect">
            <a:avLst/>
          </a:prstGeom>
        </p:spPr>
        <p:txBody>
          <a:bodyPr anchor="t" rtlCol="false" tIns="0" lIns="0" bIns="0" rIns="0">
            <a:spAutoFit/>
          </a:bodyPr>
          <a:lstStyle/>
          <a:p>
            <a:pPr algn="just" marL="0" indent="0" lvl="0">
              <a:lnSpc>
                <a:spcPts val="5319"/>
              </a:lnSpc>
              <a:spcBef>
                <a:spcPct val="0"/>
              </a:spcBef>
            </a:pPr>
            <a:r>
              <a:rPr lang="en-US" b="true" sz="3799">
                <a:solidFill>
                  <a:srgbClr val="50212A"/>
                </a:solidFill>
                <a:latin typeface="Work Sans Bold"/>
                <a:ea typeface="Work Sans Bold"/>
                <a:cs typeface="Work Sans Bold"/>
                <a:sym typeface="Work Sans Bold"/>
              </a:rPr>
              <a:t>Phương án 3</a:t>
            </a:r>
          </a:p>
        </p:txBody>
      </p:sp>
      <p:sp>
        <p:nvSpPr>
          <p:cNvPr name="TextBox 22" id="22"/>
          <p:cNvSpPr txBox="true"/>
          <p:nvPr/>
        </p:nvSpPr>
        <p:spPr>
          <a:xfrm rot="0">
            <a:off x="7639395" y="2700403"/>
            <a:ext cx="3240453" cy="646431"/>
          </a:xfrm>
          <a:prstGeom prst="rect">
            <a:avLst/>
          </a:prstGeom>
        </p:spPr>
        <p:txBody>
          <a:bodyPr anchor="t" rtlCol="false" tIns="0" lIns="0" bIns="0" rIns="0">
            <a:spAutoFit/>
          </a:bodyPr>
          <a:lstStyle/>
          <a:p>
            <a:pPr algn="just" marL="0" indent="0" lvl="0">
              <a:lnSpc>
                <a:spcPts val="5319"/>
              </a:lnSpc>
              <a:spcBef>
                <a:spcPct val="0"/>
              </a:spcBef>
            </a:pPr>
            <a:r>
              <a:rPr lang="en-US" b="true" sz="3799">
                <a:solidFill>
                  <a:srgbClr val="50212A"/>
                </a:solidFill>
                <a:latin typeface="Work Sans Bold"/>
                <a:ea typeface="Work Sans Bold"/>
                <a:cs typeface="Work Sans Bold"/>
                <a:sym typeface="Work Sans Bold"/>
              </a:rPr>
              <a:t>Phương án 4</a:t>
            </a:r>
          </a:p>
        </p:txBody>
      </p:sp>
      <p:sp>
        <p:nvSpPr>
          <p:cNvPr name="TextBox 23" id="23"/>
          <p:cNvSpPr txBox="true"/>
          <p:nvPr/>
        </p:nvSpPr>
        <p:spPr>
          <a:xfrm rot="0">
            <a:off x="2351158" y="6812184"/>
            <a:ext cx="3511996" cy="1013339"/>
          </a:xfrm>
          <a:prstGeom prst="rect">
            <a:avLst/>
          </a:prstGeom>
        </p:spPr>
        <p:txBody>
          <a:bodyPr anchor="t" rtlCol="false" tIns="0" lIns="0" bIns="0" rIns="0">
            <a:spAutoFit/>
          </a:bodyPr>
          <a:lstStyle/>
          <a:p>
            <a:pPr algn="ctr" marL="0" indent="0" lvl="0">
              <a:lnSpc>
                <a:spcPts val="4000"/>
              </a:lnSpc>
              <a:spcBef>
                <a:spcPct val="0"/>
              </a:spcBef>
            </a:pPr>
            <a:r>
              <a:rPr lang="en-US" sz="2857">
                <a:solidFill>
                  <a:srgbClr val="50212A"/>
                </a:solidFill>
                <a:latin typeface="Work Sans"/>
                <a:ea typeface="Work Sans"/>
                <a:cs typeface="Work Sans"/>
                <a:sym typeface="Work Sans"/>
              </a:rPr>
              <a:t>Chiến lược truyền thông truyền thống</a:t>
            </a:r>
          </a:p>
        </p:txBody>
      </p:sp>
      <p:sp>
        <p:nvSpPr>
          <p:cNvPr name="TextBox 24" id="24"/>
          <p:cNvSpPr txBox="true"/>
          <p:nvPr/>
        </p:nvSpPr>
        <p:spPr>
          <a:xfrm rot="0">
            <a:off x="1848428" y="3500129"/>
            <a:ext cx="4517457" cy="1518197"/>
          </a:xfrm>
          <a:prstGeom prst="rect">
            <a:avLst/>
          </a:prstGeom>
        </p:spPr>
        <p:txBody>
          <a:bodyPr anchor="t" rtlCol="false" tIns="0" lIns="0" bIns="0" rIns="0">
            <a:spAutoFit/>
          </a:bodyPr>
          <a:lstStyle/>
          <a:p>
            <a:pPr algn="ctr" marL="0" indent="0" lvl="0">
              <a:lnSpc>
                <a:spcPts val="4000"/>
              </a:lnSpc>
              <a:spcBef>
                <a:spcPct val="0"/>
              </a:spcBef>
            </a:pPr>
            <a:r>
              <a:rPr lang="en-US" sz="2857">
                <a:solidFill>
                  <a:srgbClr val="50212A"/>
                </a:solidFill>
                <a:latin typeface="Work Sans"/>
                <a:ea typeface="Work Sans"/>
                <a:cs typeface="Work Sans"/>
                <a:sym typeface="Work Sans"/>
              </a:rPr>
              <a:t>Chiến lược truyền thông trực tuyến kết hợp tương tác chủ động</a:t>
            </a:r>
          </a:p>
        </p:txBody>
      </p:sp>
      <p:sp>
        <p:nvSpPr>
          <p:cNvPr name="TextBox 25" id="25"/>
          <p:cNvSpPr txBox="true"/>
          <p:nvPr/>
        </p:nvSpPr>
        <p:spPr>
          <a:xfrm rot="0">
            <a:off x="7367852" y="3500129"/>
            <a:ext cx="3511996" cy="1518197"/>
          </a:xfrm>
          <a:prstGeom prst="rect">
            <a:avLst/>
          </a:prstGeom>
        </p:spPr>
        <p:txBody>
          <a:bodyPr anchor="t" rtlCol="false" tIns="0" lIns="0" bIns="0" rIns="0">
            <a:spAutoFit/>
          </a:bodyPr>
          <a:lstStyle/>
          <a:p>
            <a:pPr algn="ctr" marL="0" indent="0" lvl="0">
              <a:lnSpc>
                <a:spcPts val="4000"/>
              </a:lnSpc>
              <a:spcBef>
                <a:spcPct val="0"/>
              </a:spcBef>
            </a:pPr>
            <a:r>
              <a:rPr lang="en-US" sz="2857">
                <a:solidFill>
                  <a:srgbClr val="50212A"/>
                </a:solidFill>
                <a:latin typeface="Work Sans"/>
                <a:ea typeface="Work Sans"/>
                <a:cs typeface="Work Sans"/>
                <a:sym typeface="Work Sans"/>
              </a:rPr>
              <a:t>Chiến lược truyền thông tích hợp đa nền tảng</a:t>
            </a:r>
          </a:p>
        </p:txBody>
      </p:sp>
      <p:sp>
        <p:nvSpPr>
          <p:cNvPr name="TextBox 26" id="26"/>
          <p:cNvSpPr txBox="true"/>
          <p:nvPr/>
        </p:nvSpPr>
        <p:spPr>
          <a:xfrm rot="0">
            <a:off x="7367852" y="6812184"/>
            <a:ext cx="3511996" cy="1518197"/>
          </a:xfrm>
          <a:prstGeom prst="rect">
            <a:avLst/>
          </a:prstGeom>
        </p:spPr>
        <p:txBody>
          <a:bodyPr anchor="t" rtlCol="false" tIns="0" lIns="0" bIns="0" rIns="0">
            <a:spAutoFit/>
          </a:bodyPr>
          <a:lstStyle/>
          <a:p>
            <a:pPr algn="ctr" marL="0" indent="0" lvl="0">
              <a:lnSpc>
                <a:spcPts val="4000"/>
              </a:lnSpc>
              <a:spcBef>
                <a:spcPct val="0"/>
              </a:spcBef>
            </a:pPr>
            <a:r>
              <a:rPr lang="en-US" sz="2857">
                <a:solidFill>
                  <a:srgbClr val="50212A"/>
                </a:solidFill>
                <a:latin typeface="Work Sans"/>
                <a:ea typeface="Work Sans"/>
                <a:cs typeface="Work Sans"/>
                <a:sym typeface="Work Sans"/>
              </a:rPr>
              <a:t>Chiến lược truyền thông bằng nội dung trải nghiệm</a:t>
            </a:r>
          </a:p>
        </p:txBody>
      </p:sp>
      <p:sp>
        <p:nvSpPr>
          <p:cNvPr name="TextBox 27" id="27"/>
          <p:cNvSpPr txBox="true"/>
          <p:nvPr/>
        </p:nvSpPr>
        <p:spPr>
          <a:xfrm rot="-5400000">
            <a:off x="-1524545" y="5098894"/>
            <a:ext cx="4517457" cy="1013339"/>
          </a:xfrm>
          <a:prstGeom prst="rect">
            <a:avLst/>
          </a:prstGeom>
        </p:spPr>
        <p:txBody>
          <a:bodyPr anchor="t" rtlCol="false" tIns="0" lIns="0" bIns="0" rIns="0">
            <a:spAutoFit/>
          </a:bodyPr>
          <a:lstStyle/>
          <a:p>
            <a:pPr algn="ctr">
              <a:lnSpc>
                <a:spcPts val="4000"/>
              </a:lnSpc>
            </a:pPr>
            <a:r>
              <a:rPr lang="en-US" sz="2857" b="true">
                <a:solidFill>
                  <a:srgbClr val="50212A"/>
                </a:solidFill>
                <a:latin typeface="Work Sans Bold"/>
                <a:ea typeface="Work Sans Bold"/>
                <a:cs typeface="Work Sans Bold"/>
                <a:sym typeface="Work Sans Bold"/>
              </a:rPr>
              <a:t>Mức độ trương tác</a:t>
            </a:r>
          </a:p>
          <a:p>
            <a:pPr algn="ctr" marL="0" indent="0" lvl="0">
              <a:lnSpc>
                <a:spcPts val="4000"/>
              </a:lnSpc>
              <a:spcBef>
                <a:spcPct val="0"/>
              </a:spcBef>
            </a:pPr>
            <a:r>
              <a:rPr lang="en-US" b="true" sz="2857">
                <a:solidFill>
                  <a:srgbClr val="50212A"/>
                </a:solidFill>
                <a:latin typeface="Work Sans Bold"/>
                <a:ea typeface="Work Sans Bold"/>
                <a:cs typeface="Work Sans Bold"/>
                <a:sym typeface="Work Sans Bold"/>
              </a:rPr>
              <a:t>(1 Chiều → 2 chiều)</a:t>
            </a:r>
          </a:p>
        </p:txBody>
      </p:sp>
      <p:sp>
        <p:nvSpPr>
          <p:cNvPr name="TextBox 28" id="28"/>
          <p:cNvSpPr txBox="true"/>
          <p:nvPr/>
        </p:nvSpPr>
        <p:spPr>
          <a:xfrm rot="0">
            <a:off x="3604426" y="9109585"/>
            <a:ext cx="6274105" cy="508481"/>
          </a:xfrm>
          <a:prstGeom prst="rect">
            <a:avLst/>
          </a:prstGeom>
        </p:spPr>
        <p:txBody>
          <a:bodyPr anchor="t" rtlCol="false" tIns="0" lIns="0" bIns="0" rIns="0">
            <a:spAutoFit/>
          </a:bodyPr>
          <a:lstStyle/>
          <a:p>
            <a:pPr algn="ctr" marL="0" indent="0" lvl="0">
              <a:lnSpc>
                <a:spcPts val="4000"/>
              </a:lnSpc>
              <a:spcBef>
                <a:spcPct val="0"/>
              </a:spcBef>
            </a:pPr>
            <a:r>
              <a:rPr lang="en-US" b="true" sz="2857">
                <a:solidFill>
                  <a:srgbClr val="50212A"/>
                </a:solidFill>
                <a:latin typeface="Work Sans Bold"/>
                <a:ea typeface="Work Sans Bold"/>
                <a:cs typeface="Work Sans Bold"/>
                <a:sym typeface="Work Sans Bold"/>
              </a:rPr>
              <a:t>Phạm vi tiếp cận (hẹp → rộng)</a:t>
            </a:r>
          </a:p>
        </p:txBody>
      </p:sp>
      <p:sp>
        <p:nvSpPr>
          <p:cNvPr name="TextBox 29" id="29"/>
          <p:cNvSpPr txBox="true"/>
          <p:nvPr/>
        </p:nvSpPr>
        <p:spPr>
          <a:xfrm rot="0">
            <a:off x="12994369" y="2673319"/>
            <a:ext cx="4517457" cy="673515"/>
          </a:xfrm>
          <a:prstGeom prst="rect">
            <a:avLst/>
          </a:prstGeom>
        </p:spPr>
        <p:txBody>
          <a:bodyPr anchor="t" rtlCol="false" tIns="0" lIns="0" bIns="0" rIns="0">
            <a:spAutoFit/>
          </a:bodyPr>
          <a:lstStyle/>
          <a:p>
            <a:pPr algn="ctr" marL="0" indent="0" lvl="0">
              <a:lnSpc>
                <a:spcPts val="5400"/>
              </a:lnSpc>
              <a:spcBef>
                <a:spcPct val="0"/>
              </a:spcBef>
            </a:pPr>
            <a:r>
              <a:rPr lang="en-US" b="true" sz="3857">
                <a:solidFill>
                  <a:srgbClr val="000000"/>
                </a:solidFill>
                <a:latin typeface="Work Sans Bold"/>
                <a:ea typeface="Work Sans Bold"/>
                <a:cs typeface="Work Sans Bold"/>
                <a:sym typeface="Work Sans Bold"/>
              </a:rPr>
              <a:t>Lý do lựa chọn:</a:t>
            </a:r>
          </a:p>
        </p:txBody>
      </p:sp>
      <p:sp>
        <p:nvSpPr>
          <p:cNvPr name="Freeform 30" id="30"/>
          <p:cNvSpPr/>
          <p:nvPr/>
        </p:nvSpPr>
        <p:spPr>
          <a:xfrm flipH="false" flipV="false" rot="0">
            <a:off x="12291376" y="2866140"/>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1" id="31"/>
          <p:cNvSpPr txBox="true"/>
          <p:nvPr/>
        </p:nvSpPr>
        <p:spPr>
          <a:xfrm rot="0">
            <a:off x="12346669" y="3500129"/>
            <a:ext cx="5515593" cy="5812901"/>
          </a:xfrm>
          <a:prstGeom prst="rect">
            <a:avLst/>
          </a:prstGeom>
        </p:spPr>
        <p:txBody>
          <a:bodyPr anchor="t" rtlCol="false" tIns="0" lIns="0" bIns="0" rIns="0">
            <a:spAutoFit/>
          </a:bodyPr>
          <a:lstStyle/>
          <a:p>
            <a:pPr algn="l" marL="789624" indent="-394812" lvl="1">
              <a:lnSpc>
                <a:spcPts val="5120"/>
              </a:lnSpc>
              <a:buAutoNum type="arabicPeriod" startAt="1"/>
            </a:pPr>
            <a:r>
              <a:rPr lang="en-US" sz="3657">
                <a:solidFill>
                  <a:srgbClr val="000000"/>
                </a:solidFill>
                <a:latin typeface="Work Sans"/>
                <a:ea typeface="Work Sans"/>
                <a:cs typeface="Work Sans"/>
                <a:sym typeface="Work Sans"/>
              </a:rPr>
              <a:t>Chạm đúng hành vi GenZ (Tiktok &amp; Facebook)</a:t>
            </a:r>
          </a:p>
          <a:p>
            <a:pPr algn="l" marL="789624" indent="-394812" lvl="1">
              <a:lnSpc>
                <a:spcPts val="5120"/>
              </a:lnSpc>
              <a:buAutoNum type="arabicPeriod" startAt="1"/>
            </a:pPr>
            <a:r>
              <a:rPr lang="en-US" sz="3657">
                <a:solidFill>
                  <a:srgbClr val="000000"/>
                </a:solidFill>
                <a:latin typeface="Work Sans"/>
                <a:ea typeface="Work Sans"/>
                <a:cs typeface="Work Sans"/>
                <a:sym typeface="Work Sans"/>
              </a:rPr>
              <a:t>Trải nghiệm đa nền tảng và chuyên nghiệp (Website &amp; chatbot)</a:t>
            </a:r>
          </a:p>
          <a:p>
            <a:pPr algn="l" marL="789624" indent="-394812" lvl="1">
              <a:lnSpc>
                <a:spcPts val="5120"/>
              </a:lnSpc>
              <a:spcBef>
                <a:spcPct val="0"/>
              </a:spcBef>
              <a:buAutoNum type="arabicPeriod" startAt="1"/>
            </a:pPr>
            <a:r>
              <a:rPr lang="en-US" sz="3657">
                <a:solidFill>
                  <a:srgbClr val="000000"/>
                </a:solidFill>
                <a:latin typeface="Work Sans"/>
                <a:ea typeface="Work Sans"/>
                <a:cs typeface="Work Sans"/>
                <a:sym typeface="Work Sans"/>
              </a:rPr>
              <a:t> Cho phép đo lường dữ liệu</a:t>
            </a:r>
          </a:p>
        </p:txBody>
      </p:sp>
      <p:grpSp>
        <p:nvGrpSpPr>
          <p:cNvPr name="Group 32" id="32"/>
          <p:cNvGrpSpPr/>
          <p:nvPr/>
        </p:nvGrpSpPr>
        <p:grpSpPr>
          <a:xfrm rot="0">
            <a:off x="497417" y="490255"/>
            <a:ext cx="12496952" cy="888116"/>
            <a:chOff x="0" y="0"/>
            <a:chExt cx="3291378" cy="233907"/>
          </a:xfrm>
        </p:grpSpPr>
        <p:sp>
          <p:nvSpPr>
            <p:cNvPr name="Freeform 33" id="33"/>
            <p:cNvSpPr/>
            <p:nvPr/>
          </p:nvSpPr>
          <p:spPr>
            <a:xfrm flipH="false" flipV="false" rot="0">
              <a:off x="0" y="0"/>
              <a:ext cx="3291378" cy="233907"/>
            </a:xfrm>
            <a:custGeom>
              <a:avLst/>
              <a:gdLst/>
              <a:ahLst/>
              <a:cxnLst/>
              <a:rect r="r" b="b" t="t" l="l"/>
              <a:pathLst>
                <a:path h="233907" w="3291378">
                  <a:moveTo>
                    <a:pt x="61950" y="0"/>
                  </a:moveTo>
                  <a:lnTo>
                    <a:pt x="3229428" y="0"/>
                  </a:lnTo>
                  <a:cubicBezTo>
                    <a:pt x="3263642" y="0"/>
                    <a:pt x="3291378" y="27736"/>
                    <a:pt x="3291378" y="61950"/>
                  </a:cubicBezTo>
                  <a:lnTo>
                    <a:pt x="3291378" y="171957"/>
                  </a:lnTo>
                  <a:cubicBezTo>
                    <a:pt x="3291378" y="206171"/>
                    <a:pt x="3263642" y="233907"/>
                    <a:pt x="3229428" y="233907"/>
                  </a:cubicBezTo>
                  <a:lnTo>
                    <a:pt x="61950" y="233907"/>
                  </a:lnTo>
                  <a:cubicBezTo>
                    <a:pt x="45520" y="233907"/>
                    <a:pt x="29763" y="227380"/>
                    <a:pt x="18145" y="215762"/>
                  </a:cubicBezTo>
                  <a:cubicBezTo>
                    <a:pt x="6527" y="204144"/>
                    <a:pt x="0" y="188387"/>
                    <a:pt x="0" y="171957"/>
                  </a:cubicBezTo>
                  <a:lnTo>
                    <a:pt x="0" y="61950"/>
                  </a:lnTo>
                  <a:cubicBezTo>
                    <a:pt x="0" y="45520"/>
                    <a:pt x="6527" y="29763"/>
                    <a:pt x="18145" y="18145"/>
                  </a:cubicBezTo>
                  <a:cubicBezTo>
                    <a:pt x="29763" y="6527"/>
                    <a:pt x="45520" y="0"/>
                    <a:pt x="61950" y="0"/>
                  </a:cubicBezTo>
                  <a:close/>
                </a:path>
              </a:pathLst>
            </a:custGeom>
            <a:solidFill>
              <a:srgbClr val="FFFFFF"/>
            </a:solidFill>
            <a:ln cap="rnd">
              <a:noFill/>
              <a:prstDash val="solid"/>
              <a:round/>
            </a:ln>
          </p:spPr>
        </p:sp>
        <p:sp>
          <p:nvSpPr>
            <p:cNvPr name="TextBox 34" id="34"/>
            <p:cNvSpPr txBox="true"/>
            <p:nvPr/>
          </p:nvSpPr>
          <p:spPr>
            <a:xfrm>
              <a:off x="0" y="-57150"/>
              <a:ext cx="3291378" cy="291057"/>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765306" y="575237"/>
            <a:ext cx="13627062" cy="632427"/>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2. Ma trận đánh giá &amp; Lựa chọn giải pháp chiến lược</a:t>
            </a:r>
          </a:p>
        </p:txBody>
      </p:sp>
      <p:sp>
        <p:nvSpPr>
          <p:cNvPr name="AutoShape 36" id="36"/>
          <p:cNvSpPr/>
          <p:nvPr/>
        </p:nvSpPr>
        <p:spPr>
          <a:xfrm>
            <a:off x="1432956" y="2168355"/>
            <a:ext cx="0" cy="6845979"/>
          </a:xfrm>
          <a:prstGeom prst="line">
            <a:avLst/>
          </a:prstGeom>
          <a:ln cap="flat" w="57150">
            <a:solidFill>
              <a:srgbClr val="50212A"/>
            </a:solidFill>
            <a:prstDash val="solid"/>
            <a:headEnd type="triangle" len="med" w="lg"/>
            <a:tailEnd type="none" len="sm" w="sm"/>
          </a:ln>
        </p:spPr>
      </p:sp>
      <p:sp>
        <p:nvSpPr>
          <p:cNvPr name="AutoShape 37" id="37"/>
          <p:cNvSpPr/>
          <p:nvPr/>
        </p:nvSpPr>
        <p:spPr>
          <a:xfrm flipH="true">
            <a:off x="1403523" y="9014335"/>
            <a:ext cx="10343071" cy="0"/>
          </a:xfrm>
          <a:prstGeom prst="line">
            <a:avLst/>
          </a:prstGeom>
          <a:ln cap="flat" w="57150">
            <a:solidFill>
              <a:srgbClr val="50212A"/>
            </a:solidFill>
            <a:prstDash val="solid"/>
            <a:headEnd type="triangle" len="med" w="lg"/>
            <a:tailEnd type="none" len="sm" w="sm"/>
          </a:ln>
        </p:spPr>
      </p:sp>
      <p:sp>
        <p:nvSpPr>
          <p:cNvPr name="TextBox 38" id="38"/>
          <p:cNvSpPr txBox="true"/>
          <p:nvPr/>
        </p:nvSpPr>
        <p:spPr>
          <a:xfrm rot="0">
            <a:off x="1305001" y="9109585"/>
            <a:ext cx="640115" cy="508481"/>
          </a:xfrm>
          <a:prstGeom prst="rect">
            <a:avLst/>
          </a:prstGeom>
        </p:spPr>
        <p:txBody>
          <a:bodyPr anchor="t" rtlCol="false" tIns="0" lIns="0" bIns="0" rIns="0">
            <a:spAutoFit/>
          </a:bodyPr>
          <a:lstStyle/>
          <a:p>
            <a:pPr algn="ctr" marL="0" indent="0" lvl="0">
              <a:lnSpc>
                <a:spcPts val="4000"/>
              </a:lnSpc>
              <a:spcBef>
                <a:spcPct val="0"/>
              </a:spcBef>
            </a:pPr>
            <a:r>
              <a:rPr lang="en-US" b="true" sz="2857">
                <a:solidFill>
                  <a:srgbClr val="50212A"/>
                </a:solidFill>
                <a:latin typeface="Work Sans Bold"/>
                <a:ea typeface="Work Sans Bold"/>
                <a:cs typeface="Work Sans Bold"/>
                <a:sym typeface="Work Sans Bold"/>
              </a:rPr>
              <a:t>X</a:t>
            </a:r>
          </a:p>
        </p:txBody>
      </p:sp>
      <p:sp>
        <p:nvSpPr>
          <p:cNvPr name="TextBox 39" id="39"/>
          <p:cNvSpPr txBox="true"/>
          <p:nvPr/>
        </p:nvSpPr>
        <p:spPr>
          <a:xfrm rot="-5400000">
            <a:off x="670542" y="8611487"/>
            <a:ext cx="640115" cy="508481"/>
          </a:xfrm>
          <a:prstGeom prst="rect">
            <a:avLst/>
          </a:prstGeom>
        </p:spPr>
        <p:txBody>
          <a:bodyPr anchor="t" rtlCol="false" tIns="0" lIns="0" bIns="0" rIns="0">
            <a:spAutoFit/>
          </a:bodyPr>
          <a:lstStyle/>
          <a:p>
            <a:pPr algn="ctr" marL="0" indent="0" lvl="0">
              <a:lnSpc>
                <a:spcPts val="4000"/>
              </a:lnSpc>
              <a:spcBef>
                <a:spcPct val="0"/>
              </a:spcBef>
            </a:pPr>
            <a:r>
              <a:rPr lang="en-US" b="true" sz="2857">
                <a:solidFill>
                  <a:srgbClr val="50212A"/>
                </a:solidFill>
                <a:latin typeface="Work Sans Bold"/>
                <a:ea typeface="Work Sans Bold"/>
                <a:cs typeface="Work Sans Bold"/>
                <a:sym typeface="Work Sans Bold"/>
              </a:rPr>
              <a: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8432684" y="3408351"/>
            <a:ext cx="9311347" cy="4336104"/>
          </a:xfrm>
          <a:prstGeom prst="rect">
            <a:avLst/>
          </a:prstGeom>
        </p:spPr>
        <p:txBody>
          <a:bodyPr anchor="t" rtlCol="false" tIns="0" lIns="0" bIns="0" rIns="0">
            <a:spAutoFit/>
          </a:bodyPr>
          <a:lstStyle/>
          <a:p>
            <a:pPr algn="ctr" marL="0" indent="0" lvl="0">
              <a:lnSpc>
                <a:spcPts val="17450"/>
              </a:lnSpc>
              <a:spcBef>
                <a:spcPct val="0"/>
              </a:spcBef>
            </a:pPr>
            <a:r>
              <a:rPr lang="en-US" b="true" sz="12464">
                <a:solidFill>
                  <a:srgbClr val="50212A"/>
                </a:solidFill>
                <a:latin typeface="Ojuju Bold"/>
                <a:ea typeface="Ojuju Bold"/>
                <a:cs typeface="Ojuju Bold"/>
                <a:sym typeface="Ojuju Bold"/>
              </a:rPr>
              <a:t>2. KẾ HOẠCH THỰC HIỆN</a:t>
            </a:r>
          </a:p>
        </p:txBody>
      </p:sp>
      <p:sp>
        <p:nvSpPr>
          <p:cNvPr name="Freeform 10" id="10"/>
          <p:cNvSpPr/>
          <p:nvPr/>
        </p:nvSpPr>
        <p:spPr>
          <a:xfrm flipH="false" flipV="false" rot="0">
            <a:off x="1028700" y="1785220"/>
            <a:ext cx="7006283" cy="7950392"/>
          </a:xfrm>
          <a:custGeom>
            <a:avLst/>
            <a:gdLst/>
            <a:ahLst/>
            <a:cxnLst/>
            <a:rect r="r" b="b" t="t" l="l"/>
            <a:pathLst>
              <a:path h="7950392" w="7006283">
                <a:moveTo>
                  <a:pt x="0" y="0"/>
                </a:moveTo>
                <a:lnTo>
                  <a:pt x="7006283" y="0"/>
                </a:lnTo>
                <a:lnTo>
                  <a:pt x="7006283" y="7950391"/>
                </a:lnTo>
                <a:lnTo>
                  <a:pt x="0" y="79503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954906" y="3264333"/>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966628" y="3122093"/>
            <a:ext cx="5188749" cy="622902"/>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Ojuju Bold"/>
                <a:ea typeface="Ojuju Bold"/>
                <a:cs typeface="Ojuju Bold"/>
                <a:sym typeface="Ojuju Bold"/>
              </a:rPr>
              <a:t>MỤC TIÊU TỔNG QUÁT</a:t>
            </a:r>
          </a:p>
        </p:txBody>
      </p:sp>
      <p:sp>
        <p:nvSpPr>
          <p:cNvPr name="TextBox 11" id="11"/>
          <p:cNvSpPr txBox="true"/>
          <p:nvPr/>
        </p:nvSpPr>
        <p:spPr>
          <a:xfrm rot="0">
            <a:off x="9634971" y="4295195"/>
            <a:ext cx="7852063" cy="4281945"/>
          </a:xfrm>
          <a:prstGeom prst="rect">
            <a:avLst/>
          </a:prstGeom>
        </p:spPr>
        <p:txBody>
          <a:bodyPr anchor="t" rtlCol="false" tIns="0" lIns="0" bIns="0" rIns="0">
            <a:spAutoFit/>
          </a:bodyPr>
          <a:lstStyle/>
          <a:p>
            <a:pPr algn="l" marL="522373" indent="-261187" lvl="1">
              <a:lnSpc>
                <a:spcPts val="3387"/>
              </a:lnSpc>
              <a:buFont typeface="Arial"/>
              <a:buChar char="•"/>
            </a:pPr>
            <a:r>
              <a:rPr lang="en-US" sz="2419">
                <a:solidFill>
                  <a:srgbClr val="50212A"/>
                </a:solidFill>
                <a:latin typeface="Work Sans"/>
                <a:ea typeface="Work Sans"/>
                <a:cs typeface="Work Sans"/>
                <a:sym typeface="Work Sans"/>
              </a:rPr>
              <a:t>Triể</a:t>
            </a:r>
            <a:r>
              <a:rPr lang="en-US" sz="2419">
                <a:solidFill>
                  <a:srgbClr val="50212A"/>
                </a:solidFill>
                <a:latin typeface="Work Sans"/>
                <a:ea typeface="Work Sans"/>
                <a:cs typeface="Work Sans"/>
                <a:sym typeface="Work Sans"/>
              </a:rPr>
              <a:t>n khai chiến dịch truyền thông đa nền tảng OpenDay ngành Công nghệ Giáo dục.</a:t>
            </a:r>
          </a:p>
          <a:p>
            <a:pPr algn="l" marL="522373" indent="-261187" lvl="1">
              <a:lnSpc>
                <a:spcPts val="3387"/>
              </a:lnSpc>
              <a:buFont typeface="Arial"/>
              <a:buChar char="•"/>
            </a:pPr>
            <a:r>
              <a:rPr lang="en-US" sz="2419">
                <a:solidFill>
                  <a:srgbClr val="50212A"/>
                </a:solidFill>
                <a:latin typeface="Work Sans"/>
                <a:ea typeface="Work Sans"/>
                <a:cs typeface="Work Sans"/>
                <a:sym typeface="Work Sans"/>
              </a:rPr>
              <a:t>Cung cấp thông tin chính xác về chương trình đào tạo và cơ hội nghề nghiệp.</a:t>
            </a:r>
          </a:p>
          <a:p>
            <a:pPr algn="l" marL="522373" indent="-261187" lvl="1">
              <a:lnSpc>
                <a:spcPts val="3387"/>
              </a:lnSpc>
              <a:buFont typeface="Arial"/>
              <a:buChar char="•"/>
            </a:pPr>
            <a:r>
              <a:rPr lang="en-US" sz="2419">
                <a:solidFill>
                  <a:srgbClr val="50212A"/>
                </a:solidFill>
                <a:latin typeface="Work Sans"/>
                <a:ea typeface="Work Sans"/>
                <a:cs typeface="Work Sans"/>
                <a:sym typeface="Work Sans"/>
              </a:rPr>
              <a:t>Nâng cao nhận diện và định vị thương hiệu ngành học.</a:t>
            </a:r>
          </a:p>
          <a:p>
            <a:pPr algn="l" marL="522373" indent="-261187" lvl="1">
              <a:lnSpc>
                <a:spcPts val="3387"/>
              </a:lnSpc>
              <a:buFont typeface="Arial"/>
              <a:buChar char="•"/>
            </a:pPr>
            <a:r>
              <a:rPr lang="en-US" sz="2419">
                <a:solidFill>
                  <a:srgbClr val="50212A"/>
                </a:solidFill>
                <a:latin typeface="Work Sans"/>
                <a:ea typeface="Work Sans"/>
                <a:cs typeface="Work Sans"/>
                <a:sym typeface="Work Sans"/>
              </a:rPr>
              <a:t>Thu</a:t>
            </a:r>
            <a:r>
              <a:rPr lang="en-US" sz="2419">
                <a:solidFill>
                  <a:srgbClr val="50212A"/>
                </a:solidFill>
                <a:latin typeface="Work Sans"/>
                <a:ea typeface="Work Sans"/>
                <a:cs typeface="Work Sans"/>
                <a:sym typeface="Work Sans"/>
              </a:rPr>
              <a:t> hút học sinh THPT, phụ huynh quan tâm đến ngành.</a:t>
            </a:r>
          </a:p>
          <a:p>
            <a:pPr algn="l" marL="522373" indent="-261187" lvl="1">
              <a:lnSpc>
                <a:spcPts val="3387"/>
              </a:lnSpc>
              <a:spcBef>
                <a:spcPct val="0"/>
              </a:spcBef>
              <a:buFont typeface="Arial"/>
              <a:buChar char="•"/>
            </a:pPr>
            <a:r>
              <a:rPr lang="en-US" sz="2419">
                <a:solidFill>
                  <a:srgbClr val="50212A"/>
                </a:solidFill>
                <a:latin typeface="Work Sans"/>
                <a:ea typeface="Work Sans"/>
                <a:cs typeface="Work Sans"/>
                <a:sym typeface="Work Sans"/>
              </a:rPr>
              <a:t>Thúc đẩy đăng ký tham gia OpenDay và tăng số lượng hồ sơ xét tuyển vào ngành.</a:t>
            </a:r>
          </a:p>
        </p:txBody>
      </p:sp>
      <p:grpSp>
        <p:nvGrpSpPr>
          <p:cNvPr name="Group 12" id="12"/>
          <p:cNvGrpSpPr/>
          <p:nvPr/>
        </p:nvGrpSpPr>
        <p:grpSpPr>
          <a:xfrm rot="0">
            <a:off x="1666172" y="2978898"/>
            <a:ext cx="6683612" cy="5355244"/>
            <a:chOff x="0" y="0"/>
            <a:chExt cx="8911483" cy="7140326"/>
          </a:xfrm>
        </p:grpSpPr>
        <p:sp>
          <p:nvSpPr>
            <p:cNvPr name="Freeform 13" id="13"/>
            <p:cNvSpPr/>
            <p:nvPr/>
          </p:nvSpPr>
          <p:spPr>
            <a:xfrm flipH="false" flipV="false" rot="0">
              <a:off x="0" y="0"/>
              <a:ext cx="8911483" cy="7140326"/>
            </a:xfrm>
            <a:custGeom>
              <a:avLst/>
              <a:gdLst/>
              <a:ahLst/>
              <a:cxnLst/>
              <a:rect r="r" b="b" t="t" l="l"/>
              <a:pathLst>
                <a:path h="7140326" w="8911483">
                  <a:moveTo>
                    <a:pt x="0" y="0"/>
                  </a:moveTo>
                  <a:lnTo>
                    <a:pt x="8911483" y="0"/>
                  </a:lnTo>
                  <a:lnTo>
                    <a:pt x="8911483" y="7140326"/>
                  </a:lnTo>
                  <a:lnTo>
                    <a:pt x="0" y="7140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5296480" y="652415"/>
              <a:ext cx="3615003" cy="5594877"/>
            </a:xfrm>
            <a:custGeom>
              <a:avLst/>
              <a:gdLst/>
              <a:ahLst/>
              <a:cxnLst/>
              <a:rect r="r" b="b" t="t" l="l"/>
              <a:pathLst>
                <a:path h="5594877" w="3615003">
                  <a:moveTo>
                    <a:pt x="0" y="0"/>
                  </a:moveTo>
                  <a:lnTo>
                    <a:pt x="3615003" y="0"/>
                  </a:lnTo>
                  <a:lnTo>
                    <a:pt x="3615003" y="5594877"/>
                  </a:lnTo>
                  <a:lnTo>
                    <a:pt x="0" y="5594877"/>
                  </a:lnTo>
                  <a:lnTo>
                    <a:pt x="0" y="0"/>
                  </a:lnTo>
                  <a:close/>
                </a:path>
              </a:pathLst>
            </a:custGeom>
            <a:blipFill>
              <a:blip r:embed="rId8">
                <a:extLst>
                  <a:ext uri="{96DAC541-7B7A-43D3-8B79-37D633B846F1}">
                    <asvg:svgBlip xmlns:asvg="http://schemas.microsoft.com/office/drawing/2016/SVG/main" r:embed="rId9"/>
                  </a:ext>
                </a:extLst>
              </a:blip>
              <a:stretch>
                <a:fillRect l="-146513" t="-11520" r="0" b="-16102"/>
              </a:stretch>
            </a:blipFill>
          </p:spPr>
        </p:sp>
        <p:sp>
          <p:nvSpPr>
            <p:cNvPr name="Freeform 15" id="15"/>
            <p:cNvSpPr/>
            <p:nvPr/>
          </p:nvSpPr>
          <p:spPr>
            <a:xfrm flipH="false" flipV="false" rot="0">
              <a:off x="3366542" y="5510275"/>
              <a:ext cx="3468452" cy="951939"/>
            </a:xfrm>
            <a:custGeom>
              <a:avLst/>
              <a:gdLst/>
              <a:ahLst/>
              <a:cxnLst/>
              <a:rect r="r" b="b" t="t" l="l"/>
              <a:pathLst>
                <a:path h="951939" w="3468452">
                  <a:moveTo>
                    <a:pt x="0" y="0"/>
                  </a:moveTo>
                  <a:lnTo>
                    <a:pt x="3468452" y="0"/>
                  </a:lnTo>
                  <a:lnTo>
                    <a:pt x="3468452" y="951939"/>
                  </a:lnTo>
                  <a:lnTo>
                    <a:pt x="0" y="951939"/>
                  </a:lnTo>
                  <a:lnTo>
                    <a:pt x="0" y="0"/>
                  </a:lnTo>
                  <a:close/>
                </a:path>
              </a:pathLst>
            </a:custGeom>
            <a:blipFill>
              <a:blip r:embed="rId6">
                <a:extLst>
                  <a:ext uri="{96DAC541-7B7A-43D3-8B79-37D633B846F1}">
                    <asvg:svgBlip xmlns:asvg="http://schemas.microsoft.com/office/drawing/2016/SVG/main" r:embed="rId7"/>
                  </a:ext>
                </a:extLst>
              </a:blip>
              <a:stretch>
                <a:fillRect l="-96884" t="-578667" r="-60045" b="-71414"/>
              </a:stretch>
            </a:blipFill>
          </p:spPr>
        </p:sp>
        <p:sp>
          <p:nvSpPr>
            <p:cNvPr name="Freeform 16" id="16"/>
            <p:cNvSpPr/>
            <p:nvPr/>
          </p:nvSpPr>
          <p:spPr>
            <a:xfrm flipH="false" flipV="false" rot="0">
              <a:off x="2158200" y="4896882"/>
              <a:ext cx="3468452" cy="951939"/>
            </a:xfrm>
            <a:custGeom>
              <a:avLst/>
              <a:gdLst/>
              <a:ahLst/>
              <a:cxnLst/>
              <a:rect r="r" b="b" t="t" l="l"/>
              <a:pathLst>
                <a:path h="951939" w="3468452">
                  <a:moveTo>
                    <a:pt x="0" y="0"/>
                  </a:moveTo>
                  <a:lnTo>
                    <a:pt x="3468452" y="0"/>
                  </a:lnTo>
                  <a:lnTo>
                    <a:pt x="3468452" y="951939"/>
                  </a:lnTo>
                  <a:lnTo>
                    <a:pt x="0" y="951939"/>
                  </a:lnTo>
                  <a:lnTo>
                    <a:pt x="0" y="0"/>
                  </a:lnTo>
                  <a:close/>
                </a:path>
              </a:pathLst>
            </a:custGeom>
            <a:blipFill>
              <a:blip r:embed="rId6">
                <a:extLst>
                  <a:ext uri="{96DAC541-7B7A-43D3-8B79-37D633B846F1}">
                    <asvg:svgBlip xmlns:asvg="http://schemas.microsoft.com/office/drawing/2016/SVG/main" r:embed="rId7"/>
                  </a:ext>
                </a:extLst>
              </a:blip>
              <a:stretch>
                <a:fillRect l="-61957" t="-514252" r="-94971" b="-135829"/>
              </a:stretch>
            </a:blipFill>
          </p:spPr>
        </p:sp>
      </p:grpSp>
      <p:grpSp>
        <p:nvGrpSpPr>
          <p:cNvPr name="Group 17" id="17"/>
          <p:cNvGrpSpPr/>
          <p:nvPr/>
        </p:nvGrpSpPr>
        <p:grpSpPr>
          <a:xfrm rot="0">
            <a:off x="497417" y="490255"/>
            <a:ext cx="4951684" cy="888116"/>
            <a:chOff x="0" y="0"/>
            <a:chExt cx="1304147" cy="233907"/>
          </a:xfrm>
        </p:grpSpPr>
        <p:sp>
          <p:nvSpPr>
            <p:cNvPr name="Freeform 18" id="18"/>
            <p:cNvSpPr/>
            <p:nvPr/>
          </p:nvSpPr>
          <p:spPr>
            <a:xfrm flipH="false" flipV="false" rot="0">
              <a:off x="0" y="0"/>
              <a:ext cx="1304147" cy="233907"/>
            </a:xfrm>
            <a:custGeom>
              <a:avLst/>
              <a:gdLst/>
              <a:ahLst/>
              <a:cxnLst/>
              <a:rect r="r" b="b" t="t" l="l"/>
              <a:pathLst>
                <a:path h="233907" w="1304147">
                  <a:moveTo>
                    <a:pt x="116954" y="0"/>
                  </a:moveTo>
                  <a:lnTo>
                    <a:pt x="1187194" y="0"/>
                  </a:lnTo>
                  <a:cubicBezTo>
                    <a:pt x="1218212" y="0"/>
                    <a:pt x="1247959" y="12322"/>
                    <a:pt x="1269892" y="34255"/>
                  </a:cubicBezTo>
                  <a:cubicBezTo>
                    <a:pt x="1291825" y="56188"/>
                    <a:pt x="1304147" y="85936"/>
                    <a:pt x="1304147" y="116954"/>
                  </a:cubicBezTo>
                  <a:lnTo>
                    <a:pt x="1304147" y="116954"/>
                  </a:lnTo>
                  <a:cubicBezTo>
                    <a:pt x="1304147" y="181545"/>
                    <a:pt x="1251785" y="233907"/>
                    <a:pt x="1187194"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9" id="19"/>
            <p:cNvSpPr txBox="true"/>
            <p:nvPr/>
          </p:nvSpPr>
          <p:spPr>
            <a:xfrm>
              <a:off x="0" y="-57150"/>
              <a:ext cx="1304147" cy="291057"/>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765306" y="575237"/>
            <a:ext cx="7756287" cy="632427"/>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1. Mục tiêu dự án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525532" y="2198169"/>
            <a:ext cx="8279890" cy="3042563"/>
            <a:chOff x="0" y="0"/>
            <a:chExt cx="11039853" cy="4056750"/>
          </a:xfrm>
        </p:grpSpPr>
        <p:grpSp>
          <p:nvGrpSpPr>
            <p:cNvPr name="Group 10" id="10"/>
            <p:cNvGrpSpPr/>
            <p:nvPr/>
          </p:nvGrpSpPr>
          <p:grpSpPr>
            <a:xfrm rot="0">
              <a:off x="504717" y="243293"/>
              <a:ext cx="10535136" cy="3813458"/>
              <a:chOff x="0" y="0"/>
              <a:chExt cx="2081015" cy="753276"/>
            </a:xfrm>
          </p:grpSpPr>
          <p:sp>
            <p:nvSpPr>
              <p:cNvPr name="Freeform 11" id="11"/>
              <p:cNvSpPr/>
              <p:nvPr/>
            </p:nvSpPr>
            <p:spPr>
              <a:xfrm flipH="false" flipV="false" rot="0">
                <a:off x="0" y="0"/>
                <a:ext cx="2081015" cy="753276"/>
              </a:xfrm>
              <a:custGeom>
                <a:avLst/>
                <a:gdLst/>
                <a:ahLst/>
                <a:cxnLst/>
                <a:rect r="r" b="b" t="t" l="l"/>
                <a:pathLst>
                  <a:path h="753276" w="2081015">
                    <a:moveTo>
                      <a:pt x="97982" y="0"/>
                    </a:moveTo>
                    <a:lnTo>
                      <a:pt x="1983032" y="0"/>
                    </a:lnTo>
                    <a:cubicBezTo>
                      <a:pt x="2009019" y="0"/>
                      <a:pt x="2033941" y="10323"/>
                      <a:pt x="2052316" y="28698"/>
                    </a:cubicBezTo>
                    <a:cubicBezTo>
                      <a:pt x="2070692" y="47074"/>
                      <a:pt x="2081015" y="71996"/>
                      <a:pt x="2081015" y="97982"/>
                    </a:cubicBezTo>
                    <a:lnTo>
                      <a:pt x="2081015" y="655293"/>
                    </a:lnTo>
                    <a:cubicBezTo>
                      <a:pt x="2081015" y="709407"/>
                      <a:pt x="2037147" y="753276"/>
                      <a:pt x="1983032" y="753276"/>
                    </a:cubicBezTo>
                    <a:lnTo>
                      <a:pt x="97982" y="753276"/>
                    </a:lnTo>
                    <a:cubicBezTo>
                      <a:pt x="71996" y="753276"/>
                      <a:pt x="47074" y="742952"/>
                      <a:pt x="28698" y="724577"/>
                    </a:cubicBezTo>
                    <a:cubicBezTo>
                      <a:pt x="10323" y="706202"/>
                      <a:pt x="0" y="681280"/>
                      <a:pt x="0" y="655293"/>
                    </a:cubicBezTo>
                    <a:lnTo>
                      <a:pt x="0" y="97982"/>
                    </a:lnTo>
                    <a:cubicBezTo>
                      <a:pt x="0" y="43868"/>
                      <a:pt x="43868" y="0"/>
                      <a:pt x="97982" y="0"/>
                    </a:cubicBezTo>
                    <a:close/>
                  </a:path>
                </a:pathLst>
              </a:custGeom>
              <a:solidFill>
                <a:srgbClr val="50212A"/>
              </a:solidFill>
              <a:ln cap="rnd">
                <a:noFill/>
                <a:prstDash val="solid"/>
                <a:round/>
              </a:ln>
            </p:spPr>
          </p:sp>
          <p:sp>
            <p:nvSpPr>
              <p:cNvPr name="TextBox 12" id="12"/>
              <p:cNvSpPr txBox="true"/>
              <p:nvPr/>
            </p:nvSpPr>
            <p:spPr>
              <a:xfrm>
                <a:off x="0" y="-57150"/>
                <a:ext cx="2081015" cy="81042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10801821" cy="3778420"/>
              <a:chOff x="0" y="0"/>
              <a:chExt cx="2133693" cy="746355"/>
            </a:xfrm>
          </p:grpSpPr>
          <p:sp>
            <p:nvSpPr>
              <p:cNvPr name="Freeform 14" id="14"/>
              <p:cNvSpPr/>
              <p:nvPr/>
            </p:nvSpPr>
            <p:spPr>
              <a:xfrm flipH="false" flipV="false" rot="0">
                <a:off x="0" y="0"/>
                <a:ext cx="2133693" cy="746355"/>
              </a:xfrm>
              <a:custGeom>
                <a:avLst/>
                <a:gdLst/>
                <a:ahLst/>
                <a:cxnLst/>
                <a:rect r="r" b="b" t="t" l="l"/>
                <a:pathLst>
                  <a:path h="746355" w="2133693">
                    <a:moveTo>
                      <a:pt x="86007" y="0"/>
                    </a:moveTo>
                    <a:lnTo>
                      <a:pt x="2047686" y="0"/>
                    </a:lnTo>
                    <a:cubicBezTo>
                      <a:pt x="2070497" y="0"/>
                      <a:pt x="2092373" y="9061"/>
                      <a:pt x="2108502" y="25191"/>
                    </a:cubicBezTo>
                    <a:cubicBezTo>
                      <a:pt x="2124632" y="41320"/>
                      <a:pt x="2133693" y="63196"/>
                      <a:pt x="2133693" y="86007"/>
                    </a:cubicBezTo>
                    <a:lnTo>
                      <a:pt x="2133693" y="660348"/>
                    </a:lnTo>
                    <a:cubicBezTo>
                      <a:pt x="2133693" y="707848"/>
                      <a:pt x="2095186" y="746355"/>
                      <a:pt x="2047686" y="746355"/>
                    </a:cubicBezTo>
                    <a:lnTo>
                      <a:pt x="86007" y="746355"/>
                    </a:lnTo>
                    <a:cubicBezTo>
                      <a:pt x="38507" y="746355"/>
                      <a:pt x="0" y="707848"/>
                      <a:pt x="0" y="660348"/>
                    </a:cubicBezTo>
                    <a:lnTo>
                      <a:pt x="0" y="86007"/>
                    </a:lnTo>
                    <a:cubicBezTo>
                      <a:pt x="0" y="38507"/>
                      <a:pt x="38507" y="0"/>
                      <a:pt x="86007" y="0"/>
                    </a:cubicBezTo>
                    <a:close/>
                  </a:path>
                </a:pathLst>
              </a:custGeom>
              <a:solidFill>
                <a:srgbClr val="FDF6F2"/>
              </a:solidFill>
              <a:ln cap="rnd">
                <a:noFill/>
                <a:prstDash val="solid"/>
                <a:round/>
              </a:ln>
            </p:spPr>
          </p:sp>
          <p:sp>
            <p:nvSpPr>
              <p:cNvPr name="TextBox 15" id="15"/>
              <p:cNvSpPr txBox="true"/>
              <p:nvPr/>
            </p:nvSpPr>
            <p:spPr>
              <a:xfrm>
                <a:off x="0" y="-57150"/>
                <a:ext cx="2133693" cy="80350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504717" y="290918"/>
              <a:ext cx="7240043" cy="745073"/>
            </a:xfrm>
            <a:prstGeom prst="rect">
              <a:avLst/>
            </a:prstGeom>
          </p:spPr>
          <p:txBody>
            <a:bodyPr anchor="t" rtlCol="false" tIns="0" lIns="0" bIns="0" rIns="0">
              <a:spAutoFit/>
            </a:bodyPr>
            <a:lstStyle/>
            <a:p>
              <a:pPr algn="l" marL="0" indent="0" lvl="0">
                <a:lnSpc>
                  <a:spcPts val="4130"/>
                </a:lnSpc>
              </a:pPr>
              <a:r>
                <a:rPr lang="en-US" b="true" sz="3934">
                  <a:solidFill>
                    <a:srgbClr val="50212A"/>
                  </a:solidFill>
                  <a:latin typeface="Ojuju Bold"/>
                  <a:ea typeface="Ojuju Bold"/>
                  <a:cs typeface="Ojuju Bold"/>
                  <a:sym typeface="Ojuju Bold"/>
                </a:rPr>
                <a:t>1. Specific (cụ thể) </a:t>
              </a:r>
            </a:p>
          </p:txBody>
        </p:sp>
        <p:sp>
          <p:nvSpPr>
            <p:cNvPr name="TextBox 17" id="17"/>
            <p:cNvSpPr txBox="true"/>
            <p:nvPr/>
          </p:nvSpPr>
          <p:spPr>
            <a:xfrm rot="0">
              <a:off x="335837" y="1266442"/>
              <a:ext cx="10465984" cy="1188386"/>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solidFill>
                  <a:latin typeface="Work Sans"/>
                  <a:ea typeface="Work Sans"/>
                  <a:cs typeface="Work Sans"/>
                  <a:sym typeface="Work Sans"/>
                </a:rPr>
                <a:t>Quảng bá và c</a:t>
              </a:r>
              <a:r>
                <a:rPr lang="en-US" sz="2599" strike="noStrike" u="none">
                  <a:solidFill>
                    <a:srgbClr val="000000"/>
                  </a:solidFill>
                  <a:latin typeface="Work Sans"/>
                  <a:ea typeface="Work Sans"/>
                  <a:cs typeface="Work Sans"/>
                  <a:sym typeface="Work Sans"/>
                </a:rPr>
                <a:t>u</a:t>
              </a:r>
              <a:r>
                <a:rPr lang="en-US" sz="2599" strike="noStrike" u="none">
                  <a:solidFill>
                    <a:srgbClr val="000000"/>
                  </a:solidFill>
                  <a:latin typeface="Work Sans"/>
                  <a:ea typeface="Work Sans"/>
                  <a:cs typeface="Work Sans"/>
                  <a:sym typeface="Work Sans"/>
                </a:rPr>
                <a:t>ng</a:t>
              </a:r>
              <a:r>
                <a:rPr lang="en-US" sz="2599" strike="noStrike" u="none">
                  <a:solidFill>
                    <a:srgbClr val="000000"/>
                  </a:solidFill>
                  <a:latin typeface="Work Sans"/>
                  <a:ea typeface="Work Sans"/>
                  <a:cs typeface="Work Sans"/>
                  <a:sym typeface="Work Sans"/>
                </a:rPr>
                <a:t> cấp</a:t>
              </a:r>
              <a:r>
                <a:rPr lang="en-US" sz="2599" strike="noStrike" u="none">
                  <a:solidFill>
                    <a:srgbClr val="000000"/>
                  </a:solidFill>
                  <a:latin typeface="Work Sans"/>
                  <a:ea typeface="Work Sans"/>
                  <a:cs typeface="Work Sans"/>
                  <a:sym typeface="Work Sans"/>
                </a:rPr>
                <a:t> thông t</a:t>
              </a:r>
              <a:r>
                <a:rPr lang="en-US" sz="2599" strike="noStrike" u="none">
                  <a:solidFill>
                    <a:srgbClr val="000000"/>
                  </a:solidFill>
                  <a:latin typeface="Work Sans"/>
                  <a:ea typeface="Work Sans"/>
                  <a:cs typeface="Work Sans"/>
                  <a:sym typeface="Work Sans"/>
                </a:rPr>
                <a:t>i</a:t>
              </a:r>
              <a:r>
                <a:rPr lang="en-US" sz="2599" strike="noStrike" u="none">
                  <a:solidFill>
                    <a:srgbClr val="000000"/>
                  </a:solidFill>
                  <a:latin typeface="Work Sans"/>
                  <a:ea typeface="Work Sans"/>
                  <a:cs typeface="Work Sans"/>
                  <a:sym typeface="Work Sans"/>
                </a:rPr>
                <a:t>n </a:t>
              </a:r>
              <a:r>
                <a:rPr lang="en-US" sz="2599" strike="noStrike" u="none">
                  <a:solidFill>
                    <a:srgbClr val="000000"/>
                  </a:solidFill>
                  <a:latin typeface="Work Sans"/>
                  <a:ea typeface="Work Sans"/>
                  <a:cs typeface="Work Sans"/>
                  <a:sym typeface="Work Sans"/>
                </a:rPr>
                <a:t>c</a:t>
              </a:r>
              <a:r>
                <a:rPr lang="en-US" sz="2599" strike="noStrike" u="none">
                  <a:solidFill>
                    <a:srgbClr val="000000"/>
                  </a:solidFill>
                  <a:latin typeface="Work Sans"/>
                  <a:ea typeface="Work Sans"/>
                  <a:cs typeface="Work Sans"/>
                  <a:sym typeface="Work Sans"/>
                </a:rPr>
                <a:t>hính thố</a:t>
              </a:r>
              <a:r>
                <a:rPr lang="en-US" sz="2599" strike="noStrike" u="none">
                  <a:solidFill>
                    <a:srgbClr val="000000"/>
                  </a:solidFill>
                  <a:latin typeface="Work Sans"/>
                  <a:ea typeface="Work Sans"/>
                  <a:cs typeface="Work Sans"/>
                  <a:sym typeface="Work Sans"/>
                </a:rPr>
                <a:t>ng về ngành ED2</a:t>
              </a:r>
            </a:p>
          </p:txBody>
        </p:sp>
      </p:grpSp>
      <p:sp>
        <p:nvSpPr>
          <p:cNvPr name="Freeform 18" id="18"/>
          <p:cNvSpPr/>
          <p:nvPr/>
        </p:nvSpPr>
        <p:spPr>
          <a:xfrm flipH="false" flipV="false" rot="0">
            <a:off x="1942861" y="4114036"/>
            <a:ext cx="740425" cy="740425"/>
          </a:xfrm>
          <a:custGeom>
            <a:avLst/>
            <a:gdLst/>
            <a:ahLst/>
            <a:cxnLst/>
            <a:rect r="r" b="b" t="t" l="l"/>
            <a:pathLst>
              <a:path h="740425" w="740425">
                <a:moveTo>
                  <a:pt x="0" y="0"/>
                </a:moveTo>
                <a:lnTo>
                  <a:pt x="740425" y="0"/>
                </a:lnTo>
                <a:lnTo>
                  <a:pt x="740425" y="740425"/>
                </a:lnTo>
                <a:lnTo>
                  <a:pt x="0" y="740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3340616" y="4075186"/>
            <a:ext cx="758162" cy="758162"/>
          </a:xfrm>
          <a:custGeom>
            <a:avLst/>
            <a:gdLst/>
            <a:ahLst/>
            <a:cxnLst/>
            <a:rect r="r" b="b" t="t" l="l"/>
            <a:pathLst>
              <a:path h="758162" w="758162">
                <a:moveTo>
                  <a:pt x="0" y="0"/>
                </a:moveTo>
                <a:lnTo>
                  <a:pt x="758163" y="0"/>
                </a:lnTo>
                <a:lnTo>
                  <a:pt x="758163" y="758162"/>
                </a:lnTo>
                <a:lnTo>
                  <a:pt x="0" y="7581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4760329" y="4064465"/>
            <a:ext cx="816727" cy="779603"/>
          </a:xfrm>
          <a:custGeom>
            <a:avLst/>
            <a:gdLst/>
            <a:ahLst/>
            <a:cxnLst/>
            <a:rect r="r" b="b" t="t" l="l"/>
            <a:pathLst>
              <a:path h="779603" w="816727">
                <a:moveTo>
                  <a:pt x="0" y="0"/>
                </a:moveTo>
                <a:lnTo>
                  <a:pt x="816727" y="0"/>
                </a:lnTo>
                <a:lnTo>
                  <a:pt x="816727" y="779603"/>
                </a:lnTo>
                <a:lnTo>
                  <a:pt x="0" y="7796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6234386" y="4054073"/>
            <a:ext cx="800388" cy="800388"/>
          </a:xfrm>
          <a:custGeom>
            <a:avLst/>
            <a:gdLst/>
            <a:ahLst/>
            <a:cxnLst/>
            <a:rect r="r" b="b" t="t" l="l"/>
            <a:pathLst>
              <a:path h="800388" w="800388">
                <a:moveTo>
                  <a:pt x="0" y="0"/>
                </a:moveTo>
                <a:lnTo>
                  <a:pt x="800388" y="0"/>
                </a:lnTo>
                <a:lnTo>
                  <a:pt x="800388" y="800388"/>
                </a:lnTo>
                <a:lnTo>
                  <a:pt x="0" y="8003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2" id="22"/>
          <p:cNvGrpSpPr/>
          <p:nvPr/>
        </p:nvGrpSpPr>
        <p:grpSpPr>
          <a:xfrm rot="0">
            <a:off x="172213" y="5891237"/>
            <a:ext cx="8633210" cy="3819493"/>
            <a:chOff x="0" y="0"/>
            <a:chExt cx="11510946" cy="5092657"/>
          </a:xfrm>
        </p:grpSpPr>
        <p:grpSp>
          <p:nvGrpSpPr>
            <p:cNvPr name="Group 23" id="23"/>
            <p:cNvGrpSpPr/>
            <p:nvPr/>
          </p:nvGrpSpPr>
          <p:grpSpPr>
            <a:xfrm rot="0">
              <a:off x="568869" y="243293"/>
              <a:ext cx="10942077" cy="4849364"/>
              <a:chOff x="0" y="0"/>
              <a:chExt cx="2161398" cy="957899"/>
            </a:xfrm>
          </p:grpSpPr>
          <p:sp>
            <p:nvSpPr>
              <p:cNvPr name="Freeform 24" id="24"/>
              <p:cNvSpPr/>
              <p:nvPr/>
            </p:nvSpPr>
            <p:spPr>
              <a:xfrm flipH="false" flipV="false" rot="0">
                <a:off x="0" y="0"/>
                <a:ext cx="2161398" cy="957899"/>
              </a:xfrm>
              <a:custGeom>
                <a:avLst/>
                <a:gdLst/>
                <a:ahLst/>
                <a:cxnLst/>
                <a:rect r="r" b="b" t="t" l="l"/>
                <a:pathLst>
                  <a:path h="957899" w="2161398">
                    <a:moveTo>
                      <a:pt x="94338" y="0"/>
                    </a:moveTo>
                    <a:lnTo>
                      <a:pt x="2067060" y="0"/>
                    </a:lnTo>
                    <a:cubicBezTo>
                      <a:pt x="2092080" y="0"/>
                      <a:pt x="2116075" y="9939"/>
                      <a:pt x="2133767" y="27631"/>
                    </a:cubicBezTo>
                    <a:cubicBezTo>
                      <a:pt x="2151459" y="45323"/>
                      <a:pt x="2161398" y="69318"/>
                      <a:pt x="2161398" y="94338"/>
                    </a:cubicBezTo>
                    <a:lnTo>
                      <a:pt x="2161398" y="863561"/>
                    </a:lnTo>
                    <a:cubicBezTo>
                      <a:pt x="2161398" y="915662"/>
                      <a:pt x="2119161" y="957899"/>
                      <a:pt x="2067060" y="957899"/>
                    </a:cubicBezTo>
                    <a:lnTo>
                      <a:pt x="94338" y="957899"/>
                    </a:lnTo>
                    <a:cubicBezTo>
                      <a:pt x="42237" y="957899"/>
                      <a:pt x="0" y="915662"/>
                      <a:pt x="0" y="863561"/>
                    </a:cubicBezTo>
                    <a:lnTo>
                      <a:pt x="0" y="94338"/>
                    </a:lnTo>
                    <a:cubicBezTo>
                      <a:pt x="0" y="42237"/>
                      <a:pt x="42237" y="0"/>
                      <a:pt x="94338" y="0"/>
                    </a:cubicBezTo>
                    <a:close/>
                  </a:path>
                </a:pathLst>
              </a:custGeom>
              <a:solidFill>
                <a:srgbClr val="50212A">
                  <a:alpha val="29804"/>
                </a:srgbClr>
              </a:solidFill>
              <a:ln cap="rnd">
                <a:noFill/>
                <a:prstDash val="solid"/>
                <a:round/>
              </a:ln>
            </p:spPr>
          </p:sp>
          <p:sp>
            <p:nvSpPr>
              <p:cNvPr name="TextBox 25" id="25"/>
              <p:cNvSpPr txBox="true"/>
              <p:nvPr/>
            </p:nvSpPr>
            <p:spPr>
              <a:xfrm>
                <a:off x="0" y="-57150"/>
                <a:ext cx="2161398" cy="1015049"/>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0" y="0"/>
              <a:ext cx="11190873" cy="4721961"/>
              <a:chOff x="0" y="0"/>
              <a:chExt cx="2210543" cy="932733"/>
            </a:xfrm>
          </p:grpSpPr>
          <p:sp>
            <p:nvSpPr>
              <p:cNvPr name="Freeform 27" id="27"/>
              <p:cNvSpPr/>
              <p:nvPr/>
            </p:nvSpPr>
            <p:spPr>
              <a:xfrm flipH="false" flipV="false" rot="0">
                <a:off x="0" y="0"/>
                <a:ext cx="2210543" cy="932733"/>
              </a:xfrm>
              <a:custGeom>
                <a:avLst/>
                <a:gdLst/>
                <a:ahLst/>
                <a:cxnLst/>
                <a:rect r="r" b="b" t="t" l="l"/>
                <a:pathLst>
                  <a:path h="932733" w="2210543">
                    <a:moveTo>
                      <a:pt x="83017" y="0"/>
                    </a:moveTo>
                    <a:lnTo>
                      <a:pt x="2127526" y="0"/>
                    </a:lnTo>
                    <a:cubicBezTo>
                      <a:pt x="2149543" y="0"/>
                      <a:pt x="2170659" y="8746"/>
                      <a:pt x="2186228" y="24315"/>
                    </a:cubicBezTo>
                    <a:cubicBezTo>
                      <a:pt x="2201796" y="39884"/>
                      <a:pt x="2210543" y="60999"/>
                      <a:pt x="2210543" y="83017"/>
                    </a:cubicBezTo>
                    <a:lnTo>
                      <a:pt x="2210543" y="849716"/>
                    </a:lnTo>
                    <a:cubicBezTo>
                      <a:pt x="2210543" y="871734"/>
                      <a:pt x="2201796" y="892849"/>
                      <a:pt x="2186228" y="908418"/>
                    </a:cubicBezTo>
                    <a:cubicBezTo>
                      <a:pt x="2170659" y="923987"/>
                      <a:pt x="2149543" y="932733"/>
                      <a:pt x="2127526" y="932733"/>
                    </a:cubicBezTo>
                    <a:lnTo>
                      <a:pt x="83017" y="932733"/>
                    </a:lnTo>
                    <a:cubicBezTo>
                      <a:pt x="60999" y="932733"/>
                      <a:pt x="39884" y="923987"/>
                      <a:pt x="24315" y="908418"/>
                    </a:cubicBezTo>
                    <a:cubicBezTo>
                      <a:pt x="8746" y="892849"/>
                      <a:pt x="0" y="871734"/>
                      <a:pt x="0" y="849716"/>
                    </a:cubicBezTo>
                    <a:lnTo>
                      <a:pt x="0" y="83017"/>
                    </a:lnTo>
                    <a:cubicBezTo>
                      <a:pt x="0" y="60999"/>
                      <a:pt x="8746" y="39884"/>
                      <a:pt x="24315" y="24315"/>
                    </a:cubicBezTo>
                    <a:cubicBezTo>
                      <a:pt x="39884" y="8746"/>
                      <a:pt x="60999" y="0"/>
                      <a:pt x="83017" y="0"/>
                    </a:cubicBezTo>
                    <a:close/>
                  </a:path>
                </a:pathLst>
              </a:custGeom>
              <a:solidFill>
                <a:srgbClr val="FDF6F2">
                  <a:alpha val="29804"/>
                </a:srgbClr>
              </a:solidFill>
              <a:ln cap="rnd">
                <a:noFill/>
                <a:prstDash val="solid"/>
                <a:round/>
              </a:ln>
            </p:spPr>
          </p:sp>
          <p:sp>
            <p:nvSpPr>
              <p:cNvPr name="TextBox 28" id="28"/>
              <p:cNvSpPr txBox="true"/>
              <p:nvPr/>
            </p:nvSpPr>
            <p:spPr>
              <a:xfrm>
                <a:off x="0" y="-57150"/>
                <a:ext cx="2210543" cy="989883"/>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894219" y="290918"/>
              <a:ext cx="9309146"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2. Measurable (Đo lường được)</a:t>
              </a:r>
            </a:p>
          </p:txBody>
        </p:sp>
        <p:grpSp>
          <p:nvGrpSpPr>
            <p:cNvPr name="Group 30" id="30"/>
            <p:cNvGrpSpPr/>
            <p:nvPr/>
          </p:nvGrpSpPr>
          <p:grpSpPr>
            <a:xfrm rot="0">
              <a:off x="926410" y="3130028"/>
              <a:ext cx="2189431" cy="738211"/>
              <a:chOff x="0" y="0"/>
              <a:chExt cx="963105" cy="324730"/>
            </a:xfrm>
          </p:grpSpPr>
          <p:sp>
            <p:nvSpPr>
              <p:cNvPr name="Freeform 31" id="31"/>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32" id="32"/>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33" id="33"/>
            <p:cNvSpPr txBox="true"/>
            <p:nvPr/>
          </p:nvSpPr>
          <p:spPr>
            <a:xfrm rot="0">
              <a:off x="703844" y="2075366"/>
              <a:ext cx="2411997"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+1K</a:t>
              </a:r>
            </a:p>
          </p:txBody>
        </p:sp>
        <p:sp>
          <p:nvSpPr>
            <p:cNvPr name="TextBox 34" id="34"/>
            <p:cNvSpPr txBox="true"/>
            <p:nvPr/>
          </p:nvSpPr>
          <p:spPr>
            <a:xfrm rot="0">
              <a:off x="1015123" y="3218466"/>
              <a:ext cx="2062099" cy="579056"/>
            </a:xfrm>
            <a:prstGeom prst="rect">
              <a:avLst/>
            </a:prstGeom>
          </p:spPr>
          <p:txBody>
            <a:bodyPr anchor="t" rtlCol="false" tIns="0" lIns="0" bIns="0" rIns="0">
              <a:spAutoFit/>
            </a:bodyPr>
            <a:lstStyle/>
            <a:p>
              <a:pPr algn="ctr" marL="0" indent="0" lvl="0">
                <a:lnSpc>
                  <a:spcPts val="1760"/>
                </a:lnSpc>
                <a:spcBef>
                  <a:spcPct val="0"/>
                </a:spcBef>
              </a:pPr>
              <a:r>
                <a:rPr lang="en-US" b="true" sz="1257">
                  <a:solidFill>
                    <a:srgbClr val="FFFFFF">
                      <a:alpha val="29804"/>
                    </a:srgbClr>
                  </a:solidFill>
                  <a:latin typeface="Work Sans Medium"/>
                  <a:ea typeface="Work Sans Medium"/>
                  <a:cs typeface="Work Sans Medium"/>
                  <a:sym typeface="Work Sans Medium"/>
                </a:rPr>
                <a:t>T</a:t>
              </a:r>
              <a:r>
                <a:rPr lang="en-US" b="true" sz="1257">
                  <a:solidFill>
                    <a:srgbClr val="FFFFFF">
                      <a:alpha val="29804"/>
                    </a:srgbClr>
                  </a:solidFill>
                  <a:latin typeface="Work Sans Medium"/>
                  <a:ea typeface="Work Sans Medium"/>
                  <a:cs typeface="Work Sans Medium"/>
                  <a:sym typeface="Work Sans Medium"/>
                </a:rPr>
                <a:t>heo dõi Facebook TikTok</a:t>
              </a:r>
            </a:p>
          </p:txBody>
        </p:sp>
        <p:grpSp>
          <p:nvGrpSpPr>
            <p:cNvPr name="Group 35" id="35"/>
            <p:cNvGrpSpPr/>
            <p:nvPr/>
          </p:nvGrpSpPr>
          <p:grpSpPr>
            <a:xfrm rot="0">
              <a:off x="3617288" y="3167572"/>
              <a:ext cx="2189431" cy="738211"/>
              <a:chOff x="0" y="0"/>
              <a:chExt cx="963105" cy="324730"/>
            </a:xfrm>
          </p:grpSpPr>
          <p:sp>
            <p:nvSpPr>
              <p:cNvPr name="Freeform 36" id="36"/>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37" id="37"/>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38" id="38"/>
            <p:cNvSpPr txBox="true"/>
            <p:nvPr/>
          </p:nvSpPr>
          <p:spPr>
            <a:xfrm rot="0">
              <a:off x="3695643" y="2112909"/>
              <a:ext cx="1894879"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+2K</a:t>
              </a:r>
            </a:p>
          </p:txBody>
        </p:sp>
        <p:sp>
          <p:nvSpPr>
            <p:cNvPr name="TextBox 39" id="39"/>
            <p:cNvSpPr txBox="true"/>
            <p:nvPr/>
          </p:nvSpPr>
          <p:spPr>
            <a:xfrm rot="0">
              <a:off x="3394722" y="3232862"/>
              <a:ext cx="2634563" cy="579056"/>
            </a:xfrm>
            <a:prstGeom prst="rect">
              <a:avLst/>
            </a:prstGeom>
          </p:spPr>
          <p:txBody>
            <a:bodyPr anchor="t" rtlCol="false" tIns="0" lIns="0" bIns="0" rIns="0">
              <a:spAutoFit/>
            </a:bodyPr>
            <a:lstStyle/>
            <a:p>
              <a:pPr algn="ctr" marL="0" indent="0" lvl="0">
                <a:lnSpc>
                  <a:spcPts val="1760"/>
                </a:lnSpc>
                <a:spcBef>
                  <a:spcPct val="0"/>
                </a:spcBef>
              </a:pPr>
              <a:r>
                <a:rPr lang="en-US" b="true" sz="1257">
                  <a:solidFill>
                    <a:srgbClr val="FFFFFF">
                      <a:alpha val="29804"/>
                    </a:srgbClr>
                  </a:solidFill>
                  <a:latin typeface="Work Sans Medium"/>
                  <a:ea typeface="Work Sans Medium"/>
                  <a:cs typeface="Work Sans Medium"/>
                  <a:sym typeface="Work Sans Medium"/>
                </a:rPr>
                <a:t>Tiếp cận Facebook Tiktok</a:t>
              </a:r>
            </a:p>
          </p:txBody>
        </p:sp>
        <p:grpSp>
          <p:nvGrpSpPr>
            <p:cNvPr name="Group 40" id="40"/>
            <p:cNvGrpSpPr/>
            <p:nvPr/>
          </p:nvGrpSpPr>
          <p:grpSpPr>
            <a:xfrm rot="0">
              <a:off x="6121577" y="3130028"/>
              <a:ext cx="2189431" cy="738211"/>
              <a:chOff x="0" y="0"/>
              <a:chExt cx="963105" cy="324730"/>
            </a:xfrm>
          </p:grpSpPr>
          <p:sp>
            <p:nvSpPr>
              <p:cNvPr name="Freeform 41" id="41"/>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42" id="42"/>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43" id="43"/>
            <p:cNvSpPr txBox="true"/>
            <p:nvPr/>
          </p:nvSpPr>
          <p:spPr>
            <a:xfrm rot="0">
              <a:off x="6199932" y="2075366"/>
              <a:ext cx="1894879"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+1K</a:t>
              </a:r>
            </a:p>
          </p:txBody>
        </p:sp>
        <p:sp>
          <p:nvSpPr>
            <p:cNvPr name="TextBox 44" id="44"/>
            <p:cNvSpPr txBox="true"/>
            <p:nvPr/>
          </p:nvSpPr>
          <p:spPr>
            <a:xfrm rot="0">
              <a:off x="6121577" y="3284584"/>
              <a:ext cx="2195800" cy="490902"/>
            </a:xfrm>
            <a:prstGeom prst="rect">
              <a:avLst/>
            </a:prstGeom>
          </p:spPr>
          <p:txBody>
            <a:bodyPr anchor="t" rtlCol="false" tIns="0" lIns="0" bIns="0" rIns="0">
              <a:spAutoFit/>
            </a:bodyPr>
            <a:lstStyle/>
            <a:p>
              <a:pPr algn="ctr" marL="0" indent="0" lvl="0">
                <a:lnSpc>
                  <a:spcPts val="1496"/>
                </a:lnSpc>
              </a:pPr>
              <a:r>
                <a:rPr lang="en-US" b="true" sz="1257">
                  <a:solidFill>
                    <a:srgbClr val="FFFFFF">
                      <a:alpha val="29804"/>
                    </a:srgbClr>
                  </a:solidFill>
                  <a:latin typeface="Work Sans Medium"/>
                  <a:ea typeface="Work Sans Medium"/>
                  <a:cs typeface="Work Sans Medium"/>
                  <a:sym typeface="Work Sans Medium"/>
                </a:rPr>
                <a:t>Người truy cập website</a:t>
              </a:r>
            </a:p>
          </p:txBody>
        </p:sp>
        <p:sp>
          <p:nvSpPr>
            <p:cNvPr name="TextBox 45" id="45"/>
            <p:cNvSpPr txBox="true"/>
            <p:nvPr/>
          </p:nvSpPr>
          <p:spPr>
            <a:xfrm rot="0">
              <a:off x="894219" y="1276111"/>
              <a:ext cx="10232384" cy="578742"/>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alpha val="29804"/>
                    </a:srgbClr>
                  </a:solidFill>
                  <a:latin typeface="Work Sans"/>
                  <a:ea typeface="Work Sans"/>
                  <a:cs typeface="Work Sans"/>
                  <a:sym typeface="Work Sans"/>
                </a:rPr>
                <a:t>Mục tiêu đạt các chỉ số trên từng nền tảng </a:t>
              </a:r>
            </a:p>
          </p:txBody>
        </p:sp>
        <p:grpSp>
          <p:nvGrpSpPr>
            <p:cNvPr name="Group 46" id="46"/>
            <p:cNvGrpSpPr/>
            <p:nvPr/>
          </p:nvGrpSpPr>
          <p:grpSpPr>
            <a:xfrm rot="0">
              <a:off x="8679954" y="3130028"/>
              <a:ext cx="2189431" cy="738211"/>
              <a:chOff x="0" y="0"/>
              <a:chExt cx="963105" cy="324730"/>
            </a:xfrm>
          </p:grpSpPr>
          <p:sp>
            <p:nvSpPr>
              <p:cNvPr name="Freeform 47" id="47"/>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48" id="48"/>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49" id="49"/>
            <p:cNvSpPr txBox="true"/>
            <p:nvPr/>
          </p:nvSpPr>
          <p:spPr>
            <a:xfrm rot="0">
              <a:off x="8476733" y="2037823"/>
              <a:ext cx="2270313"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+200</a:t>
              </a:r>
            </a:p>
          </p:txBody>
        </p:sp>
        <p:sp>
          <p:nvSpPr>
            <p:cNvPr name="TextBox 50" id="50"/>
            <p:cNvSpPr txBox="true"/>
            <p:nvPr/>
          </p:nvSpPr>
          <p:spPr>
            <a:xfrm rot="0">
              <a:off x="8877771" y="3253683"/>
              <a:ext cx="1793797" cy="490902"/>
            </a:xfrm>
            <a:prstGeom prst="rect">
              <a:avLst/>
            </a:prstGeom>
          </p:spPr>
          <p:txBody>
            <a:bodyPr anchor="t" rtlCol="false" tIns="0" lIns="0" bIns="0" rIns="0">
              <a:spAutoFit/>
            </a:bodyPr>
            <a:lstStyle/>
            <a:p>
              <a:pPr algn="ctr" marL="0" indent="0" lvl="0">
                <a:lnSpc>
                  <a:spcPts val="1496"/>
                </a:lnSpc>
              </a:pPr>
              <a:r>
                <a:rPr lang="en-US" sz="1257">
                  <a:solidFill>
                    <a:srgbClr val="FFFFFF">
                      <a:alpha val="29804"/>
                    </a:srgbClr>
                  </a:solidFill>
                  <a:latin typeface="Work Sans"/>
                  <a:ea typeface="Work Sans"/>
                  <a:cs typeface="Work Sans"/>
                  <a:sym typeface="Work Sans"/>
                </a:rPr>
                <a:t>Lượt đăng ký form</a:t>
              </a:r>
            </a:p>
          </p:txBody>
        </p:sp>
      </p:grpSp>
      <p:grpSp>
        <p:nvGrpSpPr>
          <p:cNvPr name="Group 51" id="51"/>
          <p:cNvGrpSpPr/>
          <p:nvPr/>
        </p:nvGrpSpPr>
        <p:grpSpPr>
          <a:xfrm rot="0">
            <a:off x="9349596" y="2200974"/>
            <a:ext cx="8279890" cy="3039758"/>
            <a:chOff x="0" y="0"/>
            <a:chExt cx="11039853" cy="4053010"/>
          </a:xfrm>
        </p:grpSpPr>
        <p:grpSp>
          <p:nvGrpSpPr>
            <p:cNvPr name="Group 52" id="52"/>
            <p:cNvGrpSpPr/>
            <p:nvPr/>
          </p:nvGrpSpPr>
          <p:grpSpPr>
            <a:xfrm rot="0">
              <a:off x="504717" y="243293"/>
              <a:ext cx="10535136" cy="3809717"/>
              <a:chOff x="0" y="0"/>
              <a:chExt cx="2081015" cy="752537"/>
            </a:xfrm>
          </p:grpSpPr>
          <p:sp>
            <p:nvSpPr>
              <p:cNvPr name="Freeform 53" id="53"/>
              <p:cNvSpPr/>
              <p:nvPr/>
            </p:nvSpPr>
            <p:spPr>
              <a:xfrm flipH="false" flipV="false" rot="0">
                <a:off x="0" y="0"/>
                <a:ext cx="2081015" cy="752537"/>
              </a:xfrm>
              <a:custGeom>
                <a:avLst/>
                <a:gdLst/>
                <a:ahLst/>
                <a:cxnLst/>
                <a:rect r="r" b="b" t="t" l="l"/>
                <a:pathLst>
                  <a:path h="752537" w="2081015">
                    <a:moveTo>
                      <a:pt x="97982" y="0"/>
                    </a:moveTo>
                    <a:lnTo>
                      <a:pt x="1983032" y="0"/>
                    </a:lnTo>
                    <a:cubicBezTo>
                      <a:pt x="2009019" y="0"/>
                      <a:pt x="2033941" y="10323"/>
                      <a:pt x="2052316" y="28698"/>
                    </a:cubicBezTo>
                    <a:cubicBezTo>
                      <a:pt x="2070692" y="47074"/>
                      <a:pt x="2081015" y="71996"/>
                      <a:pt x="2081015" y="97982"/>
                    </a:cubicBezTo>
                    <a:lnTo>
                      <a:pt x="2081015" y="654555"/>
                    </a:lnTo>
                    <a:cubicBezTo>
                      <a:pt x="2081015" y="708669"/>
                      <a:pt x="2037147" y="752537"/>
                      <a:pt x="1983032" y="752537"/>
                    </a:cubicBezTo>
                    <a:lnTo>
                      <a:pt x="97982" y="752537"/>
                    </a:lnTo>
                    <a:cubicBezTo>
                      <a:pt x="43868" y="752537"/>
                      <a:pt x="0" y="708669"/>
                      <a:pt x="0" y="654555"/>
                    </a:cubicBezTo>
                    <a:lnTo>
                      <a:pt x="0" y="97982"/>
                    </a:lnTo>
                    <a:cubicBezTo>
                      <a:pt x="0" y="43868"/>
                      <a:pt x="43868" y="0"/>
                      <a:pt x="97982" y="0"/>
                    </a:cubicBezTo>
                    <a:close/>
                  </a:path>
                </a:pathLst>
              </a:custGeom>
              <a:solidFill>
                <a:srgbClr val="50212A">
                  <a:alpha val="29804"/>
                </a:srgbClr>
              </a:solidFill>
              <a:ln cap="rnd">
                <a:noFill/>
                <a:prstDash val="solid"/>
                <a:round/>
              </a:ln>
            </p:spPr>
          </p:sp>
          <p:sp>
            <p:nvSpPr>
              <p:cNvPr name="TextBox 54" id="54"/>
              <p:cNvSpPr txBox="true"/>
              <p:nvPr/>
            </p:nvSpPr>
            <p:spPr>
              <a:xfrm>
                <a:off x="0" y="-57150"/>
                <a:ext cx="2081015" cy="809687"/>
              </a:xfrm>
              <a:prstGeom prst="rect">
                <a:avLst/>
              </a:prstGeom>
            </p:spPr>
            <p:txBody>
              <a:bodyPr anchor="ctr" rtlCol="false" tIns="50800" lIns="50800" bIns="50800" rIns="50800"/>
              <a:lstStyle/>
              <a:p>
                <a:pPr algn="ctr">
                  <a:lnSpc>
                    <a:spcPts val="2659"/>
                  </a:lnSpc>
                </a:pPr>
              </a:p>
            </p:txBody>
          </p:sp>
        </p:grpSp>
        <p:grpSp>
          <p:nvGrpSpPr>
            <p:cNvPr name="Group 55" id="55"/>
            <p:cNvGrpSpPr/>
            <p:nvPr/>
          </p:nvGrpSpPr>
          <p:grpSpPr>
            <a:xfrm rot="0">
              <a:off x="0" y="0"/>
              <a:ext cx="10801821" cy="3775611"/>
              <a:chOff x="0" y="0"/>
              <a:chExt cx="2133693" cy="745800"/>
            </a:xfrm>
          </p:grpSpPr>
          <p:sp>
            <p:nvSpPr>
              <p:cNvPr name="Freeform 56" id="56"/>
              <p:cNvSpPr/>
              <p:nvPr/>
            </p:nvSpPr>
            <p:spPr>
              <a:xfrm flipH="false" flipV="false" rot="0">
                <a:off x="0" y="0"/>
                <a:ext cx="2133693" cy="745800"/>
              </a:xfrm>
              <a:custGeom>
                <a:avLst/>
                <a:gdLst/>
                <a:ahLst/>
                <a:cxnLst/>
                <a:rect r="r" b="b" t="t" l="l"/>
                <a:pathLst>
                  <a:path h="745800" w="2133693">
                    <a:moveTo>
                      <a:pt x="86007" y="0"/>
                    </a:moveTo>
                    <a:lnTo>
                      <a:pt x="2047686" y="0"/>
                    </a:lnTo>
                    <a:cubicBezTo>
                      <a:pt x="2070497" y="0"/>
                      <a:pt x="2092373" y="9061"/>
                      <a:pt x="2108502" y="25191"/>
                    </a:cubicBezTo>
                    <a:cubicBezTo>
                      <a:pt x="2124632" y="41320"/>
                      <a:pt x="2133693" y="63196"/>
                      <a:pt x="2133693" y="86007"/>
                    </a:cubicBezTo>
                    <a:lnTo>
                      <a:pt x="2133693" y="659793"/>
                    </a:lnTo>
                    <a:cubicBezTo>
                      <a:pt x="2133693" y="707293"/>
                      <a:pt x="2095186" y="745800"/>
                      <a:pt x="2047686" y="745800"/>
                    </a:cubicBezTo>
                    <a:lnTo>
                      <a:pt x="86007" y="745800"/>
                    </a:lnTo>
                    <a:cubicBezTo>
                      <a:pt x="38507" y="745800"/>
                      <a:pt x="0" y="707293"/>
                      <a:pt x="0" y="659793"/>
                    </a:cubicBezTo>
                    <a:lnTo>
                      <a:pt x="0" y="86007"/>
                    </a:lnTo>
                    <a:cubicBezTo>
                      <a:pt x="0" y="38507"/>
                      <a:pt x="38507" y="0"/>
                      <a:pt x="86007" y="0"/>
                    </a:cubicBezTo>
                    <a:close/>
                  </a:path>
                </a:pathLst>
              </a:custGeom>
              <a:solidFill>
                <a:srgbClr val="FDF6F2">
                  <a:alpha val="29804"/>
                </a:srgbClr>
              </a:solidFill>
              <a:ln cap="rnd">
                <a:noFill/>
                <a:prstDash val="solid"/>
                <a:round/>
              </a:ln>
            </p:spPr>
          </p:sp>
          <p:sp>
            <p:nvSpPr>
              <p:cNvPr name="TextBox 57" id="57"/>
              <p:cNvSpPr txBox="true"/>
              <p:nvPr/>
            </p:nvSpPr>
            <p:spPr>
              <a:xfrm>
                <a:off x="0" y="-57150"/>
                <a:ext cx="2133693" cy="802950"/>
              </a:xfrm>
              <a:prstGeom prst="rect">
                <a:avLst/>
              </a:prstGeom>
            </p:spPr>
            <p:txBody>
              <a:bodyPr anchor="ctr" rtlCol="false" tIns="50800" lIns="50800" bIns="50800" rIns="50800"/>
              <a:lstStyle/>
              <a:p>
                <a:pPr algn="ctr">
                  <a:lnSpc>
                    <a:spcPts val="2659"/>
                  </a:lnSpc>
                </a:pPr>
              </a:p>
            </p:txBody>
          </p:sp>
        </p:grpSp>
        <p:sp>
          <p:nvSpPr>
            <p:cNvPr name="TextBox 58" id="58"/>
            <p:cNvSpPr txBox="true"/>
            <p:nvPr/>
          </p:nvSpPr>
          <p:spPr>
            <a:xfrm rot="0">
              <a:off x="325224" y="290918"/>
              <a:ext cx="8447704"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3. Achievable (Tính khả thi) </a:t>
              </a:r>
            </a:p>
          </p:txBody>
        </p:sp>
        <p:sp>
          <p:nvSpPr>
            <p:cNvPr name="TextBox 59" id="59"/>
            <p:cNvSpPr txBox="true"/>
            <p:nvPr/>
          </p:nvSpPr>
          <p:spPr>
            <a:xfrm rot="0">
              <a:off x="325224" y="1064159"/>
              <a:ext cx="10196706" cy="2407674"/>
            </a:xfrm>
            <a:prstGeom prst="rect">
              <a:avLst/>
            </a:prstGeom>
          </p:spPr>
          <p:txBody>
            <a:bodyPr anchor="t" rtlCol="false" tIns="0" lIns="0" bIns="0" rIns="0">
              <a:spAutoFit/>
            </a:bodyPr>
            <a:lstStyle/>
            <a:p>
              <a:pPr algn="l" marL="561334" indent="-280667" lvl="1">
                <a:lnSpc>
                  <a:spcPts val="3639"/>
                </a:lnSpc>
                <a:buFont typeface="Arial"/>
                <a:buChar char="•"/>
              </a:pPr>
              <a:r>
                <a:rPr lang="en-US" sz="2599">
                  <a:solidFill>
                    <a:srgbClr val="000000">
                      <a:alpha val="29804"/>
                    </a:srgbClr>
                  </a:solidFill>
                  <a:latin typeface="Work Sans"/>
                  <a:ea typeface="Work Sans"/>
                  <a:cs typeface="Work Sans"/>
                  <a:sym typeface="Work Sans"/>
                </a:rPr>
                <a:t>T</a:t>
              </a:r>
              <a:r>
                <a:rPr lang="en-US" sz="2599" strike="noStrike" u="none">
                  <a:solidFill>
                    <a:srgbClr val="000000">
                      <a:alpha val="29804"/>
                    </a:srgbClr>
                  </a:solidFill>
                  <a:latin typeface="Work Sans"/>
                  <a:ea typeface="Work Sans"/>
                  <a:cs typeface="Work Sans"/>
                  <a:sym typeface="Work Sans"/>
                </a:rPr>
                <a:t>ối ưu hóa nhân </a:t>
              </a:r>
              <a:r>
                <a:rPr lang="en-US" sz="2599" strike="noStrike" u="none">
                  <a:solidFill>
                    <a:srgbClr val="000000">
                      <a:alpha val="29804"/>
                    </a:srgbClr>
                  </a:solidFill>
                  <a:latin typeface="Work Sans"/>
                  <a:ea typeface="Work Sans"/>
                  <a:cs typeface="Work Sans"/>
                  <a:sym typeface="Work Sans"/>
                </a:rPr>
                <a:t>sự </a:t>
              </a:r>
              <a:r>
                <a:rPr lang="en-US" sz="2599" strike="noStrike" u="none">
                  <a:solidFill>
                    <a:srgbClr val="000000">
                      <a:alpha val="29804"/>
                    </a:srgbClr>
                  </a:solidFill>
                  <a:latin typeface="Work Sans"/>
                  <a:ea typeface="Work Sans"/>
                  <a:cs typeface="Work Sans"/>
                  <a:sym typeface="Work Sans"/>
                </a:rPr>
                <a:t>ch</a:t>
              </a:r>
              <a:r>
                <a:rPr lang="en-US" sz="2599" strike="noStrike" u="none">
                  <a:solidFill>
                    <a:srgbClr val="000000">
                      <a:alpha val="29804"/>
                    </a:srgbClr>
                  </a:solidFill>
                  <a:latin typeface="Work Sans"/>
                  <a:ea typeface="Work Sans"/>
                  <a:cs typeface="Work Sans"/>
                  <a:sym typeface="Work Sans"/>
                </a:rPr>
                <a:t>uyê</a:t>
              </a:r>
              <a:r>
                <a:rPr lang="en-US" sz="2599" strike="noStrike" u="none">
                  <a:solidFill>
                    <a:srgbClr val="000000">
                      <a:alpha val="29804"/>
                    </a:srgbClr>
                  </a:solidFill>
                  <a:latin typeface="Work Sans"/>
                  <a:ea typeface="Work Sans"/>
                  <a:cs typeface="Work Sans"/>
                  <a:sym typeface="Work Sans"/>
                </a:rPr>
                <a:t>n</a:t>
              </a:r>
              <a:r>
                <a:rPr lang="en-US" sz="2599" strike="noStrike" u="none">
                  <a:solidFill>
                    <a:srgbClr val="000000">
                      <a:alpha val="29804"/>
                    </a:srgbClr>
                  </a:solidFill>
                  <a:latin typeface="Work Sans"/>
                  <a:ea typeface="Work Sans"/>
                  <a:cs typeface="Work Sans"/>
                  <a:sym typeface="Work Sans"/>
                </a:rPr>
                <a:t> trác</a:t>
              </a:r>
              <a:r>
                <a:rPr lang="en-US" sz="2599" strike="noStrike" u="none">
                  <a:solidFill>
                    <a:srgbClr val="000000">
                      <a:alpha val="29804"/>
                    </a:srgbClr>
                  </a:solidFill>
                  <a:latin typeface="Work Sans"/>
                  <a:ea typeface="Work Sans"/>
                  <a:cs typeface="Work Sans"/>
                  <a:sym typeface="Work Sans"/>
                </a:rPr>
                <a:t>h</a:t>
              </a:r>
              <a:r>
                <a:rPr lang="en-US" sz="2599" strike="noStrike" u="none">
                  <a:solidFill>
                    <a:srgbClr val="000000">
                      <a:alpha val="29804"/>
                    </a:srgbClr>
                  </a:solidFill>
                  <a:latin typeface="Work Sans"/>
                  <a:ea typeface="Work Sans"/>
                  <a:cs typeface="Work Sans"/>
                  <a:sym typeface="Work Sans"/>
                </a:rPr>
                <a:t>,</a:t>
              </a:r>
              <a:r>
                <a:rPr lang="en-US" sz="2599" strike="noStrike" u="none">
                  <a:solidFill>
                    <a:srgbClr val="000000">
                      <a:alpha val="29804"/>
                    </a:srgbClr>
                  </a:solidFill>
                  <a:latin typeface="Work Sans"/>
                  <a:ea typeface="Work Sans"/>
                  <a:cs typeface="Work Sans"/>
                  <a:sym typeface="Work Sans"/>
                </a:rPr>
                <a:t> </a:t>
              </a:r>
              <a:r>
                <a:rPr lang="en-US" sz="2599" strike="noStrike" u="none">
                  <a:solidFill>
                    <a:srgbClr val="000000">
                      <a:alpha val="29804"/>
                    </a:srgbClr>
                  </a:solidFill>
                  <a:latin typeface="Work Sans"/>
                  <a:ea typeface="Work Sans"/>
                  <a:cs typeface="Work Sans"/>
                  <a:sym typeface="Work Sans"/>
                </a:rPr>
                <a:t>năng lực sản xuấ</a:t>
              </a:r>
              <a:r>
                <a:rPr lang="en-US" sz="2599" strike="noStrike" u="none">
                  <a:solidFill>
                    <a:srgbClr val="000000">
                      <a:alpha val="29804"/>
                    </a:srgbClr>
                  </a:solidFill>
                  <a:latin typeface="Work Sans"/>
                  <a:ea typeface="Work Sans"/>
                  <a:cs typeface="Work Sans"/>
                  <a:sym typeface="Work Sans"/>
                </a:rPr>
                <a:t>t</a:t>
              </a:r>
              <a:r>
                <a:rPr lang="en-US" sz="2599" strike="noStrike" u="none">
                  <a:solidFill>
                    <a:srgbClr val="000000">
                      <a:alpha val="29804"/>
                    </a:srgbClr>
                  </a:solidFill>
                  <a:latin typeface="Work Sans"/>
                  <a:ea typeface="Work Sans"/>
                  <a:cs typeface="Work Sans"/>
                  <a:sym typeface="Work Sans"/>
                </a:rPr>
                <a:t> nội du</a:t>
              </a:r>
              <a:r>
                <a:rPr lang="en-US" sz="2599" strike="noStrike" u="none">
                  <a:solidFill>
                    <a:srgbClr val="000000">
                      <a:alpha val="29804"/>
                    </a:srgbClr>
                  </a:solidFill>
                  <a:latin typeface="Work Sans"/>
                  <a:ea typeface="Work Sans"/>
                  <a:cs typeface="Work Sans"/>
                  <a:sym typeface="Work Sans"/>
                </a:rPr>
                <a:t>ng số </a:t>
              </a:r>
            </a:p>
            <a:p>
              <a:pPr algn="l" marL="561334" indent="-280667" lvl="1">
                <a:lnSpc>
                  <a:spcPts val="3639"/>
                </a:lnSpc>
                <a:spcBef>
                  <a:spcPct val="0"/>
                </a:spcBef>
                <a:buFont typeface="Arial"/>
                <a:buChar char="•"/>
              </a:pPr>
              <a:r>
                <a:rPr lang="en-US" sz="2599" strike="noStrike" u="none">
                  <a:solidFill>
                    <a:srgbClr val="000000">
                      <a:alpha val="29804"/>
                    </a:srgbClr>
                  </a:solidFill>
                  <a:latin typeface="Work Sans"/>
                  <a:ea typeface="Work Sans"/>
                  <a:cs typeface="Work Sans"/>
                  <a:sym typeface="Work Sans"/>
                </a:rPr>
                <a:t>Các giải pháp công nghệ tự động hóa sẵn có của đội ngũ thực hiện dự án.</a:t>
              </a:r>
            </a:p>
          </p:txBody>
        </p:sp>
      </p:grpSp>
      <p:grpSp>
        <p:nvGrpSpPr>
          <p:cNvPr name="Group 60" id="60"/>
          <p:cNvGrpSpPr/>
          <p:nvPr/>
        </p:nvGrpSpPr>
        <p:grpSpPr>
          <a:xfrm rot="0">
            <a:off x="8996276" y="5888432"/>
            <a:ext cx="8633210" cy="3819493"/>
            <a:chOff x="0" y="0"/>
            <a:chExt cx="11510946" cy="5092657"/>
          </a:xfrm>
        </p:grpSpPr>
        <p:grpSp>
          <p:nvGrpSpPr>
            <p:cNvPr name="Group 61" id="61"/>
            <p:cNvGrpSpPr/>
            <p:nvPr/>
          </p:nvGrpSpPr>
          <p:grpSpPr>
            <a:xfrm rot="0">
              <a:off x="568869" y="243293"/>
              <a:ext cx="10942077" cy="4849364"/>
              <a:chOff x="0" y="0"/>
              <a:chExt cx="2161398" cy="957899"/>
            </a:xfrm>
          </p:grpSpPr>
          <p:sp>
            <p:nvSpPr>
              <p:cNvPr name="Freeform 62" id="62"/>
              <p:cNvSpPr/>
              <p:nvPr/>
            </p:nvSpPr>
            <p:spPr>
              <a:xfrm flipH="false" flipV="false" rot="0">
                <a:off x="0" y="0"/>
                <a:ext cx="2161398" cy="957899"/>
              </a:xfrm>
              <a:custGeom>
                <a:avLst/>
                <a:gdLst/>
                <a:ahLst/>
                <a:cxnLst/>
                <a:rect r="r" b="b" t="t" l="l"/>
                <a:pathLst>
                  <a:path h="957899" w="2161398">
                    <a:moveTo>
                      <a:pt x="94338" y="0"/>
                    </a:moveTo>
                    <a:lnTo>
                      <a:pt x="2067060" y="0"/>
                    </a:lnTo>
                    <a:cubicBezTo>
                      <a:pt x="2092080" y="0"/>
                      <a:pt x="2116075" y="9939"/>
                      <a:pt x="2133767" y="27631"/>
                    </a:cubicBezTo>
                    <a:cubicBezTo>
                      <a:pt x="2151459" y="45323"/>
                      <a:pt x="2161398" y="69318"/>
                      <a:pt x="2161398" y="94338"/>
                    </a:cubicBezTo>
                    <a:lnTo>
                      <a:pt x="2161398" y="863561"/>
                    </a:lnTo>
                    <a:cubicBezTo>
                      <a:pt x="2161398" y="915662"/>
                      <a:pt x="2119161" y="957899"/>
                      <a:pt x="2067060" y="957899"/>
                    </a:cubicBezTo>
                    <a:lnTo>
                      <a:pt x="94338" y="957899"/>
                    </a:lnTo>
                    <a:cubicBezTo>
                      <a:pt x="42237" y="957899"/>
                      <a:pt x="0" y="915662"/>
                      <a:pt x="0" y="863561"/>
                    </a:cubicBezTo>
                    <a:lnTo>
                      <a:pt x="0" y="94338"/>
                    </a:lnTo>
                    <a:cubicBezTo>
                      <a:pt x="0" y="42237"/>
                      <a:pt x="42237" y="0"/>
                      <a:pt x="94338" y="0"/>
                    </a:cubicBezTo>
                    <a:close/>
                  </a:path>
                </a:pathLst>
              </a:custGeom>
              <a:solidFill>
                <a:srgbClr val="50212A">
                  <a:alpha val="29804"/>
                </a:srgbClr>
              </a:solidFill>
              <a:ln cap="rnd">
                <a:noFill/>
                <a:prstDash val="solid"/>
                <a:round/>
              </a:ln>
            </p:spPr>
          </p:sp>
          <p:sp>
            <p:nvSpPr>
              <p:cNvPr name="TextBox 63" id="63"/>
              <p:cNvSpPr txBox="true"/>
              <p:nvPr/>
            </p:nvSpPr>
            <p:spPr>
              <a:xfrm>
                <a:off x="0" y="-57150"/>
                <a:ext cx="2161398" cy="1015049"/>
              </a:xfrm>
              <a:prstGeom prst="rect">
                <a:avLst/>
              </a:prstGeom>
            </p:spPr>
            <p:txBody>
              <a:bodyPr anchor="ctr" rtlCol="false" tIns="50800" lIns="50800" bIns="50800" rIns="50800"/>
              <a:lstStyle/>
              <a:p>
                <a:pPr algn="ctr">
                  <a:lnSpc>
                    <a:spcPts val="2659"/>
                  </a:lnSpc>
                </a:pPr>
              </a:p>
            </p:txBody>
          </p:sp>
        </p:grpSp>
        <p:grpSp>
          <p:nvGrpSpPr>
            <p:cNvPr name="Group 64" id="64"/>
            <p:cNvGrpSpPr/>
            <p:nvPr/>
          </p:nvGrpSpPr>
          <p:grpSpPr>
            <a:xfrm rot="0">
              <a:off x="0" y="0"/>
              <a:ext cx="11190873" cy="4721961"/>
              <a:chOff x="0" y="0"/>
              <a:chExt cx="2210543" cy="932733"/>
            </a:xfrm>
          </p:grpSpPr>
          <p:sp>
            <p:nvSpPr>
              <p:cNvPr name="Freeform 65" id="65"/>
              <p:cNvSpPr/>
              <p:nvPr/>
            </p:nvSpPr>
            <p:spPr>
              <a:xfrm flipH="false" flipV="false" rot="0">
                <a:off x="0" y="0"/>
                <a:ext cx="2210543" cy="932733"/>
              </a:xfrm>
              <a:custGeom>
                <a:avLst/>
                <a:gdLst/>
                <a:ahLst/>
                <a:cxnLst/>
                <a:rect r="r" b="b" t="t" l="l"/>
                <a:pathLst>
                  <a:path h="932733" w="2210543">
                    <a:moveTo>
                      <a:pt x="83017" y="0"/>
                    </a:moveTo>
                    <a:lnTo>
                      <a:pt x="2127526" y="0"/>
                    </a:lnTo>
                    <a:cubicBezTo>
                      <a:pt x="2149543" y="0"/>
                      <a:pt x="2170659" y="8746"/>
                      <a:pt x="2186228" y="24315"/>
                    </a:cubicBezTo>
                    <a:cubicBezTo>
                      <a:pt x="2201796" y="39884"/>
                      <a:pt x="2210543" y="60999"/>
                      <a:pt x="2210543" y="83017"/>
                    </a:cubicBezTo>
                    <a:lnTo>
                      <a:pt x="2210543" y="849716"/>
                    </a:lnTo>
                    <a:cubicBezTo>
                      <a:pt x="2210543" y="871734"/>
                      <a:pt x="2201796" y="892849"/>
                      <a:pt x="2186228" y="908418"/>
                    </a:cubicBezTo>
                    <a:cubicBezTo>
                      <a:pt x="2170659" y="923987"/>
                      <a:pt x="2149543" y="932733"/>
                      <a:pt x="2127526" y="932733"/>
                    </a:cubicBezTo>
                    <a:lnTo>
                      <a:pt x="83017" y="932733"/>
                    </a:lnTo>
                    <a:cubicBezTo>
                      <a:pt x="60999" y="932733"/>
                      <a:pt x="39884" y="923987"/>
                      <a:pt x="24315" y="908418"/>
                    </a:cubicBezTo>
                    <a:cubicBezTo>
                      <a:pt x="8746" y="892849"/>
                      <a:pt x="0" y="871734"/>
                      <a:pt x="0" y="849716"/>
                    </a:cubicBezTo>
                    <a:lnTo>
                      <a:pt x="0" y="83017"/>
                    </a:lnTo>
                    <a:cubicBezTo>
                      <a:pt x="0" y="60999"/>
                      <a:pt x="8746" y="39884"/>
                      <a:pt x="24315" y="24315"/>
                    </a:cubicBezTo>
                    <a:cubicBezTo>
                      <a:pt x="39884" y="8746"/>
                      <a:pt x="60999" y="0"/>
                      <a:pt x="83017" y="0"/>
                    </a:cubicBezTo>
                    <a:close/>
                  </a:path>
                </a:pathLst>
              </a:custGeom>
              <a:solidFill>
                <a:srgbClr val="FDF6F2">
                  <a:alpha val="29804"/>
                </a:srgbClr>
              </a:solidFill>
              <a:ln cap="rnd">
                <a:noFill/>
                <a:prstDash val="solid"/>
                <a:round/>
              </a:ln>
            </p:spPr>
          </p:sp>
          <p:sp>
            <p:nvSpPr>
              <p:cNvPr name="TextBox 66" id="66"/>
              <p:cNvSpPr txBox="true"/>
              <p:nvPr/>
            </p:nvSpPr>
            <p:spPr>
              <a:xfrm>
                <a:off x="0" y="-57150"/>
                <a:ext cx="2210543" cy="989883"/>
              </a:xfrm>
              <a:prstGeom prst="rect">
                <a:avLst/>
              </a:prstGeom>
            </p:spPr>
            <p:txBody>
              <a:bodyPr anchor="ctr" rtlCol="false" tIns="50800" lIns="50800" bIns="50800" rIns="50800"/>
              <a:lstStyle/>
              <a:p>
                <a:pPr algn="ctr">
                  <a:lnSpc>
                    <a:spcPts val="2659"/>
                  </a:lnSpc>
                </a:pPr>
              </a:p>
            </p:txBody>
          </p:sp>
        </p:grpSp>
        <p:sp>
          <p:nvSpPr>
            <p:cNvPr name="TextBox 67" id="67"/>
            <p:cNvSpPr txBox="true"/>
            <p:nvPr/>
          </p:nvSpPr>
          <p:spPr>
            <a:xfrm rot="0">
              <a:off x="894219" y="290918"/>
              <a:ext cx="9309146"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4. Relevant (Tính thực tế)</a:t>
              </a:r>
            </a:p>
          </p:txBody>
        </p:sp>
        <p:sp>
          <p:nvSpPr>
            <p:cNvPr name="TextBox 68" id="68"/>
            <p:cNvSpPr txBox="true"/>
            <p:nvPr/>
          </p:nvSpPr>
          <p:spPr>
            <a:xfrm rot="0">
              <a:off x="894219" y="1211678"/>
              <a:ext cx="9981535" cy="2407674"/>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alpha val="29804"/>
                    </a:srgbClr>
                  </a:solidFill>
                  <a:latin typeface="Work Sans"/>
                  <a:ea typeface="Work Sans"/>
                  <a:cs typeface="Work Sans"/>
                  <a:sym typeface="Work Sans"/>
                </a:rPr>
                <a:t>Giải quyết trực tiếp bài toán định hình thương hiệu ngành học, đồng thời thúc đẩy trực tiếp hiệu quả công tác tư vấn tuyển sinh cho sự kiện OpenDay của Khoa.</a:t>
              </a:r>
            </a:p>
          </p:txBody>
        </p:sp>
      </p:grpSp>
      <p:grpSp>
        <p:nvGrpSpPr>
          <p:cNvPr name="Group 69" id="69"/>
          <p:cNvGrpSpPr/>
          <p:nvPr/>
        </p:nvGrpSpPr>
        <p:grpSpPr>
          <a:xfrm rot="0">
            <a:off x="497417" y="490255"/>
            <a:ext cx="8024176" cy="888116"/>
            <a:chOff x="0" y="0"/>
            <a:chExt cx="10698902" cy="1184154"/>
          </a:xfrm>
        </p:grpSpPr>
        <p:grpSp>
          <p:nvGrpSpPr>
            <p:cNvPr name="Group 70" id="70"/>
            <p:cNvGrpSpPr/>
            <p:nvPr/>
          </p:nvGrpSpPr>
          <p:grpSpPr>
            <a:xfrm rot="0">
              <a:off x="0" y="0"/>
              <a:ext cx="10626864" cy="1184154"/>
              <a:chOff x="0" y="0"/>
              <a:chExt cx="2099134" cy="233907"/>
            </a:xfrm>
          </p:grpSpPr>
          <p:sp>
            <p:nvSpPr>
              <p:cNvPr name="Freeform 71" id="71"/>
              <p:cNvSpPr/>
              <p:nvPr/>
            </p:nvSpPr>
            <p:spPr>
              <a:xfrm flipH="false" flipV="false" rot="0">
                <a:off x="0" y="0"/>
                <a:ext cx="2099134" cy="233907"/>
              </a:xfrm>
              <a:custGeom>
                <a:avLst/>
                <a:gdLst/>
                <a:ahLst/>
                <a:cxnLst/>
                <a:rect r="r" b="b" t="t" l="l"/>
                <a:pathLst>
                  <a:path h="233907" w="2099134">
                    <a:moveTo>
                      <a:pt x="97136" y="0"/>
                    </a:moveTo>
                    <a:lnTo>
                      <a:pt x="2001997" y="0"/>
                    </a:lnTo>
                    <a:cubicBezTo>
                      <a:pt x="2055644" y="0"/>
                      <a:pt x="2099134" y="43489"/>
                      <a:pt x="2099134" y="97136"/>
                    </a:cubicBezTo>
                    <a:lnTo>
                      <a:pt x="2099134" y="136771"/>
                    </a:lnTo>
                    <a:cubicBezTo>
                      <a:pt x="2099134" y="190418"/>
                      <a:pt x="2055644" y="233907"/>
                      <a:pt x="2001997" y="233907"/>
                    </a:cubicBezTo>
                    <a:lnTo>
                      <a:pt x="97136" y="233907"/>
                    </a:lnTo>
                    <a:cubicBezTo>
                      <a:pt x="43489" y="233907"/>
                      <a:pt x="0" y="190418"/>
                      <a:pt x="0" y="136771"/>
                    </a:cubicBezTo>
                    <a:lnTo>
                      <a:pt x="0" y="97136"/>
                    </a:lnTo>
                    <a:cubicBezTo>
                      <a:pt x="0" y="43489"/>
                      <a:pt x="43489" y="0"/>
                      <a:pt x="97136" y="0"/>
                    </a:cubicBezTo>
                    <a:close/>
                  </a:path>
                </a:pathLst>
              </a:custGeom>
              <a:solidFill>
                <a:srgbClr val="FFFFFF"/>
              </a:solidFill>
              <a:ln cap="rnd">
                <a:noFill/>
                <a:prstDash val="solid"/>
                <a:round/>
              </a:ln>
            </p:spPr>
          </p:sp>
          <p:sp>
            <p:nvSpPr>
              <p:cNvPr name="TextBox 72" id="72"/>
              <p:cNvSpPr txBox="true"/>
              <p:nvPr/>
            </p:nvSpPr>
            <p:spPr>
              <a:xfrm>
                <a:off x="0" y="-57150"/>
                <a:ext cx="2099134" cy="291057"/>
              </a:xfrm>
              <a:prstGeom prst="rect">
                <a:avLst/>
              </a:prstGeom>
            </p:spPr>
            <p:txBody>
              <a:bodyPr anchor="ctr" rtlCol="false" tIns="50800" lIns="50800" bIns="50800" rIns="50800"/>
              <a:lstStyle/>
              <a:p>
                <a:pPr algn="ctr">
                  <a:lnSpc>
                    <a:spcPts val="2659"/>
                  </a:lnSpc>
                </a:pPr>
              </a:p>
            </p:txBody>
          </p:sp>
        </p:grpSp>
        <p:sp>
          <p:nvSpPr>
            <p:cNvPr name="TextBox 73" id="73"/>
            <p:cNvSpPr txBox="true"/>
            <p:nvPr/>
          </p:nvSpPr>
          <p:spPr>
            <a:xfrm rot="0">
              <a:off x="357186" y="141884"/>
              <a:ext cx="103417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Mục tiêu cụ thể mô hình SMART</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525532" y="2198169"/>
            <a:ext cx="8279890" cy="3042563"/>
            <a:chOff x="0" y="0"/>
            <a:chExt cx="11039853" cy="4056750"/>
          </a:xfrm>
        </p:grpSpPr>
        <p:grpSp>
          <p:nvGrpSpPr>
            <p:cNvPr name="Group 10" id="10"/>
            <p:cNvGrpSpPr/>
            <p:nvPr/>
          </p:nvGrpSpPr>
          <p:grpSpPr>
            <a:xfrm rot="0">
              <a:off x="504717" y="243293"/>
              <a:ext cx="10535136" cy="3813458"/>
              <a:chOff x="0" y="0"/>
              <a:chExt cx="2081015" cy="753276"/>
            </a:xfrm>
          </p:grpSpPr>
          <p:sp>
            <p:nvSpPr>
              <p:cNvPr name="Freeform 11" id="11"/>
              <p:cNvSpPr/>
              <p:nvPr/>
            </p:nvSpPr>
            <p:spPr>
              <a:xfrm flipH="false" flipV="false" rot="0">
                <a:off x="0" y="0"/>
                <a:ext cx="2081015" cy="753276"/>
              </a:xfrm>
              <a:custGeom>
                <a:avLst/>
                <a:gdLst/>
                <a:ahLst/>
                <a:cxnLst/>
                <a:rect r="r" b="b" t="t" l="l"/>
                <a:pathLst>
                  <a:path h="753276" w="2081015">
                    <a:moveTo>
                      <a:pt x="97982" y="0"/>
                    </a:moveTo>
                    <a:lnTo>
                      <a:pt x="1983032" y="0"/>
                    </a:lnTo>
                    <a:cubicBezTo>
                      <a:pt x="2009019" y="0"/>
                      <a:pt x="2033941" y="10323"/>
                      <a:pt x="2052316" y="28698"/>
                    </a:cubicBezTo>
                    <a:cubicBezTo>
                      <a:pt x="2070692" y="47074"/>
                      <a:pt x="2081015" y="71996"/>
                      <a:pt x="2081015" y="97982"/>
                    </a:cubicBezTo>
                    <a:lnTo>
                      <a:pt x="2081015" y="655293"/>
                    </a:lnTo>
                    <a:cubicBezTo>
                      <a:pt x="2081015" y="709407"/>
                      <a:pt x="2037147" y="753276"/>
                      <a:pt x="1983032" y="753276"/>
                    </a:cubicBezTo>
                    <a:lnTo>
                      <a:pt x="97982" y="753276"/>
                    </a:lnTo>
                    <a:cubicBezTo>
                      <a:pt x="71996" y="753276"/>
                      <a:pt x="47074" y="742952"/>
                      <a:pt x="28698" y="724577"/>
                    </a:cubicBezTo>
                    <a:cubicBezTo>
                      <a:pt x="10323" y="706202"/>
                      <a:pt x="0" y="681280"/>
                      <a:pt x="0" y="655293"/>
                    </a:cubicBezTo>
                    <a:lnTo>
                      <a:pt x="0" y="97982"/>
                    </a:lnTo>
                    <a:cubicBezTo>
                      <a:pt x="0" y="43868"/>
                      <a:pt x="43868" y="0"/>
                      <a:pt x="97982" y="0"/>
                    </a:cubicBezTo>
                    <a:close/>
                  </a:path>
                </a:pathLst>
              </a:custGeom>
              <a:solidFill>
                <a:srgbClr val="50212A">
                  <a:alpha val="29804"/>
                </a:srgbClr>
              </a:solidFill>
              <a:ln cap="rnd">
                <a:noFill/>
                <a:prstDash val="solid"/>
                <a:round/>
              </a:ln>
            </p:spPr>
          </p:sp>
          <p:sp>
            <p:nvSpPr>
              <p:cNvPr name="TextBox 12" id="12"/>
              <p:cNvSpPr txBox="true"/>
              <p:nvPr/>
            </p:nvSpPr>
            <p:spPr>
              <a:xfrm>
                <a:off x="0" y="-57150"/>
                <a:ext cx="2081015" cy="81042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10801821" cy="3778420"/>
              <a:chOff x="0" y="0"/>
              <a:chExt cx="2133693" cy="746355"/>
            </a:xfrm>
          </p:grpSpPr>
          <p:sp>
            <p:nvSpPr>
              <p:cNvPr name="Freeform 14" id="14"/>
              <p:cNvSpPr/>
              <p:nvPr/>
            </p:nvSpPr>
            <p:spPr>
              <a:xfrm flipH="false" flipV="false" rot="0">
                <a:off x="0" y="0"/>
                <a:ext cx="2133693" cy="746355"/>
              </a:xfrm>
              <a:custGeom>
                <a:avLst/>
                <a:gdLst/>
                <a:ahLst/>
                <a:cxnLst/>
                <a:rect r="r" b="b" t="t" l="l"/>
                <a:pathLst>
                  <a:path h="746355" w="2133693">
                    <a:moveTo>
                      <a:pt x="86007" y="0"/>
                    </a:moveTo>
                    <a:lnTo>
                      <a:pt x="2047686" y="0"/>
                    </a:lnTo>
                    <a:cubicBezTo>
                      <a:pt x="2070497" y="0"/>
                      <a:pt x="2092373" y="9061"/>
                      <a:pt x="2108502" y="25191"/>
                    </a:cubicBezTo>
                    <a:cubicBezTo>
                      <a:pt x="2124632" y="41320"/>
                      <a:pt x="2133693" y="63196"/>
                      <a:pt x="2133693" y="86007"/>
                    </a:cubicBezTo>
                    <a:lnTo>
                      <a:pt x="2133693" y="660348"/>
                    </a:lnTo>
                    <a:cubicBezTo>
                      <a:pt x="2133693" y="707848"/>
                      <a:pt x="2095186" y="746355"/>
                      <a:pt x="2047686" y="746355"/>
                    </a:cubicBezTo>
                    <a:lnTo>
                      <a:pt x="86007" y="746355"/>
                    </a:lnTo>
                    <a:cubicBezTo>
                      <a:pt x="38507" y="746355"/>
                      <a:pt x="0" y="707848"/>
                      <a:pt x="0" y="660348"/>
                    </a:cubicBezTo>
                    <a:lnTo>
                      <a:pt x="0" y="86007"/>
                    </a:lnTo>
                    <a:cubicBezTo>
                      <a:pt x="0" y="38507"/>
                      <a:pt x="38507" y="0"/>
                      <a:pt x="86007" y="0"/>
                    </a:cubicBezTo>
                    <a:close/>
                  </a:path>
                </a:pathLst>
              </a:custGeom>
              <a:solidFill>
                <a:srgbClr val="FDF6F2">
                  <a:alpha val="29804"/>
                </a:srgbClr>
              </a:solidFill>
              <a:ln cap="rnd">
                <a:noFill/>
                <a:prstDash val="solid"/>
                <a:round/>
              </a:ln>
            </p:spPr>
          </p:sp>
          <p:sp>
            <p:nvSpPr>
              <p:cNvPr name="TextBox 15" id="15"/>
              <p:cNvSpPr txBox="true"/>
              <p:nvPr/>
            </p:nvSpPr>
            <p:spPr>
              <a:xfrm>
                <a:off x="0" y="-57150"/>
                <a:ext cx="2133693" cy="80350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504717" y="290918"/>
              <a:ext cx="7240043"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1. Specific (cụ thể) </a:t>
              </a:r>
            </a:p>
          </p:txBody>
        </p:sp>
        <p:sp>
          <p:nvSpPr>
            <p:cNvPr name="TextBox 17" id="17"/>
            <p:cNvSpPr txBox="true"/>
            <p:nvPr/>
          </p:nvSpPr>
          <p:spPr>
            <a:xfrm rot="0">
              <a:off x="335837" y="1266442"/>
              <a:ext cx="10465984" cy="1188386"/>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alpha val="29804"/>
                    </a:srgbClr>
                  </a:solidFill>
                  <a:latin typeface="Work Sans"/>
                  <a:ea typeface="Work Sans"/>
                  <a:cs typeface="Work Sans"/>
                  <a:sym typeface="Work Sans"/>
                </a:rPr>
                <a:t>Quảng bá và c</a:t>
              </a:r>
              <a:r>
                <a:rPr lang="en-US" sz="2599" strike="noStrike" u="none">
                  <a:solidFill>
                    <a:srgbClr val="000000">
                      <a:alpha val="29804"/>
                    </a:srgbClr>
                  </a:solidFill>
                  <a:latin typeface="Work Sans"/>
                  <a:ea typeface="Work Sans"/>
                  <a:cs typeface="Work Sans"/>
                  <a:sym typeface="Work Sans"/>
                </a:rPr>
                <a:t>u</a:t>
              </a:r>
              <a:r>
                <a:rPr lang="en-US" sz="2599" strike="noStrike" u="none">
                  <a:solidFill>
                    <a:srgbClr val="000000">
                      <a:alpha val="29804"/>
                    </a:srgbClr>
                  </a:solidFill>
                  <a:latin typeface="Work Sans"/>
                  <a:ea typeface="Work Sans"/>
                  <a:cs typeface="Work Sans"/>
                  <a:sym typeface="Work Sans"/>
                </a:rPr>
                <a:t>ng</a:t>
              </a:r>
              <a:r>
                <a:rPr lang="en-US" sz="2599" strike="noStrike" u="none">
                  <a:solidFill>
                    <a:srgbClr val="000000">
                      <a:alpha val="29804"/>
                    </a:srgbClr>
                  </a:solidFill>
                  <a:latin typeface="Work Sans"/>
                  <a:ea typeface="Work Sans"/>
                  <a:cs typeface="Work Sans"/>
                  <a:sym typeface="Work Sans"/>
                </a:rPr>
                <a:t> cấp</a:t>
              </a:r>
              <a:r>
                <a:rPr lang="en-US" sz="2599" strike="noStrike" u="none">
                  <a:solidFill>
                    <a:srgbClr val="000000">
                      <a:alpha val="29804"/>
                    </a:srgbClr>
                  </a:solidFill>
                  <a:latin typeface="Work Sans"/>
                  <a:ea typeface="Work Sans"/>
                  <a:cs typeface="Work Sans"/>
                  <a:sym typeface="Work Sans"/>
                </a:rPr>
                <a:t> thông t</a:t>
              </a:r>
              <a:r>
                <a:rPr lang="en-US" sz="2599" strike="noStrike" u="none">
                  <a:solidFill>
                    <a:srgbClr val="000000">
                      <a:alpha val="29804"/>
                    </a:srgbClr>
                  </a:solidFill>
                  <a:latin typeface="Work Sans"/>
                  <a:ea typeface="Work Sans"/>
                  <a:cs typeface="Work Sans"/>
                  <a:sym typeface="Work Sans"/>
                </a:rPr>
                <a:t>i</a:t>
              </a:r>
              <a:r>
                <a:rPr lang="en-US" sz="2599" strike="noStrike" u="none">
                  <a:solidFill>
                    <a:srgbClr val="000000">
                      <a:alpha val="29804"/>
                    </a:srgbClr>
                  </a:solidFill>
                  <a:latin typeface="Work Sans"/>
                  <a:ea typeface="Work Sans"/>
                  <a:cs typeface="Work Sans"/>
                  <a:sym typeface="Work Sans"/>
                </a:rPr>
                <a:t>n </a:t>
              </a:r>
              <a:r>
                <a:rPr lang="en-US" sz="2599" strike="noStrike" u="none">
                  <a:solidFill>
                    <a:srgbClr val="000000">
                      <a:alpha val="29804"/>
                    </a:srgbClr>
                  </a:solidFill>
                  <a:latin typeface="Work Sans"/>
                  <a:ea typeface="Work Sans"/>
                  <a:cs typeface="Work Sans"/>
                  <a:sym typeface="Work Sans"/>
                </a:rPr>
                <a:t>c</a:t>
              </a:r>
              <a:r>
                <a:rPr lang="en-US" sz="2599" strike="noStrike" u="none">
                  <a:solidFill>
                    <a:srgbClr val="000000">
                      <a:alpha val="29804"/>
                    </a:srgbClr>
                  </a:solidFill>
                  <a:latin typeface="Work Sans"/>
                  <a:ea typeface="Work Sans"/>
                  <a:cs typeface="Work Sans"/>
                  <a:sym typeface="Work Sans"/>
                </a:rPr>
                <a:t>hính thố</a:t>
              </a:r>
              <a:r>
                <a:rPr lang="en-US" sz="2599" strike="noStrike" u="none">
                  <a:solidFill>
                    <a:srgbClr val="000000">
                      <a:alpha val="29804"/>
                    </a:srgbClr>
                  </a:solidFill>
                  <a:latin typeface="Work Sans"/>
                  <a:ea typeface="Work Sans"/>
                  <a:cs typeface="Work Sans"/>
                  <a:sym typeface="Work Sans"/>
                </a:rPr>
                <a:t>ng về ngành ED2</a:t>
              </a:r>
            </a:p>
          </p:txBody>
        </p:sp>
      </p:grpSp>
      <p:sp>
        <p:nvSpPr>
          <p:cNvPr name="Freeform 18" id="18"/>
          <p:cNvSpPr/>
          <p:nvPr/>
        </p:nvSpPr>
        <p:spPr>
          <a:xfrm flipH="false" flipV="false" rot="0">
            <a:off x="1942861" y="4114036"/>
            <a:ext cx="740425" cy="740425"/>
          </a:xfrm>
          <a:custGeom>
            <a:avLst/>
            <a:gdLst/>
            <a:ahLst/>
            <a:cxnLst/>
            <a:rect r="r" b="b" t="t" l="l"/>
            <a:pathLst>
              <a:path h="740425" w="740425">
                <a:moveTo>
                  <a:pt x="0" y="0"/>
                </a:moveTo>
                <a:lnTo>
                  <a:pt x="740425" y="0"/>
                </a:lnTo>
                <a:lnTo>
                  <a:pt x="740425" y="740425"/>
                </a:lnTo>
                <a:lnTo>
                  <a:pt x="0" y="740425"/>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3340616" y="4075186"/>
            <a:ext cx="758162" cy="758162"/>
          </a:xfrm>
          <a:custGeom>
            <a:avLst/>
            <a:gdLst/>
            <a:ahLst/>
            <a:cxnLst/>
            <a:rect r="r" b="b" t="t" l="l"/>
            <a:pathLst>
              <a:path h="758162" w="758162">
                <a:moveTo>
                  <a:pt x="0" y="0"/>
                </a:moveTo>
                <a:lnTo>
                  <a:pt x="758163" y="0"/>
                </a:lnTo>
                <a:lnTo>
                  <a:pt x="758163" y="758162"/>
                </a:lnTo>
                <a:lnTo>
                  <a:pt x="0" y="758162"/>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4760329" y="4064465"/>
            <a:ext cx="816727" cy="779603"/>
          </a:xfrm>
          <a:custGeom>
            <a:avLst/>
            <a:gdLst/>
            <a:ahLst/>
            <a:cxnLst/>
            <a:rect r="r" b="b" t="t" l="l"/>
            <a:pathLst>
              <a:path h="779603" w="816727">
                <a:moveTo>
                  <a:pt x="0" y="0"/>
                </a:moveTo>
                <a:lnTo>
                  <a:pt x="816727" y="0"/>
                </a:lnTo>
                <a:lnTo>
                  <a:pt x="816727" y="779603"/>
                </a:lnTo>
                <a:lnTo>
                  <a:pt x="0" y="779603"/>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6234386" y="4054073"/>
            <a:ext cx="800388" cy="800388"/>
          </a:xfrm>
          <a:custGeom>
            <a:avLst/>
            <a:gdLst/>
            <a:ahLst/>
            <a:cxnLst/>
            <a:rect r="r" b="b" t="t" l="l"/>
            <a:pathLst>
              <a:path h="800388" w="800388">
                <a:moveTo>
                  <a:pt x="0" y="0"/>
                </a:moveTo>
                <a:lnTo>
                  <a:pt x="800388" y="0"/>
                </a:lnTo>
                <a:lnTo>
                  <a:pt x="800388" y="800388"/>
                </a:lnTo>
                <a:lnTo>
                  <a:pt x="0" y="800388"/>
                </a:lnTo>
                <a:lnTo>
                  <a:pt x="0" y="0"/>
                </a:lnTo>
                <a:close/>
              </a:path>
            </a:pathLst>
          </a:custGeom>
          <a:blipFill>
            <a:blip r:embed="rId10">
              <a:alphaModFix amt="30000"/>
              <a:extLst>
                <a:ext uri="{96DAC541-7B7A-43D3-8B79-37D633B846F1}">
                  <asvg:svgBlip xmlns:asvg="http://schemas.microsoft.com/office/drawing/2016/SVG/main" r:embed="rId11"/>
                </a:ext>
              </a:extLst>
            </a:blip>
            <a:stretch>
              <a:fillRect l="0" t="0" r="0" b="0"/>
            </a:stretch>
          </a:blipFill>
        </p:spPr>
      </p:sp>
      <p:grpSp>
        <p:nvGrpSpPr>
          <p:cNvPr name="Group 22" id="22"/>
          <p:cNvGrpSpPr/>
          <p:nvPr/>
        </p:nvGrpSpPr>
        <p:grpSpPr>
          <a:xfrm rot="0">
            <a:off x="172213" y="5891237"/>
            <a:ext cx="8633210" cy="3819493"/>
            <a:chOff x="0" y="0"/>
            <a:chExt cx="11510946" cy="5092657"/>
          </a:xfrm>
        </p:grpSpPr>
        <p:grpSp>
          <p:nvGrpSpPr>
            <p:cNvPr name="Group 23" id="23"/>
            <p:cNvGrpSpPr/>
            <p:nvPr/>
          </p:nvGrpSpPr>
          <p:grpSpPr>
            <a:xfrm rot="0">
              <a:off x="568869" y="243293"/>
              <a:ext cx="10942077" cy="4849364"/>
              <a:chOff x="0" y="0"/>
              <a:chExt cx="2161398" cy="957899"/>
            </a:xfrm>
          </p:grpSpPr>
          <p:sp>
            <p:nvSpPr>
              <p:cNvPr name="Freeform 24" id="24"/>
              <p:cNvSpPr/>
              <p:nvPr/>
            </p:nvSpPr>
            <p:spPr>
              <a:xfrm flipH="false" flipV="false" rot="0">
                <a:off x="0" y="0"/>
                <a:ext cx="2161398" cy="957899"/>
              </a:xfrm>
              <a:custGeom>
                <a:avLst/>
                <a:gdLst/>
                <a:ahLst/>
                <a:cxnLst/>
                <a:rect r="r" b="b" t="t" l="l"/>
                <a:pathLst>
                  <a:path h="957899" w="2161398">
                    <a:moveTo>
                      <a:pt x="94338" y="0"/>
                    </a:moveTo>
                    <a:lnTo>
                      <a:pt x="2067060" y="0"/>
                    </a:lnTo>
                    <a:cubicBezTo>
                      <a:pt x="2092080" y="0"/>
                      <a:pt x="2116075" y="9939"/>
                      <a:pt x="2133767" y="27631"/>
                    </a:cubicBezTo>
                    <a:cubicBezTo>
                      <a:pt x="2151459" y="45323"/>
                      <a:pt x="2161398" y="69318"/>
                      <a:pt x="2161398" y="94338"/>
                    </a:cubicBezTo>
                    <a:lnTo>
                      <a:pt x="2161398" y="863561"/>
                    </a:lnTo>
                    <a:cubicBezTo>
                      <a:pt x="2161398" y="915662"/>
                      <a:pt x="2119161" y="957899"/>
                      <a:pt x="2067060" y="957899"/>
                    </a:cubicBezTo>
                    <a:lnTo>
                      <a:pt x="94338" y="957899"/>
                    </a:lnTo>
                    <a:cubicBezTo>
                      <a:pt x="42237" y="957899"/>
                      <a:pt x="0" y="915662"/>
                      <a:pt x="0" y="863561"/>
                    </a:cubicBezTo>
                    <a:lnTo>
                      <a:pt x="0" y="94338"/>
                    </a:lnTo>
                    <a:cubicBezTo>
                      <a:pt x="0" y="42237"/>
                      <a:pt x="42237" y="0"/>
                      <a:pt x="94338" y="0"/>
                    </a:cubicBezTo>
                    <a:close/>
                  </a:path>
                </a:pathLst>
              </a:custGeom>
              <a:solidFill>
                <a:srgbClr val="50212A"/>
              </a:solidFill>
              <a:ln cap="rnd">
                <a:noFill/>
                <a:prstDash val="solid"/>
                <a:round/>
              </a:ln>
            </p:spPr>
          </p:sp>
          <p:sp>
            <p:nvSpPr>
              <p:cNvPr name="TextBox 25" id="25"/>
              <p:cNvSpPr txBox="true"/>
              <p:nvPr/>
            </p:nvSpPr>
            <p:spPr>
              <a:xfrm>
                <a:off x="0" y="-57150"/>
                <a:ext cx="2161398" cy="1015049"/>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0" y="0"/>
              <a:ext cx="11190873" cy="4721961"/>
              <a:chOff x="0" y="0"/>
              <a:chExt cx="2210543" cy="932733"/>
            </a:xfrm>
          </p:grpSpPr>
          <p:sp>
            <p:nvSpPr>
              <p:cNvPr name="Freeform 27" id="27"/>
              <p:cNvSpPr/>
              <p:nvPr/>
            </p:nvSpPr>
            <p:spPr>
              <a:xfrm flipH="false" flipV="false" rot="0">
                <a:off x="0" y="0"/>
                <a:ext cx="2210543" cy="932733"/>
              </a:xfrm>
              <a:custGeom>
                <a:avLst/>
                <a:gdLst/>
                <a:ahLst/>
                <a:cxnLst/>
                <a:rect r="r" b="b" t="t" l="l"/>
                <a:pathLst>
                  <a:path h="932733" w="2210543">
                    <a:moveTo>
                      <a:pt x="83017" y="0"/>
                    </a:moveTo>
                    <a:lnTo>
                      <a:pt x="2127526" y="0"/>
                    </a:lnTo>
                    <a:cubicBezTo>
                      <a:pt x="2149543" y="0"/>
                      <a:pt x="2170659" y="8746"/>
                      <a:pt x="2186228" y="24315"/>
                    </a:cubicBezTo>
                    <a:cubicBezTo>
                      <a:pt x="2201796" y="39884"/>
                      <a:pt x="2210543" y="60999"/>
                      <a:pt x="2210543" y="83017"/>
                    </a:cubicBezTo>
                    <a:lnTo>
                      <a:pt x="2210543" y="849716"/>
                    </a:lnTo>
                    <a:cubicBezTo>
                      <a:pt x="2210543" y="871734"/>
                      <a:pt x="2201796" y="892849"/>
                      <a:pt x="2186228" y="908418"/>
                    </a:cubicBezTo>
                    <a:cubicBezTo>
                      <a:pt x="2170659" y="923987"/>
                      <a:pt x="2149543" y="932733"/>
                      <a:pt x="2127526" y="932733"/>
                    </a:cubicBezTo>
                    <a:lnTo>
                      <a:pt x="83017" y="932733"/>
                    </a:lnTo>
                    <a:cubicBezTo>
                      <a:pt x="60999" y="932733"/>
                      <a:pt x="39884" y="923987"/>
                      <a:pt x="24315" y="908418"/>
                    </a:cubicBezTo>
                    <a:cubicBezTo>
                      <a:pt x="8746" y="892849"/>
                      <a:pt x="0" y="871734"/>
                      <a:pt x="0" y="849716"/>
                    </a:cubicBezTo>
                    <a:lnTo>
                      <a:pt x="0" y="83017"/>
                    </a:lnTo>
                    <a:cubicBezTo>
                      <a:pt x="0" y="60999"/>
                      <a:pt x="8746" y="39884"/>
                      <a:pt x="24315" y="24315"/>
                    </a:cubicBezTo>
                    <a:cubicBezTo>
                      <a:pt x="39884" y="8746"/>
                      <a:pt x="60999" y="0"/>
                      <a:pt x="83017" y="0"/>
                    </a:cubicBezTo>
                    <a:close/>
                  </a:path>
                </a:pathLst>
              </a:custGeom>
              <a:solidFill>
                <a:srgbClr val="FDF6F2"/>
              </a:solidFill>
              <a:ln cap="rnd">
                <a:noFill/>
                <a:prstDash val="solid"/>
                <a:round/>
              </a:ln>
            </p:spPr>
          </p:sp>
          <p:sp>
            <p:nvSpPr>
              <p:cNvPr name="TextBox 28" id="28"/>
              <p:cNvSpPr txBox="true"/>
              <p:nvPr/>
            </p:nvSpPr>
            <p:spPr>
              <a:xfrm>
                <a:off x="0" y="-57150"/>
                <a:ext cx="2210543" cy="989883"/>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894219" y="290918"/>
              <a:ext cx="9309146" cy="745073"/>
            </a:xfrm>
            <a:prstGeom prst="rect">
              <a:avLst/>
            </a:prstGeom>
          </p:spPr>
          <p:txBody>
            <a:bodyPr anchor="t" rtlCol="false" tIns="0" lIns="0" bIns="0" rIns="0">
              <a:spAutoFit/>
            </a:bodyPr>
            <a:lstStyle/>
            <a:p>
              <a:pPr algn="l" marL="0" indent="0" lvl="0">
                <a:lnSpc>
                  <a:spcPts val="4130"/>
                </a:lnSpc>
              </a:pPr>
              <a:r>
                <a:rPr lang="en-US" b="true" sz="3934">
                  <a:solidFill>
                    <a:srgbClr val="50212A"/>
                  </a:solidFill>
                  <a:latin typeface="Ojuju Bold"/>
                  <a:ea typeface="Ojuju Bold"/>
                  <a:cs typeface="Ojuju Bold"/>
                  <a:sym typeface="Ojuju Bold"/>
                </a:rPr>
                <a:t>2. Measurable (Đo lường được)</a:t>
              </a:r>
            </a:p>
          </p:txBody>
        </p:sp>
        <p:grpSp>
          <p:nvGrpSpPr>
            <p:cNvPr name="Group 30" id="30"/>
            <p:cNvGrpSpPr/>
            <p:nvPr/>
          </p:nvGrpSpPr>
          <p:grpSpPr>
            <a:xfrm rot="0">
              <a:off x="926410" y="3130028"/>
              <a:ext cx="2189431" cy="738211"/>
              <a:chOff x="0" y="0"/>
              <a:chExt cx="963105" cy="324730"/>
            </a:xfrm>
          </p:grpSpPr>
          <p:sp>
            <p:nvSpPr>
              <p:cNvPr name="Freeform 31" id="31"/>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solidFill>
              <a:ln cap="rnd">
                <a:noFill/>
                <a:prstDash val="solid"/>
                <a:round/>
              </a:ln>
            </p:spPr>
          </p:sp>
          <p:sp>
            <p:nvSpPr>
              <p:cNvPr name="TextBox 32" id="32"/>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33" id="33"/>
            <p:cNvSpPr txBox="true"/>
            <p:nvPr/>
          </p:nvSpPr>
          <p:spPr>
            <a:xfrm rot="0">
              <a:off x="703844" y="2075366"/>
              <a:ext cx="2411997"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solidFill>
                  <a:latin typeface="Ojuju Bold"/>
                  <a:ea typeface="Ojuju Bold"/>
                  <a:cs typeface="Ojuju Bold"/>
                  <a:sym typeface="Ojuju Bold"/>
                </a:rPr>
                <a:t>+1K</a:t>
              </a:r>
            </a:p>
          </p:txBody>
        </p:sp>
        <p:sp>
          <p:nvSpPr>
            <p:cNvPr name="TextBox 34" id="34"/>
            <p:cNvSpPr txBox="true"/>
            <p:nvPr/>
          </p:nvSpPr>
          <p:spPr>
            <a:xfrm rot="0">
              <a:off x="1015123" y="3218466"/>
              <a:ext cx="2062099" cy="579056"/>
            </a:xfrm>
            <a:prstGeom prst="rect">
              <a:avLst/>
            </a:prstGeom>
          </p:spPr>
          <p:txBody>
            <a:bodyPr anchor="t" rtlCol="false" tIns="0" lIns="0" bIns="0" rIns="0">
              <a:spAutoFit/>
            </a:bodyPr>
            <a:lstStyle/>
            <a:p>
              <a:pPr algn="ctr" marL="0" indent="0" lvl="0">
                <a:lnSpc>
                  <a:spcPts val="1760"/>
                </a:lnSpc>
                <a:spcBef>
                  <a:spcPct val="0"/>
                </a:spcBef>
              </a:pPr>
              <a:r>
                <a:rPr lang="en-US" b="true" sz="1257">
                  <a:solidFill>
                    <a:srgbClr val="FFFFFF"/>
                  </a:solidFill>
                  <a:latin typeface="Work Sans Medium"/>
                  <a:ea typeface="Work Sans Medium"/>
                  <a:cs typeface="Work Sans Medium"/>
                  <a:sym typeface="Work Sans Medium"/>
                </a:rPr>
                <a:t>T</a:t>
              </a:r>
              <a:r>
                <a:rPr lang="en-US" b="true" sz="1257">
                  <a:solidFill>
                    <a:srgbClr val="FFFFFF"/>
                  </a:solidFill>
                  <a:latin typeface="Work Sans Medium"/>
                  <a:ea typeface="Work Sans Medium"/>
                  <a:cs typeface="Work Sans Medium"/>
                  <a:sym typeface="Work Sans Medium"/>
                </a:rPr>
                <a:t>heo dõi Facebook TikTok</a:t>
              </a:r>
            </a:p>
          </p:txBody>
        </p:sp>
        <p:grpSp>
          <p:nvGrpSpPr>
            <p:cNvPr name="Group 35" id="35"/>
            <p:cNvGrpSpPr/>
            <p:nvPr/>
          </p:nvGrpSpPr>
          <p:grpSpPr>
            <a:xfrm rot="0">
              <a:off x="3617288" y="3167572"/>
              <a:ext cx="2189431" cy="738211"/>
              <a:chOff x="0" y="0"/>
              <a:chExt cx="963105" cy="324730"/>
            </a:xfrm>
          </p:grpSpPr>
          <p:sp>
            <p:nvSpPr>
              <p:cNvPr name="Freeform 36" id="36"/>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solidFill>
              <a:ln cap="rnd">
                <a:noFill/>
                <a:prstDash val="solid"/>
                <a:round/>
              </a:ln>
            </p:spPr>
          </p:sp>
          <p:sp>
            <p:nvSpPr>
              <p:cNvPr name="TextBox 37" id="37"/>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38" id="38"/>
            <p:cNvSpPr txBox="true"/>
            <p:nvPr/>
          </p:nvSpPr>
          <p:spPr>
            <a:xfrm rot="0">
              <a:off x="3695643" y="2112909"/>
              <a:ext cx="1894879"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solidFill>
                  <a:latin typeface="Ojuju Bold"/>
                  <a:ea typeface="Ojuju Bold"/>
                  <a:cs typeface="Ojuju Bold"/>
                  <a:sym typeface="Ojuju Bold"/>
                </a:rPr>
                <a:t>+2K</a:t>
              </a:r>
            </a:p>
          </p:txBody>
        </p:sp>
        <p:sp>
          <p:nvSpPr>
            <p:cNvPr name="TextBox 39" id="39"/>
            <p:cNvSpPr txBox="true"/>
            <p:nvPr/>
          </p:nvSpPr>
          <p:spPr>
            <a:xfrm rot="0">
              <a:off x="3394722" y="3232862"/>
              <a:ext cx="2634563" cy="579056"/>
            </a:xfrm>
            <a:prstGeom prst="rect">
              <a:avLst/>
            </a:prstGeom>
          </p:spPr>
          <p:txBody>
            <a:bodyPr anchor="t" rtlCol="false" tIns="0" lIns="0" bIns="0" rIns="0">
              <a:spAutoFit/>
            </a:bodyPr>
            <a:lstStyle/>
            <a:p>
              <a:pPr algn="ctr" marL="0" indent="0" lvl="0">
                <a:lnSpc>
                  <a:spcPts val="1760"/>
                </a:lnSpc>
                <a:spcBef>
                  <a:spcPct val="0"/>
                </a:spcBef>
              </a:pPr>
              <a:r>
                <a:rPr lang="en-US" b="true" sz="1257">
                  <a:solidFill>
                    <a:srgbClr val="FFFFFF"/>
                  </a:solidFill>
                  <a:latin typeface="Work Sans Medium"/>
                  <a:ea typeface="Work Sans Medium"/>
                  <a:cs typeface="Work Sans Medium"/>
                  <a:sym typeface="Work Sans Medium"/>
                </a:rPr>
                <a:t>Tiếp cận Facebook Tiktok</a:t>
              </a:r>
            </a:p>
          </p:txBody>
        </p:sp>
        <p:grpSp>
          <p:nvGrpSpPr>
            <p:cNvPr name="Group 40" id="40"/>
            <p:cNvGrpSpPr/>
            <p:nvPr/>
          </p:nvGrpSpPr>
          <p:grpSpPr>
            <a:xfrm rot="0">
              <a:off x="6121577" y="3130028"/>
              <a:ext cx="2189431" cy="738211"/>
              <a:chOff x="0" y="0"/>
              <a:chExt cx="963105" cy="324730"/>
            </a:xfrm>
          </p:grpSpPr>
          <p:sp>
            <p:nvSpPr>
              <p:cNvPr name="Freeform 41" id="41"/>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solidFill>
              <a:ln cap="rnd">
                <a:noFill/>
                <a:prstDash val="solid"/>
                <a:round/>
              </a:ln>
            </p:spPr>
          </p:sp>
          <p:sp>
            <p:nvSpPr>
              <p:cNvPr name="TextBox 42" id="42"/>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43" id="43"/>
            <p:cNvSpPr txBox="true"/>
            <p:nvPr/>
          </p:nvSpPr>
          <p:spPr>
            <a:xfrm rot="0">
              <a:off x="6199932" y="2075366"/>
              <a:ext cx="1894879"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solidFill>
                  <a:latin typeface="Ojuju Bold"/>
                  <a:ea typeface="Ojuju Bold"/>
                  <a:cs typeface="Ojuju Bold"/>
                  <a:sym typeface="Ojuju Bold"/>
                </a:rPr>
                <a:t>+1K</a:t>
              </a:r>
            </a:p>
          </p:txBody>
        </p:sp>
        <p:sp>
          <p:nvSpPr>
            <p:cNvPr name="TextBox 44" id="44"/>
            <p:cNvSpPr txBox="true"/>
            <p:nvPr/>
          </p:nvSpPr>
          <p:spPr>
            <a:xfrm rot="0">
              <a:off x="6121577" y="3284584"/>
              <a:ext cx="2195800" cy="490902"/>
            </a:xfrm>
            <a:prstGeom prst="rect">
              <a:avLst/>
            </a:prstGeom>
          </p:spPr>
          <p:txBody>
            <a:bodyPr anchor="t" rtlCol="false" tIns="0" lIns="0" bIns="0" rIns="0">
              <a:spAutoFit/>
            </a:bodyPr>
            <a:lstStyle/>
            <a:p>
              <a:pPr algn="ctr" marL="0" indent="0" lvl="0">
                <a:lnSpc>
                  <a:spcPts val="1496"/>
                </a:lnSpc>
              </a:pPr>
              <a:r>
                <a:rPr lang="en-US" b="true" sz="1257">
                  <a:solidFill>
                    <a:srgbClr val="FFFFFF"/>
                  </a:solidFill>
                  <a:latin typeface="Work Sans Medium"/>
                  <a:ea typeface="Work Sans Medium"/>
                  <a:cs typeface="Work Sans Medium"/>
                  <a:sym typeface="Work Sans Medium"/>
                </a:rPr>
                <a:t>Người truy cập website</a:t>
              </a:r>
            </a:p>
          </p:txBody>
        </p:sp>
        <p:sp>
          <p:nvSpPr>
            <p:cNvPr name="TextBox 45" id="45"/>
            <p:cNvSpPr txBox="true"/>
            <p:nvPr/>
          </p:nvSpPr>
          <p:spPr>
            <a:xfrm rot="0">
              <a:off x="894219" y="1276111"/>
              <a:ext cx="10232384" cy="578742"/>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solidFill>
                  <a:latin typeface="Work Sans"/>
                  <a:ea typeface="Work Sans"/>
                  <a:cs typeface="Work Sans"/>
                  <a:sym typeface="Work Sans"/>
                </a:rPr>
                <a:t>Mục tiêu đạt các chỉ số trên từng nền tảng </a:t>
              </a:r>
            </a:p>
          </p:txBody>
        </p:sp>
        <p:grpSp>
          <p:nvGrpSpPr>
            <p:cNvPr name="Group 46" id="46"/>
            <p:cNvGrpSpPr/>
            <p:nvPr/>
          </p:nvGrpSpPr>
          <p:grpSpPr>
            <a:xfrm rot="0">
              <a:off x="8679954" y="3130028"/>
              <a:ext cx="2189431" cy="738211"/>
              <a:chOff x="0" y="0"/>
              <a:chExt cx="963105" cy="324730"/>
            </a:xfrm>
          </p:grpSpPr>
          <p:sp>
            <p:nvSpPr>
              <p:cNvPr name="Freeform 47" id="47"/>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solidFill>
              <a:ln cap="rnd">
                <a:noFill/>
                <a:prstDash val="solid"/>
                <a:round/>
              </a:ln>
            </p:spPr>
          </p:sp>
          <p:sp>
            <p:nvSpPr>
              <p:cNvPr name="TextBox 48" id="48"/>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49" id="49"/>
            <p:cNvSpPr txBox="true"/>
            <p:nvPr/>
          </p:nvSpPr>
          <p:spPr>
            <a:xfrm rot="0">
              <a:off x="8476733" y="2037823"/>
              <a:ext cx="2270313"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solidFill>
                  <a:latin typeface="Ojuju Bold"/>
                  <a:ea typeface="Ojuju Bold"/>
                  <a:cs typeface="Ojuju Bold"/>
                  <a:sym typeface="Ojuju Bold"/>
                </a:rPr>
                <a:t>+200</a:t>
              </a:r>
            </a:p>
          </p:txBody>
        </p:sp>
        <p:sp>
          <p:nvSpPr>
            <p:cNvPr name="TextBox 50" id="50"/>
            <p:cNvSpPr txBox="true"/>
            <p:nvPr/>
          </p:nvSpPr>
          <p:spPr>
            <a:xfrm rot="0">
              <a:off x="8877771" y="3253683"/>
              <a:ext cx="1793797" cy="490902"/>
            </a:xfrm>
            <a:prstGeom prst="rect">
              <a:avLst/>
            </a:prstGeom>
          </p:spPr>
          <p:txBody>
            <a:bodyPr anchor="t" rtlCol="false" tIns="0" lIns="0" bIns="0" rIns="0">
              <a:spAutoFit/>
            </a:bodyPr>
            <a:lstStyle/>
            <a:p>
              <a:pPr algn="ctr" marL="0" indent="0" lvl="0">
                <a:lnSpc>
                  <a:spcPts val="1496"/>
                </a:lnSpc>
              </a:pPr>
              <a:r>
                <a:rPr lang="en-US" sz="1257">
                  <a:solidFill>
                    <a:srgbClr val="FFFFFF"/>
                  </a:solidFill>
                  <a:latin typeface="Work Sans"/>
                  <a:ea typeface="Work Sans"/>
                  <a:cs typeface="Work Sans"/>
                  <a:sym typeface="Work Sans"/>
                </a:rPr>
                <a:t>Lượt đăng ký form</a:t>
              </a:r>
            </a:p>
          </p:txBody>
        </p:sp>
      </p:grpSp>
      <p:grpSp>
        <p:nvGrpSpPr>
          <p:cNvPr name="Group 51" id="51"/>
          <p:cNvGrpSpPr/>
          <p:nvPr/>
        </p:nvGrpSpPr>
        <p:grpSpPr>
          <a:xfrm rot="0">
            <a:off x="9349596" y="2200974"/>
            <a:ext cx="8279890" cy="3039758"/>
            <a:chOff x="0" y="0"/>
            <a:chExt cx="11039853" cy="4053010"/>
          </a:xfrm>
        </p:grpSpPr>
        <p:grpSp>
          <p:nvGrpSpPr>
            <p:cNvPr name="Group 52" id="52"/>
            <p:cNvGrpSpPr/>
            <p:nvPr/>
          </p:nvGrpSpPr>
          <p:grpSpPr>
            <a:xfrm rot="0">
              <a:off x="504717" y="243293"/>
              <a:ext cx="10535136" cy="3809717"/>
              <a:chOff x="0" y="0"/>
              <a:chExt cx="2081015" cy="752537"/>
            </a:xfrm>
          </p:grpSpPr>
          <p:sp>
            <p:nvSpPr>
              <p:cNvPr name="Freeform 53" id="53"/>
              <p:cNvSpPr/>
              <p:nvPr/>
            </p:nvSpPr>
            <p:spPr>
              <a:xfrm flipH="false" flipV="false" rot="0">
                <a:off x="0" y="0"/>
                <a:ext cx="2081015" cy="752537"/>
              </a:xfrm>
              <a:custGeom>
                <a:avLst/>
                <a:gdLst/>
                <a:ahLst/>
                <a:cxnLst/>
                <a:rect r="r" b="b" t="t" l="l"/>
                <a:pathLst>
                  <a:path h="752537" w="2081015">
                    <a:moveTo>
                      <a:pt x="97982" y="0"/>
                    </a:moveTo>
                    <a:lnTo>
                      <a:pt x="1983032" y="0"/>
                    </a:lnTo>
                    <a:cubicBezTo>
                      <a:pt x="2009019" y="0"/>
                      <a:pt x="2033941" y="10323"/>
                      <a:pt x="2052316" y="28698"/>
                    </a:cubicBezTo>
                    <a:cubicBezTo>
                      <a:pt x="2070692" y="47074"/>
                      <a:pt x="2081015" y="71996"/>
                      <a:pt x="2081015" y="97982"/>
                    </a:cubicBezTo>
                    <a:lnTo>
                      <a:pt x="2081015" y="654555"/>
                    </a:lnTo>
                    <a:cubicBezTo>
                      <a:pt x="2081015" y="708669"/>
                      <a:pt x="2037147" y="752537"/>
                      <a:pt x="1983032" y="752537"/>
                    </a:cubicBezTo>
                    <a:lnTo>
                      <a:pt x="97982" y="752537"/>
                    </a:lnTo>
                    <a:cubicBezTo>
                      <a:pt x="43868" y="752537"/>
                      <a:pt x="0" y="708669"/>
                      <a:pt x="0" y="654555"/>
                    </a:cubicBezTo>
                    <a:lnTo>
                      <a:pt x="0" y="97982"/>
                    </a:lnTo>
                    <a:cubicBezTo>
                      <a:pt x="0" y="43868"/>
                      <a:pt x="43868" y="0"/>
                      <a:pt x="97982" y="0"/>
                    </a:cubicBezTo>
                    <a:close/>
                  </a:path>
                </a:pathLst>
              </a:custGeom>
              <a:solidFill>
                <a:srgbClr val="50212A">
                  <a:alpha val="29804"/>
                </a:srgbClr>
              </a:solidFill>
              <a:ln cap="rnd">
                <a:noFill/>
                <a:prstDash val="solid"/>
                <a:round/>
              </a:ln>
            </p:spPr>
          </p:sp>
          <p:sp>
            <p:nvSpPr>
              <p:cNvPr name="TextBox 54" id="54"/>
              <p:cNvSpPr txBox="true"/>
              <p:nvPr/>
            </p:nvSpPr>
            <p:spPr>
              <a:xfrm>
                <a:off x="0" y="-57150"/>
                <a:ext cx="2081015" cy="809687"/>
              </a:xfrm>
              <a:prstGeom prst="rect">
                <a:avLst/>
              </a:prstGeom>
            </p:spPr>
            <p:txBody>
              <a:bodyPr anchor="ctr" rtlCol="false" tIns="50800" lIns="50800" bIns="50800" rIns="50800"/>
              <a:lstStyle/>
              <a:p>
                <a:pPr algn="ctr">
                  <a:lnSpc>
                    <a:spcPts val="2659"/>
                  </a:lnSpc>
                </a:pPr>
              </a:p>
            </p:txBody>
          </p:sp>
        </p:grpSp>
        <p:grpSp>
          <p:nvGrpSpPr>
            <p:cNvPr name="Group 55" id="55"/>
            <p:cNvGrpSpPr/>
            <p:nvPr/>
          </p:nvGrpSpPr>
          <p:grpSpPr>
            <a:xfrm rot="0">
              <a:off x="0" y="0"/>
              <a:ext cx="10801821" cy="3775611"/>
              <a:chOff x="0" y="0"/>
              <a:chExt cx="2133693" cy="745800"/>
            </a:xfrm>
          </p:grpSpPr>
          <p:sp>
            <p:nvSpPr>
              <p:cNvPr name="Freeform 56" id="56"/>
              <p:cNvSpPr/>
              <p:nvPr/>
            </p:nvSpPr>
            <p:spPr>
              <a:xfrm flipH="false" flipV="false" rot="0">
                <a:off x="0" y="0"/>
                <a:ext cx="2133693" cy="745800"/>
              </a:xfrm>
              <a:custGeom>
                <a:avLst/>
                <a:gdLst/>
                <a:ahLst/>
                <a:cxnLst/>
                <a:rect r="r" b="b" t="t" l="l"/>
                <a:pathLst>
                  <a:path h="745800" w="2133693">
                    <a:moveTo>
                      <a:pt x="86007" y="0"/>
                    </a:moveTo>
                    <a:lnTo>
                      <a:pt x="2047686" y="0"/>
                    </a:lnTo>
                    <a:cubicBezTo>
                      <a:pt x="2070497" y="0"/>
                      <a:pt x="2092373" y="9061"/>
                      <a:pt x="2108502" y="25191"/>
                    </a:cubicBezTo>
                    <a:cubicBezTo>
                      <a:pt x="2124632" y="41320"/>
                      <a:pt x="2133693" y="63196"/>
                      <a:pt x="2133693" y="86007"/>
                    </a:cubicBezTo>
                    <a:lnTo>
                      <a:pt x="2133693" y="659793"/>
                    </a:lnTo>
                    <a:cubicBezTo>
                      <a:pt x="2133693" y="707293"/>
                      <a:pt x="2095186" y="745800"/>
                      <a:pt x="2047686" y="745800"/>
                    </a:cubicBezTo>
                    <a:lnTo>
                      <a:pt x="86007" y="745800"/>
                    </a:lnTo>
                    <a:cubicBezTo>
                      <a:pt x="38507" y="745800"/>
                      <a:pt x="0" y="707293"/>
                      <a:pt x="0" y="659793"/>
                    </a:cubicBezTo>
                    <a:lnTo>
                      <a:pt x="0" y="86007"/>
                    </a:lnTo>
                    <a:cubicBezTo>
                      <a:pt x="0" y="38507"/>
                      <a:pt x="38507" y="0"/>
                      <a:pt x="86007" y="0"/>
                    </a:cubicBezTo>
                    <a:close/>
                  </a:path>
                </a:pathLst>
              </a:custGeom>
              <a:solidFill>
                <a:srgbClr val="FDF6F2">
                  <a:alpha val="29804"/>
                </a:srgbClr>
              </a:solidFill>
              <a:ln cap="rnd">
                <a:noFill/>
                <a:prstDash val="solid"/>
                <a:round/>
              </a:ln>
            </p:spPr>
          </p:sp>
          <p:sp>
            <p:nvSpPr>
              <p:cNvPr name="TextBox 57" id="57"/>
              <p:cNvSpPr txBox="true"/>
              <p:nvPr/>
            </p:nvSpPr>
            <p:spPr>
              <a:xfrm>
                <a:off x="0" y="-57150"/>
                <a:ext cx="2133693" cy="802950"/>
              </a:xfrm>
              <a:prstGeom prst="rect">
                <a:avLst/>
              </a:prstGeom>
            </p:spPr>
            <p:txBody>
              <a:bodyPr anchor="ctr" rtlCol="false" tIns="50800" lIns="50800" bIns="50800" rIns="50800"/>
              <a:lstStyle/>
              <a:p>
                <a:pPr algn="ctr">
                  <a:lnSpc>
                    <a:spcPts val="2659"/>
                  </a:lnSpc>
                </a:pPr>
              </a:p>
            </p:txBody>
          </p:sp>
        </p:grpSp>
        <p:sp>
          <p:nvSpPr>
            <p:cNvPr name="TextBox 58" id="58"/>
            <p:cNvSpPr txBox="true"/>
            <p:nvPr/>
          </p:nvSpPr>
          <p:spPr>
            <a:xfrm rot="0">
              <a:off x="325224" y="290918"/>
              <a:ext cx="8447704"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3. Achievable (Tính khả thi) </a:t>
              </a:r>
            </a:p>
          </p:txBody>
        </p:sp>
        <p:sp>
          <p:nvSpPr>
            <p:cNvPr name="TextBox 59" id="59"/>
            <p:cNvSpPr txBox="true"/>
            <p:nvPr/>
          </p:nvSpPr>
          <p:spPr>
            <a:xfrm rot="0">
              <a:off x="325224" y="1064159"/>
              <a:ext cx="10196706" cy="2407674"/>
            </a:xfrm>
            <a:prstGeom prst="rect">
              <a:avLst/>
            </a:prstGeom>
          </p:spPr>
          <p:txBody>
            <a:bodyPr anchor="t" rtlCol="false" tIns="0" lIns="0" bIns="0" rIns="0">
              <a:spAutoFit/>
            </a:bodyPr>
            <a:lstStyle/>
            <a:p>
              <a:pPr algn="l" marL="561334" indent="-280667" lvl="1">
                <a:lnSpc>
                  <a:spcPts val="3639"/>
                </a:lnSpc>
                <a:buFont typeface="Arial"/>
                <a:buChar char="•"/>
              </a:pPr>
              <a:r>
                <a:rPr lang="en-US" sz="2599">
                  <a:solidFill>
                    <a:srgbClr val="000000">
                      <a:alpha val="29804"/>
                    </a:srgbClr>
                  </a:solidFill>
                  <a:latin typeface="Work Sans"/>
                  <a:ea typeface="Work Sans"/>
                  <a:cs typeface="Work Sans"/>
                  <a:sym typeface="Work Sans"/>
                </a:rPr>
                <a:t>T</a:t>
              </a:r>
              <a:r>
                <a:rPr lang="en-US" sz="2599" strike="noStrike" u="none">
                  <a:solidFill>
                    <a:srgbClr val="000000">
                      <a:alpha val="29804"/>
                    </a:srgbClr>
                  </a:solidFill>
                  <a:latin typeface="Work Sans"/>
                  <a:ea typeface="Work Sans"/>
                  <a:cs typeface="Work Sans"/>
                  <a:sym typeface="Work Sans"/>
                </a:rPr>
                <a:t>ối ưu hóa nhân </a:t>
              </a:r>
              <a:r>
                <a:rPr lang="en-US" sz="2599" strike="noStrike" u="none">
                  <a:solidFill>
                    <a:srgbClr val="000000">
                      <a:alpha val="29804"/>
                    </a:srgbClr>
                  </a:solidFill>
                  <a:latin typeface="Work Sans"/>
                  <a:ea typeface="Work Sans"/>
                  <a:cs typeface="Work Sans"/>
                  <a:sym typeface="Work Sans"/>
                </a:rPr>
                <a:t>sự </a:t>
              </a:r>
              <a:r>
                <a:rPr lang="en-US" sz="2599" strike="noStrike" u="none">
                  <a:solidFill>
                    <a:srgbClr val="000000">
                      <a:alpha val="29804"/>
                    </a:srgbClr>
                  </a:solidFill>
                  <a:latin typeface="Work Sans"/>
                  <a:ea typeface="Work Sans"/>
                  <a:cs typeface="Work Sans"/>
                  <a:sym typeface="Work Sans"/>
                </a:rPr>
                <a:t>ch</a:t>
              </a:r>
              <a:r>
                <a:rPr lang="en-US" sz="2599" strike="noStrike" u="none">
                  <a:solidFill>
                    <a:srgbClr val="000000">
                      <a:alpha val="29804"/>
                    </a:srgbClr>
                  </a:solidFill>
                  <a:latin typeface="Work Sans"/>
                  <a:ea typeface="Work Sans"/>
                  <a:cs typeface="Work Sans"/>
                  <a:sym typeface="Work Sans"/>
                </a:rPr>
                <a:t>uyê</a:t>
              </a:r>
              <a:r>
                <a:rPr lang="en-US" sz="2599" strike="noStrike" u="none">
                  <a:solidFill>
                    <a:srgbClr val="000000">
                      <a:alpha val="29804"/>
                    </a:srgbClr>
                  </a:solidFill>
                  <a:latin typeface="Work Sans"/>
                  <a:ea typeface="Work Sans"/>
                  <a:cs typeface="Work Sans"/>
                  <a:sym typeface="Work Sans"/>
                </a:rPr>
                <a:t>n</a:t>
              </a:r>
              <a:r>
                <a:rPr lang="en-US" sz="2599" strike="noStrike" u="none">
                  <a:solidFill>
                    <a:srgbClr val="000000">
                      <a:alpha val="29804"/>
                    </a:srgbClr>
                  </a:solidFill>
                  <a:latin typeface="Work Sans"/>
                  <a:ea typeface="Work Sans"/>
                  <a:cs typeface="Work Sans"/>
                  <a:sym typeface="Work Sans"/>
                </a:rPr>
                <a:t> trác</a:t>
              </a:r>
              <a:r>
                <a:rPr lang="en-US" sz="2599" strike="noStrike" u="none">
                  <a:solidFill>
                    <a:srgbClr val="000000">
                      <a:alpha val="29804"/>
                    </a:srgbClr>
                  </a:solidFill>
                  <a:latin typeface="Work Sans"/>
                  <a:ea typeface="Work Sans"/>
                  <a:cs typeface="Work Sans"/>
                  <a:sym typeface="Work Sans"/>
                </a:rPr>
                <a:t>h</a:t>
              </a:r>
              <a:r>
                <a:rPr lang="en-US" sz="2599" strike="noStrike" u="none">
                  <a:solidFill>
                    <a:srgbClr val="000000">
                      <a:alpha val="29804"/>
                    </a:srgbClr>
                  </a:solidFill>
                  <a:latin typeface="Work Sans"/>
                  <a:ea typeface="Work Sans"/>
                  <a:cs typeface="Work Sans"/>
                  <a:sym typeface="Work Sans"/>
                </a:rPr>
                <a:t>,</a:t>
              </a:r>
              <a:r>
                <a:rPr lang="en-US" sz="2599" strike="noStrike" u="none">
                  <a:solidFill>
                    <a:srgbClr val="000000">
                      <a:alpha val="29804"/>
                    </a:srgbClr>
                  </a:solidFill>
                  <a:latin typeface="Work Sans"/>
                  <a:ea typeface="Work Sans"/>
                  <a:cs typeface="Work Sans"/>
                  <a:sym typeface="Work Sans"/>
                </a:rPr>
                <a:t> </a:t>
              </a:r>
              <a:r>
                <a:rPr lang="en-US" sz="2599" strike="noStrike" u="none">
                  <a:solidFill>
                    <a:srgbClr val="000000">
                      <a:alpha val="29804"/>
                    </a:srgbClr>
                  </a:solidFill>
                  <a:latin typeface="Work Sans"/>
                  <a:ea typeface="Work Sans"/>
                  <a:cs typeface="Work Sans"/>
                  <a:sym typeface="Work Sans"/>
                </a:rPr>
                <a:t>năng lực sản xuấ</a:t>
              </a:r>
              <a:r>
                <a:rPr lang="en-US" sz="2599" strike="noStrike" u="none">
                  <a:solidFill>
                    <a:srgbClr val="000000">
                      <a:alpha val="29804"/>
                    </a:srgbClr>
                  </a:solidFill>
                  <a:latin typeface="Work Sans"/>
                  <a:ea typeface="Work Sans"/>
                  <a:cs typeface="Work Sans"/>
                  <a:sym typeface="Work Sans"/>
                </a:rPr>
                <a:t>t</a:t>
              </a:r>
              <a:r>
                <a:rPr lang="en-US" sz="2599" strike="noStrike" u="none">
                  <a:solidFill>
                    <a:srgbClr val="000000">
                      <a:alpha val="29804"/>
                    </a:srgbClr>
                  </a:solidFill>
                  <a:latin typeface="Work Sans"/>
                  <a:ea typeface="Work Sans"/>
                  <a:cs typeface="Work Sans"/>
                  <a:sym typeface="Work Sans"/>
                </a:rPr>
                <a:t> nội du</a:t>
              </a:r>
              <a:r>
                <a:rPr lang="en-US" sz="2599" strike="noStrike" u="none">
                  <a:solidFill>
                    <a:srgbClr val="000000">
                      <a:alpha val="29804"/>
                    </a:srgbClr>
                  </a:solidFill>
                  <a:latin typeface="Work Sans"/>
                  <a:ea typeface="Work Sans"/>
                  <a:cs typeface="Work Sans"/>
                  <a:sym typeface="Work Sans"/>
                </a:rPr>
                <a:t>ng số </a:t>
              </a:r>
            </a:p>
            <a:p>
              <a:pPr algn="l" marL="561334" indent="-280667" lvl="1">
                <a:lnSpc>
                  <a:spcPts val="3639"/>
                </a:lnSpc>
                <a:spcBef>
                  <a:spcPct val="0"/>
                </a:spcBef>
                <a:buFont typeface="Arial"/>
                <a:buChar char="•"/>
              </a:pPr>
              <a:r>
                <a:rPr lang="en-US" sz="2599" strike="noStrike" u="none">
                  <a:solidFill>
                    <a:srgbClr val="000000">
                      <a:alpha val="29804"/>
                    </a:srgbClr>
                  </a:solidFill>
                  <a:latin typeface="Work Sans"/>
                  <a:ea typeface="Work Sans"/>
                  <a:cs typeface="Work Sans"/>
                  <a:sym typeface="Work Sans"/>
                </a:rPr>
                <a:t>Các giải pháp công nghệ tự động hóa sẵn có của đội ngũ thực hiện dự án.</a:t>
              </a:r>
            </a:p>
          </p:txBody>
        </p:sp>
      </p:grpSp>
      <p:grpSp>
        <p:nvGrpSpPr>
          <p:cNvPr name="Group 60" id="60"/>
          <p:cNvGrpSpPr/>
          <p:nvPr/>
        </p:nvGrpSpPr>
        <p:grpSpPr>
          <a:xfrm rot="0">
            <a:off x="8996276" y="5888432"/>
            <a:ext cx="8633210" cy="3819493"/>
            <a:chOff x="0" y="0"/>
            <a:chExt cx="11510946" cy="5092657"/>
          </a:xfrm>
        </p:grpSpPr>
        <p:grpSp>
          <p:nvGrpSpPr>
            <p:cNvPr name="Group 61" id="61"/>
            <p:cNvGrpSpPr/>
            <p:nvPr/>
          </p:nvGrpSpPr>
          <p:grpSpPr>
            <a:xfrm rot="0">
              <a:off x="568869" y="243293"/>
              <a:ext cx="10942077" cy="4849364"/>
              <a:chOff x="0" y="0"/>
              <a:chExt cx="2161398" cy="957899"/>
            </a:xfrm>
          </p:grpSpPr>
          <p:sp>
            <p:nvSpPr>
              <p:cNvPr name="Freeform 62" id="62"/>
              <p:cNvSpPr/>
              <p:nvPr/>
            </p:nvSpPr>
            <p:spPr>
              <a:xfrm flipH="false" flipV="false" rot="0">
                <a:off x="0" y="0"/>
                <a:ext cx="2161398" cy="957899"/>
              </a:xfrm>
              <a:custGeom>
                <a:avLst/>
                <a:gdLst/>
                <a:ahLst/>
                <a:cxnLst/>
                <a:rect r="r" b="b" t="t" l="l"/>
                <a:pathLst>
                  <a:path h="957899" w="2161398">
                    <a:moveTo>
                      <a:pt x="94338" y="0"/>
                    </a:moveTo>
                    <a:lnTo>
                      <a:pt x="2067060" y="0"/>
                    </a:lnTo>
                    <a:cubicBezTo>
                      <a:pt x="2092080" y="0"/>
                      <a:pt x="2116075" y="9939"/>
                      <a:pt x="2133767" y="27631"/>
                    </a:cubicBezTo>
                    <a:cubicBezTo>
                      <a:pt x="2151459" y="45323"/>
                      <a:pt x="2161398" y="69318"/>
                      <a:pt x="2161398" y="94338"/>
                    </a:cubicBezTo>
                    <a:lnTo>
                      <a:pt x="2161398" y="863561"/>
                    </a:lnTo>
                    <a:cubicBezTo>
                      <a:pt x="2161398" y="915662"/>
                      <a:pt x="2119161" y="957899"/>
                      <a:pt x="2067060" y="957899"/>
                    </a:cubicBezTo>
                    <a:lnTo>
                      <a:pt x="94338" y="957899"/>
                    </a:lnTo>
                    <a:cubicBezTo>
                      <a:pt x="42237" y="957899"/>
                      <a:pt x="0" y="915662"/>
                      <a:pt x="0" y="863561"/>
                    </a:cubicBezTo>
                    <a:lnTo>
                      <a:pt x="0" y="94338"/>
                    </a:lnTo>
                    <a:cubicBezTo>
                      <a:pt x="0" y="42237"/>
                      <a:pt x="42237" y="0"/>
                      <a:pt x="94338" y="0"/>
                    </a:cubicBezTo>
                    <a:close/>
                  </a:path>
                </a:pathLst>
              </a:custGeom>
              <a:solidFill>
                <a:srgbClr val="50212A">
                  <a:alpha val="29804"/>
                </a:srgbClr>
              </a:solidFill>
              <a:ln cap="rnd">
                <a:noFill/>
                <a:prstDash val="solid"/>
                <a:round/>
              </a:ln>
            </p:spPr>
          </p:sp>
          <p:sp>
            <p:nvSpPr>
              <p:cNvPr name="TextBox 63" id="63"/>
              <p:cNvSpPr txBox="true"/>
              <p:nvPr/>
            </p:nvSpPr>
            <p:spPr>
              <a:xfrm>
                <a:off x="0" y="-57150"/>
                <a:ext cx="2161398" cy="1015049"/>
              </a:xfrm>
              <a:prstGeom prst="rect">
                <a:avLst/>
              </a:prstGeom>
            </p:spPr>
            <p:txBody>
              <a:bodyPr anchor="ctr" rtlCol="false" tIns="50800" lIns="50800" bIns="50800" rIns="50800"/>
              <a:lstStyle/>
              <a:p>
                <a:pPr algn="ctr">
                  <a:lnSpc>
                    <a:spcPts val="2659"/>
                  </a:lnSpc>
                </a:pPr>
              </a:p>
            </p:txBody>
          </p:sp>
        </p:grpSp>
        <p:grpSp>
          <p:nvGrpSpPr>
            <p:cNvPr name="Group 64" id="64"/>
            <p:cNvGrpSpPr/>
            <p:nvPr/>
          </p:nvGrpSpPr>
          <p:grpSpPr>
            <a:xfrm rot="0">
              <a:off x="0" y="0"/>
              <a:ext cx="11190873" cy="4721961"/>
              <a:chOff x="0" y="0"/>
              <a:chExt cx="2210543" cy="932733"/>
            </a:xfrm>
          </p:grpSpPr>
          <p:sp>
            <p:nvSpPr>
              <p:cNvPr name="Freeform 65" id="65"/>
              <p:cNvSpPr/>
              <p:nvPr/>
            </p:nvSpPr>
            <p:spPr>
              <a:xfrm flipH="false" flipV="false" rot="0">
                <a:off x="0" y="0"/>
                <a:ext cx="2210543" cy="932733"/>
              </a:xfrm>
              <a:custGeom>
                <a:avLst/>
                <a:gdLst/>
                <a:ahLst/>
                <a:cxnLst/>
                <a:rect r="r" b="b" t="t" l="l"/>
                <a:pathLst>
                  <a:path h="932733" w="2210543">
                    <a:moveTo>
                      <a:pt x="83017" y="0"/>
                    </a:moveTo>
                    <a:lnTo>
                      <a:pt x="2127526" y="0"/>
                    </a:lnTo>
                    <a:cubicBezTo>
                      <a:pt x="2149543" y="0"/>
                      <a:pt x="2170659" y="8746"/>
                      <a:pt x="2186228" y="24315"/>
                    </a:cubicBezTo>
                    <a:cubicBezTo>
                      <a:pt x="2201796" y="39884"/>
                      <a:pt x="2210543" y="60999"/>
                      <a:pt x="2210543" y="83017"/>
                    </a:cubicBezTo>
                    <a:lnTo>
                      <a:pt x="2210543" y="849716"/>
                    </a:lnTo>
                    <a:cubicBezTo>
                      <a:pt x="2210543" y="871734"/>
                      <a:pt x="2201796" y="892849"/>
                      <a:pt x="2186228" y="908418"/>
                    </a:cubicBezTo>
                    <a:cubicBezTo>
                      <a:pt x="2170659" y="923987"/>
                      <a:pt x="2149543" y="932733"/>
                      <a:pt x="2127526" y="932733"/>
                    </a:cubicBezTo>
                    <a:lnTo>
                      <a:pt x="83017" y="932733"/>
                    </a:lnTo>
                    <a:cubicBezTo>
                      <a:pt x="60999" y="932733"/>
                      <a:pt x="39884" y="923987"/>
                      <a:pt x="24315" y="908418"/>
                    </a:cubicBezTo>
                    <a:cubicBezTo>
                      <a:pt x="8746" y="892849"/>
                      <a:pt x="0" y="871734"/>
                      <a:pt x="0" y="849716"/>
                    </a:cubicBezTo>
                    <a:lnTo>
                      <a:pt x="0" y="83017"/>
                    </a:lnTo>
                    <a:cubicBezTo>
                      <a:pt x="0" y="60999"/>
                      <a:pt x="8746" y="39884"/>
                      <a:pt x="24315" y="24315"/>
                    </a:cubicBezTo>
                    <a:cubicBezTo>
                      <a:pt x="39884" y="8746"/>
                      <a:pt x="60999" y="0"/>
                      <a:pt x="83017" y="0"/>
                    </a:cubicBezTo>
                    <a:close/>
                  </a:path>
                </a:pathLst>
              </a:custGeom>
              <a:solidFill>
                <a:srgbClr val="FDF6F2">
                  <a:alpha val="29804"/>
                </a:srgbClr>
              </a:solidFill>
              <a:ln cap="rnd">
                <a:noFill/>
                <a:prstDash val="solid"/>
                <a:round/>
              </a:ln>
            </p:spPr>
          </p:sp>
          <p:sp>
            <p:nvSpPr>
              <p:cNvPr name="TextBox 66" id="66"/>
              <p:cNvSpPr txBox="true"/>
              <p:nvPr/>
            </p:nvSpPr>
            <p:spPr>
              <a:xfrm>
                <a:off x="0" y="-57150"/>
                <a:ext cx="2210543" cy="989883"/>
              </a:xfrm>
              <a:prstGeom prst="rect">
                <a:avLst/>
              </a:prstGeom>
            </p:spPr>
            <p:txBody>
              <a:bodyPr anchor="ctr" rtlCol="false" tIns="50800" lIns="50800" bIns="50800" rIns="50800"/>
              <a:lstStyle/>
              <a:p>
                <a:pPr algn="ctr">
                  <a:lnSpc>
                    <a:spcPts val="2659"/>
                  </a:lnSpc>
                </a:pPr>
              </a:p>
            </p:txBody>
          </p:sp>
        </p:grpSp>
        <p:sp>
          <p:nvSpPr>
            <p:cNvPr name="TextBox 67" id="67"/>
            <p:cNvSpPr txBox="true"/>
            <p:nvPr/>
          </p:nvSpPr>
          <p:spPr>
            <a:xfrm rot="0">
              <a:off x="894219" y="290918"/>
              <a:ext cx="9309146"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4. Relevant (Tính thực tế)</a:t>
              </a:r>
            </a:p>
          </p:txBody>
        </p:sp>
        <p:sp>
          <p:nvSpPr>
            <p:cNvPr name="TextBox 68" id="68"/>
            <p:cNvSpPr txBox="true"/>
            <p:nvPr/>
          </p:nvSpPr>
          <p:spPr>
            <a:xfrm rot="0">
              <a:off x="894219" y="1211678"/>
              <a:ext cx="9981535" cy="3017318"/>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alpha val="29804"/>
                    </a:srgbClr>
                  </a:solidFill>
                  <a:latin typeface="Work Sans"/>
                  <a:ea typeface="Work Sans"/>
                  <a:cs typeface="Work Sans"/>
                  <a:sym typeface="Work Sans"/>
                </a:rPr>
                <a:t>Giải quyết trực tiếp bài toán xóa bỏ định kiến, định hình thương hiệu ngành học, đồng thời thúc đẩy trực tiếp hiệu quả công tác tư vấn tuyển sinh cho sự kiện OpenDay của Khoa.</a:t>
              </a:r>
            </a:p>
          </p:txBody>
        </p:sp>
      </p:grpSp>
      <p:grpSp>
        <p:nvGrpSpPr>
          <p:cNvPr name="Group 69" id="69"/>
          <p:cNvGrpSpPr/>
          <p:nvPr/>
        </p:nvGrpSpPr>
        <p:grpSpPr>
          <a:xfrm rot="0">
            <a:off x="497417" y="490255"/>
            <a:ext cx="8024176" cy="888116"/>
            <a:chOff x="0" y="0"/>
            <a:chExt cx="10698902" cy="1184154"/>
          </a:xfrm>
        </p:grpSpPr>
        <p:grpSp>
          <p:nvGrpSpPr>
            <p:cNvPr name="Group 70" id="70"/>
            <p:cNvGrpSpPr/>
            <p:nvPr/>
          </p:nvGrpSpPr>
          <p:grpSpPr>
            <a:xfrm rot="0">
              <a:off x="0" y="0"/>
              <a:ext cx="10626864" cy="1184154"/>
              <a:chOff x="0" y="0"/>
              <a:chExt cx="2099134" cy="233907"/>
            </a:xfrm>
          </p:grpSpPr>
          <p:sp>
            <p:nvSpPr>
              <p:cNvPr name="Freeform 71" id="71"/>
              <p:cNvSpPr/>
              <p:nvPr/>
            </p:nvSpPr>
            <p:spPr>
              <a:xfrm flipH="false" flipV="false" rot="0">
                <a:off x="0" y="0"/>
                <a:ext cx="2099134" cy="233907"/>
              </a:xfrm>
              <a:custGeom>
                <a:avLst/>
                <a:gdLst/>
                <a:ahLst/>
                <a:cxnLst/>
                <a:rect r="r" b="b" t="t" l="l"/>
                <a:pathLst>
                  <a:path h="233907" w="2099134">
                    <a:moveTo>
                      <a:pt x="97136" y="0"/>
                    </a:moveTo>
                    <a:lnTo>
                      <a:pt x="2001997" y="0"/>
                    </a:lnTo>
                    <a:cubicBezTo>
                      <a:pt x="2055644" y="0"/>
                      <a:pt x="2099134" y="43489"/>
                      <a:pt x="2099134" y="97136"/>
                    </a:cubicBezTo>
                    <a:lnTo>
                      <a:pt x="2099134" y="136771"/>
                    </a:lnTo>
                    <a:cubicBezTo>
                      <a:pt x="2099134" y="190418"/>
                      <a:pt x="2055644" y="233907"/>
                      <a:pt x="2001997" y="233907"/>
                    </a:cubicBezTo>
                    <a:lnTo>
                      <a:pt x="97136" y="233907"/>
                    </a:lnTo>
                    <a:cubicBezTo>
                      <a:pt x="43489" y="233907"/>
                      <a:pt x="0" y="190418"/>
                      <a:pt x="0" y="136771"/>
                    </a:cubicBezTo>
                    <a:lnTo>
                      <a:pt x="0" y="97136"/>
                    </a:lnTo>
                    <a:cubicBezTo>
                      <a:pt x="0" y="43489"/>
                      <a:pt x="43489" y="0"/>
                      <a:pt x="97136" y="0"/>
                    </a:cubicBezTo>
                    <a:close/>
                  </a:path>
                </a:pathLst>
              </a:custGeom>
              <a:solidFill>
                <a:srgbClr val="FFFFFF"/>
              </a:solidFill>
              <a:ln cap="rnd">
                <a:noFill/>
                <a:prstDash val="solid"/>
                <a:round/>
              </a:ln>
            </p:spPr>
          </p:sp>
          <p:sp>
            <p:nvSpPr>
              <p:cNvPr name="TextBox 72" id="72"/>
              <p:cNvSpPr txBox="true"/>
              <p:nvPr/>
            </p:nvSpPr>
            <p:spPr>
              <a:xfrm>
                <a:off x="0" y="-57150"/>
                <a:ext cx="2099134" cy="291057"/>
              </a:xfrm>
              <a:prstGeom prst="rect">
                <a:avLst/>
              </a:prstGeom>
            </p:spPr>
            <p:txBody>
              <a:bodyPr anchor="ctr" rtlCol="false" tIns="50800" lIns="50800" bIns="50800" rIns="50800"/>
              <a:lstStyle/>
              <a:p>
                <a:pPr algn="ctr">
                  <a:lnSpc>
                    <a:spcPts val="2659"/>
                  </a:lnSpc>
                </a:pPr>
              </a:p>
            </p:txBody>
          </p:sp>
        </p:grpSp>
        <p:sp>
          <p:nvSpPr>
            <p:cNvPr name="TextBox 73" id="73"/>
            <p:cNvSpPr txBox="true"/>
            <p:nvPr/>
          </p:nvSpPr>
          <p:spPr>
            <a:xfrm rot="0">
              <a:off x="357186" y="141884"/>
              <a:ext cx="103417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Mục tiêu cụ thể mô hình SMART</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525532" y="2198169"/>
            <a:ext cx="8279890" cy="3042563"/>
            <a:chOff x="0" y="0"/>
            <a:chExt cx="11039853" cy="4056750"/>
          </a:xfrm>
        </p:grpSpPr>
        <p:grpSp>
          <p:nvGrpSpPr>
            <p:cNvPr name="Group 10" id="10"/>
            <p:cNvGrpSpPr/>
            <p:nvPr/>
          </p:nvGrpSpPr>
          <p:grpSpPr>
            <a:xfrm rot="0">
              <a:off x="504717" y="243293"/>
              <a:ext cx="10535136" cy="3813458"/>
              <a:chOff x="0" y="0"/>
              <a:chExt cx="2081015" cy="753276"/>
            </a:xfrm>
          </p:grpSpPr>
          <p:sp>
            <p:nvSpPr>
              <p:cNvPr name="Freeform 11" id="11"/>
              <p:cNvSpPr/>
              <p:nvPr/>
            </p:nvSpPr>
            <p:spPr>
              <a:xfrm flipH="false" flipV="false" rot="0">
                <a:off x="0" y="0"/>
                <a:ext cx="2081015" cy="753276"/>
              </a:xfrm>
              <a:custGeom>
                <a:avLst/>
                <a:gdLst/>
                <a:ahLst/>
                <a:cxnLst/>
                <a:rect r="r" b="b" t="t" l="l"/>
                <a:pathLst>
                  <a:path h="753276" w="2081015">
                    <a:moveTo>
                      <a:pt x="97982" y="0"/>
                    </a:moveTo>
                    <a:lnTo>
                      <a:pt x="1983032" y="0"/>
                    </a:lnTo>
                    <a:cubicBezTo>
                      <a:pt x="2009019" y="0"/>
                      <a:pt x="2033941" y="10323"/>
                      <a:pt x="2052316" y="28698"/>
                    </a:cubicBezTo>
                    <a:cubicBezTo>
                      <a:pt x="2070692" y="47074"/>
                      <a:pt x="2081015" y="71996"/>
                      <a:pt x="2081015" y="97982"/>
                    </a:cubicBezTo>
                    <a:lnTo>
                      <a:pt x="2081015" y="655293"/>
                    </a:lnTo>
                    <a:cubicBezTo>
                      <a:pt x="2081015" y="709407"/>
                      <a:pt x="2037147" y="753276"/>
                      <a:pt x="1983032" y="753276"/>
                    </a:cubicBezTo>
                    <a:lnTo>
                      <a:pt x="97982" y="753276"/>
                    </a:lnTo>
                    <a:cubicBezTo>
                      <a:pt x="71996" y="753276"/>
                      <a:pt x="47074" y="742952"/>
                      <a:pt x="28698" y="724577"/>
                    </a:cubicBezTo>
                    <a:cubicBezTo>
                      <a:pt x="10323" y="706202"/>
                      <a:pt x="0" y="681280"/>
                      <a:pt x="0" y="655293"/>
                    </a:cubicBezTo>
                    <a:lnTo>
                      <a:pt x="0" y="97982"/>
                    </a:lnTo>
                    <a:cubicBezTo>
                      <a:pt x="0" y="43868"/>
                      <a:pt x="43868" y="0"/>
                      <a:pt x="97982" y="0"/>
                    </a:cubicBezTo>
                    <a:close/>
                  </a:path>
                </a:pathLst>
              </a:custGeom>
              <a:solidFill>
                <a:srgbClr val="50212A">
                  <a:alpha val="29804"/>
                </a:srgbClr>
              </a:solidFill>
              <a:ln cap="rnd">
                <a:noFill/>
                <a:prstDash val="solid"/>
                <a:round/>
              </a:ln>
            </p:spPr>
          </p:sp>
          <p:sp>
            <p:nvSpPr>
              <p:cNvPr name="TextBox 12" id="12"/>
              <p:cNvSpPr txBox="true"/>
              <p:nvPr/>
            </p:nvSpPr>
            <p:spPr>
              <a:xfrm>
                <a:off x="0" y="-57150"/>
                <a:ext cx="2081015" cy="81042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10801821" cy="3778420"/>
              <a:chOff x="0" y="0"/>
              <a:chExt cx="2133693" cy="746355"/>
            </a:xfrm>
          </p:grpSpPr>
          <p:sp>
            <p:nvSpPr>
              <p:cNvPr name="Freeform 14" id="14"/>
              <p:cNvSpPr/>
              <p:nvPr/>
            </p:nvSpPr>
            <p:spPr>
              <a:xfrm flipH="false" flipV="false" rot="0">
                <a:off x="0" y="0"/>
                <a:ext cx="2133693" cy="746355"/>
              </a:xfrm>
              <a:custGeom>
                <a:avLst/>
                <a:gdLst/>
                <a:ahLst/>
                <a:cxnLst/>
                <a:rect r="r" b="b" t="t" l="l"/>
                <a:pathLst>
                  <a:path h="746355" w="2133693">
                    <a:moveTo>
                      <a:pt x="86007" y="0"/>
                    </a:moveTo>
                    <a:lnTo>
                      <a:pt x="2047686" y="0"/>
                    </a:lnTo>
                    <a:cubicBezTo>
                      <a:pt x="2070497" y="0"/>
                      <a:pt x="2092373" y="9061"/>
                      <a:pt x="2108502" y="25191"/>
                    </a:cubicBezTo>
                    <a:cubicBezTo>
                      <a:pt x="2124632" y="41320"/>
                      <a:pt x="2133693" y="63196"/>
                      <a:pt x="2133693" y="86007"/>
                    </a:cubicBezTo>
                    <a:lnTo>
                      <a:pt x="2133693" y="660348"/>
                    </a:lnTo>
                    <a:cubicBezTo>
                      <a:pt x="2133693" y="707848"/>
                      <a:pt x="2095186" y="746355"/>
                      <a:pt x="2047686" y="746355"/>
                    </a:cubicBezTo>
                    <a:lnTo>
                      <a:pt x="86007" y="746355"/>
                    </a:lnTo>
                    <a:cubicBezTo>
                      <a:pt x="38507" y="746355"/>
                      <a:pt x="0" y="707848"/>
                      <a:pt x="0" y="660348"/>
                    </a:cubicBezTo>
                    <a:lnTo>
                      <a:pt x="0" y="86007"/>
                    </a:lnTo>
                    <a:cubicBezTo>
                      <a:pt x="0" y="38507"/>
                      <a:pt x="38507" y="0"/>
                      <a:pt x="86007" y="0"/>
                    </a:cubicBezTo>
                    <a:close/>
                  </a:path>
                </a:pathLst>
              </a:custGeom>
              <a:solidFill>
                <a:srgbClr val="FDF6F2">
                  <a:alpha val="29804"/>
                </a:srgbClr>
              </a:solidFill>
              <a:ln cap="rnd">
                <a:noFill/>
                <a:prstDash val="solid"/>
                <a:round/>
              </a:ln>
            </p:spPr>
          </p:sp>
          <p:sp>
            <p:nvSpPr>
              <p:cNvPr name="TextBox 15" id="15"/>
              <p:cNvSpPr txBox="true"/>
              <p:nvPr/>
            </p:nvSpPr>
            <p:spPr>
              <a:xfrm>
                <a:off x="0" y="-57150"/>
                <a:ext cx="2133693" cy="80350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504717" y="290918"/>
              <a:ext cx="7240043"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1. Specific (cụ thể) </a:t>
              </a:r>
            </a:p>
          </p:txBody>
        </p:sp>
        <p:sp>
          <p:nvSpPr>
            <p:cNvPr name="TextBox 17" id="17"/>
            <p:cNvSpPr txBox="true"/>
            <p:nvPr/>
          </p:nvSpPr>
          <p:spPr>
            <a:xfrm rot="0">
              <a:off x="335837" y="1266442"/>
              <a:ext cx="10465984" cy="1188386"/>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alpha val="29804"/>
                    </a:srgbClr>
                  </a:solidFill>
                  <a:latin typeface="Work Sans"/>
                  <a:ea typeface="Work Sans"/>
                  <a:cs typeface="Work Sans"/>
                  <a:sym typeface="Work Sans"/>
                </a:rPr>
                <a:t>Quảng bá và c</a:t>
              </a:r>
              <a:r>
                <a:rPr lang="en-US" sz="2599" strike="noStrike" u="none">
                  <a:solidFill>
                    <a:srgbClr val="000000">
                      <a:alpha val="29804"/>
                    </a:srgbClr>
                  </a:solidFill>
                  <a:latin typeface="Work Sans"/>
                  <a:ea typeface="Work Sans"/>
                  <a:cs typeface="Work Sans"/>
                  <a:sym typeface="Work Sans"/>
                </a:rPr>
                <a:t>u</a:t>
              </a:r>
              <a:r>
                <a:rPr lang="en-US" sz="2599" strike="noStrike" u="none">
                  <a:solidFill>
                    <a:srgbClr val="000000">
                      <a:alpha val="29804"/>
                    </a:srgbClr>
                  </a:solidFill>
                  <a:latin typeface="Work Sans"/>
                  <a:ea typeface="Work Sans"/>
                  <a:cs typeface="Work Sans"/>
                  <a:sym typeface="Work Sans"/>
                </a:rPr>
                <a:t>ng</a:t>
              </a:r>
              <a:r>
                <a:rPr lang="en-US" sz="2599" strike="noStrike" u="none">
                  <a:solidFill>
                    <a:srgbClr val="000000">
                      <a:alpha val="29804"/>
                    </a:srgbClr>
                  </a:solidFill>
                  <a:latin typeface="Work Sans"/>
                  <a:ea typeface="Work Sans"/>
                  <a:cs typeface="Work Sans"/>
                  <a:sym typeface="Work Sans"/>
                </a:rPr>
                <a:t> cấp</a:t>
              </a:r>
              <a:r>
                <a:rPr lang="en-US" sz="2599" strike="noStrike" u="none">
                  <a:solidFill>
                    <a:srgbClr val="000000">
                      <a:alpha val="29804"/>
                    </a:srgbClr>
                  </a:solidFill>
                  <a:latin typeface="Work Sans"/>
                  <a:ea typeface="Work Sans"/>
                  <a:cs typeface="Work Sans"/>
                  <a:sym typeface="Work Sans"/>
                </a:rPr>
                <a:t> thông t</a:t>
              </a:r>
              <a:r>
                <a:rPr lang="en-US" sz="2599" strike="noStrike" u="none">
                  <a:solidFill>
                    <a:srgbClr val="000000">
                      <a:alpha val="29804"/>
                    </a:srgbClr>
                  </a:solidFill>
                  <a:latin typeface="Work Sans"/>
                  <a:ea typeface="Work Sans"/>
                  <a:cs typeface="Work Sans"/>
                  <a:sym typeface="Work Sans"/>
                </a:rPr>
                <a:t>i</a:t>
              </a:r>
              <a:r>
                <a:rPr lang="en-US" sz="2599" strike="noStrike" u="none">
                  <a:solidFill>
                    <a:srgbClr val="000000">
                      <a:alpha val="29804"/>
                    </a:srgbClr>
                  </a:solidFill>
                  <a:latin typeface="Work Sans"/>
                  <a:ea typeface="Work Sans"/>
                  <a:cs typeface="Work Sans"/>
                  <a:sym typeface="Work Sans"/>
                </a:rPr>
                <a:t>n </a:t>
              </a:r>
              <a:r>
                <a:rPr lang="en-US" sz="2599" strike="noStrike" u="none">
                  <a:solidFill>
                    <a:srgbClr val="000000">
                      <a:alpha val="29804"/>
                    </a:srgbClr>
                  </a:solidFill>
                  <a:latin typeface="Work Sans"/>
                  <a:ea typeface="Work Sans"/>
                  <a:cs typeface="Work Sans"/>
                  <a:sym typeface="Work Sans"/>
                </a:rPr>
                <a:t>c</a:t>
              </a:r>
              <a:r>
                <a:rPr lang="en-US" sz="2599" strike="noStrike" u="none">
                  <a:solidFill>
                    <a:srgbClr val="000000">
                      <a:alpha val="29804"/>
                    </a:srgbClr>
                  </a:solidFill>
                  <a:latin typeface="Work Sans"/>
                  <a:ea typeface="Work Sans"/>
                  <a:cs typeface="Work Sans"/>
                  <a:sym typeface="Work Sans"/>
                </a:rPr>
                <a:t>hính thố</a:t>
              </a:r>
              <a:r>
                <a:rPr lang="en-US" sz="2599" strike="noStrike" u="none">
                  <a:solidFill>
                    <a:srgbClr val="000000">
                      <a:alpha val="29804"/>
                    </a:srgbClr>
                  </a:solidFill>
                  <a:latin typeface="Work Sans"/>
                  <a:ea typeface="Work Sans"/>
                  <a:cs typeface="Work Sans"/>
                  <a:sym typeface="Work Sans"/>
                </a:rPr>
                <a:t>ng về ngành ED2</a:t>
              </a:r>
            </a:p>
          </p:txBody>
        </p:sp>
      </p:grpSp>
      <p:sp>
        <p:nvSpPr>
          <p:cNvPr name="Freeform 18" id="18"/>
          <p:cNvSpPr/>
          <p:nvPr/>
        </p:nvSpPr>
        <p:spPr>
          <a:xfrm flipH="false" flipV="false" rot="0">
            <a:off x="1942861" y="4114036"/>
            <a:ext cx="740425" cy="740425"/>
          </a:xfrm>
          <a:custGeom>
            <a:avLst/>
            <a:gdLst/>
            <a:ahLst/>
            <a:cxnLst/>
            <a:rect r="r" b="b" t="t" l="l"/>
            <a:pathLst>
              <a:path h="740425" w="740425">
                <a:moveTo>
                  <a:pt x="0" y="0"/>
                </a:moveTo>
                <a:lnTo>
                  <a:pt x="740425" y="0"/>
                </a:lnTo>
                <a:lnTo>
                  <a:pt x="740425" y="740425"/>
                </a:lnTo>
                <a:lnTo>
                  <a:pt x="0" y="740425"/>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3340616" y="4075186"/>
            <a:ext cx="758162" cy="758162"/>
          </a:xfrm>
          <a:custGeom>
            <a:avLst/>
            <a:gdLst/>
            <a:ahLst/>
            <a:cxnLst/>
            <a:rect r="r" b="b" t="t" l="l"/>
            <a:pathLst>
              <a:path h="758162" w="758162">
                <a:moveTo>
                  <a:pt x="0" y="0"/>
                </a:moveTo>
                <a:lnTo>
                  <a:pt x="758163" y="0"/>
                </a:lnTo>
                <a:lnTo>
                  <a:pt x="758163" y="758162"/>
                </a:lnTo>
                <a:lnTo>
                  <a:pt x="0" y="758162"/>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4760329" y="4064465"/>
            <a:ext cx="816727" cy="779603"/>
          </a:xfrm>
          <a:custGeom>
            <a:avLst/>
            <a:gdLst/>
            <a:ahLst/>
            <a:cxnLst/>
            <a:rect r="r" b="b" t="t" l="l"/>
            <a:pathLst>
              <a:path h="779603" w="816727">
                <a:moveTo>
                  <a:pt x="0" y="0"/>
                </a:moveTo>
                <a:lnTo>
                  <a:pt x="816727" y="0"/>
                </a:lnTo>
                <a:lnTo>
                  <a:pt x="816727" y="779603"/>
                </a:lnTo>
                <a:lnTo>
                  <a:pt x="0" y="779603"/>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6234386" y="4054073"/>
            <a:ext cx="800388" cy="800388"/>
          </a:xfrm>
          <a:custGeom>
            <a:avLst/>
            <a:gdLst/>
            <a:ahLst/>
            <a:cxnLst/>
            <a:rect r="r" b="b" t="t" l="l"/>
            <a:pathLst>
              <a:path h="800388" w="800388">
                <a:moveTo>
                  <a:pt x="0" y="0"/>
                </a:moveTo>
                <a:lnTo>
                  <a:pt x="800388" y="0"/>
                </a:lnTo>
                <a:lnTo>
                  <a:pt x="800388" y="800388"/>
                </a:lnTo>
                <a:lnTo>
                  <a:pt x="0" y="800388"/>
                </a:lnTo>
                <a:lnTo>
                  <a:pt x="0" y="0"/>
                </a:lnTo>
                <a:close/>
              </a:path>
            </a:pathLst>
          </a:custGeom>
          <a:blipFill>
            <a:blip r:embed="rId10">
              <a:alphaModFix amt="30000"/>
              <a:extLst>
                <a:ext uri="{96DAC541-7B7A-43D3-8B79-37D633B846F1}">
                  <asvg:svgBlip xmlns:asvg="http://schemas.microsoft.com/office/drawing/2016/SVG/main" r:embed="rId11"/>
                </a:ext>
              </a:extLst>
            </a:blip>
            <a:stretch>
              <a:fillRect l="0" t="0" r="0" b="0"/>
            </a:stretch>
          </a:blipFill>
        </p:spPr>
      </p:sp>
      <p:grpSp>
        <p:nvGrpSpPr>
          <p:cNvPr name="Group 22" id="22"/>
          <p:cNvGrpSpPr/>
          <p:nvPr/>
        </p:nvGrpSpPr>
        <p:grpSpPr>
          <a:xfrm rot="0">
            <a:off x="172213" y="5888432"/>
            <a:ext cx="8633210" cy="3819493"/>
            <a:chOff x="0" y="0"/>
            <a:chExt cx="11510946" cy="5092657"/>
          </a:xfrm>
        </p:grpSpPr>
        <p:grpSp>
          <p:nvGrpSpPr>
            <p:cNvPr name="Group 23" id="23"/>
            <p:cNvGrpSpPr/>
            <p:nvPr/>
          </p:nvGrpSpPr>
          <p:grpSpPr>
            <a:xfrm rot="0">
              <a:off x="568869" y="243293"/>
              <a:ext cx="10942077" cy="4849364"/>
              <a:chOff x="0" y="0"/>
              <a:chExt cx="2161398" cy="957899"/>
            </a:xfrm>
          </p:grpSpPr>
          <p:sp>
            <p:nvSpPr>
              <p:cNvPr name="Freeform 24" id="24"/>
              <p:cNvSpPr/>
              <p:nvPr/>
            </p:nvSpPr>
            <p:spPr>
              <a:xfrm flipH="false" flipV="false" rot="0">
                <a:off x="0" y="0"/>
                <a:ext cx="2161398" cy="957899"/>
              </a:xfrm>
              <a:custGeom>
                <a:avLst/>
                <a:gdLst/>
                <a:ahLst/>
                <a:cxnLst/>
                <a:rect r="r" b="b" t="t" l="l"/>
                <a:pathLst>
                  <a:path h="957899" w="2161398">
                    <a:moveTo>
                      <a:pt x="94338" y="0"/>
                    </a:moveTo>
                    <a:lnTo>
                      <a:pt x="2067060" y="0"/>
                    </a:lnTo>
                    <a:cubicBezTo>
                      <a:pt x="2092080" y="0"/>
                      <a:pt x="2116075" y="9939"/>
                      <a:pt x="2133767" y="27631"/>
                    </a:cubicBezTo>
                    <a:cubicBezTo>
                      <a:pt x="2151459" y="45323"/>
                      <a:pt x="2161398" y="69318"/>
                      <a:pt x="2161398" y="94338"/>
                    </a:cubicBezTo>
                    <a:lnTo>
                      <a:pt x="2161398" y="863561"/>
                    </a:lnTo>
                    <a:cubicBezTo>
                      <a:pt x="2161398" y="915662"/>
                      <a:pt x="2119161" y="957899"/>
                      <a:pt x="2067060" y="957899"/>
                    </a:cubicBezTo>
                    <a:lnTo>
                      <a:pt x="94338" y="957899"/>
                    </a:lnTo>
                    <a:cubicBezTo>
                      <a:pt x="42237" y="957899"/>
                      <a:pt x="0" y="915662"/>
                      <a:pt x="0" y="863561"/>
                    </a:cubicBezTo>
                    <a:lnTo>
                      <a:pt x="0" y="94338"/>
                    </a:lnTo>
                    <a:cubicBezTo>
                      <a:pt x="0" y="42237"/>
                      <a:pt x="42237" y="0"/>
                      <a:pt x="94338" y="0"/>
                    </a:cubicBezTo>
                    <a:close/>
                  </a:path>
                </a:pathLst>
              </a:custGeom>
              <a:solidFill>
                <a:srgbClr val="50212A">
                  <a:alpha val="29804"/>
                </a:srgbClr>
              </a:solidFill>
              <a:ln cap="rnd">
                <a:noFill/>
                <a:prstDash val="solid"/>
                <a:round/>
              </a:ln>
            </p:spPr>
          </p:sp>
          <p:sp>
            <p:nvSpPr>
              <p:cNvPr name="TextBox 25" id="25"/>
              <p:cNvSpPr txBox="true"/>
              <p:nvPr/>
            </p:nvSpPr>
            <p:spPr>
              <a:xfrm>
                <a:off x="0" y="-57150"/>
                <a:ext cx="2161398" cy="1015049"/>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0" y="0"/>
              <a:ext cx="11190873" cy="4721961"/>
              <a:chOff x="0" y="0"/>
              <a:chExt cx="2210543" cy="932733"/>
            </a:xfrm>
          </p:grpSpPr>
          <p:sp>
            <p:nvSpPr>
              <p:cNvPr name="Freeform 27" id="27"/>
              <p:cNvSpPr/>
              <p:nvPr/>
            </p:nvSpPr>
            <p:spPr>
              <a:xfrm flipH="false" flipV="false" rot="0">
                <a:off x="0" y="0"/>
                <a:ext cx="2210543" cy="932733"/>
              </a:xfrm>
              <a:custGeom>
                <a:avLst/>
                <a:gdLst/>
                <a:ahLst/>
                <a:cxnLst/>
                <a:rect r="r" b="b" t="t" l="l"/>
                <a:pathLst>
                  <a:path h="932733" w="2210543">
                    <a:moveTo>
                      <a:pt x="83017" y="0"/>
                    </a:moveTo>
                    <a:lnTo>
                      <a:pt x="2127526" y="0"/>
                    </a:lnTo>
                    <a:cubicBezTo>
                      <a:pt x="2149543" y="0"/>
                      <a:pt x="2170659" y="8746"/>
                      <a:pt x="2186228" y="24315"/>
                    </a:cubicBezTo>
                    <a:cubicBezTo>
                      <a:pt x="2201796" y="39884"/>
                      <a:pt x="2210543" y="60999"/>
                      <a:pt x="2210543" y="83017"/>
                    </a:cubicBezTo>
                    <a:lnTo>
                      <a:pt x="2210543" y="849716"/>
                    </a:lnTo>
                    <a:cubicBezTo>
                      <a:pt x="2210543" y="871734"/>
                      <a:pt x="2201796" y="892849"/>
                      <a:pt x="2186228" y="908418"/>
                    </a:cubicBezTo>
                    <a:cubicBezTo>
                      <a:pt x="2170659" y="923987"/>
                      <a:pt x="2149543" y="932733"/>
                      <a:pt x="2127526" y="932733"/>
                    </a:cubicBezTo>
                    <a:lnTo>
                      <a:pt x="83017" y="932733"/>
                    </a:lnTo>
                    <a:cubicBezTo>
                      <a:pt x="60999" y="932733"/>
                      <a:pt x="39884" y="923987"/>
                      <a:pt x="24315" y="908418"/>
                    </a:cubicBezTo>
                    <a:cubicBezTo>
                      <a:pt x="8746" y="892849"/>
                      <a:pt x="0" y="871734"/>
                      <a:pt x="0" y="849716"/>
                    </a:cubicBezTo>
                    <a:lnTo>
                      <a:pt x="0" y="83017"/>
                    </a:lnTo>
                    <a:cubicBezTo>
                      <a:pt x="0" y="60999"/>
                      <a:pt x="8746" y="39884"/>
                      <a:pt x="24315" y="24315"/>
                    </a:cubicBezTo>
                    <a:cubicBezTo>
                      <a:pt x="39884" y="8746"/>
                      <a:pt x="60999" y="0"/>
                      <a:pt x="83017" y="0"/>
                    </a:cubicBezTo>
                    <a:close/>
                  </a:path>
                </a:pathLst>
              </a:custGeom>
              <a:solidFill>
                <a:srgbClr val="FDF6F2">
                  <a:alpha val="29804"/>
                </a:srgbClr>
              </a:solidFill>
              <a:ln cap="rnd">
                <a:noFill/>
                <a:prstDash val="solid"/>
                <a:round/>
              </a:ln>
            </p:spPr>
          </p:sp>
          <p:sp>
            <p:nvSpPr>
              <p:cNvPr name="TextBox 28" id="28"/>
              <p:cNvSpPr txBox="true"/>
              <p:nvPr/>
            </p:nvSpPr>
            <p:spPr>
              <a:xfrm>
                <a:off x="0" y="-57150"/>
                <a:ext cx="2210543" cy="989883"/>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894219" y="290918"/>
              <a:ext cx="9309146"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2. Measurable (Đo lường được)</a:t>
              </a:r>
            </a:p>
          </p:txBody>
        </p:sp>
        <p:grpSp>
          <p:nvGrpSpPr>
            <p:cNvPr name="Group 30" id="30"/>
            <p:cNvGrpSpPr/>
            <p:nvPr/>
          </p:nvGrpSpPr>
          <p:grpSpPr>
            <a:xfrm rot="0">
              <a:off x="926410" y="3130028"/>
              <a:ext cx="2189431" cy="738211"/>
              <a:chOff x="0" y="0"/>
              <a:chExt cx="963105" cy="324730"/>
            </a:xfrm>
          </p:grpSpPr>
          <p:sp>
            <p:nvSpPr>
              <p:cNvPr name="Freeform 31" id="31"/>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32" id="32"/>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33" id="33"/>
            <p:cNvSpPr txBox="true"/>
            <p:nvPr/>
          </p:nvSpPr>
          <p:spPr>
            <a:xfrm rot="0">
              <a:off x="703844" y="2075366"/>
              <a:ext cx="2411997"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+1K</a:t>
              </a:r>
            </a:p>
          </p:txBody>
        </p:sp>
        <p:sp>
          <p:nvSpPr>
            <p:cNvPr name="TextBox 34" id="34"/>
            <p:cNvSpPr txBox="true"/>
            <p:nvPr/>
          </p:nvSpPr>
          <p:spPr>
            <a:xfrm rot="0">
              <a:off x="1015123" y="3218466"/>
              <a:ext cx="2062099" cy="579056"/>
            </a:xfrm>
            <a:prstGeom prst="rect">
              <a:avLst/>
            </a:prstGeom>
          </p:spPr>
          <p:txBody>
            <a:bodyPr anchor="t" rtlCol="false" tIns="0" lIns="0" bIns="0" rIns="0">
              <a:spAutoFit/>
            </a:bodyPr>
            <a:lstStyle/>
            <a:p>
              <a:pPr algn="ctr" marL="0" indent="0" lvl="0">
                <a:lnSpc>
                  <a:spcPts val="1760"/>
                </a:lnSpc>
                <a:spcBef>
                  <a:spcPct val="0"/>
                </a:spcBef>
              </a:pPr>
              <a:r>
                <a:rPr lang="en-US" b="true" sz="1257">
                  <a:solidFill>
                    <a:srgbClr val="FFFFFF">
                      <a:alpha val="29804"/>
                    </a:srgbClr>
                  </a:solidFill>
                  <a:latin typeface="Work Sans Medium"/>
                  <a:ea typeface="Work Sans Medium"/>
                  <a:cs typeface="Work Sans Medium"/>
                  <a:sym typeface="Work Sans Medium"/>
                </a:rPr>
                <a:t>T</a:t>
              </a:r>
              <a:r>
                <a:rPr lang="en-US" b="true" sz="1257">
                  <a:solidFill>
                    <a:srgbClr val="FFFFFF">
                      <a:alpha val="29804"/>
                    </a:srgbClr>
                  </a:solidFill>
                  <a:latin typeface="Work Sans Medium"/>
                  <a:ea typeface="Work Sans Medium"/>
                  <a:cs typeface="Work Sans Medium"/>
                  <a:sym typeface="Work Sans Medium"/>
                </a:rPr>
                <a:t>heo dõi Facebook TikTok</a:t>
              </a:r>
            </a:p>
          </p:txBody>
        </p:sp>
        <p:grpSp>
          <p:nvGrpSpPr>
            <p:cNvPr name="Group 35" id="35"/>
            <p:cNvGrpSpPr/>
            <p:nvPr/>
          </p:nvGrpSpPr>
          <p:grpSpPr>
            <a:xfrm rot="0">
              <a:off x="3617288" y="3167572"/>
              <a:ext cx="2189431" cy="738211"/>
              <a:chOff x="0" y="0"/>
              <a:chExt cx="963105" cy="324730"/>
            </a:xfrm>
          </p:grpSpPr>
          <p:sp>
            <p:nvSpPr>
              <p:cNvPr name="Freeform 36" id="36"/>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37" id="37"/>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38" id="38"/>
            <p:cNvSpPr txBox="true"/>
            <p:nvPr/>
          </p:nvSpPr>
          <p:spPr>
            <a:xfrm rot="0">
              <a:off x="3695643" y="2112909"/>
              <a:ext cx="1894879"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+2K</a:t>
              </a:r>
            </a:p>
          </p:txBody>
        </p:sp>
        <p:sp>
          <p:nvSpPr>
            <p:cNvPr name="TextBox 39" id="39"/>
            <p:cNvSpPr txBox="true"/>
            <p:nvPr/>
          </p:nvSpPr>
          <p:spPr>
            <a:xfrm rot="0">
              <a:off x="3394722" y="3232862"/>
              <a:ext cx="2634563" cy="579056"/>
            </a:xfrm>
            <a:prstGeom prst="rect">
              <a:avLst/>
            </a:prstGeom>
          </p:spPr>
          <p:txBody>
            <a:bodyPr anchor="t" rtlCol="false" tIns="0" lIns="0" bIns="0" rIns="0">
              <a:spAutoFit/>
            </a:bodyPr>
            <a:lstStyle/>
            <a:p>
              <a:pPr algn="ctr" marL="0" indent="0" lvl="0">
                <a:lnSpc>
                  <a:spcPts val="1760"/>
                </a:lnSpc>
                <a:spcBef>
                  <a:spcPct val="0"/>
                </a:spcBef>
              </a:pPr>
              <a:r>
                <a:rPr lang="en-US" b="true" sz="1257">
                  <a:solidFill>
                    <a:srgbClr val="FFFFFF">
                      <a:alpha val="29804"/>
                    </a:srgbClr>
                  </a:solidFill>
                  <a:latin typeface="Work Sans Medium"/>
                  <a:ea typeface="Work Sans Medium"/>
                  <a:cs typeface="Work Sans Medium"/>
                  <a:sym typeface="Work Sans Medium"/>
                </a:rPr>
                <a:t>Tiếp cận Facebook Tiktok</a:t>
              </a:r>
            </a:p>
          </p:txBody>
        </p:sp>
        <p:grpSp>
          <p:nvGrpSpPr>
            <p:cNvPr name="Group 40" id="40"/>
            <p:cNvGrpSpPr/>
            <p:nvPr/>
          </p:nvGrpSpPr>
          <p:grpSpPr>
            <a:xfrm rot="0">
              <a:off x="6121577" y="3130028"/>
              <a:ext cx="2189431" cy="738211"/>
              <a:chOff x="0" y="0"/>
              <a:chExt cx="963105" cy="324730"/>
            </a:xfrm>
          </p:grpSpPr>
          <p:sp>
            <p:nvSpPr>
              <p:cNvPr name="Freeform 41" id="41"/>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42" id="42"/>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43" id="43"/>
            <p:cNvSpPr txBox="true"/>
            <p:nvPr/>
          </p:nvSpPr>
          <p:spPr>
            <a:xfrm rot="0">
              <a:off x="6199932" y="2075366"/>
              <a:ext cx="1894879"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+1K</a:t>
              </a:r>
            </a:p>
          </p:txBody>
        </p:sp>
        <p:sp>
          <p:nvSpPr>
            <p:cNvPr name="TextBox 44" id="44"/>
            <p:cNvSpPr txBox="true"/>
            <p:nvPr/>
          </p:nvSpPr>
          <p:spPr>
            <a:xfrm rot="0">
              <a:off x="6121577" y="3284584"/>
              <a:ext cx="2195800" cy="490902"/>
            </a:xfrm>
            <a:prstGeom prst="rect">
              <a:avLst/>
            </a:prstGeom>
          </p:spPr>
          <p:txBody>
            <a:bodyPr anchor="t" rtlCol="false" tIns="0" lIns="0" bIns="0" rIns="0">
              <a:spAutoFit/>
            </a:bodyPr>
            <a:lstStyle/>
            <a:p>
              <a:pPr algn="ctr" marL="0" indent="0" lvl="0">
                <a:lnSpc>
                  <a:spcPts val="1496"/>
                </a:lnSpc>
              </a:pPr>
              <a:r>
                <a:rPr lang="en-US" b="true" sz="1257">
                  <a:solidFill>
                    <a:srgbClr val="FFFFFF">
                      <a:alpha val="29804"/>
                    </a:srgbClr>
                  </a:solidFill>
                  <a:latin typeface="Work Sans Medium"/>
                  <a:ea typeface="Work Sans Medium"/>
                  <a:cs typeface="Work Sans Medium"/>
                  <a:sym typeface="Work Sans Medium"/>
                </a:rPr>
                <a:t>Người truy cập website</a:t>
              </a:r>
            </a:p>
          </p:txBody>
        </p:sp>
        <p:sp>
          <p:nvSpPr>
            <p:cNvPr name="TextBox 45" id="45"/>
            <p:cNvSpPr txBox="true"/>
            <p:nvPr/>
          </p:nvSpPr>
          <p:spPr>
            <a:xfrm rot="0">
              <a:off x="894219" y="1276111"/>
              <a:ext cx="10232384" cy="578742"/>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alpha val="29804"/>
                    </a:srgbClr>
                  </a:solidFill>
                  <a:latin typeface="Work Sans"/>
                  <a:ea typeface="Work Sans"/>
                  <a:cs typeface="Work Sans"/>
                  <a:sym typeface="Work Sans"/>
                </a:rPr>
                <a:t>Mục tiêu đạt các chỉ số trên từng nền tảng </a:t>
              </a:r>
            </a:p>
          </p:txBody>
        </p:sp>
        <p:grpSp>
          <p:nvGrpSpPr>
            <p:cNvPr name="Group 46" id="46"/>
            <p:cNvGrpSpPr/>
            <p:nvPr/>
          </p:nvGrpSpPr>
          <p:grpSpPr>
            <a:xfrm rot="0">
              <a:off x="8679954" y="3130028"/>
              <a:ext cx="2189431" cy="738211"/>
              <a:chOff x="0" y="0"/>
              <a:chExt cx="963105" cy="324730"/>
            </a:xfrm>
          </p:grpSpPr>
          <p:sp>
            <p:nvSpPr>
              <p:cNvPr name="Freeform 47" id="47"/>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48" id="48"/>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49" id="49"/>
            <p:cNvSpPr txBox="true"/>
            <p:nvPr/>
          </p:nvSpPr>
          <p:spPr>
            <a:xfrm rot="0">
              <a:off x="8476733" y="2037823"/>
              <a:ext cx="2270313"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+200</a:t>
              </a:r>
            </a:p>
          </p:txBody>
        </p:sp>
        <p:sp>
          <p:nvSpPr>
            <p:cNvPr name="TextBox 50" id="50"/>
            <p:cNvSpPr txBox="true"/>
            <p:nvPr/>
          </p:nvSpPr>
          <p:spPr>
            <a:xfrm rot="0">
              <a:off x="8877771" y="3253683"/>
              <a:ext cx="1793797" cy="490902"/>
            </a:xfrm>
            <a:prstGeom prst="rect">
              <a:avLst/>
            </a:prstGeom>
          </p:spPr>
          <p:txBody>
            <a:bodyPr anchor="t" rtlCol="false" tIns="0" lIns="0" bIns="0" rIns="0">
              <a:spAutoFit/>
            </a:bodyPr>
            <a:lstStyle/>
            <a:p>
              <a:pPr algn="ctr" marL="0" indent="0" lvl="0">
                <a:lnSpc>
                  <a:spcPts val="1496"/>
                </a:lnSpc>
              </a:pPr>
              <a:r>
                <a:rPr lang="en-US" sz="1257">
                  <a:solidFill>
                    <a:srgbClr val="FFFFFF">
                      <a:alpha val="29804"/>
                    </a:srgbClr>
                  </a:solidFill>
                  <a:latin typeface="Work Sans"/>
                  <a:ea typeface="Work Sans"/>
                  <a:cs typeface="Work Sans"/>
                  <a:sym typeface="Work Sans"/>
                </a:rPr>
                <a:t>Lượt đăng ký form</a:t>
              </a:r>
            </a:p>
          </p:txBody>
        </p:sp>
      </p:grpSp>
      <p:grpSp>
        <p:nvGrpSpPr>
          <p:cNvPr name="Group 51" id="51"/>
          <p:cNvGrpSpPr/>
          <p:nvPr/>
        </p:nvGrpSpPr>
        <p:grpSpPr>
          <a:xfrm rot="0">
            <a:off x="9349596" y="2200974"/>
            <a:ext cx="8279890" cy="3039758"/>
            <a:chOff x="0" y="0"/>
            <a:chExt cx="11039853" cy="4053010"/>
          </a:xfrm>
        </p:grpSpPr>
        <p:grpSp>
          <p:nvGrpSpPr>
            <p:cNvPr name="Group 52" id="52"/>
            <p:cNvGrpSpPr/>
            <p:nvPr/>
          </p:nvGrpSpPr>
          <p:grpSpPr>
            <a:xfrm rot="0">
              <a:off x="504717" y="243293"/>
              <a:ext cx="10535136" cy="3809717"/>
              <a:chOff x="0" y="0"/>
              <a:chExt cx="2081015" cy="752537"/>
            </a:xfrm>
          </p:grpSpPr>
          <p:sp>
            <p:nvSpPr>
              <p:cNvPr name="Freeform 53" id="53"/>
              <p:cNvSpPr/>
              <p:nvPr/>
            </p:nvSpPr>
            <p:spPr>
              <a:xfrm flipH="false" flipV="false" rot="0">
                <a:off x="0" y="0"/>
                <a:ext cx="2081015" cy="752537"/>
              </a:xfrm>
              <a:custGeom>
                <a:avLst/>
                <a:gdLst/>
                <a:ahLst/>
                <a:cxnLst/>
                <a:rect r="r" b="b" t="t" l="l"/>
                <a:pathLst>
                  <a:path h="752537" w="2081015">
                    <a:moveTo>
                      <a:pt x="97982" y="0"/>
                    </a:moveTo>
                    <a:lnTo>
                      <a:pt x="1983032" y="0"/>
                    </a:lnTo>
                    <a:cubicBezTo>
                      <a:pt x="2009019" y="0"/>
                      <a:pt x="2033941" y="10323"/>
                      <a:pt x="2052316" y="28698"/>
                    </a:cubicBezTo>
                    <a:cubicBezTo>
                      <a:pt x="2070692" y="47074"/>
                      <a:pt x="2081015" y="71996"/>
                      <a:pt x="2081015" y="97982"/>
                    </a:cubicBezTo>
                    <a:lnTo>
                      <a:pt x="2081015" y="654555"/>
                    </a:lnTo>
                    <a:cubicBezTo>
                      <a:pt x="2081015" y="708669"/>
                      <a:pt x="2037147" y="752537"/>
                      <a:pt x="1983032" y="752537"/>
                    </a:cubicBezTo>
                    <a:lnTo>
                      <a:pt x="97982" y="752537"/>
                    </a:lnTo>
                    <a:cubicBezTo>
                      <a:pt x="43868" y="752537"/>
                      <a:pt x="0" y="708669"/>
                      <a:pt x="0" y="654555"/>
                    </a:cubicBezTo>
                    <a:lnTo>
                      <a:pt x="0" y="97982"/>
                    </a:lnTo>
                    <a:cubicBezTo>
                      <a:pt x="0" y="43868"/>
                      <a:pt x="43868" y="0"/>
                      <a:pt x="97982" y="0"/>
                    </a:cubicBezTo>
                    <a:close/>
                  </a:path>
                </a:pathLst>
              </a:custGeom>
              <a:solidFill>
                <a:srgbClr val="50212A"/>
              </a:solidFill>
              <a:ln cap="rnd">
                <a:noFill/>
                <a:prstDash val="solid"/>
                <a:round/>
              </a:ln>
            </p:spPr>
          </p:sp>
          <p:sp>
            <p:nvSpPr>
              <p:cNvPr name="TextBox 54" id="54"/>
              <p:cNvSpPr txBox="true"/>
              <p:nvPr/>
            </p:nvSpPr>
            <p:spPr>
              <a:xfrm>
                <a:off x="0" y="-57150"/>
                <a:ext cx="2081015" cy="809687"/>
              </a:xfrm>
              <a:prstGeom prst="rect">
                <a:avLst/>
              </a:prstGeom>
            </p:spPr>
            <p:txBody>
              <a:bodyPr anchor="ctr" rtlCol="false" tIns="50800" lIns="50800" bIns="50800" rIns="50800"/>
              <a:lstStyle/>
              <a:p>
                <a:pPr algn="ctr">
                  <a:lnSpc>
                    <a:spcPts val="2659"/>
                  </a:lnSpc>
                </a:pPr>
              </a:p>
            </p:txBody>
          </p:sp>
        </p:grpSp>
        <p:grpSp>
          <p:nvGrpSpPr>
            <p:cNvPr name="Group 55" id="55"/>
            <p:cNvGrpSpPr/>
            <p:nvPr/>
          </p:nvGrpSpPr>
          <p:grpSpPr>
            <a:xfrm rot="0">
              <a:off x="0" y="0"/>
              <a:ext cx="10801821" cy="3775611"/>
              <a:chOff x="0" y="0"/>
              <a:chExt cx="2133693" cy="745800"/>
            </a:xfrm>
          </p:grpSpPr>
          <p:sp>
            <p:nvSpPr>
              <p:cNvPr name="Freeform 56" id="56"/>
              <p:cNvSpPr/>
              <p:nvPr/>
            </p:nvSpPr>
            <p:spPr>
              <a:xfrm flipH="false" flipV="false" rot="0">
                <a:off x="0" y="0"/>
                <a:ext cx="2133693" cy="745800"/>
              </a:xfrm>
              <a:custGeom>
                <a:avLst/>
                <a:gdLst/>
                <a:ahLst/>
                <a:cxnLst/>
                <a:rect r="r" b="b" t="t" l="l"/>
                <a:pathLst>
                  <a:path h="745800" w="2133693">
                    <a:moveTo>
                      <a:pt x="86007" y="0"/>
                    </a:moveTo>
                    <a:lnTo>
                      <a:pt x="2047686" y="0"/>
                    </a:lnTo>
                    <a:cubicBezTo>
                      <a:pt x="2070497" y="0"/>
                      <a:pt x="2092373" y="9061"/>
                      <a:pt x="2108502" y="25191"/>
                    </a:cubicBezTo>
                    <a:cubicBezTo>
                      <a:pt x="2124632" y="41320"/>
                      <a:pt x="2133693" y="63196"/>
                      <a:pt x="2133693" y="86007"/>
                    </a:cubicBezTo>
                    <a:lnTo>
                      <a:pt x="2133693" y="659793"/>
                    </a:lnTo>
                    <a:cubicBezTo>
                      <a:pt x="2133693" y="707293"/>
                      <a:pt x="2095186" y="745800"/>
                      <a:pt x="2047686" y="745800"/>
                    </a:cubicBezTo>
                    <a:lnTo>
                      <a:pt x="86007" y="745800"/>
                    </a:lnTo>
                    <a:cubicBezTo>
                      <a:pt x="38507" y="745800"/>
                      <a:pt x="0" y="707293"/>
                      <a:pt x="0" y="659793"/>
                    </a:cubicBezTo>
                    <a:lnTo>
                      <a:pt x="0" y="86007"/>
                    </a:lnTo>
                    <a:cubicBezTo>
                      <a:pt x="0" y="38507"/>
                      <a:pt x="38507" y="0"/>
                      <a:pt x="86007" y="0"/>
                    </a:cubicBezTo>
                    <a:close/>
                  </a:path>
                </a:pathLst>
              </a:custGeom>
              <a:solidFill>
                <a:srgbClr val="FDF6F2"/>
              </a:solidFill>
              <a:ln cap="rnd">
                <a:noFill/>
                <a:prstDash val="solid"/>
                <a:round/>
              </a:ln>
            </p:spPr>
          </p:sp>
          <p:sp>
            <p:nvSpPr>
              <p:cNvPr name="TextBox 57" id="57"/>
              <p:cNvSpPr txBox="true"/>
              <p:nvPr/>
            </p:nvSpPr>
            <p:spPr>
              <a:xfrm>
                <a:off x="0" y="-57150"/>
                <a:ext cx="2133693" cy="802950"/>
              </a:xfrm>
              <a:prstGeom prst="rect">
                <a:avLst/>
              </a:prstGeom>
            </p:spPr>
            <p:txBody>
              <a:bodyPr anchor="ctr" rtlCol="false" tIns="50800" lIns="50800" bIns="50800" rIns="50800"/>
              <a:lstStyle/>
              <a:p>
                <a:pPr algn="ctr">
                  <a:lnSpc>
                    <a:spcPts val="2659"/>
                  </a:lnSpc>
                </a:pPr>
              </a:p>
            </p:txBody>
          </p:sp>
        </p:grpSp>
        <p:sp>
          <p:nvSpPr>
            <p:cNvPr name="TextBox 58" id="58"/>
            <p:cNvSpPr txBox="true"/>
            <p:nvPr/>
          </p:nvSpPr>
          <p:spPr>
            <a:xfrm rot="0">
              <a:off x="325224" y="290918"/>
              <a:ext cx="8447704" cy="745073"/>
            </a:xfrm>
            <a:prstGeom prst="rect">
              <a:avLst/>
            </a:prstGeom>
          </p:spPr>
          <p:txBody>
            <a:bodyPr anchor="t" rtlCol="false" tIns="0" lIns="0" bIns="0" rIns="0">
              <a:spAutoFit/>
            </a:bodyPr>
            <a:lstStyle/>
            <a:p>
              <a:pPr algn="l" marL="0" indent="0" lvl="0">
                <a:lnSpc>
                  <a:spcPts val="4130"/>
                </a:lnSpc>
              </a:pPr>
              <a:r>
                <a:rPr lang="en-US" b="true" sz="3934">
                  <a:solidFill>
                    <a:srgbClr val="50212A"/>
                  </a:solidFill>
                  <a:latin typeface="Ojuju Bold"/>
                  <a:ea typeface="Ojuju Bold"/>
                  <a:cs typeface="Ojuju Bold"/>
                  <a:sym typeface="Ojuju Bold"/>
                </a:rPr>
                <a:t>3. Achievable (Tính khả thi) </a:t>
              </a:r>
            </a:p>
          </p:txBody>
        </p:sp>
        <p:sp>
          <p:nvSpPr>
            <p:cNvPr name="TextBox 59" id="59"/>
            <p:cNvSpPr txBox="true"/>
            <p:nvPr/>
          </p:nvSpPr>
          <p:spPr>
            <a:xfrm rot="0">
              <a:off x="325224" y="1064159"/>
              <a:ext cx="10196706" cy="2407674"/>
            </a:xfrm>
            <a:prstGeom prst="rect">
              <a:avLst/>
            </a:prstGeom>
          </p:spPr>
          <p:txBody>
            <a:bodyPr anchor="t" rtlCol="false" tIns="0" lIns="0" bIns="0" rIns="0">
              <a:spAutoFit/>
            </a:bodyPr>
            <a:lstStyle/>
            <a:p>
              <a:pPr algn="l" marL="561334" indent="-280667" lvl="1">
                <a:lnSpc>
                  <a:spcPts val="3639"/>
                </a:lnSpc>
                <a:buFont typeface="Arial"/>
                <a:buChar char="•"/>
              </a:pPr>
              <a:r>
                <a:rPr lang="en-US" sz="2599">
                  <a:solidFill>
                    <a:srgbClr val="000000"/>
                  </a:solidFill>
                  <a:latin typeface="Work Sans"/>
                  <a:ea typeface="Work Sans"/>
                  <a:cs typeface="Work Sans"/>
                  <a:sym typeface="Work Sans"/>
                </a:rPr>
                <a:t>T</a:t>
              </a:r>
              <a:r>
                <a:rPr lang="en-US" sz="2599" strike="noStrike" u="none">
                  <a:solidFill>
                    <a:srgbClr val="000000"/>
                  </a:solidFill>
                  <a:latin typeface="Work Sans"/>
                  <a:ea typeface="Work Sans"/>
                  <a:cs typeface="Work Sans"/>
                  <a:sym typeface="Work Sans"/>
                </a:rPr>
                <a:t>ối ưu hóa nhân </a:t>
              </a:r>
              <a:r>
                <a:rPr lang="en-US" sz="2599" strike="noStrike" u="none">
                  <a:solidFill>
                    <a:srgbClr val="000000"/>
                  </a:solidFill>
                  <a:latin typeface="Work Sans"/>
                  <a:ea typeface="Work Sans"/>
                  <a:cs typeface="Work Sans"/>
                  <a:sym typeface="Work Sans"/>
                </a:rPr>
                <a:t>sự </a:t>
              </a:r>
              <a:r>
                <a:rPr lang="en-US" sz="2599" strike="noStrike" u="none">
                  <a:solidFill>
                    <a:srgbClr val="000000"/>
                  </a:solidFill>
                  <a:latin typeface="Work Sans"/>
                  <a:ea typeface="Work Sans"/>
                  <a:cs typeface="Work Sans"/>
                  <a:sym typeface="Work Sans"/>
                </a:rPr>
                <a:t>ch</a:t>
              </a:r>
              <a:r>
                <a:rPr lang="en-US" sz="2599" strike="noStrike" u="none">
                  <a:solidFill>
                    <a:srgbClr val="000000"/>
                  </a:solidFill>
                  <a:latin typeface="Work Sans"/>
                  <a:ea typeface="Work Sans"/>
                  <a:cs typeface="Work Sans"/>
                  <a:sym typeface="Work Sans"/>
                </a:rPr>
                <a:t>uyê</a:t>
              </a:r>
              <a:r>
                <a:rPr lang="en-US" sz="2599" strike="noStrike" u="none">
                  <a:solidFill>
                    <a:srgbClr val="000000"/>
                  </a:solidFill>
                  <a:latin typeface="Work Sans"/>
                  <a:ea typeface="Work Sans"/>
                  <a:cs typeface="Work Sans"/>
                  <a:sym typeface="Work Sans"/>
                </a:rPr>
                <a:t>n</a:t>
              </a:r>
              <a:r>
                <a:rPr lang="en-US" sz="2599" strike="noStrike" u="none">
                  <a:solidFill>
                    <a:srgbClr val="000000"/>
                  </a:solidFill>
                  <a:latin typeface="Work Sans"/>
                  <a:ea typeface="Work Sans"/>
                  <a:cs typeface="Work Sans"/>
                  <a:sym typeface="Work Sans"/>
                </a:rPr>
                <a:t> trác</a:t>
              </a:r>
              <a:r>
                <a:rPr lang="en-US" sz="2599" strike="noStrike" u="none">
                  <a:solidFill>
                    <a:srgbClr val="000000"/>
                  </a:solidFill>
                  <a:latin typeface="Work Sans"/>
                  <a:ea typeface="Work Sans"/>
                  <a:cs typeface="Work Sans"/>
                  <a:sym typeface="Work Sans"/>
                </a:rPr>
                <a:t>h</a:t>
              </a:r>
              <a:r>
                <a:rPr lang="en-US" sz="2599" strike="noStrike" u="none">
                  <a:solidFill>
                    <a:srgbClr val="000000"/>
                  </a:solidFill>
                  <a:latin typeface="Work Sans"/>
                  <a:ea typeface="Work Sans"/>
                  <a:cs typeface="Work Sans"/>
                  <a:sym typeface="Work Sans"/>
                </a:rPr>
                <a:t>,</a:t>
              </a:r>
              <a:r>
                <a:rPr lang="en-US" sz="2599" strike="noStrike" u="none">
                  <a:solidFill>
                    <a:srgbClr val="000000"/>
                  </a:solidFill>
                  <a:latin typeface="Work Sans"/>
                  <a:ea typeface="Work Sans"/>
                  <a:cs typeface="Work Sans"/>
                  <a:sym typeface="Work Sans"/>
                </a:rPr>
                <a:t> </a:t>
              </a:r>
              <a:r>
                <a:rPr lang="en-US" sz="2599" strike="noStrike" u="none">
                  <a:solidFill>
                    <a:srgbClr val="000000"/>
                  </a:solidFill>
                  <a:latin typeface="Work Sans"/>
                  <a:ea typeface="Work Sans"/>
                  <a:cs typeface="Work Sans"/>
                  <a:sym typeface="Work Sans"/>
                </a:rPr>
                <a:t>năng lực sản xuấ</a:t>
              </a:r>
              <a:r>
                <a:rPr lang="en-US" sz="2599" strike="noStrike" u="none">
                  <a:solidFill>
                    <a:srgbClr val="000000"/>
                  </a:solidFill>
                  <a:latin typeface="Work Sans"/>
                  <a:ea typeface="Work Sans"/>
                  <a:cs typeface="Work Sans"/>
                  <a:sym typeface="Work Sans"/>
                </a:rPr>
                <a:t>t</a:t>
              </a:r>
              <a:r>
                <a:rPr lang="en-US" sz="2599" strike="noStrike" u="none">
                  <a:solidFill>
                    <a:srgbClr val="000000"/>
                  </a:solidFill>
                  <a:latin typeface="Work Sans"/>
                  <a:ea typeface="Work Sans"/>
                  <a:cs typeface="Work Sans"/>
                  <a:sym typeface="Work Sans"/>
                </a:rPr>
                <a:t> nội du</a:t>
              </a:r>
              <a:r>
                <a:rPr lang="en-US" sz="2599" strike="noStrike" u="none">
                  <a:solidFill>
                    <a:srgbClr val="000000"/>
                  </a:solidFill>
                  <a:latin typeface="Work Sans"/>
                  <a:ea typeface="Work Sans"/>
                  <a:cs typeface="Work Sans"/>
                  <a:sym typeface="Work Sans"/>
                </a:rPr>
                <a:t>ng số. </a:t>
              </a:r>
            </a:p>
            <a:p>
              <a:pPr algn="l" marL="561334" indent="-280667" lvl="1">
                <a:lnSpc>
                  <a:spcPts val="3639"/>
                </a:lnSpc>
                <a:spcBef>
                  <a:spcPct val="0"/>
                </a:spcBef>
                <a:buFont typeface="Arial"/>
                <a:buChar char="•"/>
              </a:pPr>
              <a:r>
                <a:rPr lang="en-US" sz="2599" strike="noStrike" u="none">
                  <a:solidFill>
                    <a:srgbClr val="000000"/>
                  </a:solidFill>
                  <a:latin typeface="Work Sans"/>
                  <a:ea typeface="Work Sans"/>
                  <a:cs typeface="Work Sans"/>
                  <a:sym typeface="Work Sans"/>
                </a:rPr>
                <a:t>Các giải pháp công nghệ tự động hóa sẵn có của đội ngũ thực hiện dự án.</a:t>
              </a:r>
            </a:p>
          </p:txBody>
        </p:sp>
      </p:grpSp>
      <p:grpSp>
        <p:nvGrpSpPr>
          <p:cNvPr name="Group 60" id="60"/>
          <p:cNvGrpSpPr/>
          <p:nvPr/>
        </p:nvGrpSpPr>
        <p:grpSpPr>
          <a:xfrm rot="0">
            <a:off x="8996276" y="5888432"/>
            <a:ext cx="8633210" cy="3819493"/>
            <a:chOff x="0" y="0"/>
            <a:chExt cx="11510946" cy="5092657"/>
          </a:xfrm>
        </p:grpSpPr>
        <p:grpSp>
          <p:nvGrpSpPr>
            <p:cNvPr name="Group 61" id="61"/>
            <p:cNvGrpSpPr/>
            <p:nvPr/>
          </p:nvGrpSpPr>
          <p:grpSpPr>
            <a:xfrm rot="0">
              <a:off x="568869" y="243293"/>
              <a:ext cx="10942077" cy="4849364"/>
              <a:chOff x="0" y="0"/>
              <a:chExt cx="2161398" cy="957899"/>
            </a:xfrm>
          </p:grpSpPr>
          <p:sp>
            <p:nvSpPr>
              <p:cNvPr name="Freeform 62" id="62"/>
              <p:cNvSpPr/>
              <p:nvPr/>
            </p:nvSpPr>
            <p:spPr>
              <a:xfrm flipH="false" flipV="false" rot="0">
                <a:off x="0" y="0"/>
                <a:ext cx="2161398" cy="957899"/>
              </a:xfrm>
              <a:custGeom>
                <a:avLst/>
                <a:gdLst/>
                <a:ahLst/>
                <a:cxnLst/>
                <a:rect r="r" b="b" t="t" l="l"/>
                <a:pathLst>
                  <a:path h="957899" w="2161398">
                    <a:moveTo>
                      <a:pt x="94338" y="0"/>
                    </a:moveTo>
                    <a:lnTo>
                      <a:pt x="2067060" y="0"/>
                    </a:lnTo>
                    <a:cubicBezTo>
                      <a:pt x="2092080" y="0"/>
                      <a:pt x="2116075" y="9939"/>
                      <a:pt x="2133767" y="27631"/>
                    </a:cubicBezTo>
                    <a:cubicBezTo>
                      <a:pt x="2151459" y="45323"/>
                      <a:pt x="2161398" y="69318"/>
                      <a:pt x="2161398" y="94338"/>
                    </a:cubicBezTo>
                    <a:lnTo>
                      <a:pt x="2161398" y="863561"/>
                    </a:lnTo>
                    <a:cubicBezTo>
                      <a:pt x="2161398" y="915662"/>
                      <a:pt x="2119161" y="957899"/>
                      <a:pt x="2067060" y="957899"/>
                    </a:cubicBezTo>
                    <a:lnTo>
                      <a:pt x="94338" y="957899"/>
                    </a:lnTo>
                    <a:cubicBezTo>
                      <a:pt x="42237" y="957899"/>
                      <a:pt x="0" y="915662"/>
                      <a:pt x="0" y="863561"/>
                    </a:cubicBezTo>
                    <a:lnTo>
                      <a:pt x="0" y="94338"/>
                    </a:lnTo>
                    <a:cubicBezTo>
                      <a:pt x="0" y="42237"/>
                      <a:pt x="42237" y="0"/>
                      <a:pt x="94338" y="0"/>
                    </a:cubicBezTo>
                    <a:close/>
                  </a:path>
                </a:pathLst>
              </a:custGeom>
              <a:solidFill>
                <a:srgbClr val="50212A">
                  <a:alpha val="29804"/>
                </a:srgbClr>
              </a:solidFill>
              <a:ln cap="rnd">
                <a:noFill/>
                <a:prstDash val="solid"/>
                <a:round/>
              </a:ln>
            </p:spPr>
          </p:sp>
          <p:sp>
            <p:nvSpPr>
              <p:cNvPr name="TextBox 63" id="63"/>
              <p:cNvSpPr txBox="true"/>
              <p:nvPr/>
            </p:nvSpPr>
            <p:spPr>
              <a:xfrm>
                <a:off x="0" y="-57150"/>
                <a:ext cx="2161398" cy="1015049"/>
              </a:xfrm>
              <a:prstGeom prst="rect">
                <a:avLst/>
              </a:prstGeom>
            </p:spPr>
            <p:txBody>
              <a:bodyPr anchor="ctr" rtlCol="false" tIns="50800" lIns="50800" bIns="50800" rIns="50800"/>
              <a:lstStyle/>
              <a:p>
                <a:pPr algn="ctr">
                  <a:lnSpc>
                    <a:spcPts val="2659"/>
                  </a:lnSpc>
                </a:pPr>
              </a:p>
            </p:txBody>
          </p:sp>
        </p:grpSp>
        <p:grpSp>
          <p:nvGrpSpPr>
            <p:cNvPr name="Group 64" id="64"/>
            <p:cNvGrpSpPr/>
            <p:nvPr/>
          </p:nvGrpSpPr>
          <p:grpSpPr>
            <a:xfrm rot="0">
              <a:off x="0" y="0"/>
              <a:ext cx="11190873" cy="4721961"/>
              <a:chOff x="0" y="0"/>
              <a:chExt cx="2210543" cy="932733"/>
            </a:xfrm>
          </p:grpSpPr>
          <p:sp>
            <p:nvSpPr>
              <p:cNvPr name="Freeform 65" id="65"/>
              <p:cNvSpPr/>
              <p:nvPr/>
            </p:nvSpPr>
            <p:spPr>
              <a:xfrm flipH="false" flipV="false" rot="0">
                <a:off x="0" y="0"/>
                <a:ext cx="2210543" cy="932733"/>
              </a:xfrm>
              <a:custGeom>
                <a:avLst/>
                <a:gdLst/>
                <a:ahLst/>
                <a:cxnLst/>
                <a:rect r="r" b="b" t="t" l="l"/>
                <a:pathLst>
                  <a:path h="932733" w="2210543">
                    <a:moveTo>
                      <a:pt x="83017" y="0"/>
                    </a:moveTo>
                    <a:lnTo>
                      <a:pt x="2127526" y="0"/>
                    </a:lnTo>
                    <a:cubicBezTo>
                      <a:pt x="2149543" y="0"/>
                      <a:pt x="2170659" y="8746"/>
                      <a:pt x="2186228" y="24315"/>
                    </a:cubicBezTo>
                    <a:cubicBezTo>
                      <a:pt x="2201796" y="39884"/>
                      <a:pt x="2210543" y="60999"/>
                      <a:pt x="2210543" y="83017"/>
                    </a:cubicBezTo>
                    <a:lnTo>
                      <a:pt x="2210543" y="849716"/>
                    </a:lnTo>
                    <a:cubicBezTo>
                      <a:pt x="2210543" y="871734"/>
                      <a:pt x="2201796" y="892849"/>
                      <a:pt x="2186228" y="908418"/>
                    </a:cubicBezTo>
                    <a:cubicBezTo>
                      <a:pt x="2170659" y="923987"/>
                      <a:pt x="2149543" y="932733"/>
                      <a:pt x="2127526" y="932733"/>
                    </a:cubicBezTo>
                    <a:lnTo>
                      <a:pt x="83017" y="932733"/>
                    </a:lnTo>
                    <a:cubicBezTo>
                      <a:pt x="60999" y="932733"/>
                      <a:pt x="39884" y="923987"/>
                      <a:pt x="24315" y="908418"/>
                    </a:cubicBezTo>
                    <a:cubicBezTo>
                      <a:pt x="8746" y="892849"/>
                      <a:pt x="0" y="871734"/>
                      <a:pt x="0" y="849716"/>
                    </a:cubicBezTo>
                    <a:lnTo>
                      <a:pt x="0" y="83017"/>
                    </a:lnTo>
                    <a:cubicBezTo>
                      <a:pt x="0" y="60999"/>
                      <a:pt x="8746" y="39884"/>
                      <a:pt x="24315" y="24315"/>
                    </a:cubicBezTo>
                    <a:cubicBezTo>
                      <a:pt x="39884" y="8746"/>
                      <a:pt x="60999" y="0"/>
                      <a:pt x="83017" y="0"/>
                    </a:cubicBezTo>
                    <a:close/>
                  </a:path>
                </a:pathLst>
              </a:custGeom>
              <a:solidFill>
                <a:srgbClr val="FDF6F2">
                  <a:alpha val="29804"/>
                </a:srgbClr>
              </a:solidFill>
              <a:ln cap="rnd">
                <a:noFill/>
                <a:prstDash val="solid"/>
                <a:round/>
              </a:ln>
            </p:spPr>
          </p:sp>
          <p:sp>
            <p:nvSpPr>
              <p:cNvPr name="TextBox 66" id="66"/>
              <p:cNvSpPr txBox="true"/>
              <p:nvPr/>
            </p:nvSpPr>
            <p:spPr>
              <a:xfrm>
                <a:off x="0" y="-57150"/>
                <a:ext cx="2210543" cy="989883"/>
              </a:xfrm>
              <a:prstGeom prst="rect">
                <a:avLst/>
              </a:prstGeom>
            </p:spPr>
            <p:txBody>
              <a:bodyPr anchor="ctr" rtlCol="false" tIns="50800" lIns="50800" bIns="50800" rIns="50800"/>
              <a:lstStyle/>
              <a:p>
                <a:pPr algn="ctr">
                  <a:lnSpc>
                    <a:spcPts val="2659"/>
                  </a:lnSpc>
                </a:pPr>
              </a:p>
            </p:txBody>
          </p:sp>
        </p:grpSp>
        <p:sp>
          <p:nvSpPr>
            <p:cNvPr name="TextBox 67" id="67"/>
            <p:cNvSpPr txBox="true"/>
            <p:nvPr/>
          </p:nvSpPr>
          <p:spPr>
            <a:xfrm rot="0">
              <a:off x="894219" y="290918"/>
              <a:ext cx="9309146"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4. Relevant (Tính thực tế)</a:t>
              </a:r>
            </a:p>
          </p:txBody>
        </p:sp>
        <p:sp>
          <p:nvSpPr>
            <p:cNvPr name="TextBox 68" id="68"/>
            <p:cNvSpPr txBox="true"/>
            <p:nvPr/>
          </p:nvSpPr>
          <p:spPr>
            <a:xfrm rot="0">
              <a:off x="894219" y="1211678"/>
              <a:ext cx="9981535" cy="2407674"/>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alpha val="29804"/>
                    </a:srgbClr>
                  </a:solidFill>
                  <a:latin typeface="Work Sans"/>
                  <a:ea typeface="Work Sans"/>
                  <a:cs typeface="Work Sans"/>
                  <a:sym typeface="Work Sans"/>
                </a:rPr>
                <a:t>Giải quyết trực tiếp bài toán định hình thương hiệu ngành học, đồng thời thúc đẩy trực tiếp hiệu quả công tác tư vấn tuyển sinh cho sự kiện OpenDay của Khoa.</a:t>
              </a:r>
            </a:p>
          </p:txBody>
        </p:sp>
      </p:grpSp>
      <p:grpSp>
        <p:nvGrpSpPr>
          <p:cNvPr name="Group 69" id="69"/>
          <p:cNvGrpSpPr/>
          <p:nvPr/>
        </p:nvGrpSpPr>
        <p:grpSpPr>
          <a:xfrm rot="0">
            <a:off x="497417" y="490255"/>
            <a:ext cx="8024176" cy="888116"/>
            <a:chOff x="0" y="0"/>
            <a:chExt cx="10698902" cy="1184154"/>
          </a:xfrm>
        </p:grpSpPr>
        <p:grpSp>
          <p:nvGrpSpPr>
            <p:cNvPr name="Group 70" id="70"/>
            <p:cNvGrpSpPr/>
            <p:nvPr/>
          </p:nvGrpSpPr>
          <p:grpSpPr>
            <a:xfrm rot="0">
              <a:off x="0" y="0"/>
              <a:ext cx="10626864" cy="1184154"/>
              <a:chOff x="0" y="0"/>
              <a:chExt cx="2099134" cy="233907"/>
            </a:xfrm>
          </p:grpSpPr>
          <p:sp>
            <p:nvSpPr>
              <p:cNvPr name="Freeform 71" id="71"/>
              <p:cNvSpPr/>
              <p:nvPr/>
            </p:nvSpPr>
            <p:spPr>
              <a:xfrm flipH="false" flipV="false" rot="0">
                <a:off x="0" y="0"/>
                <a:ext cx="2099134" cy="233907"/>
              </a:xfrm>
              <a:custGeom>
                <a:avLst/>
                <a:gdLst/>
                <a:ahLst/>
                <a:cxnLst/>
                <a:rect r="r" b="b" t="t" l="l"/>
                <a:pathLst>
                  <a:path h="233907" w="2099134">
                    <a:moveTo>
                      <a:pt x="97136" y="0"/>
                    </a:moveTo>
                    <a:lnTo>
                      <a:pt x="2001997" y="0"/>
                    </a:lnTo>
                    <a:cubicBezTo>
                      <a:pt x="2055644" y="0"/>
                      <a:pt x="2099134" y="43489"/>
                      <a:pt x="2099134" y="97136"/>
                    </a:cubicBezTo>
                    <a:lnTo>
                      <a:pt x="2099134" y="136771"/>
                    </a:lnTo>
                    <a:cubicBezTo>
                      <a:pt x="2099134" y="190418"/>
                      <a:pt x="2055644" y="233907"/>
                      <a:pt x="2001997" y="233907"/>
                    </a:cubicBezTo>
                    <a:lnTo>
                      <a:pt x="97136" y="233907"/>
                    </a:lnTo>
                    <a:cubicBezTo>
                      <a:pt x="43489" y="233907"/>
                      <a:pt x="0" y="190418"/>
                      <a:pt x="0" y="136771"/>
                    </a:cubicBezTo>
                    <a:lnTo>
                      <a:pt x="0" y="97136"/>
                    </a:lnTo>
                    <a:cubicBezTo>
                      <a:pt x="0" y="43489"/>
                      <a:pt x="43489" y="0"/>
                      <a:pt x="97136" y="0"/>
                    </a:cubicBezTo>
                    <a:close/>
                  </a:path>
                </a:pathLst>
              </a:custGeom>
              <a:solidFill>
                <a:srgbClr val="FFFFFF"/>
              </a:solidFill>
              <a:ln cap="rnd">
                <a:noFill/>
                <a:prstDash val="solid"/>
                <a:round/>
              </a:ln>
            </p:spPr>
          </p:sp>
          <p:sp>
            <p:nvSpPr>
              <p:cNvPr name="TextBox 72" id="72"/>
              <p:cNvSpPr txBox="true"/>
              <p:nvPr/>
            </p:nvSpPr>
            <p:spPr>
              <a:xfrm>
                <a:off x="0" y="-57150"/>
                <a:ext cx="2099134" cy="291057"/>
              </a:xfrm>
              <a:prstGeom prst="rect">
                <a:avLst/>
              </a:prstGeom>
            </p:spPr>
            <p:txBody>
              <a:bodyPr anchor="ctr" rtlCol="false" tIns="50800" lIns="50800" bIns="50800" rIns="50800"/>
              <a:lstStyle/>
              <a:p>
                <a:pPr algn="ctr">
                  <a:lnSpc>
                    <a:spcPts val="2659"/>
                  </a:lnSpc>
                </a:pPr>
              </a:p>
            </p:txBody>
          </p:sp>
        </p:grpSp>
        <p:sp>
          <p:nvSpPr>
            <p:cNvPr name="TextBox 73" id="73"/>
            <p:cNvSpPr txBox="true"/>
            <p:nvPr/>
          </p:nvSpPr>
          <p:spPr>
            <a:xfrm rot="0">
              <a:off x="357186" y="141884"/>
              <a:ext cx="103417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Mục tiêu cụ thể mô hình SMART</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525532" y="2198169"/>
            <a:ext cx="8279890" cy="3042563"/>
            <a:chOff x="0" y="0"/>
            <a:chExt cx="11039853" cy="4056750"/>
          </a:xfrm>
        </p:grpSpPr>
        <p:grpSp>
          <p:nvGrpSpPr>
            <p:cNvPr name="Group 10" id="10"/>
            <p:cNvGrpSpPr/>
            <p:nvPr/>
          </p:nvGrpSpPr>
          <p:grpSpPr>
            <a:xfrm rot="0">
              <a:off x="504717" y="243293"/>
              <a:ext cx="10535136" cy="3813458"/>
              <a:chOff x="0" y="0"/>
              <a:chExt cx="2081015" cy="753276"/>
            </a:xfrm>
          </p:grpSpPr>
          <p:sp>
            <p:nvSpPr>
              <p:cNvPr name="Freeform 11" id="11"/>
              <p:cNvSpPr/>
              <p:nvPr/>
            </p:nvSpPr>
            <p:spPr>
              <a:xfrm flipH="false" flipV="false" rot="0">
                <a:off x="0" y="0"/>
                <a:ext cx="2081015" cy="753276"/>
              </a:xfrm>
              <a:custGeom>
                <a:avLst/>
                <a:gdLst/>
                <a:ahLst/>
                <a:cxnLst/>
                <a:rect r="r" b="b" t="t" l="l"/>
                <a:pathLst>
                  <a:path h="753276" w="2081015">
                    <a:moveTo>
                      <a:pt x="97982" y="0"/>
                    </a:moveTo>
                    <a:lnTo>
                      <a:pt x="1983032" y="0"/>
                    </a:lnTo>
                    <a:cubicBezTo>
                      <a:pt x="2009019" y="0"/>
                      <a:pt x="2033941" y="10323"/>
                      <a:pt x="2052316" y="28698"/>
                    </a:cubicBezTo>
                    <a:cubicBezTo>
                      <a:pt x="2070692" y="47074"/>
                      <a:pt x="2081015" y="71996"/>
                      <a:pt x="2081015" y="97982"/>
                    </a:cubicBezTo>
                    <a:lnTo>
                      <a:pt x="2081015" y="655293"/>
                    </a:lnTo>
                    <a:cubicBezTo>
                      <a:pt x="2081015" y="709407"/>
                      <a:pt x="2037147" y="753276"/>
                      <a:pt x="1983032" y="753276"/>
                    </a:cubicBezTo>
                    <a:lnTo>
                      <a:pt x="97982" y="753276"/>
                    </a:lnTo>
                    <a:cubicBezTo>
                      <a:pt x="71996" y="753276"/>
                      <a:pt x="47074" y="742952"/>
                      <a:pt x="28698" y="724577"/>
                    </a:cubicBezTo>
                    <a:cubicBezTo>
                      <a:pt x="10323" y="706202"/>
                      <a:pt x="0" y="681280"/>
                      <a:pt x="0" y="655293"/>
                    </a:cubicBezTo>
                    <a:lnTo>
                      <a:pt x="0" y="97982"/>
                    </a:lnTo>
                    <a:cubicBezTo>
                      <a:pt x="0" y="43868"/>
                      <a:pt x="43868" y="0"/>
                      <a:pt x="97982" y="0"/>
                    </a:cubicBezTo>
                    <a:close/>
                  </a:path>
                </a:pathLst>
              </a:custGeom>
              <a:solidFill>
                <a:srgbClr val="50212A">
                  <a:alpha val="29804"/>
                </a:srgbClr>
              </a:solidFill>
              <a:ln cap="rnd">
                <a:noFill/>
                <a:prstDash val="solid"/>
                <a:round/>
              </a:ln>
            </p:spPr>
          </p:sp>
          <p:sp>
            <p:nvSpPr>
              <p:cNvPr name="TextBox 12" id="12"/>
              <p:cNvSpPr txBox="true"/>
              <p:nvPr/>
            </p:nvSpPr>
            <p:spPr>
              <a:xfrm>
                <a:off x="0" y="-57150"/>
                <a:ext cx="2081015" cy="81042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10801821" cy="3778420"/>
              <a:chOff x="0" y="0"/>
              <a:chExt cx="2133693" cy="746355"/>
            </a:xfrm>
          </p:grpSpPr>
          <p:sp>
            <p:nvSpPr>
              <p:cNvPr name="Freeform 14" id="14"/>
              <p:cNvSpPr/>
              <p:nvPr/>
            </p:nvSpPr>
            <p:spPr>
              <a:xfrm flipH="false" flipV="false" rot="0">
                <a:off x="0" y="0"/>
                <a:ext cx="2133693" cy="746355"/>
              </a:xfrm>
              <a:custGeom>
                <a:avLst/>
                <a:gdLst/>
                <a:ahLst/>
                <a:cxnLst/>
                <a:rect r="r" b="b" t="t" l="l"/>
                <a:pathLst>
                  <a:path h="746355" w="2133693">
                    <a:moveTo>
                      <a:pt x="86007" y="0"/>
                    </a:moveTo>
                    <a:lnTo>
                      <a:pt x="2047686" y="0"/>
                    </a:lnTo>
                    <a:cubicBezTo>
                      <a:pt x="2070497" y="0"/>
                      <a:pt x="2092373" y="9061"/>
                      <a:pt x="2108502" y="25191"/>
                    </a:cubicBezTo>
                    <a:cubicBezTo>
                      <a:pt x="2124632" y="41320"/>
                      <a:pt x="2133693" y="63196"/>
                      <a:pt x="2133693" y="86007"/>
                    </a:cubicBezTo>
                    <a:lnTo>
                      <a:pt x="2133693" y="660348"/>
                    </a:lnTo>
                    <a:cubicBezTo>
                      <a:pt x="2133693" y="707848"/>
                      <a:pt x="2095186" y="746355"/>
                      <a:pt x="2047686" y="746355"/>
                    </a:cubicBezTo>
                    <a:lnTo>
                      <a:pt x="86007" y="746355"/>
                    </a:lnTo>
                    <a:cubicBezTo>
                      <a:pt x="38507" y="746355"/>
                      <a:pt x="0" y="707848"/>
                      <a:pt x="0" y="660348"/>
                    </a:cubicBezTo>
                    <a:lnTo>
                      <a:pt x="0" y="86007"/>
                    </a:lnTo>
                    <a:cubicBezTo>
                      <a:pt x="0" y="38507"/>
                      <a:pt x="38507" y="0"/>
                      <a:pt x="86007" y="0"/>
                    </a:cubicBezTo>
                    <a:close/>
                  </a:path>
                </a:pathLst>
              </a:custGeom>
              <a:solidFill>
                <a:srgbClr val="FDF6F2">
                  <a:alpha val="29804"/>
                </a:srgbClr>
              </a:solidFill>
              <a:ln cap="rnd">
                <a:noFill/>
                <a:prstDash val="solid"/>
                <a:round/>
              </a:ln>
            </p:spPr>
          </p:sp>
          <p:sp>
            <p:nvSpPr>
              <p:cNvPr name="TextBox 15" id="15"/>
              <p:cNvSpPr txBox="true"/>
              <p:nvPr/>
            </p:nvSpPr>
            <p:spPr>
              <a:xfrm>
                <a:off x="0" y="-57150"/>
                <a:ext cx="2133693" cy="80350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504717" y="290918"/>
              <a:ext cx="7240043"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1. Specific (cụ thể) </a:t>
              </a:r>
            </a:p>
          </p:txBody>
        </p:sp>
        <p:sp>
          <p:nvSpPr>
            <p:cNvPr name="TextBox 17" id="17"/>
            <p:cNvSpPr txBox="true"/>
            <p:nvPr/>
          </p:nvSpPr>
          <p:spPr>
            <a:xfrm rot="0">
              <a:off x="335837" y="1266442"/>
              <a:ext cx="10465984" cy="1188386"/>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alpha val="29804"/>
                    </a:srgbClr>
                  </a:solidFill>
                  <a:latin typeface="Work Sans"/>
                  <a:ea typeface="Work Sans"/>
                  <a:cs typeface="Work Sans"/>
                  <a:sym typeface="Work Sans"/>
                </a:rPr>
                <a:t>Quảng bá và c</a:t>
              </a:r>
              <a:r>
                <a:rPr lang="en-US" sz="2599" strike="noStrike" u="none">
                  <a:solidFill>
                    <a:srgbClr val="000000">
                      <a:alpha val="29804"/>
                    </a:srgbClr>
                  </a:solidFill>
                  <a:latin typeface="Work Sans"/>
                  <a:ea typeface="Work Sans"/>
                  <a:cs typeface="Work Sans"/>
                  <a:sym typeface="Work Sans"/>
                </a:rPr>
                <a:t>u</a:t>
              </a:r>
              <a:r>
                <a:rPr lang="en-US" sz="2599" strike="noStrike" u="none">
                  <a:solidFill>
                    <a:srgbClr val="000000">
                      <a:alpha val="29804"/>
                    </a:srgbClr>
                  </a:solidFill>
                  <a:latin typeface="Work Sans"/>
                  <a:ea typeface="Work Sans"/>
                  <a:cs typeface="Work Sans"/>
                  <a:sym typeface="Work Sans"/>
                </a:rPr>
                <a:t>ng</a:t>
              </a:r>
              <a:r>
                <a:rPr lang="en-US" sz="2599" strike="noStrike" u="none">
                  <a:solidFill>
                    <a:srgbClr val="000000">
                      <a:alpha val="29804"/>
                    </a:srgbClr>
                  </a:solidFill>
                  <a:latin typeface="Work Sans"/>
                  <a:ea typeface="Work Sans"/>
                  <a:cs typeface="Work Sans"/>
                  <a:sym typeface="Work Sans"/>
                </a:rPr>
                <a:t> cấp</a:t>
              </a:r>
              <a:r>
                <a:rPr lang="en-US" sz="2599" strike="noStrike" u="none">
                  <a:solidFill>
                    <a:srgbClr val="000000">
                      <a:alpha val="29804"/>
                    </a:srgbClr>
                  </a:solidFill>
                  <a:latin typeface="Work Sans"/>
                  <a:ea typeface="Work Sans"/>
                  <a:cs typeface="Work Sans"/>
                  <a:sym typeface="Work Sans"/>
                </a:rPr>
                <a:t> thông t</a:t>
              </a:r>
              <a:r>
                <a:rPr lang="en-US" sz="2599" strike="noStrike" u="none">
                  <a:solidFill>
                    <a:srgbClr val="000000">
                      <a:alpha val="29804"/>
                    </a:srgbClr>
                  </a:solidFill>
                  <a:latin typeface="Work Sans"/>
                  <a:ea typeface="Work Sans"/>
                  <a:cs typeface="Work Sans"/>
                  <a:sym typeface="Work Sans"/>
                </a:rPr>
                <a:t>i</a:t>
              </a:r>
              <a:r>
                <a:rPr lang="en-US" sz="2599" strike="noStrike" u="none">
                  <a:solidFill>
                    <a:srgbClr val="000000">
                      <a:alpha val="29804"/>
                    </a:srgbClr>
                  </a:solidFill>
                  <a:latin typeface="Work Sans"/>
                  <a:ea typeface="Work Sans"/>
                  <a:cs typeface="Work Sans"/>
                  <a:sym typeface="Work Sans"/>
                </a:rPr>
                <a:t>n </a:t>
              </a:r>
              <a:r>
                <a:rPr lang="en-US" sz="2599" strike="noStrike" u="none">
                  <a:solidFill>
                    <a:srgbClr val="000000">
                      <a:alpha val="29804"/>
                    </a:srgbClr>
                  </a:solidFill>
                  <a:latin typeface="Work Sans"/>
                  <a:ea typeface="Work Sans"/>
                  <a:cs typeface="Work Sans"/>
                  <a:sym typeface="Work Sans"/>
                </a:rPr>
                <a:t>c</a:t>
              </a:r>
              <a:r>
                <a:rPr lang="en-US" sz="2599" strike="noStrike" u="none">
                  <a:solidFill>
                    <a:srgbClr val="000000">
                      <a:alpha val="29804"/>
                    </a:srgbClr>
                  </a:solidFill>
                  <a:latin typeface="Work Sans"/>
                  <a:ea typeface="Work Sans"/>
                  <a:cs typeface="Work Sans"/>
                  <a:sym typeface="Work Sans"/>
                </a:rPr>
                <a:t>hính thố</a:t>
              </a:r>
              <a:r>
                <a:rPr lang="en-US" sz="2599" strike="noStrike" u="none">
                  <a:solidFill>
                    <a:srgbClr val="000000">
                      <a:alpha val="29804"/>
                    </a:srgbClr>
                  </a:solidFill>
                  <a:latin typeface="Work Sans"/>
                  <a:ea typeface="Work Sans"/>
                  <a:cs typeface="Work Sans"/>
                  <a:sym typeface="Work Sans"/>
                </a:rPr>
                <a:t>ng về ngành ED2</a:t>
              </a:r>
            </a:p>
          </p:txBody>
        </p:sp>
        <p:sp>
          <p:nvSpPr>
            <p:cNvPr name="Freeform 18" id="18"/>
            <p:cNvSpPr/>
            <p:nvPr/>
          </p:nvSpPr>
          <p:spPr>
            <a:xfrm flipH="false" flipV="false" rot="0">
              <a:off x="1889772" y="2554489"/>
              <a:ext cx="987234" cy="987234"/>
            </a:xfrm>
            <a:custGeom>
              <a:avLst/>
              <a:gdLst/>
              <a:ahLst/>
              <a:cxnLst/>
              <a:rect r="r" b="b" t="t" l="l"/>
              <a:pathLst>
                <a:path h="987234" w="987234">
                  <a:moveTo>
                    <a:pt x="0" y="0"/>
                  </a:moveTo>
                  <a:lnTo>
                    <a:pt x="987234" y="0"/>
                  </a:lnTo>
                  <a:lnTo>
                    <a:pt x="987234" y="987234"/>
                  </a:lnTo>
                  <a:lnTo>
                    <a:pt x="0" y="98723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3753446" y="2502689"/>
              <a:ext cx="1010883" cy="1010883"/>
            </a:xfrm>
            <a:custGeom>
              <a:avLst/>
              <a:gdLst/>
              <a:ahLst/>
              <a:cxnLst/>
              <a:rect r="r" b="b" t="t" l="l"/>
              <a:pathLst>
                <a:path h="1010883" w="1010883">
                  <a:moveTo>
                    <a:pt x="0" y="0"/>
                  </a:moveTo>
                  <a:lnTo>
                    <a:pt x="1010883" y="0"/>
                  </a:lnTo>
                  <a:lnTo>
                    <a:pt x="1010883" y="1010884"/>
                  </a:lnTo>
                  <a:lnTo>
                    <a:pt x="0" y="1010884"/>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5646396" y="2488396"/>
              <a:ext cx="1088969" cy="1039471"/>
            </a:xfrm>
            <a:custGeom>
              <a:avLst/>
              <a:gdLst/>
              <a:ahLst/>
              <a:cxnLst/>
              <a:rect r="r" b="b" t="t" l="l"/>
              <a:pathLst>
                <a:path h="1039471" w="1088969">
                  <a:moveTo>
                    <a:pt x="0" y="0"/>
                  </a:moveTo>
                  <a:lnTo>
                    <a:pt x="1088969" y="0"/>
                  </a:lnTo>
                  <a:lnTo>
                    <a:pt x="1088969" y="1039470"/>
                  </a:lnTo>
                  <a:lnTo>
                    <a:pt x="0" y="1039470"/>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7611805" y="2474539"/>
              <a:ext cx="1067184" cy="1067184"/>
            </a:xfrm>
            <a:custGeom>
              <a:avLst/>
              <a:gdLst/>
              <a:ahLst/>
              <a:cxnLst/>
              <a:rect r="r" b="b" t="t" l="l"/>
              <a:pathLst>
                <a:path h="1067184" w="1067184">
                  <a:moveTo>
                    <a:pt x="0" y="0"/>
                  </a:moveTo>
                  <a:lnTo>
                    <a:pt x="1067184" y="0"/>
                  </a:lnTo>
                  <a:lnTo>
                    <a:pt x="1067184" y="1067184"/>
                  </a:lnTo>
                  <a:lnTo>
                    <a:pt x="0" y="1067184"/>
                  </a:lnTo>
                  <a:lnTo>
                    <a:pt x="0" y="0"/>
                  </a:lnTo>
                  <a:close/>
                </a:path>
              </a:pathLst>
            </a:custGeom>
            <a:blipFill>
              <a:blip r:embed="rId10">
                <a:alphaModFix amt="30000"/>
                <a:extLst>
                  <a:ext uri="{96DAC541-7B7A-43D3-8B79-37D633B846F1}">
                    <asvg:svgBlip xmlns:asvg="http://schemas.microsoft.com/office/drawing/2016/SVG/main" r:embed="rId11"/>
                  </a:ext>
                </a:extLst>
              </a:blip>
              <a:stretch>
                <a:fillRect l="0" t="0" r="0" b="0"/>
              </a:stretch>
            </a:blipFill>
          </p:spPr>
        </p:sp>
      </p:grpSp>
      <p:grpSp>
        <p:nvGrpSpPr>
          <p:cNvPr name="Group 22" id="22"/>
          <p:cNvGrpSpPr/>
          <p:nvPr/>
        </p:nvGrpSpPr>
        <p:grpSpPr>
          <a:xfrm rot="0">
            <a:off x="172213" y="5891237"/>
            <a:ext cx="8633210" cy="3819493"/>
            <a:chOff x="0" y="0"/>
            <a:chExt cx="11510946" cy="5092657"/>
          </a:xfrm>
        </p:grpSpPr>
        <p:grpSp>
          <p:nvGrpSpPr>
            <p:cNvPr name="Group 23" id="23"/>
            <p:cNvGrpSpPr/>
            <p:nvPr/>
          </p:nvGrpSpPr>
          <p:grpSpPr>
            <a:xfrm rot="0">
              <a:off x="568869" y="243293"/>
              <a:ext cx="10942077" cy="4849364"/>
              <a:chOff x="0" y="0"/>
              <a:chExt cx="2161398" cy="957899"/>
            </a:xfrm>
          </p:grpSpPr>
          <p:sp>
            <p:nvSpPr>
              <p:cNvPr name="Freeform 24" id="24"/>
              <p:cNvSpPr/>
              <p:nvPr/>
            </p:nvSpPr>
            <p:spPr>
              <a:xfrm flipH="false" flipV="false" rot="0">
                <a:off x="0" y="0"/>
                <a:ext cx="2161398" cy="957899"/>
              </a:xfrm>
              <a:custGeom>
                <a:avLst/>
                <a:gdLst/>
                <a:ahLst/>
                <a:cxnLst/>
                <a:rect r="r" b="b" t="t" l="l"/>
                <a:pathLst>
                  <a:path h="957899" w="2161398">
                    <a:moveTo>
                      <a:pt x="94338" y="0"/>
                    </a:moveTo>
                    <a:lnTo>
                      <a:pt x="2067060" y="0"/>
                    </a:lnTo>
                    <a:cubicBezTo>
                      <a:pt x="2092080" y="0"/>
                      <a:pt x="2116075" y="9939"/>
                      <a:pt x="2133767" y="27631"/>
                    </a:cubicBezTo>
                    <a:cubicBezTo>
                      <a:pt x="2151459" y="45323"/>
                      <a:pt x="2161398" y="69318"/>
                      <a:pt x="2161398" y="94338"/>
                    </a:cubicBezTo>
                    <a:lnTo>
                      <a:pt x="2161398" y="863561"/>
                    </a:lnTo>
                    <a:cubicBezTo>
                      <a:pt x="2161398" y="915662"/>
                      <a:pt x="2119161" y="957899"/>
                      <a:pt x="2067060" y="957899"/>
                    </a:cubicBezTo>
                    <a:lnTo>
                      <a:pt x="94338" y="957899"/>
                    </a:lnTo>
                    <a:cubicBezTo>
                      <a:pt x="42237" y="957899"/>
                      <a:pt x="0" y="915662"/>
                      <a:pt x="0" y="863561"/>
                    </a:cubicBezTo>
                    <a:lnTo>
                      <a:pt x="0" y="94338"/>
                    </a:lnTo>
                    <a:cubicBezTo>
                      <a:pt x="0" y="42237"/>
                      <a:pt x="42237" y="0"/>
                      <a:pt x="94338" y="0"/>
                    </a:cubicBezTo>
                    <a:close/>
                  </a:path>
                </a:pathLst>
              </a:custGeom>
              <a:solidFill>
                <a:srgbClr val="50212A">
                  <a:alpha val="29804"/>
                </a:srgbClr>
              </a:solidFill>
              <a:ln cap="rnd">
                <a:noFill/>
                <a:prstDash val="solid"/>
                <a:round/>
              </a:ln>
            </p:spPr>
          </p:sp>
          <p:sp>
            <p:nvSpPr>
              <p:cNvPr name="TextBox 25" id="25"/>
              <p:cNvSpPr txBox="true"/>
              <p:nvPr/>
            </p:nvSpPr>
            <p:spPr>
              <a:xfrm>
                <a:off x="0" y="-57150"/>
                <a:ext cx="2161398" cy="1015049"/>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0" y="0"/>
              <a:ext cx="11190873" cy="4721961"/>
              <a:chOff x="0" y="0"/>
              <a:chExt cx="2210543" cy="932733"/>
            </a:xfrm>
          </p:grpSpPr>
          <p:sp>
            <p:nvSpPr>
              <p:cNvPr name="Freeform 27" id="27"/>
              <p:cNvSpPr/>
              <p:nvPr/>
            </p:nvSpPr>
            <p:spPr>
              <a:xfrm flipH="false" flipV="false" rot="0">
                <a:off x="0" y="0"/>
                <a:ext cx="2210543" cy="932733"/>
              </a:xfrm>
              <a:custGeom>
                <a:avLst/>
                <a:gdLst/>
                <a:ahLst/>
                <a:cxnLst/>
                <a:rect r="r" b="b" t="t" l="l"/>
                <a:pathLst>
                  <a:path h="932733" w="2210543">
                    <a:moveTo>
                      <a:pt x="83017" y="0"/>
                    </a:moveTo>
                    <a:lnTo>
                      <a:pt x="2127526" y="0"/>
                    </a:lnTo>
                    <a:cubicBezTo>
                      <a:pt x="2149543" y="0"/>
                      <a:pt x="2170659" y="8746"/>
                      <a:pt x="2186228" y="24315"/>
                    </a:cubicBezTo>
                    <a:cubicBezTo>
                      <a:pt x="2201796" y="39884"/>
                      <a:pt x="2210543" y="60999"/>
                      <a:pt x="2210543" y="83017"/>
                    </a:cubicBezTo>
                    <a:lnTo>
                      <a:pt x="2210543" y="849716"/>
                    </a:lnTo>
                    <a:cubicBezTo>
                      <a:pt x="2210543" y="871734"/>
                      <a:pt x="2201796" y="892849"/>
                      <a:pt x="2186228" y="908418"/>
                    </a:cubicBezTo>
                    <a:cubicBezTo>
                      <a:pt x="2170659" y="923987"/>
                      <a:pt x="2149543" y="932733"/>
                      <a:pt x="2127526" y="932733"/>
                    </a:cubicBezTo>
                    <a:lnTo>
                      <a:pt x="83017" y="932733"/>
                    </a:lnTo>
                    <a:cubicBezTo>
                      <a:pt x="60999" y="932733"/>
                      <a:pt x="39884" y="923987"/>
                      <a:pt x="24315" y="908418"/>
                    </a:cubicBezTo>
                    <a:cubicBezTo>
                      <a:pt x="8746" y="892849"/>
                      <a:pt x="0" y="871734"/>
                      <a:pt x="0" y="849716"/>
                    </a:cubicBezTo>
                    <a:lnTo>
                      <a:pt x="0" y="83017"/>
                    </a:lnTo>
                    <a:cubicBezTo>
                      <a:pt x="0" y="60999"/>
                      <a:pt x="8746" y="39884"/>
                      <a:pt x="24315" y="24315"/>
                    </a:cubicBezTo>
                    <a:cubicBezTo>
                      <a:pt x="39884" y="8746"/>
                      <a:pt x="60999" y="0"/>
                      <a:pt x="83017" y="0"/>
                    </a:cubicBezTo>
                    <a:close/>
                  </a:path>
                </a:pathLst>
              </a:custGeom>
              <a:solidFill>
                <a:srgbClr val="FDF6F2">
                  <a:alpha val="29804"/>
                </a:srgbClr>
              </a:solidFill>
              <a:ln cap="rnd">
                <a:noFill/>
                <a:prstDash val="solid"/>
                <a:round/>
              </a:ln>
            </p:spPr>
          </p:sp>
          <p:sp>
            <p:nvSpPr>
              <p:cNvPr name="TextBox 28" id="28"/>
              <p:cNvSpPr txBox="true"/>
              <p:nvPr/>
            </p:nvSpPr>
            <p:spPr>
              <a:xfrm>
                <a:off x="0" y="-57150"/>
                <a:ext cx="2210543" cy="989883"/>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894219" y="290918"/>
              <a:ext cx="9309146"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3. Measurable (Đo lường được)</a:t>
              </a:r>
            </a:p>
          </p:txBody>
        </p:sp>
        <p:grpSp>
          <p:nvGrpSpPr>
            <p:cNvPr name="Group 30" id="30"/>
            <p:cNvGrpSpPr/>
            <p:nvPr/>
          </p:nvGrpSpPr>
          <p:grpSpPr>
            <a:xfrm rot="0">
              <a:off x="926410" y="3130028"/>
              <a:ext cx="2189431" cy="738211"/>
              <a:chOff x="0" y="0"/>
              <a:chExt cx="963105" cy="324730"/>
            </a:xfrm>
          </p:grpSpPr>
          <p:sp>
            <p:nvSpPr>
              <p:cNvPr name="Freeform 31" id="31"/>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32" id="32"/>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33" id="33"/>
            <p:cNvSpPr txBox="true"/>
            <p:nvPr/>
          </p:nvSpPr>
          <p:spPr>
            <a:xfrm rot="0">
              <a:off x="703844" y="2075366"/>
              <a:ext cx="2411997"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+1K</a:t>
              </a:r>
            </a:p>
          </p:txBody>
        </p:sp>
        <p:sp>
          <p:nvSpPr>
            <p:cNvPr name="TextBox 34" id="34"/>
            <p:cNvSpPr txBox="true"/>
            <p:nvPr/>
          </p:nvSpPr>
          <p:spPr>
            <a:xfrm rot="0">
              <a:off x="1015123" y="3218466"/>
              <a:ext cx="2062099" cy="579056"/>
            </a:xfrm>
            <a:prstGeom prst="rect">
              <a:avLst/>
            </a:prstGeom>
          </p:spPr>
          <p:txBody>
            <a:bodyPr anchor="t" rtlCol="false" tIns="0" lIns="0" bIns="0" rIns="0">
              <a:spAutoFit/>
            </a:bodyPr>
            <a:lstStyle/>
            <a:p>
              <a:pPr algn="ctr" marL="0" indent="0" lvl="0">
                <a:lnSpc>
                  <a:spcPts val="1760"/>
                </a:lnSpc>
                <a:spcBef>
                  <a:spcPct val="0"/>
                </a:spcBef>
              </a:pPr>
              <a:r>
                <a:rPr lang="en-US" b="true" sz="1257">
                  <a:solidFill>
                    <a:srgbClr val="FFFFFF">
                      <a:alpha val="29804"/>
                    </a:srgbClr>
                  </a:solidFill>
                  <a:latin typeface="Work Sans Medium"/>
                  <a:ea typeface="Work Sans Medium"/>
                  <a:cs typeface="Work Sans Medium"/>
                  <a:sym typeface="Work Sans Medium"/>
                </a:rPr>
                <a:t>T</a:t>
              </a:r>
              <a:r>
                <a:rPr lang="en-US" b="true" sz="1257">
                  <a:solidFill>
                    <a:srgbClr val="FFFFFF">
                      <a:alpha val="29804"/>
                    </a:srgbClr>
                  </a:solidFill>
                  <a:latin typeface="Work Sans Medium"/>
                  <a:ea typeface="Work Sans Medium"/>
                  <a:cs typeface="Work Sans Medium"/>
                  <a:sym typeface="Work Sans Medium"/>
                </a:rPr>
                <a:t>heo dõi Facebook TikTok</a:t>
              </a:r>
            </a:p>
          </p:txBody>
        </p:sp>
        <p:grpSp>
          <p:nvGrpSpPr>
            <p:cNvPr name="Group 35" id="35"/>
            <p:cNvGrpSpPr/>
            <p:nvPr/>
          </p:nvGrpSpPr>
          <p:grpSpPr>
            <a:xfrm rot="0">
              <a:off x="3617288" y="3167572"/>
              <a:ext cx="2189431" cy="738211"/>
              <a:chOff x="0" y="0"/>
              <a:chExt cx="963105" cy="324730"/>
            </a:xfrm>
          </p:grpSpPr>
          <p:sp>
            <p:nvSpPr>
              <p:cNvPr name="Freeform 36" id="36"/>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37" id="37"/>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38" id="38"/>
            <p:cNvSpPr txBox="true"/>
            <p:nvPr/>
          </p:nvSpPr>
          <p:spPr>
            <a:xfrm rot="0">
              <a:off x="3695643" y="2112909"/>
              <a:ext cx="1894879"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+2K</a:t>
              </a:r>
            </a:p>
          </p:txBody>
        </p:sp>
        <p:sp>
          <p:nvSpPr>
            <p:cNvPr name="TextBox 39" id="39"/>
            <p:cNvSpPr txBox="true"/>
            <p:nvPr/>
          </p:nvSpPr>
          <p:spPr>
            <a:xfrm rot="0">
              <a:off x="3394722" y="3232862"/>
              <a:ext cx="2634563" cy="579056"/>
            </a:xfrm>
            <a:prstGeom prst="rect">
              <a:avLst/>
            </a:prstGeom>
          </p:spPr>
          <p:txBody>
            <a:bodyPr anchor="t" rtlCol="false" tIns="0" lIns="0" bIns="0" rIns="0">
              <a:spAutoFit/>
            </a:bodyPr>
            <a:lstStyle/>
            <a:p>
              <a:pPr algn="ctr" marL="0" indent="0" lvl="0">
                <a:lnSpc>
                  <a:spcPts val="1760"/>
                </a:lnSpc>
                <a:spcBef>
                  <a:spcPct val="0"/>
                </a:spcBef>
              </a:pPr>
              <a:r>
                <a:rPr lang="en-US" b="true" sz="1257">
                  <a:solidFill>
                    <a:srgbClr val="FFFFFF">
                      <a:alpha val="29804"/>
                    </a:srgbClr>
                  </a:solidFill>
                  <a:latin typeface="Work Sans Medium"/>
                  <a:ea typeface="Work Sans Medium"/>
                  <a:cs typeface="Work Sans Medium"/>
                  <a:sym typeface="Work Sans Medium"/>
                </a:rPr>
                <a:t>Tiếp cận Facebook Tiktok</a:t>
              </a:r>
            </a:p>
          </p:txBody>
        </p:sp>
        <p:grpSp>
          <p:nvGrpSpPr>
            <p:cNvPr name="Group 40" id="40"/>
            <p:cNvGrpSpPr/>
            <p:nvPr/>
          </p:nvGrpSpPr>
          <p:grpSpPr>
            <a:xfrm rot="0">
              <a:off x="6121577" y="3130028"/>
              <a:ext cx="2189431" cy="738211"/>
              <a:chOff x="0" y="0"/>
              <a:chExt cx="963105" cy="324730"/>
            </a:xfrm>
          </p:grpSpPr>
          <p:sp>
            <p:nvSpPr>
              <p:cNvPr name="Freeform 41" id="41"/>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42" id="42"/>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43" id="43"/>
            <p:cNvSpPr txBox="true"/>
            <p:nvPr/>
          </p:nvSpPr>
          <p:spPr>
            <a:xfrm rot="0">
              <a:off x="6199932" y="2075366"/>
              <a:ext cx="1894879"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+1K</a:t>
              </a:r>
            </a:p>
          </p:txBody>
        </p:sp>
        <p:sp>
          <p:nvSpPr>
            <p:cNvPr name="TextBox 44" id="44"/>
            <p:cNvSpPr txBox="true"/>
            <p:nvPr/>
          </p:nvSpPr>
          <p:spPr>
            <a:xfrm rot="0">
              <a:off x="6121577" y="3284584"/>
              <a:ext cx="2195800" cy="490902"/>
            </a:xfrm>
            <a:prstGeom prst="rect">
              <a:avLst/>
            </a:prstGeom>
          </p:spPr>
          <p:txBody>
            <a:bodyPr anchor="t" rtlCol="false" tIns="0" lIns="0" bIns="0" rIns="0">
              <a:spAutoFit/>
            </a:bodyPr>
            <a:lstStyle/>
            <a:p>
              <a:pPr algn="ctr" marL="0" indent="0" lvl="0">
                <a:lnSpc>
                  <a:spcPts val="1496"/>
                </a:lnSpc>
              </a:pPr>
              <a:r>
                <a:rPr lang="en-US" b="true" sz="1257">
                  <a:solidFill>
                    <a:srgbClr val="FFFFFF">
                      <a:alpha val="29804"/>
                    </a:srgbClr>
                  </a:solidFill>
                  <a:latin typeface="Work Sans Medium"/>
                  <a:ea typeface="Work Sans Medium"/>
                  <a:cs typeface="Work Sans Medium"/>
                  <a:sym typeface="Work Sans Medium"/>
                </a:rPr>
                <a:t>Người truy cập website</a:t>
              </a:r>
            </a:p>
          </p:txBody>
        </p:sp>
        <p:sp>
          <p:nvSpPr>
            <p:cNvPr name="TextBox 45" id="45"/>
            <p:cNvSpPr txBox="true"/>
            <p:nvPr/>
          </p:nvSpPr>
          <p:spPr>
            <a:xfrm rot="0">
              <a:off x="894219" y="1276111"/>
              <a:ext cx="10232384" cy="578742"/>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alpha val="29804"/>
                    </a:srgbClr>
                  </a:solidFill>
                  <a:latin typeface="Work Sans"/>
                  <a:ea typeface="Work Sans"/>
                  <a:cs typeface="Work Sans"/>
                  <a:sym typeface="Work Sans"/>
                </a:rPr>
                <a:t>Mục tiêu đạt các chỉ số trên từng nền tảng </a:t>
              </a:r>
            </a:p>
          </p:txBody>
        </p:sp>
        <p:grpSp>
          <p:nvGrpSpPr>
            <p:cNvPr name="Group 46" id="46"/>
            <p:cNvGrpSpPr/>
            <p:nvPr/>
          </p:nvGrpSpPr>
          <p:grpSpPr>
            <a:xfrm rot="0">
              <a:off x="8679954" y="3130028"/>
              <a:ext cx="2189431" cy="738211"/>
              <a:chOff x="0" y="0"/>
              <a:chExt cx="963105" cy="324730"/>
            </a:xfrm>
          </p:grpSpPr>
          <p:sp>
            <p:nvSpPr>
              <p:cNvPr name="Freeform 47" id="47"/>
              <p:cNvSpPr/>
              <p:nvPr/>
            </p:nvSpPr>
            <p:spPr>
              <a:xfrm flipH="false" flipV="false" rot="0">
                <a:off x="0" y="0"/>
                <a:ext cx="963105" cy="324730"/>
              </a:xfrm>
              <a:custGeom>
                <a:avLst/>
                <a:gdLst/>
                <a:ahLst/>
                <a:cxnLst/>
                <a:rect r="r" b="b" t="t" l="l"/>
                <a:pathLst>
                  <a:path h="324730" w="963105">
                    <a:moveTo>
                      <a:pt x="162365" y="0"/>
                    </a:moveTo>
                    <a:lnTo>
                      <a:pt x="800740" y="0"/>
                    </a:lnTo>
                    <a:cubicBezTo>
                      <a:pt x="890412" y="0"/>
                      <a:pt x="963105" y="72693"/>
                      <a:pt x="963105" y="162365"/>
                    </a:cubicBezTo>
                    <a:lnTo>
                      <a:pt x="963105" y="162365"/>
                    </a:lnTo>
                    <a:cubicBezTo>
                      <a:pt x="963105" y="205427"/>
                      <a:pt x="945999" y="246725"/>
                      <a:pt x="915550" y="277175"/>
                    </a:cubicBezTo>
                    <a:cubicBezTo>
                      <a:pt x="885100" y="307624"/>
                      <a:pt x="843802" y="324730"/>
                      <a:pt x="800740" y="324730"/>
                    </a:cubicBezTo>
                    <a:lnTo>
                      <a:pt x="162365" y="324730"/>
                    </a:lnTo>
                    <a:cubicBezTo>
                      <a:pt x="72693" y="324730"/>
                      <a:pt x="0" y="252037"/>
                      <a:pt x="0" y="162365"/>
                    </a:cubicBezTo>
                    <a:lnTo>
                      <a:pt x="0" y="162365"/>
                    </a:lnTo>
                    <a:cubicBezTo>
                      <a:pt x="0" y="72693"/>
                      <a:pt x="72693" y="0"/>
                      <a:pt x="162365" y="0"/>
                    </a:cubicBezTo>
                    <a:close/>
                  </a:path>
                </a:pathLst>
              </a:custGeom>
              <a:solidFill>
                <a:srgbClr val="50212A">
                  <a:alpha val="29804"/>
                </a:srgbClr>
              </a:solidFill>
              <a:ln cap="rnd">
                <a:noFill/>
                <a:prstDash val="solid"/>
                <a:round/>
              </a:ln>
            </p:spPr>
          </p:sp>
          <p:sp>
            <p:nvSpPr>
              <p:cNvPr name="TextBox 48" id="48"/>
              <p:cNvSpPr txBox="true"/>
              <p:nvPr/>
            </p:nvSpPr>
            <p:spPr>
              <a:xfrm>
                <a:off x="0" y="-57150"/>
                <a:ext cx="963105" cy="381880"/>
              </a:xfrm>
              <a:prstGeom prst="rect">
                <a:avLst/>
              </a:prstGeom>
            </p:spPr>
            <p:txBody>
              <a:bodyPr anchor="ctr" rtlCol="false" tIns="40743" lIns="40743" bIns="40743" rIns="40743"/>
              <a:lstStyle/>
              <a:p>
                <a:pPr algn="ctr">
                  <a:lnSpc>
                    <a:spcPts val="2659"/>
                  </a:lnSpc>
                </a:pPr>
              </a:p>
            </p:txBody>
          </p:sp>
        </p:grpSp>
        <p:sp>
          <p:nvSpPr>
            <p:cNvPr name="TextBox 49" id="49"/>
            <p:cNvSpPr txBox="true"/>
            <p:nvPr/>
          </p:nvSpPr>
          <p:spPr>
            <a:xfrm rot="0">
              <a:off x="8476733" y="2037823"/>
              <a:ext cx="2270313" cy="1209218"/>
            </a:xfrm>
            <a:prstGeom prst="rect">
              <a:avLst/>
            </a:prstGeom>
          </p:spPr>
          <p:txBody>
            <a:bodyPr anchor="t" rtlCol="false" tIns="0" lIns="0" bIns="0" rIns="0">
              <a:spAutoFit/>
            </a:bodyPr>
            <a:lstStyle/>
            <a:p>
              <a:pPr algn="ctr" marL="0" indent="0" lvl="0">
                <a:lnSpc>
                  <a:spcPts val="7544"/>
                </a:lnSpc>
                <a:spcBef>
                  <a:spcPct val="0"/>
                </a:spcBef>
              </a:pPr>
              <a:r>
                <a:rPr lang="en-US" b="true" sz="5388">
                  <a:solidFill>
                    <a:srgbClr val="50212A">
                      <a:alpha val="29804"/>
                    </a:srgbClr>
                  </a:solidFill>
                  <a:latin typeface="Ojuju Bold"/>
                  <a:ea typeface="Ojuju Bold"/>
                  <a:cs typeface="Ojuju Bold"/>
                  <a:sym typeface="Ojuju Bold"/>
                </a:rPr>
                <a:t>+200</a:t>
              </a:r>
            </a:p>
          </p:txBody>
        </p:sp>
        <p:sp>
          <p:nvSpPr>
            <p:cNvPr name="TextBox 50" id="50"/>
            <p:cNvSpPr txBox="true"/>
            <p:nvPr/>
          </p:nvSpPr>
          <p:spPr>
            <a:xfrm rot="0">
              <a:off x="8877771" y="3253683"/>
              <a:ext cx="1793797" cy="490902"/>
            </a:xfrm>
            <a:prstGeom prst="rect">
              <a:avLst/>
            </a:prstGeom>
          </p:spPr>
          <p:txBody>
            <a:bodyPr anchor="t" rtlCol="false" tIns="0" lIns="0" bIns="0" rIns="0">
              <a:spAutoFit/>
            </a:bodyPr>
            <a:lstStyle/>
            <a:p>
              <a:pPr algn="ctr" marL="0" indent="0" lvl="0">
                <a:lnSpc>
                  <a:spcPts val="1496"/>
                </a:lnSpc>
              </a:pPr>
              <a:r>
                <a:rPr lang="en-US" sz="1257">
                  <a:solidFill>
                    <a:srgbClr val="FFFFFF">
                      <a:alpha val="29804"/>
                    </a:srgbClr>
                  </a:solidFill>
                  <a:latin typeface="Work Sans"/>
                  <a:ea typeface="Work Sans"/>
                  <a:cs typeface="Work Sans"/>
                  <a:sym typeface="Work Sans"/>
                </a:rPr>
                <a:t>Lượt đăng ký form</a:t>
              </a:r>
            </a:p>
          </p:txBody>
        </p:sp>
      </p:grpSp>
      <p:grpSp>
        <p:nvGrpSpPr>
          <p:cNvPr name="Group 51" id="51"/>
          <p:cNvGrpSpPr/>
          <p:nvPr/>
        </p:nvGrpSpPr>
        <p:grpSpPr>
          <a:xfrm rot="0">
            <a:off x="9349596" y="2200974"/>
            <a:ext cx="8279890" cy="3039758"/>
            <a:chOff x="0" y="0"/>
            <a:chExt cx="11039853" cy="4053010"/>
          </a:xfrm>
        </p:grpSpPr>
        <p:grpSp>
          <p:nvGrpSpPr>
            <p:cNvPr name="Group 52" id="52"/>
            <p:cNvGrpSpPr/>
            <p:nvPr/>
          </p:nvGrpSpPr>
          <p:grpSpPr>
            <a:xfrm rot="0">
              <a:off x="504717" y="243293"/>
              <a:ext cx="10535136" cy="3809717"/>
              <a:chOff x="0" y="0"/>
              <a:chExt cx="2081015" cy="752537"/>
            </a:xfrm>
          </p:grpSpPr>
          <p:sp>
            <p:nvSpPr>
              <p:cNvPr name="Freeform 53" id="53"/>
              <p:cNvSpPr/>
              <p:nvPr/>
            </p:nvSpPr>
            <p:spPr>
              <a:xfrm flipH="false" flipV="false" rot="0">
                <a:off x="0" y="0"/>
                <a:ext cx="2081015" cy="752537"/>
              </a:xfrm>
              <a:custGeom>
                <a:avLst/>
                <a:gdLst/>
                <a:ahLst/>
                <a:cxnLst/>
                <a:rect r="r" b="b" t="t" l="l"/>
                <a:pathLst>
                  <a:path h="752537" w="2081015">
                    <a:moveTo>
                      <a:pt x="97982" y="0"/>
                    </a:moveTo>
                    <a:lnTo>
                      <a:pt x="1983032" y="0"/>
                    </a:lnTo>
                    <a:cubicBezTo>
                      <a:pt x="2009019" y="0"/>
                      <a:pt x="2033941" y="10323"/>
                      <a:pt x="2052316" y="28698"/>
                    </a:cubicBezTo>
                    <a:cubicBezTo>
                      <a:pt x="2070692" y="47074"/>
                      <a:pt x="2081015" y="71996"/>
                      <a:pt x="2081015" y="97982"/>
                    </a:cubicBezTo>
                    <a:lnTo>
                      <a:pt x="2081015" y="654555"/>
                    </a:lnTo>
                    <a:cubicBezTo>
                      <a:pt x="2081015" y="708669"/>
                      <a:pt x="2037147" y="752537"/>
                      <a:pt x="1983032" y="752537"/>
                    </a:cubicBezTo>
                    <a:lnTo>
                      <a:pt x="97982" y="752537"/>
                    </a:lnTo>
                    <a:cubicBezTo>
                      <a:pt x="43868" y="752537"/>
                      <a:pt x="0" y="708669"/>
                      <a:pt x="0" y="654555"/>
                    </a:cubicBezTo>
                    <a:lnTo>
                      <a:pt x="0" y="97982"/>
                    </a:lnTo>
                    <a:cubicBezTo>
                      <a:pt x="0" y="43868"/>
                      <a:pt x="43868" y="0"/>
                      <a:pt x="97982" y="0"/>
                    </a:cubicBezTo>
                    <a:close/>
                  </a:path>
                </a:pathLst>
              </a:custGeom>
              <a:solidFill>
                <a:srgbClr val="50212A">
                  <a:alpha val="29804"/>
                </a:srgbClr>
              </a:solidFill>
              <a:ln cap="rnd">
                <a:noFill/>
                <a:prstDash val="solid"/>
                <a:round/>
              </a:ln>
            </p:spPr>
          </p:sp>
          <p:sp>
            <p:nvSpPr>
              <p:cNvPr name="TextBox 54" id="54"/>
              <p:cNvSpPr txBox="true"/>
              <p:nvPr/>
            </p:nvSpPr>
            <p:spPr>
              <a:xfrm>
                <a:off x="0" y="-57150"/>
                <a:ext cx="2081015" cy="809687"/>
              </a:xfrm>
              <a:prstGeom prst="rect">
                <a:avLst/>
              </a:prstGeom>
            </p:spPr>
            <p:txBody>
              <a:bodyPr anchor="ctr" rtlCol="false" tIns="50800" lIns="50800" bIns="50800" rIns="50800"/>
              <a:lstStyle/>
              <a:p>
                <a:pPr algn="ctr">
                  <a:lnSpc>
                    <a:spcPts val="2659"/>
                  </a:lnSpc>
                </a:pPr>
              </a:p>
            </p:txBody>
          </p:sp>
        </p:grpSp>
        <p:grpSp>
          <p:nvGrpSpPr>
            <p:cNvPr name="Group 55" id="55"/>
            <p:cNvGrpSpPr/>
            <p:nvPr/>
          </p:nvGrpSpPr>
          <p:grpSpPr>
            <a:xfrm rot="0">
              <a:off x="0" y="0"/>
              <a:ext cx="10801821" cy="3775611"/>
              <a:chOff x="0" y="0"/>
              <a:chExt cx="2133693" cy="745800"/>
            </a:xfrm>
          </p:grpSpPr>
          <p:sp>
            <p:nvSpPr>
              <p:cNvPr name="Freeform 56" id="56"/>
              <p:cNvSpPr/>
              <p:nvPr/>
            </p:nvSpPr>
            <p:spPr>
              <a:xfrm flipH="false" flipV="false" rot="0">
                <a:off x="0" y="0"/>
                <a:ext cx="2133693" cy="745800"/>
              </a:xfrm>
              <a:custGeom>
                <a:avLst/>
                <a:gdLst/>
                <a:ahLst/>
                <a:cxnLst/>
                <a:rect r="r" b="b" t="t" l="l"/>
                <a:pathLst>
                  <a:path h="745800" w="2133693">
                    <a:moveTo>
                      <a:pt x="86007" y="0"/>
                    </a:moveTo>
                    <a:lnTo>
                      <a:pt x="2047686" y="0"/>
                    </a:lnTo>
                    <a:cubicBezTo>
                      <a:pt x="2070497" y="0"/>
                      <a:pt x="2092373" y="9061"/>
                      <a:pt x="2108502" y="25191"/>
                    </a:cubicBezTo>
                    <a:cubicBezTo>
                      <a:pt x="2124632" y="41320"/>
                      <a:pt x="2133693" y="63196"/>
                      <a:pt x="2133693" y="86007"/>
                    </a:cubicBezTo>
                    <a:lnTo>
                      <a:pt x="2133693" y="659793"/>
                    </a:lnTo>
                    <a:cubicBezTo>
                      <a:pt x="2133693" y="707293"/>
                      <a:pt x="2095186" y="745800"/>
                      <a:pt x="2047686" y="745800"/>
                    </a:cubicBezTo>
                    <a:lnTo>
                      <a:pt x="86007" y="745800"/>
                    </a:lnTo>
                    <a:cubicBezTo>
                      <a:pt x="38507" y="745800"/>
                      <a:pt x="0" y="707293"/>
                      <a:pt x="0" y="659793"/>
                    </a:cubicBezTo>
                    <a:lnTo>
                      <a:pt x="0" y="86007"/>
                    </a:lnTo>
                    <a:cubicBezTo>
                      <a:pt x="0" y="38507"/>
                      <a:pt x="38507" y="0"/>
                      <a:pt x="86007" y="0"/>
                    </a:cubicBezTo>
                    <a:close/>
                  </a:path>
                </a:pathLst>
              </a:custGeom>
              <a:solidFill>
                <a:srgbClr val="FDF6F2">
                  <a:alpha val="29804"/>
                </a:srgbClr>
              </a:solidFill>
              <a:ln cap="rnd">
                <a:noFill/>
                <a:prstDash val="solid"/>
                <a:round/>
              </a:ln>
            </p:spPr>
          </p:sp>
          <p:sp>
            <p:nvSpPr>
              <p:cNvPr name="TextBox 57" id="57"/>
              <p:cNvSpPr txBox="true"/>
              <p:nvPr/>
            </p:nvSpPr>
            <p:spPr>
              <a:xfrm>
                <a:off x="0" y="-57150"/>
                <a:ext cx="2133693" cy="802950"/>
              </a:xfrm>
              <a:prstGeom prst="rect">
                <a:avLst/>
              </a:prstGeom>
            </p:spPr>
            <p:txBody>
              <a:bodyPr anchor="ctr" rtlCol="false" tIns="50800" lIns="50800" bIns="50800" rIns="50800"/>
              <a:lstStyle/>
              <a:p>
                <a:pPr algn="ctr">
                  <a:lnSpc>
                    <a:spcPts val="2659"/>
                  </a:lnSpc>
                </a:pPr>
              </a:p>
            </p:txBody>
          </p:sp>
        </p:grpSp>
        <p:sp>
          <p:nvSpPr>
            <p:cNvPr name="TextBox 58" id="58"/>
            <p:cNvSpPr txBox="true"/>
            <p:nvPr/>
          </p:nvSpPr>
          <p:spPr>
            <a:xfrm rot="0">
              <a:off x="325224" y="290918"/>
              <a:ext cx="8447704" cy="745073"/>
            </a:xfrm>
            <a:prstGeom prst="rect">
              <a:avLst/>
            </a:prstGeom>
          </p:spPr>
          <p:txBody>
            <a:bodyPr anchor="t" rtlCol="false" tIns="0" lIns="0" bIns="0" rIns="0">
              <a:spAutoFit/>
            </a:bodyPr>
            <a:lstStyle/>
            <a:p>
              <a:pPr algn="l" marL="0" indent="0" lvl="0">
                <a:lnSpc>
                  <a:spcPts val="4130"/>
                </a:lnSpc>
              </a:pPr>
              <a:r>
                <a:rPr lang="en-US" b="true" sz="3934">
                  <a:solidFill>
                    <a:srgbClr val="50212A">
                      <a:alpha val="29804"/>
                    </a:srgbClr>
                  </a:solidFill>
                  <a:latin typeface="Ojuju Bold"/>
                  <a:ea typeface="Ojuju Bold"/>
                  <a:cs typeface="Ojuju Bold"/>
                  <a:sym typeface="Ojuju Bold"/>
                </a:rPr>
                <a:t>3. Achievable (Tính khả thi) </a:t>
              </a:r>
            </a:p>
          </p:txBody>
        </p:sp>
        <p:sp>
          <p:nvSpPr>
            <p:cNvPr name="TextBox 59" id="59"/>
            <p:cNvSpPr txBox="true"/>
            <p:nvPr/>
          </p:nvSpPr>
          <p:spPr>
            <a:xfrm rot="0">
              <a:off x="325224" y="1064159"/>
              <a:ext cx="10196706" cy="2407674"/>
            </a:xfrm>
            <a:prstGeom prst="rect">
              <a:avLst/>
            </a:prstGeom>
          </p:spPr>
          <p:txBody>
            <a:bodyPr anchor="t" rtlCol="false" tIns="0" lIns="0" bIns="0" rIns="0">
              <a:spAutoFit/>
            </a:bodyPr>
            <a:lstStyle/>
            <a:p>
              <a:pPr algn="l" marL="561334" indent="-280667" lvl="1">
                <a:lnSpc>
                  <a:spcPts val="3639"/>
                </a:lnSpc>
                <a:buFont typeface="Arial"/>
                <a:buChar char="•"/>
              </a:pPr>
              <a:r>
                <a:rPr lang="en-US" sz="2599">
                  <a:solidFill>
                    <a:srgbClr val="000000">
                      <a:alpha val="29804"/>
                    </a:srgbClr>
                  </a:solidFill>
                  <a:latin typeface="Work Sans"/>
                  <a:ea typeface="Work Sans"/>
                  <a:cs typeface="Work Sans"/>
                  <a:sym typeface="Work Sans"/>
                </a:rPr>
                <a:t>T</a:t>
              </a:r>
              <a:r>
                <a:rPr lang="en-US" sz="2599" strike="noStrike" u="none">
                  <a:solidFill>
                    <a:srgbClr val="000000">
                      <a:alpha val="29804"/>
                    </a:srgbClr>
                  </a:solidFill>
                  <a:latin typeface="Work Sans"/>
                  <a:ea typeface="Work Sans"/>
                  <a:cs typeface="Work Sans"/>
                  <a:sym typeface="Work Sans"/>
                </a:rPr>
                <a:t>ối ưu hóa nhân </a:t>
              </a:r>
              <a:r>
                <a:rPr lang="en-US" sz="2599" strike="noStrike" u="none">
                  <a:solidFill>
                    <a:srgbClr val="000000">
                      <a:alpha val="29804"/>
                    </a:srgbClr>
                  </a:solidFill>
                  <a:latin typeface="Work Sans"/>
                  <a:ea typeface="Work Sans"/>
                  <a:cs typeface="Work Sans"/>
                  <a:sym typeface="Work Sans"/>
                </a:rPr>
                <a:t>sự </a:t>
              </a:r>
              <a:r>
                <a:rPr lang="en-US" sz="2599" strike="noStrike" u="none">
                  <a:solidFill>
                    <a:srgbClr val="000000">
                      <a:alpha val="29804"/>
                    </a:srgbClr>
                  </a:solidFill>
                  <a:latin typeface="Work Sans"/>
                  <a:ea typeface="Work Sans"/>
                  <a:cs typeface="Work Sans"/>
                  <a:sym typeface="Work Sans"/>
                </a:rPr>
                <a:t>ch</a:t>
              </a:r>
              <a:r>
                <a:rPr lang="en-US" sz="2599" strike="noStrike" u="none">
                  <a:solidFill>
                    <a:srgbClr val="000000">
                      <a:alpha val="29804"/>
                    </a:srgbClr>
                  </a:solidFill>
                  <a:latin typeface="Work Sans"/>
                  <a:ea typeface="Work Sans"/>
                  <a:cs typeface="Work Sans"/>
                  <a:sym typeface="Work Sans"/>
                </a:rPr>
                <a:t>uyê</a:t>
              </a:r>
              <a:r>
                <a:rPr lang="en-US" sz="2599" strike="noStrike" u="none">
                  <a:solidFill>
                    <a:srgbClr val="000000">
                      <a:alpha val="29804"/>
                    </a:srgbClr>
                  </a:solidFill>
                  <a:latin typeface="Work Sans"/>
                  <a:ea typeface="Work Sans"/>
                  <a:cs typeface="Work Sans"/>
                  <a:sym typeface="Work Sans"/>
                </a:rPr>
                <a:t>n</a:t>
              </a:r>
              <a:r>
                <a:rPr lang="en-US" sz="2599" strike="noStrike" u="none">
                  <a:solidFill>
                    <a:srgbClr val="000000">
                      <a:alpha val="29804"/>
                    </a:srgbClr>
                  </a:solidFill>
                  <a:latin typeface="Work Sans"/>
                  <a:ea typeface="Work Sans"/>
                  <a:cs typeface="Work Sans"/>
                  <a:sym typeface="Work Sans"/>
                </a:rPr>
                <a:t> trác</a:t>
              </a:r>
              <a:r>
                <a:rPr lang="en-US" sz="2599" strike="noStrike" u="none">
                  <a:solidFill>
                    <a:srgbClr val="000000">
                      <a:alpha val="29804"/>
                    </a:srgbClr>
                  </a:solidFill>
                  <a:latin typeface="Work Sans"/>
                  <a:ea typeface="Work Sans"/>
                  <a:cs typeface="Work Sans"/>
                  <a:sym typeface="Work Sans"/>
                </a:rPr>
                <a:t>h</a:t>
              </a:r>
              <a:r>
                <a:rPr lang="en-US" sz="2599" strike="noStrike" u="none">
                  <a:solidFill>
                    <a:srgbClr val="000000">
                      <a:alpha val="29804"/>
                    </a:srgbClr>
                  </a:solidFill>
                  <a:latin typeface="Work Sans"/>
                  <a:ea typeface="Work Sans"/>
                  <a:cs typeface="Work Sans"/>
                  <a:sym typeface="Work Sans"/>
                </a:rPr>
                <a:t>,</a:t>
              </a:r>
              <a:r>
                <a:rPr lang="en-US" sz="2599" strike="noStrike" u="none">
                  <a:solidFill>
                    <a:srgbClr val="000000">
                      <a:alpha val="29804"/>
                    </a:srgbClr>
                  </a:solidFill>
                  <a:latin typeface="Work Sans"/>
                  <a:ea typeface="Work Sans"/>
                  <a:cs typeface="Work Sans"/>
                  <a:sym typeface="Work Sans"/>
                </a:rPr>
                <a:t> </a:t>
              </a:r>
              <a:r>
                <a:rPr lang="en-US" sz="2599" strike="noStrike" u="none">
                  <a:solidFill>
                    <a:srgbClr val="000000">
                      <a:alpha val="29804"/>
                    </a:srgbClr>
                  </a:solidFill>
                  <a:latin typeface="Work Sans"/>
                  <a:ea typeface="Work Sans"/>
                  <a:cs typeface="Work Sans"/>
                  <a:sym typeface="Work Sans"/>
                </a:rPr>
                <a:t>năng lực sản xuấ</a:t>
              </a:r>
              <a:r>
                <a:rPr lang="en-US" sz="2599" strike="noStrike" u="none">
                  <a:solidFill>
                    <a:srgbClr val="000000">
                      <a:alpha val="29804"/>
                    </a:srgbClr>
                  </a:solidFill>
                  <a:latin typeface="Work Sans"/>
                  <a:ea typeface="Work Sans"/>
                  <a:cs typeface="Work Sans"/>
                  <a:sym typeface="Work Sans"/>
                </a:rPr>
                <a:t>t</a:t>
              </a:r>
              <a:r>
                <a:rPr lang="en-US" sz="2599" strike="noStrike" u="none">
                  <a:solidFill>
                    <a:srgbClr val="000000">
                      <a:alpha val="29804"/>
                    </a:srgbClr>
                  </a:solidFill>
                  <a:latin typeface="Work Sans"/>
                  <a:ea typeface="Work Sans"/>
                  <a:cs typeface="Work Sans"/>
                  <a:sym typeface="Work Sans"/>
                </a:rPr>
                <a:t> nội du</a:t>
              </a:r>
              <a:r>
                <a:rPr lang="en-US" sz="2599" strike="noStrike" u="none">
                  <a:solidFill>
                    <a:srgbClr val="000000">
                      <a:alpha val="29804"/>
                    </a:srgbClr>
                  </a:solidFill>
                  <a:latin typeface="Work Sans"/>
                  <a:ea typeface="Work Sans"/>
                  <a:cs typeface="Work Sans"/>
                  <a:sym typeface="Work Sans"/>
                </a:rPr>
                <a:t>ng số </a:t>
              </a:r>
            </a:p>
            <a:p>
              <a:pPr algn="l" marL="561334" indent="-280667" lvl="1">
                <a:lnSpc>
                  <a:spcPts val="3639"/>
                </a:lnSpc>
                <a:spcBef>
                  <a:spcPct val="0"/>
                </a:spcBef>
                <a:buFont typeface="Arial"/>
                <a:buChar char="•"/>
              </a:pPr>
              <a:r>
                <a:rPr lang="en-US" sz="2599" strike="noStrike" u="none">
                  <a:solidFill>
                    <a:srgbClr val="000000">
                      <a:alpha val="29804"/>
                    </a:srgbClr>
                  </a:solidFill>
                  <a:latin typeface="Work Sans"/>
                  <a:ea typeface="Work Sans"/>
                  <a:cs typeface="Work Sans"/>
                  <a:sym typeface="Work Sans"/>
                </a:rPr>
                <a:t>Các giải pháp công nghệ tự động hóa sẵn có của đội ngũ thực hiện dự án.</a:t>
              </a:r>
            </a:p>
          </p:txBody>
        </p:sp>
      </p:grpSp>
      <p:grpSp>
        <p:nvGrpSpPr>
          <p:cNvPr name="Group 60" id="60"/>
          <p:cNvGrpSpPr/>
          <p:nvPr/>
        </p:nvGrpSpPr>
        <p:grpSpPr>
          <a:xfrm rot="0">
            <a:off x="8996276" y="5888432"/>
            <a:ext cx="8633210" cy="3819493"/>
            <a:chOff x="0" y="0"/>
            <a:chExt cx="11510946" cy="5092657"/>
          </a:xfrm>
        </p:grpSpPr>
        <p:grpSp>
          <p:nvGrpSpPr>
            <p:cNvPr name="Group 61" id="61"/>
            <p:cNvGrpSpPr/>
            <p:nvPr/>
          </p:nvGrpSpPr>
          <p:grpSpPr>
            <a:xfrm rot="0">
              <a:off x="568869" y="243293"/>
              <a:ext cx="10942077" cy="4849364"/>
              <a:chOff x="0" y="0"/>
              <a:chExt cx="2161398" cy="957899"/>
            </a:xfrm>
          </p:grpSpPr>
          <p:sp>
            <p:nvSpPr>
              <p:cNvPr name="Freeform 62" id="62"/>
              <p:cNvSpPr/>
              <p:nvPr/>
            </p:nvSpPr>
            <p:spPr>
              <a:xfrm flipH="false" flipV="false" rot="0">
                <a:off x="0" y="0"/>
                <a:ext cx="2161398" cy="957899"/>
              </a:xfrm>
              <a:custGeom>
                <a:avLst/>
                <a:gdLst/>
                <a:ahLst/>
                <a:cxnLst/>
                <a:rect r="r" b="b" t="t" l="l"/>
                <a:pathLst>
                  <a:path h="957899" w="2161398">
                    <a:moveTo>
                      <a:pt x="94338" y="0"/>
                    </a:moveTo>
                    <a:lnTo>
                      <a:pt x="2067060" y="0"/>
                    </a:lnTo>
                    <a:cubicBezTo>
                      <a:pt x="2092080" y="0"/>
                      <a:pt x="2116075" y="9939"/>
                      <a:pt x="2133767" y="27631"/>
                    </a:cubicBezTo>
                    <a:cubicBezTo>
                      <a:pt x="2151459" y="45323"/>
                      <a:pt x="2161398" y="69318"/>
                      <a:pt x="2161398" y="94338"/>
                    </a:cubicBezTo>
                    <a:lnTo>
                      <a:pt x="2161398" y="863561"/>
                    </a:lnTo>
                    <a:cubicBezTo>
                      <a:pt x="2161398" y="915662"/>
                      <a:pt x="2119161" y="957899"/>
                      <a:pt x="2067060" y="957899"/>
                    </a:cubicBezTo>
                    <a:lnTo>
                      <a:pt x="94338" y="957899"/>
                    </a:lnTo>
                    <a:cubicBezTo>
                      <a:pt x="42237" y="957899"/>
                      <a:pt x="0" y="915662"/>
                      <a:pt x="0" y="863561"/>
                    </a:cubicBezTo>
                    <a:lnTo>
                      <a:pt x="0" y="94338"/>
                    </a:lnTo>
                    <a:cubicBezTo>
                      <a:pt x="0" y="42237"/>
                      <a:pt x="42237" y="0"/>
                      <a:pt x="94338" y="0"/>
                    </a:cubicBezTo>
                    <a:close/>
                  </a:path>
                </a:pathLst>
              </a:custGeom>
              <a:solidFill>
                <a:srgbClr val="50212A"/>
              </a:solidFill>
              <a:ln cap="rnd">
                <a:noFill/>
                <a:prstDash val="solid"/>
                <a:round/>
              </a:ln>
            </p:spPr>
          </p:sp>
          <p:sp>
            <p:nvSpPr>
              <p:cNvPr name="TextBox 63" id="63"/>
              <p:cNvSpPr txBox="true"/>
              <p:nvPr/>
            </p:nvSpPr>
            <p:spPr>
              <a:xfrm>
                <a:off x="0" y="-57150"/>
                <a:ext cx="2161398" cy="1015049"/>
              </a:xfrm>
              <a:prstGeom prst="rect">
                <a:avLst/>
              </a:prstGeom>
            </p:spPr>
            <p:txBody>
              <a:bodyPr anchor="ctr" rtlCol="false" tIns="50800" lIns="50800" bIns="50800" rIns="50800"/>
              <a:lstStyle/>
              <a:p>
                <a:pPr algn="ctr">
                  <a:lnSpc>
                    <a:spcPts val="2659"/>
                  </a:lnSpc>
                </a:pPr>
              </a:p>
            </p:txBody>
          </p:sp>
        </p:grpSp>
        <p:grpSp>
          <p:nvGrpSpPr>
            <p:cNvPr name="Group 64" id="64"/>
            <p:cNvGrpSpPr/>
            <p:nvPr/>
          </p:nvGrpSpPr>
          <p:grpSpPr>
            <a:xfrm rot="0">
              <a:off x="0" y="0"/>
              <a:ext cx="11190873" cy="4721961"/>
              <a:chOff x="0" y="0"/>
              <a:chExt cx="2210543" cy="932733"/>
            </a:xfrm>
          </p:grpSpPr>
          <p:sp>
            <p:nvSpPr>
              <p:cNvPr name="Freeform 65" id="65"/>
              <p:cNvSpPr/>
              <p:nvPr/>
            </p:nvSpPr>
            <p:spPr>
              <a:xfrm flipH="false" flipV="false" rot="0">
                <a:off x="0" y="0"/>
                <a:ext cx="2210543" cy="932733"/>
              </a:xfrm>
              <a:custGeom>
                <a:avLst/>
                <a:gdLst/>
                <a:ahLst/>
                <a:cxnLst/>
                <a:rect r="r" b="b" t="t" l="l"/>
                <a:pathLst>
                  <a:path h="932733" w="2210543">
                    <a:moveTo>
                      <a:pt x="83017" y="0"/>
                    </a:moveTo>
                    <a:lnTo>
                      <a:pt x="2127526" y="0"/>
                    </a:lnTo>
                    <a:cubicBezTo>
                      <a:pt x="2149543" y="0"/>
                      <a:pt x="2170659" y="8746"/>
                      <a:pt x="2186228" y="24315"/>
                    </a:cubicBezTo>
                    <a:cubicBezTo>
                      <a:pt x="2201796" y="39884"/>
                      <a:pt x="2210543" y="60999"/>
                      <a:pt x="2210543" y="83017"/>
                    </a:cubicBezTo>
                    <a:lnTo>
                      <a:pt x="2210543" y="849716"/>
                    </a:lnTo>
                    <a:cubicBezTo>
                      <a:pt x="2210543" y="871734"/>
                      <a:pt x="2201796" y="892849"/>
                      <a:pt x="2186228" y="908418"/>
                    </a:cubicBezTo>
                    <a:cubicBezTo>
                      <a:pt x="2170659" y="923987"/>
                      <a:pt x="2149543" y="932733"/>
                      <a:pt x="2127526" y="932733"/>
                    </a:cubicBezTo>
                    <a:lnTo>
                      <a:pt x="83017" y="932733"/>
                    </a:lnTo>
                    <a:cubicBezTo>
                      <a:pt x="60999" y="932733"/>
                      <a:pt x="39884" y="923987"/>
                      <a:pt x="24315" y="908418"/>
                    </a:cubicBezTo>
                    <a:cubicBezTo>
                      <a:pt x="8746" y="892849"/>
                      <a:pt x="0" y="871734"/>
                      <a:pt x="0" y="849716"/>
                    </a:cubicBezTo>
                    <a:lnTo>
                      <a:pt x="0" y="83017"/>
                    </a:lnTo>
                    <a:cubicBezTo>
                      <a:pt x="0" y="60999"/>
                      <a:pt x="8746" y="39884"/>
                      <a:pt x="24315" y="24315"/>
                    </a:cubicBezTo>
                    <a:cubicBezTo>
                      <a:pt x="39884" y="8746"/>
                      <a:pt x="60999" y="0"/>
                      <a:pt x="83017" y="0"/>
                    </a:cubicBezTo>
                    <a:close/>
                  </a:path>
                </a:pathLst>
              </a:custGeom>
              <a:solidFill>
                <a:srgbClr val="FDF6F2"/>
              </a:solidFill>
              <a:ln cap="rnd">
                <a:noFill/>
                <a:prstDash val="solid"/>
                <a:round/>
              </a:ln>
            </p:spPr>
          </p:sp>
          <p:sp>
            <p:nvSpPr>
              <p:cNvPr name="TextBox 66" id="66"/>
              <p:cNvSpPr txBox="true"/>
              <p:nvPr/>
            </p:nvSpPr>
            <p:spPr>
              <a:xfrm>
                <a:off x="0" y="-57150"/>
                <a:ext cx="2210543" cy="989883"/>
              </a:xfrm>
              <a:prstGeom prst="rect">
                <a:avLst/>
              </a:prstGeom>
            </p:spPr>
            <p:txBody>
              <a:bodyPr anchor="ctr" rtlCol="false" tIns="50800" lIns="50800" bIns="50800" rIns="50800"/>
              <a:lstStyle/>
              <a:p>
                <a:pPr algn="ctr">
                  <a:lnSpc>
                    <a:spcPts val="2659"/>
                  </a:lnSpc>
                </a:pPr>
              </a:p>
            </p:txBody>
          </p:sp>
        </p:grpSp>
        <p:sp>
          <p:nvSpPr>
            <p:cNvPr name="TextBox 67" id="67"/>
            <p:cNvSpPr txBox="true"/>
            <p:nvPr/>
          </p:nvSpPr>
          <p:spPr>
            <a:xfrm rot="0">
              <a:off x="894219" y="290918"/>
              <a:ext cx="9309146" cy="745073"/>
            </a:xfrm>
            <a:prstGeom prst="rect">
              <a:avLst/>
            </a:prstGeom>
          </p:spPr>
          <p:txBody>
            <a:bodyPr anchor="t" rtlCol="false" tIns="0" lIns="0" bIns="0" rIns="0">
              <a:spAutoFit/>
            </a:bodyPr>
            <a:lstStyle/>
            <a:p>
              <a:pPr algn="l" marL="0" indent="0" lvl="0">
                <a:lnSpc>
                  <a:spcPts val="4130"/>
                </a:lnSpc>
              </a:pPr>
              <a:r>
                <a:rPr lang="en-US" b="true" sz="3934">
                  <a:solidFill>
                    <a:srgbClr val="50212A"/>
                  </a:solidFill>
                  <a:latin typeface="Ojuju Bold"/>
                  <a:ea typeface="Ojuju Bold"/>
                  <a:cs typeface="Ojuju Bold"/>
                  <a:sym typeface="Ojuju Bold"/>
                </a:rPr>
                <a:t>4. Relevant (Tính thực tế)</a:t>
              </a:r>
            </a:p>
          </p:txBody>
        </p:sp>
        <p:sp>
          <p:nvSpPr>
            <p:cNvPr name="TextBox 68" id="68"/>
            <p:cNvSpPr txBox="true"/>
            <p:nvPr/>
          </p:nvSpPr>
          <p:spPr>
            <a:xfrm rot="0">
              <a:off x="894219" y="1211678"/>
              <a:ext cx="9981535" cy="2407674"/>
            </a:xfrm>
            <a:prstGeom prst="rect">
              <a:avLst/>
            </a:prstGeom>
          </p:spPr>
          <p:txBody>
            <a:bodyPr anchor="t" rtlCol="false" tIns="0" lIns="0" bIns="0" rIns="0">
              <a:spAutoFit/>
            </a:bodyPr>
            <a:lstStyle/>
            <a:p>
              <a:pPr algn="l" marL="561334" indent="-280667" lvl="1">
                <a:lnSpc>
                  <a:spcPts val="3639"/>
                </a:lnSpc>
                <a:spcBef>
                  <a:spcPct val="0"/>
                </a:spcBef>
                <a:buFont typeface="Arial"/>
                <a:buChar char="•"/>
              </a:pPr>
              <a:r>
                <a:rPr lang="en-US" sz="2599">
                  <a:solidFill>
                    <a:srgbClr val="000000"/>
                  </a:solidFill>
                  <a:latin typeface="Work Sans"/>
                  <a:ea typeface="Work Sans"/>
                  <a:cs typeface="Work Sans"/>
                  <a:sym typeface="Work Sans"/>
                </a:rPr>
                <a:t>Giải quyết trực tiếp bài toán định hình thương hiệu ngành học, đồng thời thúc đẩy trực tiếp hiệu quả công tác tư vấn tuyển sinh cho sự kiện OpenDay của Khoa.</a:t>
              </a:r>
            </a:p>
          </p:txBody>
        </p:sp>
      </p:grpSp>
      <p:grpSp>
        <p:nvGrpSpPr>
          <p:cNvPr name="Group 69" id="69"/>
          <p:cNvGrpSpPr/>
          <p:nvPr/>
        </p:nvGrpSpPr>
        <p:grpSpPr>
          <a:xfrm rot="0">
            <a:off x="497417" y="490255"/>
            <a:ext cx="8024176" cy="888116"/>
            <a:chOff x="0" y="0"/>
            <a:chExt cx="10698902" cy="1184154"/>
          </a:xfrm>
        </p:grpSpPr>
        <p:grpSp>
          <p:nvGrpSpPr>
            <p:cNvPr name="Group 70" id="70"/>
            <p:cNvGrpSpPr/>
            <p:nvPr/>
          </p:nvGrpSpPr>
          <p:grpSpPr>
            <a:xfrm rot="0">
              <a:off x="0" y="0"/>
              <a:ext cx="10626864" cy="1184154"/>
              <a:chOff x="0" y="0"/>
              <a:chExt cx="2099134" cy="233907"/>
            </a:xfrm>
          </p:grpSpPr>
          <p:sp>
            <p:nvSpPr>
              <p:cNvPr name="Freeform 71" id="71"/>
              <p:cNvSpPr/>
              <p:nvPr/>
            </p:nvSpPr>
            <p:spPr>
              <a:xfrm flipH="false" flipV="false" rot="0">
                <a:off x="0" y="0"/>
                <a:ext cx="2099134" cy="233907"/>
              </a:xfrm>
              <a:custGeom>
                <a:avLst/>
                <a:gdLst/>
                <a:ahLst/>
                <a:cxnLst/>
                <a:rect r="r" b="b" t="t" l="l"/>
                <a:pathLst>
                  <a:path h="233907" w="2099134">
                    <a:moveTo>
                      <a:pt x="97136" y="0"/>
                    </a:moveTo>
                    <a:lnTo>
                      <a:pt x="2001997" y="0"/>
                    </a:lnTo>
                    <a:cubicBezTo>
                      <a:pt x="2055644" y="0"/>
                      <a:pt x="2099134" y="43489"/>
                      <a:pt x="2099134" y="97136"/>
                    </a:cubicBezTo>
                    <a:lnTo>
                      <a:pt x="2099134" y="136771"/>
                    </a:lnTo>
                    <a:cubicBezTo>
                      <a:pt x="2099134" y="190418"/>
                      <a:pt x="2055644" y="233907"/>
                      <a:pt x="2001997" y="233907"/>
                    </a:cubicBezTo>
                    <a:lnTo>
                      <a:pt x="97136" y="233907"/>
                    </a:lnTo>
                    <a:cubicBezTo>
                      <a:pt x="43489" y="233907"/>
                      <a:pt x="0" y="190418"/>
                      <a:pt x="0" y="136771"/>
                    </a:cubicBezTo>
                    <a:lnTo>
                      <a:pt x="0" y="97136"/>
                    </a:lnTo>
                    <a:cubicBezTo>
                      <a:pt x="0" y="43489"/>
                      <a:pt x="43489" y="0"/>
                      <a:pt x="97136" y="0"/>
                    </a:cubicBezTo>
                    <a:close/>
                  </a:path>
                </a:pathLst>
              </a:custGeom>
              <a:solidFill>
                <a:srgbClr val="FFFFFF"/>
              </a:solidFill>
              <a:ln cap="rnd">
                <a:noFill/>
                <a:prstDash val="solid"/>
                <a:round/>
              </a:ln>
            </p:spPr>
          </p:sp>
          <p:sp>
            <p:nvSpPr>
              <p:cNvPr name="TextBox 72" id="72"/>
              <p:cNvSpPr txBox="true"/>
              <p:nvPr/>
            </p:nvSpPr>
            <p:spPr>
              <a:xfrm>
                <a:off x="0" y="-57150"/>
                <a:ext cx="2099134" cy="291057"/>
              </a:xfrm>
              <a:prstGeom prst="rect">
                <a:avLst/>
              </a:prstGeom>
            </p:spPr>
            <p:txBody>
              <a:bodyPr anchor="ctr" rtlCol="false" tIns="50800" lIns="50800" bIns="50800" rIns="50800"/>
              <a:lstStyle/>
              <a:p>
                <a:pPr algn="ctr">
                  <a:lnSpc>
                    <a:spcPts val="2659"/>
                  </a:lnSpc>
                </a:pPr>
              </a:p>
            </p:txBody>
          </p:sp>
        </p:grpSp>
        <p:sp>
          <p:nvSpPr>
            <p:cNvPr name="TextBox 73" id="73"/>
            <p:cNvSpPr txBox="true"/>
            <p:nvPr/>
          </p:nvSpPr>
          <p:spPr>
            <a:xfrm rot="0">
              <a:off x="357186" y="141884"/>
              <a:ext cx="103417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Mục tiêu cụ thể mô hình SMART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6791" y="2147506"/>
            <a:ext cx="8893189" cy="4314564"/>
            <a:chOff x="0" y="0"/>
            <a:chExt cx="11857585" cy="5752753"/>
          </a:xfrm>
        </p:grpSpPr>
        <p:grpSp>
          <p:nvGrpSpPr>
            <p:cNvPr name="Group 10" id="10"/>
            <p:cNvGrpSpPr/>
            <p:nvPr/>
          </p:nvGrpSpPr>
          <p:grpSpPr>
            <a:xfrm rot="0">
              <a:off x="568869" y="243293"/>
              <a:ext cx="11288716" cy="5509460"/>
              <a:chOff x="0" y="0"/>
              <a:chExt cx="2229870" cy="1088288"/>
            </a:xfrm>
          </p:grpSpPr>
          <p:sp>
            <p:nvSpPr>
              <p:cNvPr name="Freeform 11" id="11"/>
              <p:cNvSpPr/>
              <p:nvPr/>
            </p:nvSpPr>
            <p:spPr>
              <a:xfrm flipH="false" flipV="false" rot="0">
                <a:off x="0" y="0"/>
                <a:ext cx="2229870" cy="1088288"/>
              </a:xfrm>
              <a:custGeom>
                <a:avLst/>
                <a:gdLst/>
                <a:ahLst/>
                <a:cxnLst/>
                <a:rect r="r" b="b" t="t" l="l"/>
                <a:pathLst>
                  <a:path h="1088288" w="2229870">
                    <a:moveTo>
                      <a:pt x="91441" y="0"/>
                    </a:moveTo>
                    <a:lnTo>
                      <a:pt x="2138428" y="0"/>
                    </a:lnTo>
                    <a:cubicBezTo>
                      <a:pt x="2162680" y="0"/>
                      <a:pt x="2185938" y="9634"/>
                      <a:pt x="2203087" y="26783"/>
                    </a:cubicBezTo>
                    <a:cubicBezTo>
                      <a:pt x="2220236" y="43931"/>
                      <a:pt x="2229870" y="67190"/>
                      <a:pt x="2229870" y="91441"/>
                    </a:cubicBezTo>
                    <a:lnTo>
                      <a:pt x="2229870" y="996847"/>
                    </a:lnTo>
                    <a:cubicBezTo>
                      <a:pt x="2229870" y="1047349"/>
                      <a:pt x="2188930" y="1088288"/>
                      <a:pt x="2138428" y="1088288"/>
                    </a:cubicBezTo>
                    <a:lnTo>
                      <a:pt x="91441" y="1088288"/>
                    </a:lnTo>
                    <a:cubicBezTo>
                      <a:pt x="67190" y="1088288"/>
                      <a:pt x="43931" y="1078654"/>
                      <a:pt x="26783" y="1061506"/>
                    </a:cubicBezTo>
                    <a:cubicBezTo>
                      <a:pt x="9634" y="1044357"/>
                      <a:pt x="0" y="1021099"/>
                      <a:pt x="0" y="996847"/>
                    </a:cubicBezTo>
                    <a:lnTo>
                      <a:pt x="0" y="91441"/>
                    </a:lnTo>
                    <a:cubicBezTo>
                      <a:pt x="0" y="40940"/>
                      <a:pt x="40940" y="0"/>
                      <a:pt x="91441" y="0"/>
                    </a:cubicBezTo>
                    <a:close/>
                  </a:path>
                </a:pathLst>
              </a:custGeom>
              <a:solidFill>
                <a:srgbClr val="50212A"/>
              </a:solidFill>
              <a:ln cap="rnd">
                <a:noFill/>
                <a:prstDash val="solid"/>
                <a:round/>
              </a:ln>
            </p:spPr>
          </p:sp>
          <p:sp>
            <p:nvSpPr>
              <p:cNvPr name="TextBox 12" id="12"/>
              <p:cNvSpPr txBox="true"/>
              <p:nvPr/>
            </p:nvSpPr>
            <p:spPr>
              <a:xfrm>
                <a:off x="0" y="-57150"/>
                <a:ext cx="2229870" cy="1145438"/>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11510946" cy="5423312"/>
              <a:chOff x="0" y="0"/>
              <a:chExt cx="2273767" cy="1071272"/>
            </a:xfrm>
          </p:grpSpPr>
          <p:sp>
            <p:nvSpPr>
              <p:cNvPr name="Freeform 14" id="14"/>
              <p:cNvSpPr/>
              <p:nvPr/>
            </p:nvSpPr>
            <p:spPr>
              <a:xfrm flipH="false" flipV="false" rot="0">
                <a:off x="0" y="0"/>
                <a:ext cx="2273767" cy="1071272"/>
              </a:xfrm>
              <a:custGeom>
                <a:avLst/>
                <a:gdLst/>
                <a:ahLst/>
                <a:cxnLst/>
                <a:rect r="r" b="b" t="t" l="l"/>
                <a:pathLst>
                  <a:path h="1071272" w="2273767">
                    <a:moveTo>
                      <a:pt x="80708" y="0"/>
                    </a:moveTo>
                    <a:lnTo>
                      <a:pt x="2193059" y="0"/>
                    </a:lnTo>
                    <a:cubicBezTo>
                      <a:pt x="2237633" y="0"/>
                      <a:pt x="2273767" y="36134"/>
                      <a:pt x="2273767" y="80708"/>
                    </a:cubicBezTo>
                    <a:lnTo>
                      <a:pt x="2273767" y="990563"/>
                    </a:lnTo>
                    <a:cubicBezTo>
                      <a:pt x="2273767" y="1035137"/>
                      <a:pt x="2237633" y="1071272"/>
                      <a:pt x="2193059" y="1071272"/>
                    </a:cubicBezTo>
                    <a:lnTo>
                      <a:pt x="80708" y="1071272"/>
                    </a:lnTo>
                    <a:cubicBezTo>
                      <a:pt x="36134" y="1071272"/>
                      <a:pt x="0" y="1035137"/>
                      <a:pt x="0" y="990563"/>
                    </a:cubicBezTo>
                    <a:lnTo>
                      <a:pt x="0" y="80708"/>
                    </a:lnTo>
                    <a:cubicBezTo>
                      <a:pt x="0" y="36134"/>
                      <a:pt x="36134" y="0"/>
                      <a:pt x="80708" y="0"/>
                    </a:cubicBezTo>
                    <a:close/>
                  </a:path>
                </a:pathLst>
              </a:custGeom>
              <a:solidFill>
                <a:srgbClr val="FDF6F2"/>
              </a:solidFill>
              <a:ln cap="rnd">
                <a:noFill/>
                <a:prstDash val="solid"/>
                <a:round/>
              </a:ln>
            </p:spPr>
          </p:sp>
          <p:sp>
            <p:nvSpPr>
              <p:cNvPr name="TextBox 15" id="15"/>
              <p:cNvSpPr txBox="true"/>
              <p:nvPr/>
            </p:nvSpPr>
            <p:spPr>
              <a:xfrm>
                <a:off x="0" y="-57150"/>
                <a:ext cx="2273767" cy="1128422"/>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894219" y="290918"/>
              <a:ext cx="10616727" cy="745073"/>
            </a:xfrm>
            <a:prstGeom prst="rect">
              <a:avLst/>
            </a:prstGeom>
          </p:spPr>
          <p:txBody>
            <a:bodyPr anchor="t" rtlCol="false" tIns="0" lIns="0" bIns="0" rIns="0">
              <a:spAutoFit/>
            </a:bodyPr>
            <a:lstStyle/>
            <a:p>
              <a:pPr algn="l" marL="0" indent="0" lvl="0">
                <a:lnSpc>
                  <a:spcPts val="4130"/>
                </a:lnSpc>
              </a:pPr>
              <a:r>
                <a:rPr lang="en-US" b="true" sz="3934">
                  <a:solidFill>
                    <a:srgbClr val="50212A"/>
                  </a:solidFill>
                  <a:latin typeface="Ojuju Bold"/>
                  <a:ea typeface="Ojuju Bold"/>
                  <a:cs typeface="Ojuju Bold"/>
                  <a:sym typeface="Ojuju Bold"/>
                </a:rPr>
                <a:t>5. Time-bound (Giới hạn thời gian)</a:t>
              </a:r>
            </a:p>
          </p:txBody>
        </p:sp>
        <p:sp>
          <p:nvSpPr>
            <p:cNvPr name="TextBox 17" id="17"/>
            <p:cNvSpPr txBox="true"/>
            <p:nvPr/>
          </p:nvSpPr>
          <p:spPr>
            <a:xfrm rot="0">
              <a:off x="6121577" y="3284584"/>
              <a:ext cx="2195800" cy="490902"/>
            </a:xfrm>
            <a:prstGeom prst="rect">
              <a:avLst/>
            </a:prstGeom>
          </p:spPr>
          <p:txBody>
            <a:bodyPr anchor="t" rtlCol="false" tIns="0" lIns="0" bIns="0" rIns="0">
              <a:spAutoFit/>
            </a:bodyPr>
            <a:lstStyle/>
            <a:p>
              <a:pPr algn="ctr" marL="0" indent="0" lvl="0">
                <a:lnSpc>
                  <a:spcPts val="1496"/>
                </a:lnSpc>
              </a:pPr>
              <a:r>
                <a:rPr lang="en-US" b="true" sz="1257">
                  <a:solidFill>
                    <a:srgbClr val="FFFFFF"/>
                  </a:solidFill>
                  <a:latin typeface="Work Sans Medium"/>
                  <a:ea typeface="Work Sans Medium"/>
                  <a:cs typeface="Work Sans Medium"/>
                  <a:sym typeface="Work Sans Medium"/>
                </a:rPr>
                <a:t>Người truy cập website</a:t>
              </a:r>
            </a:p>
          </p:txBody>
        </p:sp>
        <p:sp>
          <p:nvSpPr>
            <p:cNvPr name="TextBox 18" id="18"/>
            <p:cNvSpPr txBox="true"/>
            <p:nvPr/>
          </p:nvSpPr>
          <p:spPr>
            <a:xfrm rot="0">
              <a:off x="894219" y="1276111"/>
              <a:ext cx="6325259" cy="3626962"/>
            </a:xfrm>
            <a:prstGeom prst="rect">
              <a:avLst/>
            </a:prstGeom>
          </p:spPr>
          <p:txBody>
            <a:bodyPr anchor="t" rtlCol="false" tIns="0" lIns="0" bIns="0" rIns="0">
              <a:spAutoFit/>
            </a:bodyPr>
            <a:lstStyle/>
            <a:p>
              <a:pPr algn="l" marL="561334" indent="-280667" lvl="1">
                <a:lnSpc>
                  <a:spcPts val="3639"/>
                </a:lnSpc>
                <a:buFont typeface="Arial"/>
                <a:buChar char="•"/>
              </a:pPr>
              <a:r>
                <a:rPr lang="en-US" sz="2599">
                  <a:solidFill>
                    <a:srgbClr val="000000"/>
                  </a:solidFill>
                  <a:latin typeface="Work Sans"/>
                  <a:ea typeface="Work Sans"/>
                  <a:cs typeface="Work Sans"/>
                  <a:sym typeface="Work Sans"/>
                </a:rPr>
                <a:t>Hoàn thành chiến dịch.</a:t>
              </a:r>
            </a:p>
            <a:p>
              <a:pPr algn="l" marL="561334" indent="-280667" lvl="1">
                <a:lnSpc>
                  <a:spcPts val="3639"/>
                </a:lnSpc>
                <a:buFont typeface="Arial"/>
                <a:buChar char="•"/>
              </a:pPr>
              <a:r>
                <a:rPr lang="en-US" sz="2599">
                  <a:solidFill>
                    <a:srgbClr val="000000"/>
                  </a:solidFill>
                  <a:latin typeface="Work Sans"/>
                  <a:ea typeface="Work Sans"/>
                  <a:cs typeface="Work Sans"/>
                  <a:sym typeface="Work Sans"/>
                </a:rPr>
                <a:t>Hoàn tất chuẩn bị, triển khai và đánh giá theo đúng tiến độ.</a:t>
              </a:r>
            </a:p>
            <a:p>
              <a:pPr algn="l" marL="561334" indent="-280667" lvl="1">
                <a:lnSpc>
                  <a:spcPts val="3639"/>
                </a:lnSpc>
                <a:spcBef>
                  <a:spcPct val="0"/>
                </a:spcBef>
                <a:buFont typeface="Arial"/>
                <a:buChar char="•"/>
              </a:pPr>
              <a:r>
                <a:rPr lang="en-US" sz="2599">
                  <a:solidFill>
                    <a:srgbClr val="000000"/>
                  </a:solidFill>
                  <a:latin typeface="Work Sans"/>
                  <a:ea typeface="Work Sans"/>
                  <a:cs typeface="Work Sans"/>
                  <a:sym typeface="Work Sans"/>
                </a:rPr>
                <a:t>Triển khai và nghiệm thu chiến dịch đúng thời hạn</a:t>
              </a:r>
            </a:p>
          </p:txBody>
        </p:sp>
        <p:sp>
          <p:nvSpPr>
            <p:cNvPr name="TextBox 19" id="19"/>
            <p:cNvSpPr txBox="true"/>
            <p:nvPr/>
          </p:nvSpPr>
          <p:spPr>
            <a:xfrm rot="0">
              <a:off x="7769903" y="2946818"/>
              <a:ext cx="3674903" cy="1241440"/>
            </a:xfrm>
            <a:prstGeom prst="rect">
              <a:avLst/>
            </a:prstGeom>
          </p:spPr>
          <p:txBody>
            <a:bodyPr anchor="t" rtlCol="false" tIns="0" lIns="0" bIns="0" rIns="0">
              <a:spAutoFit/>
            </a:bodyPr>
            <a:lstStyle/>
            <a:p>
              <a:pPr algn="ctr" marL="0" indent="0" lvl="0">
                <a:lnSpc>
                  <a:spcPts val="7831"/>
                </a:lnSpc>
                <a:spcBef>
                  <a:spcPct val="0"/>
                </a:spcBef>
              </a:pPr>
              <a:r>
                <a:rPr lang="en-US" b="true" sz="5594">
                  <a:solidFill>
                    <a:srgbClr val="50212A"/>
                  </a:solidFill>
                  <a:latin typeface="Ojuju Bold"/>
                  <a:ea typeface="Ojuju Bold"/>
                  <a:cs typeface="Ojuju Bold"/>
                  <a:sym typeface="Ojuju Bold"/>
                </a:rPr>
                <a:t>6 TUẦN</a:t>
              </a:r>
            </a:p>
          </p:txBody>
        </p:sp>
        <p:grpSp>
          <p:nvGrpSpPr>
            <p:cNvPr name="Group 20" id="20"/>
            <p:cNvGrpSpPr/>
            <p:nvPr/>
          </p:nvGrpSpPr>
          <p:grpSpPr>
            <a:xfrm rot="0">
              <a:off x="7842583" y="1926943"/>
              <a:ext cx="3335555" cy="708531"/>
              <a:chOff x="0" y="0"/>
              <a:chExt cx="963168" cy="204597"/>
            </a:xfrm>
          </p:grpSpPr>
          <p:sp>
            <p:nvSpPr>
              <p:cNvPr name="Freeform 21" id="21"/>
              <p:cNvSpPr/>
              <p:nvPr/>
            </p:nvSpPr>
            <p:spPr>
              <a:xfrm flipH="false" flipV="false" rot="0">
                <a:off x="0" y="0"/>
                <a:ext cx="963168" cy="204597"/>
              </a:xfrm>
              <a:custGeom>
                <a:avLst/>
                <a:gdLst/>
                <a:ahLst/>
                <a:cxnLst/>
                <a:rect r="r" b="b" t="t" l="l"/>
                <a:pathLst>
                  <a:path h="204597" w="963168">
                    <a:moveTo>
                      <a:pt x="963168" y="0"/>
                    </a:moveTo>
                    <a:lnTo>
                      <a:pt x="963168" y="204597"/>
                    </a:lnTo>
                    <a:lnTo>
                      <a:pt x="0" y="204597"/>
                    </a:lnTo>
                    <a:lnTo>
                      <a:pt x="0" y="0"/>
                    </a:lnTo>
                    <a:close/>
                  </a:path>
                </a:pathLst>
              </a:custGeom>
              <a:solidFill>
                <a:srgbClr val="50212A"/>
              </a:solidFill>
              <a:ln cap="sq">
                <a:noFill/>
                <a:prstDash val="solid"/>
                <a:miter/>
              </a:ln>
            </p:spPr>
          </p:sp>
          <p:sp>
            <p:nvSpPr>
              <p:cNvPr name="TextBox 22" id="22"/>
              <p:cNvSpPr txBox="true"/>
              <p:nvPr/>
            </p:nvSpPr>
            <p:spPr>
              <a:xfrm>
                <a:off x="0" y="-57150"/>
                <a:ext cx="963168" cy="261747"/>
              </a:xfrm>
              <a:prstGeom prst="rect">
                <a:avLst/>
              </a:prstGeom>
            </p:spPr>
            <p:txBody>
              <a:bodyPr anchor="ctr" rtlCol="false" tIns="62071" lIns="62071" bIns="62071" rIns="62071"/>
              <a:lstStyle/>
              <a:p>
                <a:pPr algn="ctr">
                  <a:lnSpc>
                    <a:spcPts val="2659"/>
                  </a:lnSpc>
                </a:pPr>
              </a:p>
            </p:txBody>
          </p:sp>
        </p:grpSp>
        <p:sp>
          <p:nvSpPr>
            <p:cNvPr name="TextBox 23" id="23"/>
            <p:cNvSpPr txBox="true"/>
            <p:nvPr/>
          </p:nvSpPr>
          <p:spPr>
            <a:xfrm rot="0">
              <a:off x="8036571" y="2012795"/>
              <a:ext cx="3141567" cy="502906"/>
            </a:xfrm>
            <a:prstGeom prst="rect">
              <a:avLst/>
            </a:prstGeom>
          </p:spPr>
          <p:txBody>
            <a:bodyPr anchor="t" rtlCol="false" tIns="0" lIns="0" bIns="0" rIns="0">
              <a:spAutoFit/>
            </a:bodyPr>
            <a:lstStyle/>
            <a:p>
              <a:pPr algn="ctr" marL="0" indent="0" lvl="0">
                <a:lnSpc>
                  <a:spcPts val="3101"/>
                </a:lnSpc>
                <a:spcBef>
                  <a:spcPct val="0"/>
                </a:spcBef>
              </a:pPr>
              <a:r>
                <a:rPr lang="en-US" b="true" sz="2215">
                  <a:solidFill>
                    <a:srgbClr val="FFFFFF"/>
                  </a:solidFill>
                  <a:latin typeface="Work Sans Medium"/>
                  <a:ea typeface="Work Sans Medium"/>
                  <a:cs typeface="Work Sans Medium"/>
                  <a:sym typeface="Work Sans Medium"/>
                </a:rPr>
                <a:t>THỜI HẠN</a:t>
              </a:r>
            </a:p>
          </p:txBody>
        </p:sp>
      </p:grpSp>
      <p:sp>
        <p:nvSpPr>
          <p:cNvPr name="Freeform 24" id="24"/>
          <p:cNvSpPr/>
          <p:nvPr/>
        </p:nvSpPr>
        <p:spPr>
          <a:xfrm flipH="false" flipV="false" rot="0">
            <a:off x="9374513" y="2490063"/>
            <a:ext cx="8078313" cy="7193064"/>
          </a:xfrm>
          <a:custGeom>
            <a:avLst/>
            <a:gdLst/>
            <a:ahLst/>
            <a:cxnLst/>
            <a:rect r="r" b="b" t="t" l="l"/>
            <a:pathLst>
              <a:path h="7193064" w="8078313">
                <a:moveTo>
                  <a:pt x="0" y="0"/>
                </a:moveTo>
                <a:lnTo>
                  <a:pt x="8078313" y="0"/>
                </a:lnTo>
                <a:lnTo>
                  <a:pt x="8078313" y="7193064"/>
                </a:lnTo>
                <a:lnTo>
                  <a:pt x="0" y="71930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5" id="25"/>
          <p:cNvGrpSpPr/>
          <p:nvPr/>
        </p:nvGrpSpPr>
        <p:grpSpPr>
          <a:xfrm rot="0">
            <a:off x="497417" y="490255"/>
            <a:ext cx="8024176" cy="888116"/>
            <a:chOff x="0" y="0"/>
            <a:chExt cx="10698902" cy="1184154"/>
          </a:xfrm>
        </p:grpSpPr>
        <p:grpSp>
          <p:nvGrpSpPr>
            <p:cNvPr name="Group 26" id="26"/>
            <p:cNvGrpSpPr/>
            <p:nvPr/>
          </p:nvGrpSpPr>
          <p:grpSpPr>
            <a:xfrm rot="0">
              <a:off x="0" y="0"/>
              <a:ext cx="10626864" cy="1184154"/>
              <a:chOff x="0" y="0"/>
              <a:chExt cx="2099134" cy="233907"/>
            </a:xfrm>
          </p:grpSpPr>
          <p:sp>
            <p:nvSpPr>
              <p:cNvPr name="Freeform 27" id="27"/>
              <p:cNvSpPr/>
              <p:nvPr/>
            </p:nvSpPr>
            <p:spPr>
              <a:xfrm flipH="false" flipV="false" rot="0">
                <a:off x="0" y="0"/>
                <a:ext cx="2099134" cy="233907"/>
              </a:xfrm>
              <a:custGeom>
                <a:avLst/>
                <a:gdLst/>
                <a:ahLst/>
                <a:cxnLst/>
                <a:rect r="r" b="b" t="t" l="l"/>
                <a:pathLst>
                  <a:path h="233907" w="2099134">
                    <a:moveTo>
                      <a:pt x="97136" y="0"/>
                    </a:moveTo>
                    <a:lnTo>
                      <a:pt x="2001997" y="0"/>
                    </a:lnTo>
                    <a:cubicBezTo>
                      <a:pt x="2055644" y="0"/>
                      <a:pt x="2099134" y="43489"/>
                      <a:pt x="2099134" y="97136"/>
                    </a:cubicBezTo>
                    <a:lnTo>
                      <a:pt x="2099134" y="136771"/>
                    </a:lnTo>
                    <a:cubicBezTo>
                      <a:pt x="2099134" y="190418"/>
                      <a:pt x="2055644" y="233907"/>
                      <a:pt x="2001997" y="233907"/>
                    </a:cubicBezTo>
                    <a:lnTo>
                      <a:pt x="97136" y="233907"/>
                    </a:lnTo>
                    <a:cubicBezTo>
                      <a:pt x="43489" y="233907"/>
                      <a:pt x="0" y="190418"/>
                      <a:pt x="0" y="136771"/>
                    </a:cubicBezTo>
                    <a:lnTo>
                      <a:pt x="0" y="97136"/>
                    </a:lnTo>
                    <a:cubicBezTo>
                      <a:pt x="0" y="43489"/>
                      <a:pt x="43489" y="0"/>
                      <a:pt x="97136" y="0"/>
                    </a:cubicBezTo>
                    <a:close/>
                  </a:path>
                </a:pathLst>
              </a:custGeom>
              <a:solidFill>
                <a:srgbClr val="FFFFFF"/>
              </a:solidFill>
              <a:ln cap="rnd">
                <a:noFill/>
                <a:prstDash val="solid"/>
                <a:round/>
              </a:ln>
            </p:spPr>
          </p:sp>
          <p:sp>
            <p:nvSpPr>
              <p:cNvPr name="TextBox 28" id="28"/>
              <p:cNvSpPr txBox="true"/>
              <p:nvPr/>
            </p:nvSpPr>
            <p:spPr>
              <a:xfrm>
                <a:off x="0" y="-57150"/>
                <a:ext cx="2099134" cy="291057"/>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357186" y="141884"/>
              <a:ext cx="103417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Mục tiêu cụ thể mô hình SMART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807299" y="1768923"/>
            <a:ext cx="12205535" cy="772928"/>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0000"/>
                </a:solidFill>
                <a:latin typeface="Work Sans"/>
                <a:ea typeface="Work Sans"/>
                <a:cs typeface="Work Sans"/>
                <a:sym typeface="Work Sans"/>
              </a:rPr>
              <a:t>Phân rã tổ chức (OBS) và xác định rõ chức năng, nhiệm vụ của từng vị trí chuyên trách thông qua bảng cơ cấu dưới đây</a:t>
            </a:r>
          </a:p>
        </p:txBody>
      </p:sp>
      <p:grpSp>
        <p:nvGrpSpPr>
          <p:cNvPr name="Group 10" id="10"/>
          <p:cNvGrpSpPr/>
          <p:nvPr/>
        </p:nvGrpSpPr>
        <p:grpSpPr>
          <a:xfrm rot="0">
            <a:off x="456924" y="2874207"/>
            <a:ext cx="21495631" cy="9271395"/>
            <a:chOff x="0" y="0"/>
            <a:chExt cx="5661401" cy="2441849"/>
          </a:xfrm>
        </p:grpSpPr>
        <p:sp>
          <p:nvSpPr>
            <p:cNvPr name="Freeform 11" id="11"/>
            <p:cNvSpPr/>
            <p:nvPr/>
          </p:nvSpPr>
          <p:spPr>
            <a:xfrm flipH="false" flipV="false" rot="0">
              <a:off x="0" y="0"/>
              <a:ext cx="5661401" cy="2441849"/>
            </a:xfrm>
            <a:custGeom>
              <a:avLst/>
              <a:gdLst/>
              <a:ahLst/>
              <a:cxnLst/>
              <a:rect r="r" b="b" t="t" l="l"/>
              <a:pathLst>
                <a:path h="2441849" w="5661401">
                  <a:moveTo>
                    <a:pt x="36016" y="0"/>
                  </a:moveTo>
                  <a:lnTo>
                    <a:pt x="5625384" y="0"/>
                  </a:lnTo>
                  <a:cubicBezTo>
                    <a:pt x="5645276" y="0"/>
                    <a:pt x="5661401" y="16125"/>
                    <a:pt x="5661401" y="36016"/>
                  </a:cubicBezTo>
                  <a:lnTo>
                    <a:pt x="5661401" y="2405833"/>
                  </a:lnTo>
                  <a:cubicBezTo>
                    <a:pt x="5661401" y="2415385"/>
                    <a:pt x="5657606" y="2424546"/>
                    <a:pt x="5650852" y="2431300"/>
                  </a:cubicBezTo>
                  <a:cubicBezTo>
                    <a:pt x="5644097" y="2438054"/>
                    <a:pt x="5634936" y="2441849"/>
                    <a:pt x="5625384" y="2441849"/>
                  </a:cubicBezTo>
                  <a:lnTo>
                    <a:pt x="36016" y="2441849"/>
                  </a:lnTo>
                  <a:cubicBezTo>
                    <a:pt x="26464" y="2441849"/>
                    <a:pt x="17303" y="2438054"/>
                    <a:pt x="10549" y="2431300"/>
                  </a:cubicBezTo>
                  <a:cubicBezTo>
                    <a:pt x="3795" y="2424546"/>
                    <a:pt x="0" y="2415385"/>
                    <a:pt x="0" y="2405833"/>
                  </a:cubicBezTo>
                  <a:lnTo>
                    <a:pt x="0" y="36016"/>
                  </a:lnTo>
                  <a:cubicBezTo>
                    <a:pt x="0" y="26464"/>
                    <a:pt x="3795" y="17303"/>
                    <a:pt x="10549" y="10549"/>
                  </a:cubicBezTo>
                  <a:cubicBezTo>
                    <a:pt x="17303" y="3795"/>
                    <a:pt x="26464" y="0"/>
                    <a:pt x="36016" y="0"/>
                  </a:cubicBezTo>
                  <a:close/>
                </a:path>
              </a:pathLst>
            </a:custGeom>
            <a:solidFill>
              <a:srgbClr val="50212A">
                <a:alpha val="2745"/>
              </a:srgbClr>
            </a:solidFill>
          </p:spPr>
        </p:sp>
        <p:sp>
          <p:nvSpPr>
            <p:cNvPr name="TextBox 12" id="12"/>
            <p:cNvSpPr txBox="true"/>
            <p:nvPr/>
          </p:nvSpPr>
          <p:spPr>
            <a:xfrm>
              <a:off x="0" y="-57150"/>
              <a:ext cx="5661401" cy="2498999"/>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12903" y="2985919"/>
            <a:ext cx="3318646" cy="396174"/>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V</a:t>
            </a:r>
            <a:r>
              <a:rPr lang="en-US" b="true" sz="2799" strike="noStrike" u="none">
                <a:solidFill>
                  <a:srgbClr val="000000"/>
                </a:solidFill>
                <a:latin typeface="Work Sans Bold"/>
                <a:ea typeface="Work Sans Bold"/>
                <a:cs typeface="Work Sans Bold"/>
                <a:sym typeface="Work Sans Bold"/>
              </a:rPr>
              <a:t>ai trò</a:t>
            </a:r>
          </a:p>
        </p:txBody>
      </p:sp>
      <p:sp>
        <p:nvSpPr>
          <p:cNvPr name="TextBox 14" id="14"/>
          <p:cNvSpPr txBox="true"/>
          <p:nvPr/>
        </p:nvSpPr>
        <p:spPr>
          <a:xfrm rot="0">
            <a:off x="3603002" y="2985919"/>
            <a:ext cx="5389341" cy="396174"/>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Thành v</a:t>
            </a:r>
            <a:r>
              <a:rPr lang="en-US" b="true" sz="2799" strike="noStrike" u="none">
                <a:solidFill>
                  <a:srgbClr val="000000"/>
                </a:solidFill>
                <a:latin typeface="Work Sans Bold"/>
                <a:ea typeface="Work Sans Bold"/>
                <a:cs typeface="Work Sans Bold"/>
                <a:sym typeface="Work Sans Bold"/>
              </a:rPr>
              <a:t>iên đảm nhiệm</a:t>
            </a:r>
          </a:p>
        </p:txBody>
      </p:sp>
      <p:sp>
        <p:nvSpPr>
          <p:cNvPr name="TextBox 15" id="15"/>
          <p:cNvSpPr txBox="true"/>
          <p:nvPr/>
        </p:nvSpPr>
        <p:spPr>
          <a:xfrm rot="0">
            <a:off x="8992343" y="2902782"/>
            <a:ext cx="8196382" cy="396174"/>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Nhiệm vụ</a:t>
            </a:r>
            <a:r>
              <a:rPr lang="en-US" b="true" sz="2799" strike="noStrike" u="none">
                <a:solidFill>
                  <a:srgbClr val="000000"/>
                </a:solidFill>
                <a:latin typeface="Work Sans Bold"/>
                <a:ea typeface="Work Sans Bold"/>
                <a:cs typeface="Work Sans Bold"/>
                <a:sym typeface="Work Sans Bold"/>
              </a:rPr>
              <a:t> và Trách nhiệm chính trong dự án</a:t>
            </a:r>
          </a:p>
        </p:txBody>
      </p:sp>
      <p:sp>
        <p:nvSpPr>
          <p:cNvPr name="TextBox 16" id="16"/>
          <p:cNvSpPr txBox="true"/>
          <p:nvPr/>
        </p:nvSpPr>
        <p:spPr>
          <a:xfrm rot="0">
            <a:off x="612903" y="3753568"/>
            <a:ext cx="3318646" cy="490822"/>
          </a:xfrm>
          <a:prstGeom prst="rect">
            <a:avLst/>
          </a:prstGeom>
        </p:spPr>
        <p:txBody>
          <a:bodyPr anchor="t" rtlCol="false" tIns="0" lIns="0" bIns="0" rIns="0">
            <a:spAutoFit/>
          </a:bodyPr>
          <a:lstStyle/>
          <a:p>
            <a:pPr algn="ctr" marL="0" indent="0" lvl="0">
              <a:lnSpc>
                <a:spcPts val="3919"/>
              </a:lnSpc>
              <a:spcBef>
                <a:spcPct val="0"/>
              </a:spcBef>
            </a:pPr>
            <a:r>
              <a:rPr lang="en-US" sz="2799">
                <a:solidFill>
                  <a:srgbClr val="000000"/>
                </a:solidFill>
                <a:latin typeface="Work Sans"/>
                <a:ea typeface="Work Sans"/>
                <a:cs typeface="Work Sans"/>
                <a:sym typeface="Work Sans"/>
              </a:rPr>
              <a:t>Trưởng dự</a:t>
            </a:r>
            <a:r>
              <a:rPr lang="en-US" sz="2799" strike="noStrike" u="none">
                <a:solidFill>
                  <a:srgbClr val="000000"/>
                </a:solidFill>
                <a:latin typeface="Work Sans"/>
                <a:ea typeface="Work Sans"/>
                <a:cs typeface="Work Sans"/>
                <a:sym typeface="Work Sans"/>
              </a:rPr>
              <a:t> án</a:t>
            </a:r>
          </a:p>
        </p:txBody>
      </p:sp>
      <p:sp>
        <p:nvSpPr>
          <p:cNvPr name="TextBox 17" id="17"/>
          <p:cNvSpPr txBox="true"/>
          <p:nvPr/>
        </p:nvSpPr>
        <p:spPr>
          <a:xfrm rot="0">
            <a:off x="612903" y="5359284"/>
            <a:ext cx="3318646" cy="490822"/>
          </a:xfrm>
          <a:prstGeom prst="rect">
            <a:avLst/>
          </a:prstGeom>
        </p:spPr>
        <p:txBody>
          <a:bodyPr anchor="t" rtlCol="false" tIns="0" lIns="0" bIns="0" rIns="0">
            <a:spAutoFit/>
          </a:bodyPr>
          <a:lstStyle/>
          <a:p>
            <a:pPr algn="ctr" marL="0" indent="0" lvl="0">
              <a:lnSpc>
                <a:spcPts val="3919"/>
              </a:lnSpc>
              <a:spcBef>
                <a:spcPct val="0"/>
              </a:spcBef>
            </a:pPr>
            <a:r>
              <a:rPr lang="en-US" sz="2799">
                <a:solidFill>
                  <a:srgbClr val="000000"/>
                </a:solidFill>
                <a:latin typeface="Work Sans"/>
                <a:ea typeface="Work Sans"/>
                <a:cs typeface="Work Sans"/>
                <a:sym typeface="Work Sans"/>
              </a:rPr>
              <a:t>Nhóm Nội du</a:t>
            </a:r>
            <a:r>
              <a:rPr lang="en-US" sz="2799" strike="noStrike" u="none">
                <a:solidFill>
                  <a:srgbClr val="000000"/>
                </a:solidFill>
                <a:latin typeface="Work Sans"/>
                <a:ea typeface="Work Sans"/>
                <a:cs typeface="Work Sans"/>
                <a:sym typeface="Work Sans"/>
              </a:rPr>
              <a:t>ng</a:t>
            </a:r>
          </a:p>
        </p:txBody>
      </p:sp>
      <p:sp>
        <p:nvSpPr>
          <p:cNvPr name="TextBox 18" id="18"/>
          <p:cNvSpPr txBox="true"/>
          <p:nvPr/>
        </p:nvSpPr>
        <p:spPr>
          <a:xfrm rot="0">
            <a:off x="568710" y="7189488"/>
            <a:ext cx="3407034" cy="767583"/>
          </a:xfrm>
          <a:prstGeom prst="rect">
            <a:avLst/>
          </a:prstGeom>
        </p:spPr>
        <p:txBody>
          <a:bodyPr anchor="t" rtlCol="false" tIns="0" lIns="0" bIns="0" rIns="0">
            <a:spAutoFit/>
          </a:bodyPr>
          <a:lstStyle/>
          <a:p>
            <a:pPr algn="ctr" marL="0" indent="0" lvl="0">
              <a:lnSpc>
                <a:spcPts val="2939"/>
              </a:lnSpc>
            </a:pPr>
            <a:r>
              <a:rPr lang="en-US" sz="2799">
                <a:solidFill>
                  <a:srgbClr val="000000"/>
                </a:solidFill>
                <a:latin typeface="Work Sans"/>
                <a:ea typeface="Work Sans"/>
                <a:cs typeface="Work Sans"/>
                <a:sym typeface="Work Sans"/>
              </a:rPr>
              <a:t>Nhóm Thiết kế và sáng tạo</a:t>
            </a:r>
            <a:r>
              <a:rPr lang="en-US" sz="2799" strike="noStrike" u="none">
                <a:solidFill>
                  <a:srgbClr val="000000"/>
                </a:solidFill>
                <a:latin typeface="Work Sans"/>
                <a:ea typeface="Work Sans"/>
                <a:cs typeface="Work Sans"/>
                <a:sym typeface="Work Sans"/>
              </a:rPr>
              <a:t> ấn </a:t>
            </a:r>
            <a:r>
              <a:rPr lang="en-US" sz="2799" strike="noStrike" u="none">
                <a:solidFill>
                  <a:srgbClr val="000000"/>
                </a:solidFill>
                <a:latin typeface="Work Sans"/>
                <a:ea typeface="Work Sans"/>
                <a:cs typeface="Work Sans"/>
                <a:sym typeface="Work Sans"/>
              </a:rPr>
              <a:t>phẩm</a:t>
            </a:r>
          </a:p>
        </p:txBody>
      </p:sp>
      <p:sp>
        <p:nvSpPr>
          <p:cNvPr name="TextBox 19" id="19"/>
          <p:cNvSpPr txBox="true"/>
          <p:nvPr/>
        </p:nvSpPr>
        <p:spPr>
          <a:xfrm rot="0">
            <a:off x="557011" y="8795205"/>
            <a:ext cx="3318646" cy="767583"/>
          </a:xfrm>
          <a:prstGeom prst="rect">
            <a:avLst/>
          </a:prstGeom>
        </p:spPr>
        <p:txBody>
          <a:bodyPr anchor="t" rtlCol="false" tIns="0" lIns="0" bIns="0" rIns="0">
            <a:spAutoFit/>
          </a:bodyPr>
          <a:lstStyle/>
          <a:p>
            <a:pPr algn="ctr" marL="0" indent="0" lvl="0">
              <a:lnSpc>
                <a:spcPts val="2939"/>
              </a:lnSpc>
            </a:pPr>
            <a:r>
              <a:rPr lang="en-US" sz="2799">
                <a:solidFill>
                  <a:srgbClr val="000000"/>
                </a:solidFill>
                <a:latin typeface="Work Sans"/>
                <a:ea typeface="Work Sans"/>
                <a:cs typeface="Work Sans"/>
                <a:sym typeface="Work Sans"/>
              </a:rPr>
              <a:t>Nhóm Phát</a:t>
            </a:r>
            <a:r>
              <a:rPr lang="en-US" sz="2799" strike="noStrike" u="none">
                <a:solidFill>
                  <a:srgbClr val="000000"/>
                </a:solidFill>
                <a:latin typeface="Work Sans"/>
                <a:ea typeface="Work Sans"/>
                <a:cs typeface="Work Sans"/>
                <a:sym typeface="Work Sans"/>
              </a:rPr>
              <a:t> triển</a:t>
            </a:r>
          </a:p>
          <a:p>
            <a:pPr algn="ctr" marL="0" indent="0" lvl="0">
              <a:lnSpc>
                <a:spcPts val="2939"/>
              </a:lnSpc>
            </a:pPr>
            <a:r>
              <a:rPr lang="en-US" sz="2799" strike="noStrike" u="none">
                <a:solidFill>
                  <a:srgbClr val="000000"/>
                </a:solidFill>
                <a:latin typeface="Work Sans"/>
                <a:ea typeface="Work Sans"/>
                <a:cs typeface="Work Sans"/>
                <a:sym typeface="Work Sans"/>
              </a:rPr>
              <a:t>Website</a:t>
            </a:r>
          </a:p>
        </p:txBody>
      </p:sp>
      <p:sp>
        <p:nvSpPr>
          <p:cNvPr name="TextBox 20" id="20"/>
          <p:cNvSpPr txBox="true"/>
          <p:nvPr/>
        </p:nvSpPr>
        <p:spPr>
          <a:xfrm rot="0">
            <a:off x="4249842" y="3753568"/>
            <a:ext cx="3797941" cy="490822"/>
          </a:xfrm>
          <a:prstGeom prst="rect">
            <a:avLst/>
          </a:prstGeom>
        </p:spPr>
        <p:txBody>
          <a:bodyPr anchor="t" rtlCol="false" tIns="0" lIns="0" bIns="0" rIns="0">
            <a:spAutoFit/>
          </a:bodyPr>
          <a:lstStyle/>
          <a:p>
            <a:pPr algn="ctr" marL="0" indent="0" lvl="0">
              <a:lnSpc>
                <a:spcPts val="3919"/>
              </a:lnSpc>
              <a:spcBef>
                <a:spcPct val="0"/>
              </a:spcBef>
            </a:pPr>
            <a:r>
              <a:rPr lang="en-US" sz="2799">
                <a:solidFill>
                  <a:srgbClr val="000000"/>
                </a:solidFill>
                <a:latin typeface="Work Sans"/>
                <a:ea typeface="Work Sans"/>
                <a:cs typeface="Work Sans"/>
                <a:sym typeface="Work Sans"/>
              </a:rPr>
              <a:t>Nguyễn Phương Thảo</a:t>
            </a:r>
          </a:p>
        </p:txBody>
      </p:sp>
      <p:sp>
        <p:nvSpPr>
          <p:cNvPr name="TextBox 21" id="21"/>
          <p:cNvSpPr txBox="true"/>
          <p:nvPr/>
        </p:nvSpPr>
        <p:spPr>
          <a:xfrm rot="0">
            <a:off x="4249842" y="5454534"/>
            <a:ext cx="3797941" cy="1138992"/>
          </a:xfrm>
          <a:prstGeom prst="rect">
            <a:avLst/>
          </a:prstGeom>
        </p:spPr>
        <p:txBody>
          <a:bodyPr anchor="t" rtlCol="false" tIns="0" lIns="0" bIns="0" rIns="0">
            <a:spAutoFit/>
          </a:bodyPr>
          <a:lstStyle/>
          <a:p>
            <a:pPr algn="l" marL="0" indent="0" lvl="0">
              <a:lnSpc>
                <a:spcPts val="2939"/>
              </a:lnSpc>
            </a:pPr>
            <a:r>
              <a:rPr lang="en-US" sz="2799">
                <a:solidFill>
                  <a:srgbClr val="000000"/>
                </a:solidFill>
                <a:latin typeface="Work Sans"/>
                <a:ea typeface="Work Sans"/>
                <a:cs typeface="Work Sans"/>
                <a:sym typeface="Work Sans"/>
              </a:rPr>
              <a:t>Nguyễn Phương Thảo Hoàng Hoài Thương Hoàng Thị Thảo</a:t>
            </a:r>
          </a:p>
        </p:txBody>
      </p:sp>
      <p:sp>
        <p:nvSpPr>
          <p:cNvPr name="TextBox 22" id="22"/>
          <p:cNvSpPr txBox="true"/>
          <p:nvPr/>
        </p:nvSpPr>
        <p:spPr>
          <a:xfrm rot="0">
            <a:off x="4249842" y="7189488"/>
            <a:ext cx="3797941" cy="767583"/>
          </a:xfrm>
          <a:prstGeom prst="rect">
            <a:avLst/>
          </a:prstGeom>
        </p:spPr>
        <p:txBody>
          <a:bodyPr anchor="t" rtlCol="false" tIns="0" lIns="0" bIns="0" rIns="0">
            <a:spAutoFit/>
          </a:bodyPr>
          <a:lstStyle/>
          <a:p>
            <a:pPr algn="l" marL="0" indent="0" lvl="0">
              <a:lnSpc>
                <a:spcPts val="2939"/>
              </a:lnSpc>
            </a:pPr>
            <a:r>
              <a:rPr lang="en-US" sz="2799">
                <a:solidFill>
                  <a:srgbClr val="000000"/>
                </a:solidFill>
                <a:latin typeface="Work Sans"/>
                <a:ea typeface="Work Sans"/>
                <a:cs typeface="Work Sans"/>
                <a:sym typeface="Work Sans"/>
              </a:rPr>
              <a:t>Nguyễn Anh Thư Hoàng Hoài Thương</a:t>
            </a:r>
          </a:p>
        </p:txBody>
      </p:sp>
      <p:sp>
        <p:nvSpPr>
          <p:cNvPr name="TextBox 23" id="23"/>
          <p:cNvSpPr txBox="true"/>
          <p:nvPr/>
        </p:nvSpPr>
        <p:spPr>
          <a:xfrm rot="0">
            <a:off x="4249842" y="8795205"/>
            <a:ext cx="3797941" cy="767583"/>
          </a:xfrm>
          <a:prstGeom prst="rect">
            <a:avLst/>
          </a:prstGeom>
        </p:spPr>
        <p:txBody>
          <a:bodyPr anchor="t" rtlCol="false" tIns="0" lIns="0" bIns="0" rIns="0">
            <a:spAutoFit/>
          </a:bodyPr>
          <a:lstStyle/>
          <a:p>
            <a:pPr algn="l">
              <a:lnSpc>
                <a:spcPts val="2939"/>
              </a:lnSpc>
            </a:pPr>
            <a:r>
              <a:rPr lang="en-US" sz="2799">
                <a:solidFill>
                  <a:srgbClr val="000000"/>
                </a:solidFill>
                <a:latin typeface="Work Sans"/>
                <a:ea typeface="Work Sans"/>
                <a:cs typeface="Work Sans"/>
                <a:sym typeface="Work Sans"/>
              </a:rPr>
              <a:t>Lê Thanh Thảo </a:t>
            </a:r>
          </a:p>
          <a:p>
            <a:pPr algn="l" marL="0" indent="0" lvl="0">
              <a:lnSpc>
                <a:spcPts val="2939"/>
              </a:lnSpc>
            </a:pPr>
            <a:r>
              <a:rPr lang="en-US" sz="2799">
                <a:solidFill>
                  <a:srgbClr val="000000"/>
                </a:solidFill>
                <a:latin typeface="Work Sans"/>
                <a:ea typeface="Work Sans"/>
                <a:cs typeface="Work Sans"/>
                <a:sym typeface="Work Sans"/>
              </a:rPr>
              <a:t>Hoàng Thị Thảo</a:t>
            </a:r>
          </a:p>
        </p:txBody>
      </p:sp>
      <p:sp>
        <p:nvSpPr>
          <p:cNvPr name="TextBox 24" id="24"/>
          <p:cNvSpPr txBox="true"/>
          <p:nvPr/>
        </p:nvSpPr>
        <p:spPr>
          <a:xfrm rot="0">
            <a:off x="8695483" y="3848818"/>
            <a:ext cx="9264990" cy="1138992"/>
          </a:xfrm>
          <a:prstGeom prst="rect">
            <a:avLst/>
          </a:prstGeom>
        </p:spPr>
        <p:txBody>
          <a:bodyPr anchor="t" rtlCol="false" tIns="0" lIns="0" bIns="0" rIns="0">
            <a:spAutoFit/>
          </a:bodyPr>
          <a:lstStyle/>
          <a:p>
            <a:pPr algn="l" marL="0" indent="0" lvl="0">
              <a:lnSpc>
                <a:spcPts val="2939"/>
              </a:lnSpc>
            </a:pPr>
            <a:r>
              <a:rPr lang="en-US" sz="2799">
                <a:solidFill>
                  <a:srgbClr val="000000"/>
                </a:solidFill>
                <a:latin typeface="Work Sans"/>
                <a:ea typeface="Work Sans"/>
                <a:cs typeface="Work Sans"/>
                <a:sym typeface="Work Sans"/>
              </a:rPr>
              <a:t>Điều phối dự án, đảm bảo tiến độ, chất lượng và ngân sách; Phê duyệt nội dung, xử lý</a:t>
            </a:r>
            <a:r>
              <a:rPr lang="en-US" sz="2799" strike="noStrike" u="none">
                <a:solidFill>
                  <a:srgbClr val="000000"/>
                </a:solidFill>
                <a:latin typeface="Work Sans"/>
                <a:ea typeface="Work Sans"/>
                <a:cs typeface="Work Sans"/>
                <a:sym typeface="Work Sans"/>
              </a:rPr>
              <a:t> vấn đề phát sinh và quản lý rủi ro.</a:t>
            </a:r>
          </a:p>
        </p:txBody>
      </p:sp>
      <p:sp>
        <p:nvSpPr>
          <p:cNvPr name="TextBox 25" id="25"/>
          <p:cNvSpPr txBox="true"/>
          <p:nvPr/>
        </p:nvSpPr>
        <p:spPr>
          <a:xfrm rot="0">
            <a:off x="8695483" y="5454534"/>
            <a:ext cx="9264990" cy="1138992"/>
          </a:xfrm>
          <a:prstGeom prst="rect">
            <a:avLst/>
          </a:prstGeom>
        </p:spPr>
        <p:txBody>
          <a:bodyPr anchor="t" rtlCol="false" tIns="0" lIns="0" bIns="0" rIns="0">
            <a:spAutoFit/>
          </a:bodyPr>
          <a:lstStyle/>
          <a:p>
            <a:pPr algn="l" marL="0" indent="0" lvl="0">
              <a:lnSpc>
                <a:spcPts val="2939"/>
              </a:lnSpc>
            </a:pPr>
            <a:r>
              <a:rPr lang="en-US" sz="2799">
                <a:solidFill>
                  <a:srgbClr val="000000"/>
                </a:solidFill>
                <a:latin typeface="Work Sans"/>
                <a:ea typeface="Work Sans"/>
                <a:cs typeface="Work Sans"/>
                <a:sym typeface="Work Sans"/>
              </a:rPr>
              <a:t>Nghiên cứu đối tượng, xây dựng nội dung truyền thông và kịch bản</a:t>
            </a:r>
            <a:r>
              <a:rPr lang="en-US" sz="2799" strike="noStrike" u="none">
                <a:solidFill>
                  <a:srgbClr val="000000"/>
                </a:solidFill>
                <a:latin typeface="Work Sans"/>
                <a:ea typeface="Work Sans"/>
                <a:cs typeface="Work Sans"/>
                <a:sym typeface="Work Sans"/>
              </a:rPr>
              <a:t> chi tiết cho các ấn phẩm video và chuỗi bài đăng định hướng.</a:t>
            </a:r>
          </a:p>
        </p:txBody>
      </p:sp>
      <p:sp>
        <p:nvSpPr>
          <p:cNvPr name="TextBox 26" id="26"/>
          <p:cNvSpPr txBox="true"/>
          <p:nvPr/>
        </p:nvSpPr>
        <p:spPr>
          <a:xfrm rot="0">
            <a:off x="8695483" y="7189488"/>
            <a:ext cx="9264990" cy="1138992"/>
          </a:xfrm>
          <a:prstGeom prst="rect">
            <a:avLst/>
          </a:prstGeom>
        </p:spPr>
        <p:txBody>
          <a:bodyPr anchor="t" rtlCol="false" tIns="0" lIns="0" bIns="0" rIns="0">
            <a:spAutoFit/>
          </a:bodyPr>
          <a:lstStyle/>
          <a:p>
            <a:pPr algn="just" marL="0" indent="0" lvl="0">
              <a:lnSpc>
                <a:spcPts val="2939"/>
              </a:lnSpc>
            </a:pPr>
            <a:r>
              <a:rPr lang="en-US" sz="2799">
                <a:solidFill>
                  <a:srgbClr val="000000"/>
                </a:solidFill>
                <a:latin typeface="Work Sans"/>
                <a:ea typeface="Work Sans"/>
                <a:cs typeface="Work Sans"/>
                <a:sym typeface="Work Sans"/>
              </a:rPr>
              <a:t>Xây dựng bộ nhận diện thương hiệu cho sự kiện OpenDay (Key Visual). Thiết kế poster cho bài đăng mạng xã hội. Sản xuất </a:t>
            </a:r>
            <a:r>
              <a:rPr lang="en-US" sz="2799" strike="noStrike" u="none">
                <a:solidFill>
                  <a:srgbClr val="000000"/>
                </a:solidFill>
                <a:latin typeface="Work Sans"/>
                <a:ea typeface="Work Sans"/>
                <a:cs typeface="Work Sans"/>
                <a:sym typeface="Work Sans"/>
              </a:rPr>
              <a:t>các nội dung video ngắn.</a:t>
            </a:r>
          </a:p>
        </p:txBody>
      </p:sp>
      <p:sp>
        <p:nvSpPr>
          <p:cNvPr name="TextBox 27" id="27"/>
          <p:cNvSpPr txBox="true"/>
          <p:nvPr/>
        </p:nvSpPr>
        <p:spPr>
          <a:xfrm rot="0">
            <a:off x="8695483" y="8795205"/>
            <a:ext cx="9264990" cy="2624627"/>
          </a:xfrm>
          <a:prstGeom prst="rect">
            <a:avLst/>
          </a:prstGeom>
        </p:spPr>
        <p:txBody>
          <a:bodyPr anchor="t" rtlCol="false" tIns="0" lIns="0" bIns="0" rIns="0">
            <a:spAutoFit/>
          </a:bodyPr>
          <a:lstStyle/>
          <a:p>
            <a:pPr algn="just" marL="0" indent="0" lvl="0">
              <a:lnSpc>
                <a:spcPts val="2939"/>
              </a:lnSpc>
            </a:pPr>
            <a:r>
              <a:rPr lang="en-US" sz="2799">
                <a:solidFill>
                  <a:srgbClr val="000000"/>
                </a:solidFill>
                <a:latin typeface="Work Sans"/>
                <a:ea typeface="Work Sans"/>
                <a:cs typeface="Work Sans"/>
                <a:sym typeface="Work Sans"/>
              </a:rPr>
              <a:t>Thiết kế và phát triển Website, tối ưu trải nghiệm người dùng, đảm bảo vận hành ổn định và xây dựng kị</a:t>
            </a:r>
            <a:r>
              <a:rPr lang="en-US" sz="2799" strike="noStrike" u="none">
                <a:solidFill>
                  <a:srgbClr val="000000"/>
                </a:solidFill>
                <a:latin typeface="Work Sans"/>
                <a:ea typeface="Work Sans"/>
                <a:cs typeface="Work Sans"/>
                <a:sym typeface="Work Sans"/>
              </a:rPr>
              <a:t>ch bản FAQ cho Chatbot.</a:t>
            </a:r>
          </a:p>
          <a:p>
            <a:pPr algn="just" marL="0" indent="0" lvl="0">
              <a:lnSpc>
                <a:spcPts val="2939"/>
              </a:lnSpc>
            </a:pPr>
          </a:p>
          <a:p>
            <a:pPr algn="just" marL="0" indent="0" lvl="0">
              <a:lnSpc>
                <a:spcPts val="2939"/>
              </a:lnSpc>
            </a:pPr>
          </a:p>
          <a:p>
            <a:pPr algn="just" marL="0" indent="0" lvl="0">
              <a:lnSpc>
                <a:spcPts val="2939"/>
              </a:lnSpc>
            </a:pPr>
          </a:p>
          <a:p>
            <a:pPr algn="just" marL="0" indent="0" lvl="0">
              <a:lnSpc>
                <a:spcPts val="2939"/>
              </a:lnSpc>
            </a:pPr>
          </a:p>
        </p:txBody>
      </p:sp>
      <p:sp>
        <p:nvSpPr>
          <p:cNvPr name="AutoShape 28" id="28"/>
          <p:cNvSpPr/>
          <p:nvPr/>
        </p:nvSpPr>
        <p:spPr>
          <a:xfrm>
            <a:off x="724986" y="7011369"/>
            <a:ext cx="18293048" cy="0"/>
          </a:xfrm>
          <a:prstGeom prst="line">
            <a:avLst/>
          </a:prstGeom>
          <a:ln cap="flat" w="47625">
            <a:solidFill>
              <a:srgbClr val="000000">
                <a:alpha val="47843"/>
              </a:srgbClr>
            </a:solidFill>
            <a:prstDash val="lgDash"/>
            <a:headEnd type="none" len="sm" w="sm"/>
            <a:tailEnd type="none" len="sm" w="sm"/>
          </a:ln>
        </p:spPr>
      </p:sp>
      <p:sp>
        <p:nvSpPr>
          <p:cNvPr name="AutoShape 29" id="29"/>
          <p:cNvSpPr/>
          <p:nvPr/>
        </p:nvSpPr>
        <p:spPr>
          <a:xfrm>
            <a:off x="724986" y="5167312"/>
            <a:ext cx="18499797" cy="0"/>
          </a:xfrm>
          <a:prstGeom prst="line">
            <a:avLst/>
          </a:prstGeom>
          <a:ln cap="flat" w="47625">
            <a:solidFill>
              <a:srgbClr val="000000">
                <a:alpha val="47843"/>
              </a:srgbClr>
            </a:solidFill>
            <a:prstDash val="lgDash"/>
            <a:headEnd type="none" len="sm" w="sm"/>
            <a:tailEnd type="none" len="sm" w="sm"/>
          </a:ln>
        </p:spPr>
      </p:sp>
      <p:sp>
        <p:nvSpPr>
          <p:cNvPr name="AutoShape 30" id="30"/>
          <p:cNvSpPr/>
          <p:nvPr/>
        </p:nvSpPr>
        <p:spPr>
          <a:xfrm>
            <a:off x="724986" y="8649669"/>
            <a:ext cx="18470261" cy="0"/>
          </a:xfrm>
          <a:prstGeom prst="line">
            <a:avLst/>
          </a:prstGeom>
          <a:ln cap="flat" w="47625">
            <a:solidFill>
              <a:srgbClr val="000000">
                <a:alpha val="47843"/>
              </a:srgbClr>
            </a:solidFill>
            <a:prstDash val="lgDash"/>
            <a:headEnd type="none" len="sm" w="sm"/>
            <a:tailEnd type="none" len="sm" w="sm"/>
          </a:ln>
        </p:spPr>
      </p:sp>
      <p:sp>
        <p:nvSpPr>
          <p:cNvPr name="AutoShape 31" id="31"/>
          <p:cNvSpPr/>
          <p:nvPr/>
        </p:nvSpPr>
        <p:spPr>
          <a:xfrm flipV="true">
            <a:off x="8511990" y="2957344"/>
            <a:ext cx="0" cy="6945967"/>
          </a:xfrm>
          <a:prstGeom prst="line">
            <a:avLst/>
          </a:prstGeom>
          <a:ln cap="flat" w="47625">
            <a:solidFill>
              <a:srgbClr val="000000">
                <a:alpha val="47843"/>
              </a:srgbClr>
            </a:solidFill>
            <a:prstDash val="lgDash"/>
            <a:headEnd type="none" len="sm" w="sm"/>
            <a:tailEnd type="none" len="sm" w="sm"/>
          </a:ln>
        </p:spPr>
      </p:sp>
      <p:sp>
        <p:nvSpPr>
          <p:cNvPr name="AutoShape 32" id="32"/>
          <p:cNvSpPr/>
          <p:nvPr/>
        </p:nvSpPr>
        <p:spPr>
          <a:xfrm flipH="true" flipV="true">
            <a:off x="3975744" y="2957344"/>
            <a:ext cx="0" cy="6945967"/>
          </a:xfrm>
          <a:prstGeom prst="line">
            <a:avLst/>
          </a:prstGeom>
          <a:ln cap="flat" w="47625">
            <a:solidFill>
              <a:srgbClr val="000000">
                <a:alpha val="47843"/>
              </a:srgbClr>
            </a:solidFill>
            <a:prstDash val="lgDash"/>
            <a:headEnd type="none" len="sm" w="sm"/>
            <a:tailEnd type="none" len="sm" w="sm"/>
          </a:ln>
        </p:spPr>
      </p:sp>
      <p:sp>
        <p:nvSpPr>
          <p:cNvPr name="AutoShape 33" id="33"/>
          <p:cNvSpPr/>
          <p:nvPr/>
        </p:nvSpPr>
        <p:spPr>
          <a:xfrm>
            <a:off x="807299" y="3529012"/>
            <a:ext cx="18151940" cy="0"/>
          </a:xfrm>
          <a:prstGeom prst="line">
            <a:avLst/>
          </a:prstGeom>
          <a:ln cap="flat" w="47625">
            <a:solidFill>
              <a:srgbClr val="000000">
                <a:alpha val="47843"/>
              </a:srgbClr>
            </a:solidFill>
            <a:prstDash val="lgDash"/>
            <a:headEnd type="none" len="sm" w="sm"/>
            <a:tailEnd type="none" len="sm" w="sm"/>
          </a:ln>
        </p:spPr>
      </p:sp>
      <p:grpSp>
        <p:nvGrpSpPr>
          <p:cNvPr name="Group 34" id="34"/>
          <p:cNvGrpSpPr/>
          <p:nvPr/>
        </p:nvGrpSpPr>
        <p:grpSpPr>
          <a:xfrm rot="0">
            <a:off x="497417" y="490255"/>
            <a:ext cx="8024176" cy="888116"/>
            <a:chOff x="0" y="0"/>
            <a:chExt cx="10698902" cy="1184154"/>
          </a:xfrm>
        </p:grpSpPr>
        <p:grpSp>
          <p:nvGrpSpPr>
            <p:cNvPr name="Group 35" id="35"/>
            <p:cNvGrpSpPr/>
            <p:nvPr/>
          </p:nvGrpSpPr>
          <p:grpSpPr>
            <a:xfrm rot="0">
              <a:off x="0" y="0"/>
              <a:ext cx="10626864" cy="1184154"/>
              <a:chOff x="0" y="0"/>
              <a:chExt cx="2099134" cy="233907"/>
            </a:xfrm>
          </p:grpSpPr>
          <p:sp>
            <p:nvSpPr>
              <p:cNvPr name="Freeform 36" id="36"/>
              <p:cNvSpPr/>
              <p:nvPr/>
            </p:nvSpPr>
            <p:spPr>
              <a:xfrm flipH="false" flipV="false" rot="0">
                <a:off x="0" y="0"/>
                <a:ext cx="2099134" cy="233907"/>
              </a:xfrm>
              <a:custGeom>
                <a:avLst/>
                <a:gdLst/>
                <a:ahLst/>
                <a:cxnLst/>
                <a:rect r="r" b="b" t="t" l="l"/>
                <a:pathLst>
                  <a:path h="233907" w="2099134">
                    <a:moveTo>
                      <a:pt x="97136" y="0"/>
                    </a:moveTo>
                    <a:lnTo>
                      <a:pt x="2001997" y="0"/>
                    </a:lnTo>
                    <a:cubicBezTo>
                      <a:pt x="2055644" y="0"/>
                      <a:pt x="2099134" y="43489"/>
                      <a:pt x="2099134" y="97136"/>
                    </a:cubicBezTo>
                    <a:lnTo>
                      <a:pt x="2099134" y="136771"/>
                    </a:lnTo>
                    <a:cubicBezTo>
                      <a:pt x="2099134" y="190418"/>
                      <a:pt x="2055644" y="233907"/>
                      <a:pt x="2001997" y="233907"/>
                    </a:cubicBezTo>
                    <a:lnTo>
                      <a:pt x="97136" y="233907"/>
                    </a:lnTo>
                    <a:cubicBezTo>
                      <a:pt x="43489" y="233907"/>
                      <a:pt x="0" y="190418"/>
                      <a:pt x="0" y="136771"/>
                    </a:cubicBezTo>
                    <a:lnTo>
                      <a:pt x="0" y="97136"/>
                    </a:lnTo>
                    <a:cubicBezTo>
                      <a:pt x="0" y="43489"/>
                      <a:pt x="43489" y="0"/>
                      <a:pt x="97136" y="0"/>
                    </a:cubicBezTo>
                    <a:close/>
                  </a:path>
                </a:pathLst>
              </a:custGeom>
              <a:solidFill>
                <a:srgbClr val="FFFFFF"/>
              </a:solidFill>
              <a:ln cap="rnd">
                <a:noFill/>
                <a:prstDash val="solid"/>
                <a:round/>
              </a:ln>
            </p:spPr>
          </p:sp>
          <p:sp>
            <p:nvSpPr>
              <p:cNvPr name="TextBox 37" id="37"/>
              <p:cNvSpPr txBox="true"/>
              <p:nvPr/>
            </p:nvSpPr>
            <p:spPr>
              <a:xfrm>
                <a:off x="0" y="-57150"/>
                <a:ext cx="2099134" cy="291057"/>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357186" y="141884"/>
              <a:ext cx="103417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2. Cơ cấu tổ chức dự án</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97417" y="490255"/>
            <a:ext cx="8024176" cy="888116"/>
            <a:chOff x="0" y="0"/>
            <a:chExt cx="10698902" cy="1184154"/>
          </a:xfrm>
        </p:grpSpPr>
        <p:grpSp>
          <p:nvGrpSpPr>
            <p:cNvPr name="Group 6" id="6"/>
            <p:cNvGrpSpPr/>
            <p:nvPr/>
          </p:nvGrpSpPr>
          <p:grpSpPr>
            <a:xfrm rot="0">
              <a:off x="0" y="0"/>
              <a:ext cx="10626864" cy="1184154"/>
              <a:chOff x="0" y="0"/>
              <a:chExt cx="2099134" cy="233907"/>
            </a:xfrm>
          </p:grpSpPr>
          <p:sp>
            <p:nvSpPr>
              <p:cNvPr name="Freeform 7" id="7"/>
              <p:cNvSpPr/>
              <p:nvPr/>
            </p:nvSpPr>
            <p:spPr>
              <a:xfrm flipH="false" flipV="false" rot="0">
                <a:off x="0" y="0"/>
                <a:ext cx="2099134" cy="233907"/>
              </a:xfrm>
              <a:custGeom>
                <a:avLst/>
                <a:gdLst/>
                <a:ahLst/>
                <a:cxnLst/>
                <a:rect r="r" b="b" t="t" l="l"/>
                <a:pathLst>
                  <a:path h="233907" w="2099134">
                    <a:moveTo>
                      <a:pt x="97136" y="0"/>
                    </a:moveTo>
                    <a:lnTo>
                      <a:pt x="2001997" y="0"/>
                    </a:lnTo>
                    <a:cubicBezTo>
                      <a:pt x="2055644" y="0"/>
                      <a:pt x="2099134" y="43489"/>
                      <a:pt x="2099134" y="97136"/>
                    </a:cubicBezTo>
                    <a:lnTo>
                      <a:pt x="2099134" y="136771"/>
                    </a:lnTo>
                    <a:cubicBezTo>
                      <a:pt x="2099134" y="190418"/>
                      <a:pt x="2055644" y="233907"/>
                      <a:pt x="2001997" y="233907"/>
                    </a:cubicBezTo>
                    <a:lnTo>
                      <a:pt x="97136" y="233907"/>
                    </a:lnTo>
                    <a:cubicBezTo>
                      <a:pt x="43489" y="233907"/>
                      <a:pt x="0" y="190418"/>
                      <a:pt x="0" y="136771"/>
                    </a:cubicBezTo>
                    <a:lnTo>
                      <a:pt x="0" y="97136"/>
                    </a:lnTo>
                    <a:cubicBezTo>
                      <a:pt x="0" y="43489"/>
                      <a:pt x="43489" y="0"/>
                      <a:pt x="97136" y="0"/>
                    </a:cubicBezTo>
                    <a:close/>
                  </a:path>
                </a:pathLst>
              </a:custGeom>
              <a:solidFill>
                <a:srgbClr val="FFFFFF"/>
              </a:solidFill>
              <a:ln cap="rnd">
                <a:noFill/>
                <a:prstDash val="solid"/>
                <a:round/>
              </a:ln>
            </p:spPr>
          </p:sp>
          <p:sp>
            <p:nvSpPr>
              <p:cNvPr name="TextBox 8" id="8"/>
              <p:cNvSpPr txBox="true"/>
              <p:nvPr/>
            </p:nvSpPr>
            <p:spPr>
              <a:xfrm>
                <a:off x="0" y="-57150"/>
                <a:ext cx="2099134" cy="29105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57186" y="141884"/>
              <a:ext cx="103417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3. Kế hoạch công việc</a:t>
              </a:r>
            </a:p>
          </p:txBody>
        </p:sp>
      </p:grpSp>
      <p:grpSp>
        <p:nvGrpSpPr>
          <p:cNvPr name="Group 10" id="10"/>
          <p:cNvGrpSpPr/>
          <p:nvPr/>
        </p:nvGrpSpPr>
        <p:grpSpPr>
          <a:xfrm rot="0">
            <a:off x="16688530" y="490255"/>
            <a:ext cx="1118439" cy="888116"/>
            <a:chOff x="0" y="0"/>
            <a:chExt cx="294568" cy="233907"/>
          </a:xfrm>
        </p:grpSpPr>
        <p:sp>
          <p:nvSpPr>
            <p:cNvPr name="Freeform 11" id="11"/>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2" id="12"/>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807299" y="1768923"/>
            <a:ext cx="15003841" cy="1163519"/>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0000"/>
                </a:solidFill>
                <a:latin typeface="Work Sans"/>
                <a:ea typeface="Work Sans"/>
                <a:cs typeface="Work Sans"/>
                <a:sym typeface="Work Sans"/>
              </a:rPr>
              <a:t>Hệ thống công việc thành 4 khối cấu trúc đại diện cho 4 giai đoạn và lĩnh vực chuyên môn then chốt. Dựa trên cấu trúc phân rã (WBS), đảm bảo tính không trùng lặp và không bỏ sót bất kỳ hạng mục nào trong suốt vòng đời dự án.</a:t>
            </a:r>
          </a:p>
        </p:txBody>
      </p:sp>
      <p:sp>
        <p:nvSpPr>
          <p:cNvPr name="TextBox 15" id="15"/>
          <p:cNvSpPr txBox="true"/>
          <p:nvPr/>
        </p:nvSpPr>
        <p:spPr>
          <a:xfrm rot="0">
            <a:off x="3603002" y="2985919"/>
            <a:ext cx="10722955" cy="396174"/>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Cấu trúc phân rã (Work Breakdow</a:t>
            </a:r>
            <a:r>
              <a:rPr lang="en-US" b="true" sz="2799" strike="noStrike" u="none">
                <a:solidFill>
                  <a:srgbClr val="000000"/>
                </a:solidFill>
                <a:latin typeface="Work Sans Bold"/>
                <a:ea typeface="Work Sans Bold"/>
                <a:cs typeface="Work Sans Bold"/>
                <a:sym typeface="Work Sans Bold"/>
              </a:rPr>
              <a:t>n Structure – WBS)</a:t>
            </a:r>
          </a:p>
        </p:txBody>
      </p:sp>
      <p:sp>
        <p:nvSpPr>
          <p:cNvPr name="TextBox 16" id="16"/>
          <p:cNvSpPr txBox="true"/>
          <p:nvPr/>
        </p:nvSpPr>
        <p:spPr>
          <a:xfrm rot="0">
            <a:off x="497417" y="3848100"/>
            <a:ext cx="3592745" cy="767583"/>
          </a:xfrm>
          <a:prstGeom prst="rect">
            <a:avLst/>
          </a:prstGeom>
        </p:spPr>
        <p:txBody>
          <a:bodyPr anchor="t" rtlCol="false" tIns="0" lIns="0" bIns="0" rIns="0">
            <a:spAutoFit/>
          </a:bodyPr>
          <a:lstStyle/>
          <a:p>
            <a:pPr algn="l" marL="0" indent="0" lvl="0">
              <a:lnSpc>
                <a:spcPts val="2939"/>
              </a:lnSpc>
            </a:pPr>
            <a:r>
              <a:rPr lang="en-US" b="true" sz="2799">
                <a:solidFill>
                  <a:srgbClr val="000000"/>
                </a:solidFill>
                <a:latin typeface="Work Sans Bold"/>
                <a:ea typeface="Work Sans Bold"/>
                <a:cs typeface="Work Sans Bold"/>
                <a:sym typeface="Work Sans Bold"/>
              </a:rPr>
              <a:t>1. Nghiên cứu và lập kế hoạch</a:t>
            </a:r>
          </a:p>
        </p:txBody>
      </p:sp>
      <p:sp>
        <p:nvSpPr>
          <p:cNvPr name="AutoShape 17" id="17"/>
          <p:cNvSpPr/>
          <p:nvPr/>
        </p:nvSpPr>
        <p:spPr>
          <a:xfrm flipV="true">
            <a:off x="4430323" y="3529012"/>
            <a:ext cx="0" cy="5635158"/>
          </a:xfrm>
          <a:prstGeom prst="line">
            <a:avLst/>
          </a:prstGeom>
          <a:ln cap="flat" w="47625">
            <a:solidFill>
              <a:srgbClr val="000000">
                <a:alpha val="47843"/>
              </a:srgbClr>
            </a:solidFill>
            <a:prstDash val="solid"/>
            <a:headEnd type="none" len="sm" w="sm"/>
            <a:tailEnd type="none" len="sm" w="sm"/>
          </a:ln>
        </p:spPr>
      </p:sp>
      <p:sp>
        <p:nvSpPr>
          <p:cNvPr name="TextBox 18" id="18"/>
          <p:cNvSpPr txBox="true"/>
          <p:nvPr/>
        </p:nvSpPr>
        <p:spPr>
          <a:xfrm rot="0">
            <a:off x="497417" y="4891961"/>
            <a:ext cx="3682037" cy="1188283"/>
          </a:xfrm>
          <a:prstGeom prst="rect">
            <a:avLst/>
          </a:prstGeom>
        </p:spPr>
        <p:txBody>
          <a:bodyPr anchor="t" rtlCol="false" tIns="0" lIns="0" bIns="0" rIns="0">
            <a:spAutoFit/>
          </a:bodyPr>
          <a:lstStyle/>
          <a:p>
            <a:pPr algn="l" marL="0" indent="0" lvl="0">
              <a:lnSpc>
                <a:spcPts val="3079"/>
              </a:lnSpc>
            </a:pPr>
            <a:r>
              <a:rPr lang="en-US" sz="2799">
                <a:solidFill>
                  <a:srgbClr val="000000"/>
                </a:solidFill>
                <a:latin typeface="Work Sans"/>
                <a:ea typeface="Work Sans"/>
                <a:cs typeface="Work Sans"/>
                <a:sym typeface="Work Sans"/>
              </a:rPr>
              <a:t>1.1 Báo cáo phân tích thị</a:t>
            </a:r>
            <a:r>
              <a:rPr lang="en-US" sz="2799" strike="noStrike" u="none">
                <a:solidFill>
                  <a:srgbClr val="000000"/>
                </a:solidFill>
                <a:latin typeface="Work Sans"/>
                <a:ea typeface="Work Sans"/>
                <a:cs typeface="Work Sans"/>
                <a:sym typeface="Work Sans"/>
              </a:rPr>
              <a:t> trường &amp; đối t</a:t>
            </a:r>
            <a:r>
              <a:rPr lang="en-US" sz="2799" strike="noStrike" u="none">
                <a:solidFill>
                  <a:srgbClr val="000000"/>
                </a:solidFill>
                <a:latin typeface="Work Sans"/>
                <a:ea typeface="Work Sans"/>
                <a:cs typeface="Work Sans"/>
                <a:sym typeface="Work Sans"/>
              </a:rPr>
              <a:t>ượng</a:t>
            </a:r>
          </a:p>
        </p:txBody>
      </p:sp>
      <p:sp>
        <p:nvSpPr>
          <p:cNvPr name="AutoShape 19" id="19"/>
          <p:cNvSpPr/>
          <p:nvPr/>
        </p:nvSpPr>
        <p:spPr>
          <a:xfrm>
            <a:off x="480736" y="3529012"/>
            <a:ext cx="18478502" cy="0"/>
          </a:xfrm>
          <a:prstGeom prst="line">
            <a:avLst/>
          </a:prstGeom>
          <a:ln cap="flat" w="47625">
            <a:solidFill>
              <a:srgbClr val="000000">
                <a:alpha val="47843"/>
              </a:srgbClr>
            </a:solidFill>
            <a:prstDash val="solid"/>
            <a:headEnd type="none" len="sm" w="sm"/>
            <a:tailEnd type="none" len="sm" w="sm"/>
          </a:ln>
        </p:spPr>
      </p:sp>
      <p:sp>
        <p:nvSpPr>
          <p:cNvPr name="TextBox 20" id="20"/>
          <p:cNvSpPr txBox="true"/>
          <p:nvPr/>
        </p:nvSpPr>
        <p:spPr>
          <a:xfrm rot="0">
            <a:off x="497417" y="6342182"/>
            <a:ext cx="3715398" cy="797692"/>
          </a:xfrm>
          <a:prstGeom prst="rect">
            <a:avLst/>
          </a:prstGeom>
        </p:spPr>
        <p:txBody>
          <a:bodyPr anchor="t" rtlCol="false" tIns="0" lIns="0" bIns="0" rIns="0">
            <a:spAutoFit/>
          </a:bodyPr>
          <a:lstStyle/>
          <a:p>
            <a:pPr algn="l" marL="0" indent="0" lvl="0">
              <a:lnSpc>
                <a:spcPts val="3079"/>
              </a:lnSpc>
            </a:pPr>
            <a:r>
              <a:rPr lang="en-US" sz="2799">
                <a:solidFill>
                  <a:srgbClr val="000000"/>
                </a:solidFill>
                <a:latin typeface="Work Sans"/>
                <a:ea typeface="Work Sans"/>
                <a:cs typeface="Work Sans"/>
                <a:sym typeface="Work Sans"/>
              </a:rPr>
              <a:t>1.2 Tài liệu chân dung khách hàng mục tiêu </a:t>
            </a:r>
          </a:p>
        </p:txBody>
      </p:sp>
      <p:sp>
        <p:nvSpPr>
          <p:cNvPr name="TextBox 21" id="21"/>
          <p:cNvSpPr txBox="true"/>
          <p:nvPr/>
        </p:nvSpPr>
        <p:spPr>
          <a:xfrm rot="0">
            <a:off x="480736" y="7401811"/>
            <a:ext cx="3715398" cy="1578875"/>
          </a:xfrm>
          <a:prstGeom prst="rect">
            <a:avLst/>
          </a:prstGeom>
        </p:spPr>
        <p:txBody>
          <a:bodyPr anchor="t" rtlCol="false" tIns="0" lIns="0" bIns="0" rIns="0">
            <a:spAutoFit/>
          </a:bodyPr>
          <a:lstStyle/>
          <a:p>
            <a:pPr algn="l">
              <a:lnSpc>
                <a:spcPts val="3079"/>
              </a:lnSpc>
            </a:pPr>
            <a:r>
              <a:rPr lang="en-US" sz="2799">
                <a:solidFill>
                  <a:srgbClr val="000000"/>
                </a:solidFill>
                <a:latin typeface="Work Sans"/>
                <a:ea typeface="Work Sans"/>
                <a:cs typeface="Work Sans"/>
                <a:sym typeface="Work Sans"/>
              </a:rPr>
              <a:t>1.3 Kế hoạch tổng thể chiến dịch </a:t>
            </a:r>
          </a:p>
          <a:p>
            <a:pPr algn="l" marL="0" indent="0" lvl="0">
              <a:lnSpc>
                <a:spcPts val="3079"/>
              </a:lnSpc>
            </a:pPr>
            <a:r>
              <a:rPr lang="en-US" sz="2799">
                <a:solidFill>
                  <a:srgbClr val="000000"/>
                </a:solidFill>
                <a:latin typeface="Work Sans"/>
                <a:ea typeface="Work Sans"/>
                <a:cs typeface="Work Sans"/>
                <a:sym typeface="Work Sans"/>
              </a:rPr>
              <a:t>(Nhân sự, ngân sách, timeline, rủi ro)</a:t>
            </a:r>
          </a:p>
        </p:txBody>
      </p:sp>
      <p:sp>
        <p:nvSpPr>
          <p:cNvPr name="TextBox 22" id="22"/>
          <p:cNvSpPr txBox="true"/>
          <p:nvPr/>
        </p:nvSpPr>
        <p:spPr>
          <a:xfrm rot="0">
            <a:off x="4711311" y="4033804"/>
            <a:ext cx="3592745" cy="396174"/>
          </a:xfrm>
          <a:prstGeom prst="rect">
            <a:avLst/>
          </a:prstGeom>
        </p:spPr>
        <p:txBody>
          <a:bodyPr anchor="t" rtlCol="false" tIns="0" lIns="0" bIns="0" rIns="0">
            <a:spAutoFit/>
          </a:bodyPr>
          <a:lstStyle/>
          <a:p>
            <a:pPr algn="l" marL="0" indent="0" lvl="0">
              <a:lnSpc>
                <a:spcPts val="2939"/>
              </a:lnSpc>
            </a:pPr>
            <a:r>
              <a:rPr lang="en-US" b="true" sz="2799">
                <a:solidFill>
                  <a:srgbClr val="000000"/>
                </a:solidFill>
                <a:latin typeface="Work Sans Bold"/>
                <a:ea typeface="Work Sans Bold"/>
                <a:cs typeface="Work Sans Bold"/>
                <a:sym typeface="Work Sans Bold"/>
              </a:rPr>
              <a:t>2. Sản xuất nội dung</a:t>
            </a:r>
          </a:p>
        </p:txBody>
      </p:sp>
      <p:sp>
        <p:nvSpPr>
          <p:cNvPr name="TextBox 23" id="23"/>
          <p:cNvSpPr txBox="true"/>
          <p:nvPr/>
        </p:nvSpPr>
        <p:spPr>
          <a:xfrm rot="0">
            <a:off x="9428504" y="3848100"/>
            <a:ext cx="3313715" cy="767583"/>
          </a:xfrm>
          <a:prstGeom prst="rect">
            <a:avLst/>
          </a:prstGeom>
        </p:spPr>
        <p:txBody>
          <a:bodyPr anchor="t" rtlCol="false" tIns="0" lIns="0" bIns="0" rIns="0">
            <a:spAutoFit/>
          </a:bodyPr>
          <a:lstStyle/>
          <a:p>
            <a:pPr algn="l" marL="0" indent="0" lvl="0">
              <a:lnSpc>
                <a:spcPts val="2939"/>
              </a:lnSpc>
            </a:pPr>
            <a:r>
              <a:rPr lang="en-US" b="true" sz="2799">
                <a:solidFill>
                  <a:srgbClr val="000000"/>
                </a:solidFill>
                <a:latin typeface="Work Sans Bold"/>
                <a:ea typeface="Work Sans Bold"/>
                <a:cs typeface="Work Sans Bold"/>
                <a:sym typeface="Work Sans Bold"/>
              </a:rPr>
              <a:t>3. Marketing &amp; Truyền thông</a:t>
            </a:r>
          </a:p>
        </p:txBody>
      </p:sp>
      <p:sp>
        <p:nvSpPr>
          <p:cNvPr name="TextBox 24" id="24"/>
          <p:cNvSpPr txBox="true"/>
          <p:nvPr/>
        </p:nvSpPr>
        <p:spPr>
          <a:xfrm rot="0">
            <a:off x="13705529" y="4033804"/>
            <a:ext cx="4124663" cy="396174"/>
          </a:xfrm>
          <a:prstGeom prst="rect">
            <a:avLst/>
          </a:prstGeom>
        </p:spPr>
        <p:txBody>
          <a:bodyPr anchor="t" rtlCol="false" tIns="0" lIns="0" bIns="0" rIns="0">
            <a:spAutoFit/>
          </a:bodyPr>
          <a:lstStyle/>
          <a:p>
            <a:pPr algn="l" marL="0" indent="0" lvl="0">
              <a:lnSpc>
                <a:spcPts val="2939"/>
              </a:lnSpc>
            </a:pPr>
            <a:r>
              <a:rPr lang="en-US" b="true" sz="2799">
                <a:solidFill>
                  <a:srgbClr val="000000"/>
                </a:solidFill>
                <a:latin typeface="Work Sans Bold"/>
                <a:ea typeface="Work Sans Bold"/>
                <a:cs typeface="Work Sans Bold"/>
                <a:sym typeface="Work Sans Bold"/>
              </a:rPr>
              <a:t>4. Đo lường &amp; Báo cáo</a:t>
            </a:r>
          </a:p>
        </p:txBody>
      </p:sp>
      <p:sp>
        <p:nvSpPr>
          <p:cNvPr name="TextBox 25" id="25"/>
          <p:cNvSpPr txBox="true"/>
          <p:nvPr/>
        </p:nvSpPr>
        <p:spPr>
          <a:xfrm rot="0">
            <a:off x="4711311" y="4661105"/>
            <a:ext cx="2982708" cy="407101"/>
          </a:xfrm>
          <a:prstGeom prst="rect">
            <a:avLst/>
          </a:prstGeom>
        </p:spPr>
        <p:txBody>
          <a:bodyPr anchor="t" rtlCol="false" tIns="0" lIns="0" bIns="0" rIns="0">
            <a:spAutoFit/>
          </a:bodyPr>
          <a:lstStyle/>
          <a:p>
            <a:pPr algn="l" marL="0" indent="0" lvl="0">
              <a:lnSpc>
                <a:spcPts val="3079"/>
              </a:lnSpc>
            </a:pPr>
            <a:r>
              <a:rPr lang="en-US" sz="2799">
                <a:solidFill>
                  <a:srgbClr val="000000"/>
                </a:solidFill>
                <a:latin typeface="Work Sans"/>
                <a:ea typeface="Work Sans"/>
                <a:cs typeface="Work Sans"/>
                <a:sym typeface="Work Sans"/>
              </a:rPr>
              <a:t>2.1 Lên ý tưởng</a:t>
            </a:r>
          </a:p>
        </p:txBody>
      </p:sp>
      <p:sp>
        <p:nvSpPr>
          <p:cNvPr name="TextBox 26" id="26"/>
          <p:cNvSpPr txBox="true"/>
          <p:nvPr/>
        </p:nvSpPr>
        <p:spPr>
          <a:xfrm rot="0">
            <a:off x="5036762" y="5105036"/>
            <a:ext cx="3592745" cy="1578875"/>
          </a:xfrm>
          <a:prstGeom prst="rect">
            <a:avLst/>
          </a:prstGeom>
        </p:spPr>
        <p:txBody>
          <a:bodyPr anchor="t" rtlCol="false" tIns="0" lIns="0" bIns="0" rIns="0">
            <a:spAutoFit/>
          </a:bodyPr>
          <a:lstStyle/>
          <a:p>
            <a:pPr algn="l">
              <a:lnSpc>
                <a:spcPts val="3079"/>
              </a:lnSpc>
            </a:pPr>
            <a:r>
              <a:rPr lang="en-US" sz="2799" i="true">
                <a:solidFill>
                  <a:srgbClr val="000000"/>
                </a:solidFill>
                <a:latin typeface="Work Sans Italics"/>
                <a:ea typeface="Work Sans Italics"/>
                <a:cs typeface="Work Sans Italics"/>
                <a:sym typeface="Work Sans Italics"/>
              </a:rPr>
              <a:t>2.1.1 Brainstorm concept </a:t>
            </a:r>
          </a:p>
          <a:p>
            <a:pPr algn="l" marL="0" indent="0" lvl="0">
              <a:lnSpc>
                <a:spcPts val="3079"/>
              </a:lnSpc>
            </a:pPr>
            <a:r>
              <a:rPr lang="en-US" sz="2799" i="true">
                <a:solidFill>
                  <a:srgbClr val="000000"/>
                </a:solidFill>
                <a:latin typeface="Work Sans Italics"/>
                <a:ea typeface="Work Sans Italics"/>
                <a:cs typeface="Work Sans Italics"/>
                <a:sym typeface="Work Sans Italics"/>
              </a:rPr>
              <a:t>2.1.2 Viết kịch bản video</a:t>
            </a:r>
          </a:p>
        </p:txBody>
      </p:sp>
      <p:sp>
        <p:nvSpPr>
          <p:cNvPr name="TextBox 27" id="27"/>
          <p:cNvSpPr txBox="true"/>
          <p:nvPr/>
        </p:nvSpPr>
        <p:spPr>
          <a:xfrm rot="0">
            <a:off x="4711311" y="7093076"/>
            <a:ext cx="3911839" cy="407101"/>
          </a:xfrm>
          <a:prstGeom prst="rect">
            <a:avLst/>
          </a:prstGeom>
        </p:spPr>
        <p:txBody>
          <a:bodyPr anchor="t" rtlCol="false" tIns="0" lIns="0" bIns="0" rIns="0">
            <a:spAutoFit/>
          </a:bodyPr>
          <a:lstStyle/>
          <a:p>
            <a:pPr algn="l" marL="0" indent="0" lvl="0">
              <a:lnSpc>
                <a:spcPts val="3079"/>
              </a:lnSpc>
            </a:pPr>
            <a:r>
              <a:rPr lang="en-US" sz="2799">
                <a:solidFill>
                  <a:srgbClr val="000000"/>
                </a:solidFill>
                <a:latin typeface="Work Sans"/>
                <a:ea typeface="Work Sans"/>
                <a:cs typeface="Work Sans"/>
                <a:sym typeface="Work Sans"/>
              </a:rPr>
              <a:t>2.2 Thiết kế </a:t>
            </a:r>
          </a:p>
        </p:txBody>
      </p:sp>
      <p:sp>
        <p:nvSpPr>
          <p:cNvPr name="TextBox 28" id="28"/>
          <p:cNvSpPr txBox="true"/>
          <p:nvPr/>
        </p:nvSpPr>
        <p:spPr>
          <a:xfrm rot="0">
            <a:off x="4838932" y="7585296"/>
            <a:ext cx="4233350" cy="1578875"/>
          </a:xfrm>
          <a:prstGeom prst="rect">
            <a:avLst/>
          </a:prstGeom>
        </p:spPr>
        <p:txBody>
          <a:bodyPr anchor="t" rtlCol="false" tIns="0" lIns="0" bIns="0" rIns="0">
            <a:spAutoFit/>
          </a:bodyPr>
          <a:lstStyle/>
          <a:p>
            <a:pPr algn="l">
              <a:lnSpc>
                <a:spcPts val="3079"/>
              </a:lnSpc>
            </a:pPr>
            <a:r>
              <a:rPr lang="en-US" sz="2799" i="true">
                <a:solidFill>
                  <a:srgbClr val="000000"/>
                </a:solidFill>
                <a:latin typeface="Work Sans Italics"/>
                <a:ea typeface="Work Sans Italics"/>
                <a:cs typeface="Work Sans Italics"/>
                <a:sym typeface="Work Sans Italics"/>
              </a:rPr>
              <a:t>2.2.1 Bài đăng Facebook </a:t>
            </a:r>
          </a:p>
          <a:p>
            <a:pPr algn="l">
              <a:lnSpc>
                <a:spcPts val="3079"/>
              </a:lnSpc>
            </a:pPr>
            <a:r>
              <a:rPr lang="en-US" sz="2799" i="true">
                <a:solidFill>
                  <a:srgbClr val="000000"/>
                </a:solidFill>
                <a:latin typeface="Work Sans Italics"/>
                <a:ea typeface="Work Sans Italics"/>
                <a:cs typeface="Work Sans Italics"/>
                <a:sym typeface="Work Sans Italics"/>
              </a:rPr>
              <a:t>2.2.2 Video</a:t>
            </a:r>
          </a:p>
          <a:p>
            <a:pPr algn="l" marL="0" indent="0" lvl="0">
              <a:lnSpc>
                <a:spcPts val="3079"/>
              </a:lnSpc>
            </a:pPr>
            <a:r>
              <a:rPr lang="en-US" sz="2799" i="true">
                <a:solidFill>
                  <a:srgbClr val="000000"/>
                </a:solidFill>
                <a:latin typeface="Work Sans Italics"/>
                <a:ea typeface="Work Sans Italics"/>
                <a:cs typeface="Work Sans Italics"/>
                <a:sym typeface="Work Sans Italics"/>
              </a:rPr>
              <a:t>2.2.3 Website truyền thông</a:t>
            </a:r>
          </a:p>
        </p:txBody>
      </p:sp>
      <p:sp>
        <p:nvSpPr>
          <p:cNvPr name="TextBox 29" id="29"/>
          <p:cNvSpPr txBox="true"/>
          <p:nvPr/>
        </p:nvSpPr>
        <p:spPr>
          <a:xfrm rot="0">
            <a:off x="9428504" y="4678885"/>
            <a:ext cx="3682037" cy="407101"/>
          </a:xfrm>
          <a:prstGeom prst="rect">
            <a:avLst/>
          </a:prstGeom>
        </p:spPr>
        <p:txBody>
          <a:bodyPr anchor="t" rtlCol="false" tIns="0" lIns="0" bIns="0" rIns="0">
            <a:spAutoFit/>
          </a:bodyPr>
          <a:lstStyle/>
          <a:p>
            <a:pPr algn="l" marL="0" indent="0" lvl="0">
              <a:lnSpc>
                <a:spcPts val="3079"/>
              </a:lnSpc>
            </a:pPr>
            <a:r>
              <a:rPr lang="en-US" sz="2799">
                <a:solidFill>
                  <a:srgbClr val="000000"/>
                </a:solidFill>
                <a:latin typeface="Work Sans"/>
                <a:ea typeface="Work Sans"/>
                <a:cs typeface="Work Sans"/>
                <a:sym typeface="Work Sans"/>
              </a:rPr>
              <a:t>3.1 Social media </a:t>
            </a:r>
          </a:p>
        </p:txBody>
      </p:sp>
      <p:sp>
        <p:nvSpPr>
          <p:cNvPr name="TextBox 30" id="30"/>
          <p:cNvSpPr txBox="true"/>
          <p:nvPr/>
        </p:nvSpPr>
        <p:spPr>
          <a:xfrm rot="0">
            <a:off x="9644115" y="7732563"/>
            <a:ext cx="3592745" cy="1188283"/>
          </a:xfrm>
          <a:prstGeom prst="rect">
            <a:avLst/>
          </a:prstGeom>
        </p:spPr>
        <p:txBody>
          <a:bodyPr anchor="t" rtlCol="false" tIns="0" lIns="0" bIns="0" rIns="0">
            <a:spAutoFit/>
          </a:bodyPr>
          <a:lstStyle/>
          <a:p>
            <a:pPr algn="l">
              <a:lnSpc>
                <a:spcPts val="3079"/>
              </a:lnSpc>
            </a:pPr>
            <a:r>
              <a:rPr lang="en-US" sz="2799" i="true">
                <a:solidFill>
                  <a:srgbClr val="000000"/>
                </a:solidFill>
                <a:latin typeface="Work Sans Italics"/>
                <a:ea typeface="Work Sans Italics"/>
                <a:cs typeface="Work Sans Italics"/>
                <a:sym typeface="Work Sans Italics"/>
              </a:rPr>
              <a:t>3.2.1 Seeding </a:t>
            </a:r>
          </a:p>
          <a:p>
            <a:pPr algn="l" marL="0" indent="0" lvl="0">
              <a:lnSpc>
                <a:spcPts val="3079"/>
              </a:lnSpc>
            </a:pPr>
            <a:r>
              <a:rPr lang="en-US" sz="2799" i="true">
                <a:solidFill>
                  <a:srgbClr val="000000"/>
                </a:solidFill>
                <a:latin typeface="Work Sans Italics"/>
                <a:ea typeface="Work Sans Italics"/>
                <a:cs typeface="Work Sans Italics"/>
                <a:sym typeface="Work Sans Italics"/>
              </a:rPr>
              <a:t>3.2.2 Chia sẻ bài đăng</a:t>
            </a:r>
          </a:p>
        </p:txBody>
      </p:sp>
      <p:sp>
        <p:nvSpPr>
          <p:cNvPr name="TextBox 31" id="31"/>
          <p:cNvSpPr txBox="true"/>
          <p:nvPr/>
        </p:nvSpPr>
        <p:spPr>
          <a:xfrm rot="0">
            <a:off x="9644115" y="5105036"/>
            <a:ext cx="3592745" cy="1578875"/>
          </a:xfrm>
          <a:prstGeom prst="rect">
            <a:avLst/>
          </a:prstGeom>
        </p:spPr>
        <p:txBody>
          <a:bodyPr anchor="t" rtlCol="false" tIns="0" lIns="0" bIns="0" rIns="0">
            <a:spAutoFit/>
          </a:bodyPr>
          <a:lstStyle/>
          <a:p>
            <a:pPr algn="l">
              <a:lnSpc>
                <a:spcPts val="3079"/>
              </a:lnSpc>
            </a:pPr>
            <a:r>
              <a:rPr lang="en-US" sz="2799" i="true">
                <a:solidFill>
                  <a:srgbClr val="000000"/>
                </a:solidFill>
                <a:latin typeface="Work Sans Italics"/>
                <a:ea typeface="Work Sans Italics"/>
                <a:cs typeface="Work Sans Italics"/>
                <a:sym typeface="Work Sans Italics"/>
              </a:rPr>
              <a:t>3.1.1 Lập lịch đăng bài </a:t>
            </a:r>
          </a:p>
          <a:p>
            <a:pPr algn="l" marL="0" indent="0" lvl="0">
              <a:lnSpc>
                <a:spcPts val="3079"/>
              </a:lnSpc>
            </a:pPr>
            <a:r>
              <a:rPr lang="en-US" sz="2799" i="true">
                <a:solidFill>
                  <a:srgbClr val="000000"/>
                </a:solidFill>
                <a:latin typeface="Work Sans Italics"/>
                <a:ea typeface="Work Sans Italics"/>
                <a:cs typeface="Work Sans Italics"/>
                <a:sym typeface="Work Sans Italics"/>
              </a:rPr>
              <a:t>3.1.2 Tương tác, trả lời comment</a:t>
            </a:r>
          </a:p>
        </p:txBody>
      </p:sp>
      <p:sp>
        <p:nvSpPr>
          <p:cNvPr name="TextBox 32" id="32"/>
          <p:cNvSpPr txBox="true"/>
          <p:nvPr/>
        </p:nvSpPr>
        <p:spPr>
          <a:xfrm rot="0">
            <a:off x="9428504" y="6915820"/>
            <a:ext cx="3903169" cy="797692"/>
          </a:xfrm>
          <a:prstGeom prst="rect">
            <a:avLst/>
          </a:prstGeom>
        </p:spPr>
        <p:txBody>
          <a:bodyPr anchor="t" rtlCol="false" tIns="0" lIns="0" bIns="0" rIns="0">
            <a:spAutoFit/>
          </a:bodyPr>
          <a:lstStyle/>
          <a:p>
            <a:pPr algn="l" marL="0" indent="0" lvl="0">
              <a:lnSpc>
                <a:spcPts val="3079"/>
              </a:lnSpc>
            </a:pPr>
            <a:r>
              <a:rPr lang="en-US" sz="2799">
                <a:solidFill>
                  <a:srgbClr val="000000"/>
                </a:solidFill>
                <a:latin typeface="Work Sans"/>
                <a:ea typeface="Work Sans"/>
                <a:cs typeface="Work Sans"/>
                <a:sym typeface="Work Sans"/>
              </a:rPr>
              <a:t>3.2 Seeding và chia sẻ bài đăng</a:t>
            </a:r>
          </a:p>
        </p:txBody>
      </p:sp>
      <p:sp>
        <p:nvSpPr>
          <p:cNvPr name="TextBox 33" id="33"/>
          <p:cNvSpPr txBox="true"/>
          <p:nvPr/>
        </p:nvSpPr>
        <p:spPr>
          <a:xfrm rot="0">
            <a:off x="13969847" y="5495627"/>
            <a:ext cx="3592745" cy="2360057"/>
          </a:xfrm>
          <a:prstGeom prst="rect">
            <a:avLst/>
          </a:prstGeom>
        </p:spPr>
        <p:txBody>
          <a:bodyPr anchor="t" rtlCol="false" tIns="0" lIns="0" bIns="0" rIns="0">
            <a:spAutoFit/>
          </a:bodyPr>
          <a:lstStyle/>
          <a:p>
            <a:pPr algn="l">
              <a:lnSpc>
                <a:spcPts val="3079"/>
              </a:lnSpc>
            </a:pPr>
            <a:r>
              <a:rPr lang="en-US" sz="2799" i="true">
                <a:solidFill>
                  <a:srgbClr val="000000"/>
                </a:solidFill>
                <a:latin typeface="Work Sans Italics"/>
                <a:ea typeface="Work Sans Italics"/>
                <a:cs typeface="Work Sans Italics"/>
                <a:sym typeface="Work Sans Italics"/>
              </a:rPr>
              <a:t>4.1.1 Thu thập số liệu</a:t>
            </a:r>
          </a:p>
          <a:p>
            <a:pPr algn="l">
              <a:lnSpc>
                <a:spcPts val="3079"/>
              </a:lnSpc>
            </a:pPr>
            <a:r>
              <a:rPr lang="en-US" sz="2799" i="true">
                <a:solidFill>
                  <a:srgbClr val="000000"/>
                </a:solidFill>
                <a:latin typeface="Work Sans Italics"/>
                <a:ea typeface="Work Sans Italics"/>
                <a:cs typeface="Work Sans Italics"/>
                <a:sym typeface="Work Sans Italics"/>
              </a:rPr>
              <a:t>4.1.2 Tổng hợp và so sánh với KPI theo tuần </a:t>
            </a:r>
          </a:p>
          <a:p>
            <a:pPr algn="l" marL="0" indent="0" lvl="0">
              <a:lnSpc>
                <a:spcPts val="3079"/>
              </a:lnSpc>
            </a:pPr>
            <a:r>
              <a:rPr lang="en-US" sz="2799" i="true">
                <a:solidFill>
                  <a:srgbClr val="000000"/>
                </a:solidFill>
                <a:latin typeface="Work Sans Italics"/>
                <a:ea typeface="Work Sans Italics"/>
                <a:cs typeface="Work Sans Italics"/>
                <a:sym typeface="Work Sans Italics"/>
              </a:rPr>
              <a:t>4.1.3 Đề xuất điều chỉnh</a:t>
            </a:r>
          </a:p>
        </p:txBody>
      </p:sp>
      <p:sp>
        <p:nvSpPr>
          <p:cNvPr name="TextBox 34" id="34"/>
          <p:cNvSpPr txBox="true"/>
          <p:nvPr/>
        </p:nvSpPr>
        <p:spPr>
          <a:xfrm rot="0">
            <a:off x="13676954" y="7927858"/>
            <a:ext cx="3592745" cy="797692"/>
          </a:xfrm>
          <a:prstGeom prst="rect">
            <a:avLst/>
          </a:prstGeom>
        </p:spPr>
        <p:txBody>
          <a:bodyPr anchor="t" rtlCol="false" tIns="0" lIns="0" bIns="0" rIns="0">
            <a:spAutoFit/>
          </a:bodyPr>
          <a:lstStyle/>
          <a:p>
            <a:pPr algn="l" marL="0" indent="0" lvl="0">
              <a:lnSpc>
                <a:spcPts val="3079"/>
              </a:lnSpc>
            </a:pPr>
            <a:r>
              <a:rPr lang="en-US" sz="2799">
                <a:solidFill>
                  <a:srgbClr val="000000"/>
                </a:solidFill>
                <a:latin typeface="Work Sans"/>
                <a:ea typeface="Work Sans"/>
                <a:cs typeface="Work Sans"/>
                <a:sym typeface="Work Sans"/>
              </a:rPr>
              <a:t>4.2 Báo cáo tổng kết chiến dịch</a:t>
            </a:r>
          </a:p>
        </p:txBody>
      </p:sp>
      <p:sp>
        <p:nvSpPr>
          <p:cNvPr name="TextBox 35" id="35"/>
          <p:cNvSpPr txBox="true"/>
          <p:nvPr/>
        </p:nvSpPr>
        <p:spPr>
          <a:xfrm rot="0">
            <a:off x="13676954" y="4678885"/>
            <a:ext cx="4572810" cy="797692"/>
          </a:xfrm>
          <a:prstGeom prst="rect">
            <a:avLst/>
          </a:prstGeom>
        </p:spPr>
        <p:txBody>
          <a:bodyPr anchor="t" rtlCol="false" tIns="0" lIns="0" bIns="0" rIns="0">
            <a:spAutoFit/>
          </a:bodyPr>
          <a:lstStyle/>
          <a:p>
            <a:pPr algn="l" marL="0" indent="0" lvl="0">
              <a:lnSpc>
                <a:spcPts val="3079"/>
              </a:lnSpc>
            </a:pPr>
            <a:r>
              <a:rPr lang="en-US" sz="2799">
                <a:solidFill>
                  <a:srgbClr val="000000"/>
                </a:solidFill>
                <a:latin typeface="Work Sans"/>
                <a:ea typeface="Work Sans"/>
                <a:cs typeface="Work Sans"/>
                <a:sym typeface="Work Sans"/>
              </a:rPr>
              <a:t>4.1 Báo cáo hiệu quả hàng tuần</a:t>
            </a:r>
          </a:p>
        </p:txBody>
      </p:sp>
      <p:sp>
        <p:nvSpPr>
          <p:cNvPr name="AutoShape 36" id="36"/>
          <p:cNvSpPr/>
          <p:nvPr/>
        </p:nvSpPr>
        <p:spPr>
          <a:xfrm flipV="true">
            <a:off x="9120188" y="3529013"/>
            <a:ext cx="0" cy="5635158"/>
          </a:xfrm>
          <a:prstGeom prst="line">
            <a:avLst/>
          </a:prstGeom>
          <a:ln cap="flat" w="47625">
            <a:solidFill>
              <a:srgbClr val="000000">
                <a:alpha val="47843"/>
              </a:srgbClr>
            </a:solidFill>
            <a:prstDash val="solid"/>
            <a:headEnd type="none" len="sm" w="sm"/>
            <a:tailEnd type="none" len="sm" w="sm"/>
          </a:ln>
        </p:spPr>
      </p:sp>
      <p:sp>
        <p:nvSpPr>
          <p:cNvPr name="AutoShape 37" id="37"/>
          <p:cNvSpPr/>
          <p:nvPr/>
        </p:nvSpPr>
        <p:spPr>
          <a:xfrm flipV="true">
            <a:off x="13443591" y="3529012"/>
            <a:ext cx="0" cy="5635158"/>
          </a:xfrm>
          <a:prstGeom prst="line">
            <a:avLst/>
          </a:prstGeom>
          <a:ln cap="flat" w="47625">
            <a:solidFill>
              <a:srgbClr val="000000">
                <a:alpha val="47843"/>
              </a:srgbClr>
            </a:solidFill>
            <a:prstDash val="solid"/>
            <a:headEnd type="none" len="sm" w="sm"/>
            <a:tailEnd type="none" len="sm" w="sm"/>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551" y="5729844"/>
            <a:ext cx="18299551" cy="5774671"/>
            <a:chOff x="0" y="0"/>
            <a:chExt cx="4819635" cy="1520901"/>
          </a:xfrm>
        </p:grpSpPr>
        <p:sp>
          <p:nvSpPr>
            <p:cNvPr name="Freeform 10" id="10"/>
            <p:cNvSpPr/>
            <p:nvPr/>
          </p:nvSpPr>
          <p:spPr>
            <a:xfrm flipH="false" flipV="false" rot="0">
              <a:off x="0" y="0"/>
              <a:ext cx="4819635" cy="1520901"/>
            </a:xfrm>
            <a:custGeom>
              <a:avLst/>
              <a:gdLst/>
              <a:ahLst/>
              <a:cxnLst/>
              <a:rect r="r" b="b" t="t" l="l"/>
              <a:pathLst>
                <a:path h="1520901" w="4819635">
                  <a:moveTo>
                    <a:pt x="38076" y="0"/>
                  </a:moveTo>
                  <a:lnTo>
                    <a:pt x="4781559" y="0"/>
                  </a:lnTo>
                  <a:cubicBezTo>
                    <a:pt x="4802588" y="0"/>
                    <a:pt x="4819635" y="17047"/>
                    <a:pt x="4819635" y="38076"/>
                  </a:cubicBezTo>
                  <a:lnTo>
                    <a:pt x="4819635" y="1482825"/>
                  </a:lnTo>
                  <a:cubicBezTo>
                    <a:pt x="4819635" y="1492924"/>
                    <a:pt x="4815624" y="1502608"/>
                    <a:pt x="4808483" y="1509749"/>
                  </a:cubicBezTo>
                  <a:cubicBezTo>
                    <a:pt x="4801342" y="1516889"/>
                    <a:pt x="4791657" y="1520901"/>
                    <a:pt x="4781559" y="1520901"/>
                  </a:cubicBezTo>
                  <a:lnTo>
                    <a:pt x="38076" y="1520901"/>
                  </a:lnTo>
                  <a:cubicBezTo>
                    <a:pt x="27978" y="1520901"/>
                    <a:pt x="18293" y="1516889"/>
                    <a:pt x="11152" y="1509749"/>
                  </a:cubicBezTo>
                  <a:cubicBezTo>
                    <a:pt x="4012" y="1502608"/>
                    <a:pt x="0" y="1492924"/>
                    <a:pt x="0" y="1482825"/>
                  </a:cubicBezTo>
                  <a:lnTo>
                    <a:pt x="0" y="38076"/>
                  </a:lnTo>
                  <a:cubicBezTo>
                    <a:pt x="0" y="27978"/>
                    <a:pt x="4012" y="18293"/>
                    <a:pt x="11152" y="11152"/>
                  </a:cubicBezTo>
                  <a:cubicBezTo>
                    <a:pt x="18293" y="4012"/>
                    <a:pt x="27978" y="0"/>
                    <a:pt x="38076" y="0"/>
                  </a:cubicBezTo>
                  <a:close/>
                </a:path>
              </a:pathLst>
            </a:custGeom>
            <a:solidFill>
              <a:srgbClr val="FDF6F2"/>
            </a:solidFill>
            <a:ln cap="rnd">
              <a:noFill/>
              <a:prstDash val="solid"/>
              <a:round/>
            </a:ln>
          </p:spPr>
        </p:sp>
        <p:sp>
          <p:nvSpPr>
            <p:cNvPr name="TextBox 11" id="11"/>
            <p:cNvSpPr txBox="true"/>
            <p:nvPr/>
          </p:nvSpPr>
          <p:spPr>
            <a:xfrm>
              <a:off x="0" y="-57150"/>
              <a:ext cx="4819635" cy="157805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835073" y="5515098"/>
            <a:ext cx="496167" cy="49616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0212A"/>
            </a:solidFill>
            <a:ln cap="sq">
              <a:noFill/>
              <a:prstDash val="solid"/>
              <a:miter/>
            </a:ln>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1407511" y="5515098"/>
            <a:ext cx="496167" cy="49616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0212A"/>
            </a:solidFill>
            <a:ln cap="sq">
              <a:noFill/>
              <a:prstDash val="solid"/>
              <a:miter/>
            </a:ln>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6431115" y="5515098"/>
            <a:ext cx="496167" cy="49616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0212A"/>
            </a:solidFill>
            <a:ln cap="sq">
              <a:noFill/>
              <a:prstDash val="solid"/>
              <a:miter/>
            </a:ln>
          </p:spPr>
        </p:sp>
        <p:sp>
          <p:nvSpPr>
            <p:cNvPr name="TextBox 20" id="2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6002907" y="5515098"/>
            <a:ext cx="496167" cy="49616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0212A"/>
            </a:solidFill>
            <a:ln cap="sq">
              <a:noFill/>
              <a:prstDash val="solid"/>
              <a:miter/>
            </a:ln>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AutoShape 24" id="24"/>
          <p:cNvSpPr/>
          <p:nvPr/>
        </p:nvSpPr>
        <p:spPr>
          <a:xfrm flipH="true" flipV="true">
            <a:off x="2075822" y="2684610"/>
            <a:ext cx="0" cy="3078571"/>
          </a:xfrm>
          <a:prstGeom prst="line">
            <a:avLst/>
          </a:prstGeom>
          <a:ln cap="rnd" w="38100">
            <a:solidFill>
              <a:srgbClr val="50212A"/>
            </a:solidFill>
            <a:prstDash val="solid"/>
            <a:headEnd type="none" len="sm" w="sm"/>
            <a:tailEnd type="none" len="sm" w="sm"/>
          </a:ln>
        </p:spPr>
      </p:sp>
      <p:sp>
        <p:nvSpPr>
          <p:cNvPr name="AutoShape 25" id="25"/>
          <p:cNvSpPr/>
          <p:nvPr/>
        </p:nvSpPr>
        <p:spPr>
          <a:xfrm flipV="true">
            <a:off x="6660149" y="5763181"/>
            <a:ext cx="0" cy="3078571"/>
          </a:xfrm>
          <a:prstGeom prst="line">
            <a:avLst/>
          </a:prstGeom>
          <a:ln cap="rnd" w="38100">
            <a:solidFill>
              <a:srgbClr val="50212A"/>
            </a:solidFill>
            <a:prstDash val="solid"/>
            <a:headEnd type="none" len="sm" w="sm"/>
            <a:tailEnd type="none" len="sm" w="sm"/>
          </a:ln>
        </p:spPr>
      </p:sp>
      <p:sp>
        <p:nvSpPr>
          <p:cNvPr name="AutoShape 26" id="26"/>
          <p:cNvSpPr/>
          <p:nvPr/>
        </p:nvSpPr>
        <p:spPr>
          <a:xfrm flipV="true">
            <a:off x="16246279" y="5763181"/>
            <a:ext cx="0" cy="3078571"/>
          </a:xfrm>
          <a:prstGeom prst="line">
            <a:avLst/>
          </a:prstGeom>
          <a:ln cap="rnd" w="38100">
            <a:solidFill>
              <a:srgbClr val="50212A"/>
            </a:solidFill>
            <a:prstDash val="solid"/>
            <a:headEnd type="none" len="sm" w="sm"/>
            <a:tailEnd type="none" len="sm" w="sm"/>
          </a:ln>
        </p:spPr>
      </p:sp>
      <p:sp>
        <p:nvSpPr>
          <p:cNvPr name="AutoShape 27" id="27"/>
          <p:cNvSpPr/>
          <p:nvPr/>
        </p:nvSpPr>
        <p:spPr>
          <a:xfrm flipV="true">
            <a:off x="11674645" y="2684610"/>
            <a:ext cx="0" cy="3078571"/>
          </a:xfrm>
          <a:prstGeom prst="line">
            <a:avLst/>
          </a:prstGeom>
          <a:ln cap="rnd" w="38100">
            <a:solidFill>
              <a:srgbClr val="50212A"/>
            </a:solidFill>
            <a:prstDash val="solid"/>
            <a:headEnd type="none" len="sm" w="sm"/>
            <a:tailEnd type="none" len="sm" w="sm"/>
          </a:ln>
        </p:spPr>
      </p:sp>
      <p:sp>
        <p:nvSpPr>
          <p:cNvPr name="Freeform 28" id="28"/>
          <p:cNvSpPr/>
          <p:nvPr/>
        </p:nvSpPr>
        <p:spPr>
          <a:xfrm flipH="false" flipV="false" rot="0">
            <a:off x="7338706" y="3004698"/>
            <a:ext cx="3849730" cy="3628371"/>
          </a:xfrm>
          <a:custGeom>
            <a:avLst/>
            <a:gdLst/>
            <a:ahLst/>
            <a:cxnLst/>
            <a:rect r="r" b="b" t="t" l="l"/>
            <a:pathLst>
              <a:path h="3628371" w="3849730">
                <a:moveTo>
                  <a:pt x="0" y="0"/>
                </a:moveTo>
                <a:lnTo>
                  <a:pt x="3849730" y="0"/>
                </a:lnTo>
                <a:lnTo>
                  <a:pt x="3849730" y="3628370"/>
                </a:lnTo>
                <a:lnTo>
                  <a:pt x="0" y="36283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9" id="29"/>
          <p:cNvSpPr txBox="true"/>
          <p:nvPr/>
        </p:nvSpPr>
        <p:spPr>
          <a:xfrm rot="0">
            <a:off x="2586189" y="2396320"/>
            <a:ext cx="4359709" cy="622935"/>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Ojuju Bold"/>
                <a:ea typeface="Ojuju Bold"/>
                <a:cs typeface="Ojuju Bold"/>
                <a:sym typeface="Ojuju Bold"/>
              </a:rPr>
              <a:t>Giai đoạn 1</a:t>
            </a:r>
          </a:p>
        </p:txBody>
      </p:sp>
      <p:sp>
        <p:nvSpPr>
          <p:cNvPr name="TextBox 30" id="30"/>
          <p:cNvSpPr txBox="true"/>
          <p:nvPr/>
        </p:nvSpPr>
        <p:spPr>
          <a:xfrm rot="0">
            <a:off x="1801147" y="6715681"/>
            <a:ext cx="4359709" cy="622902"/>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50212A"/>
                </a:solidFill>
                <a:latin typeface="Ojuju Bold"/>
                <a:ea typeface="Ojuju Bold"/>
                <a:cs typeface="Ojuju Bold"/>
                <a:sym typeface="Ojuju Bold"/>
              </a:rPr>
              <a:t>Giai đoạn 2</a:t>
            </a:r>
          </a:p>
        </p:txBody>
      </p:sp>
      <p:sp>
        <p:nvSpPr>
          <p:cNvPr name="TextBox 31" id="31"/>
          <p:cNvSpPr txBox="true"/>
          <p:nvPr/>
        </p:nvSpPr>
        <p:spPr>
          <a:xfrm rot="0">
            <a:off x="11353169" y="6715681"/>
            <a:ext cx="4359709" cy="622935"/>
          </a:xfrm>
          <a:prstGeom prst="rect">
            <a:avLst/>
          </a:prstGeom>
        </p:spPr>
        <p:txBody>
          <a:bodyPr anchor="t" rtlCol="false" tIns="0" lIns="0" bIns="0" rIns="0">
            <a:spAutoFit/>
          </a:bodyPr>
          <a:lstStyle/>
          <a:p>
            <a:pPr algn="r" marL="0" indent="0" lvl="0">
              <a:lnSpc>
                <a:spcPts val="5040"/>
              </a:lnSpc>
              <a:spcBef>
                <a:spcPct val="0"/>
              </a:spcBef>
            </a:pPr>
            <a:r>
              <a:rPr lang="en-US" b="true" sz="3600">
                <a:solidFill>
                  <a:srgbClr val="50212A"/>
                </a:solidFill>
                <a:latin typeface="Ojuju Bold"/>
                <a:ea typeface="Ojuju Bold"/>
                <a:cs typeface="Ojuju Bold"/>
                <a:sym typeface="Ojuju Bold"/>
              </a:rPr>
              <a:t>Giai đoạn 4</a:t>
            </a:r>
          </a:p>
        </p:txBody>
      </p:sp>
      <p:sp>
        <p:nvSpPr>
          <p:cNvPr name="TextBox 32" id="32"/>
          <p:cNvSpPr txBox="true"/>
          <p:nvPr/>
        </p:nvSpPr>
        <p:spPr>
          <a:xfrm rot="0">
            <a:off x="12127144" y="2396320"/>
            <a:ext cx="4359709" cy="622935"/>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Ojuju Bold"/>
                <a:ea typeface="Ojuju Bold"/>
                <a:cs typeface="Ojuju Bold"/>
                <a:sym typeface="Ojuju Bold"/>
              </a:rPr>
              <a:t>Giai đoạn 3</a:t>
            </a:r>
          </a:p>
        </p:txBody>
      </p:sp>
      <p:sp>
        <p:nvSpPr>
          <p:cNvPr name="TextBox 33" id="33"/>
          <p:cNvSpPr txBox="true"/>
          <p:nvPr/>
        </p:nvSpPr>
        <p:spPr>
          <a:xfrm rot="0">
            <a:off x="2586189" y="3077788"/>
            <a:ext cx="4081160" cy="422342"/>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50212A"/>
                </a:solidFill>
                <a:latin typeface="Work Sans Bold"/>
                <a:ea typeface="Work Sans Bold"/>
                <a:cs typeface="Work Sans Bold"/>
                <a:sym typeface="Work Sans Bold"/>
              </a:rPr>
              <a:t>10/05 - 17/05</a:t>
            </a:r>
          </a:p>
        </p:txBody>
      </p:sp>
      <p:sp>
        <p:nvSpPr>
          <p:cNvPr name="TextBox 34" id="34"/>
          <p:cNvSpPr txBox="true"/>
          <p:nvPr/>
        </p:nvSpPr>
        <p:spPr>
          <a:xfrm rot="0">
            <a:off x="2075822" y="7875258"/>
            <a:ext cx="4134637" cy="1851330"/>
          </a:xfrm>
          <a:prstGeom prst="rect">
            <a:avLst/>
          </a:prstGeom>
        </p:spPr>
        <p:txBody>
          <a:bodyPr anchor="t" rtlCol="false" tIns="0" lIns="0" bIns="0" rIns="0">
            <a:spAutoFit/>
          </a:bodyPr>
          <a:lstStyle/>
          <a:p>
            <a:pPr algn="r" marL="0" indent="0" lvl="0">
              <a:lnSpc>
                <a:spcPts val="2939"/>
              </a:lnSpc>
              <a:spcBef>
                <a:spcPct val="0"/>
              </a:spcBef>
            </a:pPr>
            <a:r>
              <a:rPr lang="en-US" sz="2099">
                <a:solidFill>
                  <a:srgbClr val="50212A"/>
                </a:solidFill>
                <a:latin typeface="Work Sans"/>
                <a:ea typeface="Work Sans"/>
                <a:cs typeface="Work Sans"/>
                <a:sym typeface="Work Sans"/>
              </a:rPr>
              <a:t>Lên ý tưởng sản suất nội dung concept sự án truyền thông. Tập trung sản suất và phát triển website, ấn phẩm &amp; video quảng bá </a:t>
            </a:r>
          </a:p>
        </p:txBody>
      </p:sp>
      <p:sp>
        <p:nvSpPr>
          <p:cNvPr name="TextBox 35" id="35"/>
          <p:cNvSpPr txBox="true"/>
          <p:nvPr/>
        </p:nvSpPr>
        <p:spPr>
          <a:xfrm rot="0">
            <a:off x="11188436" y="7875258"/>
            <a:ext cx="4582026" cy="2222739"/>
          </a:xfrm>
          <a:prstGeom prst="rect">
            <a:avLst/>
          </a:prstGeom>
        </p:spPr>
        <p:txBody>
          <a:bodyPr anchor="t" rtlCol="false" tIns="0" lIns="0" bIns="0" rIns="0">
            <a:spAutoFit/>
          </a:bodyPr>
          <a:lstStyle/>
          <a:p>
            <a:pPr algn="r" marL="0" indent="0" lvl="0">
              <a:lnSpc>
                <a:spcPts val="2939"/>
              </a:lnSpc>
              <a:spcBef>
                <a:spcPct val="0"/>
              </a:spcBef>
            </a:pPr>
            <a:r>
              <a:rPr lang="en-US" sz="2099">
                <a:solidFill>
                  <a:srgbClr val="50212A"/>
                </a:solidFill>
                <a:latin typeface="Work Sans"/>
                <a:ea typeface="Work Sans"/>
                <a:cs typeface="Work Sans"/>
                <a:sym typeface="Work Sans"/>
              </a:rPr>
              <a:t>Đo lường dữ liệu hàng tuần so sánh chỉ tiêu từ đó đưa ra đề xuất điều chỉnh phù hợp. Tuần cuối triển khai tổng hợp và tổng kết chiến dịch rút ra bài học, cải thiện cho sự kiện tiếp theo  </a:t>
            </a:r>
          </a:p>
        </p:txBody>
      </p:sp>
      <p:sp>
        <p:nvSpPr>
          <p:cNvPr name="TextBox 36" id="36"/>
          <p:cNvSpPr txBox="true"/>
          <p:nvPr/>
        </p:nvSpPr>
        <p:spPr>
          <a:xfrm rot="0">
            <a:off x="12127144" y="3558662"/>
            <a:ext cx="4181430" cy="1479921"/>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50212A"/>
                </a:solidFill>
                <a:latin typeface="Work Sans"/>
                <a:ea typeface="Work Sans"/>
                <a:cs typeface="Work Sans"/>
                <a:sym typeface="Work Sans"/>
              </a:rPr>
              <a:t>Lập chiến dịch truyền thông trên các nền tảng, đẩy mạnh tương tác Facebook thông qua seeding và chia sẻ bài đăng</a:t>
            </a:r>
          </a:p>
        </p:txBody>
      </p:sp>
      <p:sp>
        <p:nvSpPr>
          <p:cNvPr name="TextBox 37" id="37"/>
          <p:cNvSpPr txBox="true"/>
          <p:nvPr/>
        </p:nvSpPr>
        <p:spPr>
          <a:xfrm rot="0">
            <a:off x="2586189" y="3558662"/>
            <a:ext cx="4181430" cy="2222739"/>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50212A"/>
                </a:solidFill>
                <a:latin typeface="Work Sans"/>
                <a:ea typeface="Work Sans"/>
                <a:cs typeface="Work Sans"/>
                <a:sym typeface="Work Sans"/>
              </a:rPr>
              <a:t>Giai đoạn này tập trung phân tích thị trường và đối tượng quan tâm đến sự kiện, từ đó lập kế hoạch tổng thể chiến dịch “Truyền thông Openday Edtech”. </a:t>
            </a:r>
          </a:p>
        </p:txBody>
      </p:sp>
      <p:sp>
        <p:nvSpPr>
          <p:cNvPr name="TextBox 38" id="38"/>
          <p:cNvSpPr txBox="true"/>
          <p:nvPr/>
        </p:nvSpPr>
        <p:spPr>
          <a:xfrm rot="0">
            <a:off x="12127144" y="3080306"/>
            <a:ext cx="4081160" cy="422342"/>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50212A"/>
                </a:solidFill>
                <a:latin typeface="Work Sans Bold"/>
                <a:ea typeface="Work Sans Bold"/>
                <a:cs typeface="Work Sans Bold"/>
                <a:sym typeface="Work Sans Bold"/>
              </a:rPr>
              <a:t>18/05 - 08/06</a:t>
            </a:r>
          </a:p>
        </p:txBody>
      </p:sp>
      <p:sp>
        <p:nvSpPr>
          <p:cNvPr name="TextBox 39" id="39"/>
          <p:cNvSpPr txBox="true"/>
          <p:nvPr/>
        </p:nvSpPr>
        <p:spPr>
          <a:xfrm rot="0">
            <a:off x="2102561" y="7395766"/>
            <a:ext cx="4081160" cy="422342"/>
          </a:xfrm>
          <a:prstGeom prst="rect">
            <a:avLst/>
          </a:prstGeom>
        </p:spPr>
        <p:txBody>
          <a:bodyPr anchor="t" rtlCol="false" tIns="0" lIns="0" bIns="0" rIns="0">
            <a:spAutoFit/>
          </a:bodyPr>
          <a:lstStyle/>
          <a:p>
            <a:pPr algn="r" marL="0" indent="0" lvl="0">
              <a:lnSpc>
                <a:spcPts val="3499"/>
              </a:lnSpc>
              <a:spcBef>
                <a:spcPct val="0"/>
              </a:spcBef>
            </a:pPr>
            <a:r>
              <a:rPr lang="en-US" b="true" sz="2499">
                <a:solidFill>
                  <a:srgbClr val="50212A"/>
                </a:solidFill>
                <a:latin typeface="Work Sans Bold"/>
                <a:ea typeface="Work Sans Bold"/>
                <a:cs typeface="Work Sans Bold"/>
                <a:sym typeface="Work Sans Bold"/>
              </a:rPr>
              <a:t>18/05 - 08/06</a:t>
            </a:r>
          </a:p>
        </p:txBody>
      </p:sp>
      <p:sp>
        <p:nvSpPr>
          <p:cNvPr name="TextBox 40" id="40"/>
          <p:cNvSpPr txBox="true"/>
          <p:nvPr/>
        </p:nvSpPr>
        <p:spPr>
          <a:xfrm rot="0">
            <a:off x="11631719" y="7395766"/>
            <a:ext cx="4081160" cy="422342"/>
          </a:xfrm>
          <a:prstGeom prst="rect">
            <a:avLst/>
          </a:prstGeom>
        </p:spPr>
        <p:txBody>
          <a:bodyPr anchor="t" rtlCol="false" tIns="0" lIns="0" bIns="0" rIns="0">
            <a:spAutoFit/>
          </a:bodyPr>
          <a:lstStyle/>
          <a:p>
            <a:pPr algn="r" marL="0" indent="0" lvl="0">
              <a:lnSpc>
                <a:spcPts val="3499"/>
              </a:lnSpc>
              <a:spcBef>
                <a:spcPct val="0"/>
              </a:spcBef>
            </a:pPr>
            <a:r>
              <a:rPr lang="en-US" b="true" sz="2499">
                <a:solidFill>
                  <a:srgbClr val="50212A"/>
                </a:solidFill>
                <a:latin typeface="Work Sans Bold"/>
                <a:ea typeface="Work Sans Bold"/>
                <a:cs typeface="Work Sans Bold"/>
                <a:sym typeface="Work Sans Bold"/>
              </a:rPr>
              <a:t>25/05 - 14/06</a:t>
            </a:r>
          </a:p>
        </p:txBody>
      </p:sp>
      <p:grpSp>
        <p:nvGrpSpPr>
          <p:cNvPr name="Group 41" id="41"/>
          <p:cNvGrpSpPr/>
          <p:nvPr/>
        </p:nvGrpSpPr>
        <p:grpSpPr>
          <a:xfrm rot="0">
            <a:off x="480736" y="490255"/>
            <a:ext cx="4146033" cy="888116"/>
            <a:chOff x="0" y="0"/>
            <a:chExt cx="1091959" cy="233907"/>
          </a:xfrm>
        </p:grpSpPr>
        <p:sp>
          <p:nvSpPr>
            <p:cNvPr name="Freeform 42" id="42"/>
            <p:cNvSpPr/>
            <p:nvPr/>
          </p:nvSpPr>
          <p:spPr>
            <a:xfrm flipH="false" flipV="false" rot="0">
              <a:off x="0" y="0"/>
              <a:ext cx="1091959" cy="233907"/>
            </a:xfrm>
            <a:custGeom>
              <a:avLst/>
              <a:gdLst/>
              <a:ahLst/>
              <a:cxnLst/>
              <a:rect r="r" b="b" t="t" l="l"/>
              <a:pathLst>
                <a:path h="233907" w="1091959">
                  <a:moveTo>
                    <a:pt x="116954" y="0"/>
                  </a:moveTo>
                  <a:lnTo>
                    <a:pt x="975006" y="0"/>
                  </a:lnTo>
                  <a:cubicBezTo>
                    <a:pt x="1039597" y="0"/>
                    <a:pt x="1091959" y="52362"/>
                    <a:pt x="1091959" y="116954"/>
                  </a:cubicBezTo>
                  <a:lnTo>
                    <a:pt x="1091959" y="116954"/>
                  </a:lnTo>
                  <a:cubicBezTo>
                    <a:pt x="1091959" y="147972"/>
                    <a:pt x="1079637" y="177719"/>
                    <a:pt x="1057704" y="199652"/>
                  </a:cubicBezTo>
                  <a:cubicBezTo>
                    <a:pt x="1035771" y="221585"/>
                    <a:pt x="1006024" y="233907"/>
                    <a:pt x="975006"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43" id="43"/>
            <p:cNvSpPr txBox="true"/>
            <p:nvPr/>
          </p:nvSpPr>
          <p:spPr>
            <a:xfrm>
              <a:off x="0" y="-57150"/>
              <a:ext cx="1091959" cy="291057"/>
            </a:xfrm>
            <a:prstGeom prst="rect">
              <a:avLst/>
            </a:prstGeom>
          </p:spPr>
          <p:txBody>
            <a:bodyPr anchor="ctr" rtlCol="false" tIns="50800" lIns="50800" bIns="50800" rIns="50800"/>
            <a:lstStyle/>
            <a:p>
              <a:pPr algn="ctr">
                <a:lnSpc>
                  <a:spcPts val="2659"/>
                </a:lnSpc>
              </a:pPr>
            </a:p>
          </p:txBody>
        </p:sp>
      </p:grpSp>
      <p:sp>
        <p:nvSpPr>
          <p:cNvPr name="TextBox 44" id="44"/>
          <p:cNvSpPr txBox="true"/>
          <p:nvPr/>
        </p:nvSpPr>
        <p:spPr>
          <a:xfrm rot="0">
            <a:off x="748625" y="575237"/>
            <a:ext cx="3394515" cy="632427"/>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Semi-Bold"/>
                <a:ea typeface="Work Sans Semi-Bold"/>
                <a:cs typeface="Work Sans Semi-Bold"/>
                <a:sym typeface="Work Sans Semi-Bold"/>
              </a:rPr>
              <a:t>Mốc thời gian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0736" y="490255"/>
            <a:ext cx="3518820" cy="888116"/>
            <a:chOff x="0" y="0"/>
            <a:chExt cx="926767" cy="233907"/>
          </a:xfrm>
        </p:grpSpPr>
        <p:sp>
          <p:nvSpPr>
            <p:cNvPr name="Freeform 10" id="10"/>
            <p:cNvSpPr/>
            <p:nvPr/>
          </p:nvSpPr>
          <p:spPr>
            <a:xfrm flipH="false" flipV="false" rot="0">
              <a:off x="0" y="0"/>
              <a:ext cx="926767" cy="233907"/>
            </a:xfrm>
            <a:custGeom>
              <a:avLst/>
              <a:gdLst/>
              <a:ahLst/>
              <a:cxnLst/>
              <a:rect r="r" b="b" t="t" l="l"/>
              <a:pathLst>
                <a:path h="233907" w="926767">
                  <a:moveTo>
                    <a:pt x="116954" y="0"/>
                  </a:moveTo>
                  <a:lnTo>
                    <a:pt x="809814" y="0"/>
                  </a:lnTo>
                  <a:cubicBezTo>
                    <a:pt x="840832" y="0"/>
                    <a:pt x="870580" y="12322"/>
                    <a:pt x="892513" y="34255"/>
                  </a:cubicBezTo>
                  <a:cubicBezTo>
                    <a:pt x="914446" y="56188"/>
                    <a:pt x="926767" y="85936"/>
                    <a:pt x="926767" y="116954"/>
                  </a:cubicBezTo>
                  <a:lnTo>
                    <a:pt x="926767" y="116954"/>
                  </a:lnTo>
                  <a:cubicBezTo>
                    <a:pt x="926767" y="181545"/>
                    <a:pt x="874406" y="233907"/>
                    <a:pt x="809814"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1" id="11"/>
            <p:cNvSpPr txBox="true"/>
            <p:nvPr/>
          </p:nvSpPr>
          <p:spPr>
            <a:xfrm>
              <a:off x="0" y="-57150"/>
              <a:ext cx="926767" cy="29105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80736" y="490255"/>
            <a:ext cx="8563435" cy="888116"/>
            <a:chOff x="0" y="0"/>
            <a:chExt cx="2255390" cy="233907"/>
          </a:xfrm>
        </p:grpSpPr>
        <p:sp>
          <p:nvSpPr>
            <p:cNvPr name="Freeform 13" id="13"/>
            <p:cNvSpPr/>
            <p:nvPr/>
          </p:nvSpPr>
          <p:spPr>
            <a:xfrm flipH="false" flipV="false" rot="0">
              <a:off x="0" y="0"/>
              <a:ext cx="2255390" cy="233907"/>
            </a:xfrm>
            <a:custGeom>
              <a:avLst/>
              <a:gdLst/>
              <a:ahLst/>
              <a:cxnLst/>
              <a:rect r="r" b="b" t="t" l="l"/>
              <a:pathLst>
                <a:path h="233907" w="2255390">
                  <a:moveTo>
                    <a:pt x="90407" y="0"/>
                  </a:moveTo>
                  <a:lnTo>
                    <a:pt x="2164984" y="0"/>
                  </a:lnTo>
                  <a:cubicBezTo>
                    <a:pt x="2214914" y="0"/>
                    <a:pt x="2255390" y="40476"/>
                    <a:pt x="2255390" y="90407"/>
                  </a:cubicBezTo>
                  <a:lnTo>
                    <a:pt x="2255390" y="143500"/>
                  </a:lnTo>
                  <a:cubicBezTo>
                    <a:pt x="2255390" y="193431"/>
                    <a:pt x="2214914" y="233907"/>
                    <a:pt x="2164984" y="233907"/>
                  </a:cubicBezTo>
                  <a:lnTo>
                    <a:pt x="90407" y="233907"/>
                  </a:lnTo>
                  <a:cubicBezTo>
                    <a:pt x="40476" y="233907"/>
                    <a:pt x="0" y="193431"/>
                    <a:pt x="0" y="143500"/>
                  </a:cubicBezTo>
                  <a:lnTo>
                    <a:pt x="0" y="90407"/>
                  </a:lnTo>
                  <a:cubicBezTo>
                    <a:pt x="0" y="40476"/>
                    <a:pt x="40476" y="0"/>
                    <a:pt x="90407" y="0"/>
                  </a:cubicBezTo>
                  <a:close/>
                </a:path>
              </a:pathLst>
            </a:custGeom>
            <a:solidFill>
              <a:srgbClr val="FFFFFF"/>
            </a:solidFill>
            <a:ln cap="rnd">
              <a:noFill/>
              <a:prstDash val="solid"/>
              <a:round/>
            </a:ln>
          </p:spPr>
        </p:sp>
        <p:sp>
          <p:nvSpPr>
            <p:cNvPr name="TextBox 14" id="14"/>
            <p:cNvSpPr txBox="true"/>
            <p:nvPr/>
          </p:nvSpPr>
          <p:spPr>
            <a:xfrm>
              <a:off x="0" y="-57150"/>
              <a:ext cx="2255390" cy="291057"/>
            </a:xfrm>
            <a:prstGeom prst="rect">
              <a:avLst/>
            </a:prstGeom>
          </p:spPr>
          <p:txBody>
            <a:bodyPr anchor="ctr" rtlCol="false" tIns="50800" lIns="50800" bIns="50800" rIns="50800"/>
            <a:lstStyle/>
            <a:p>
              <a:pPr algn="ctr">
                <a:lnSpc>
                  <a:spcPts val="2659"/>
                </a:lnSpc>
              </a:pPr>
            </a:p>
          </p:txBody>
        </p:sp>
      </p:grpSp>
      <p:graphicFrame>
        <p:nvGraphicFramePr>
          <p:cNvPr name="Object 15" id="15"/>
          <p:cNvGraphicFramePr/>
          <p:nvPr/>
        </p:nvGraphicFramePr>
        <p:xfrm>
          <a:off x="480736" y="1667459"/>
          <a:ext cx="13896975" cy="9220200"/>
        </p:xfrm>
        <a:graphic>
          <a:graphicData uri="http://schemas.openxmlformats.org/presentationml/2006/ole">
            <p:oleObj imgW="16675100" imgH="12001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aphicFrame>
        <p:nvGraphicFramePr>
          <p:cNvPr name="Object 16" id="16"/>
          <p:cNvGraphicFramePr/>
          <p:nvPr/>
        </p:nvGraphicFramePr>
        <p:xfrm>
          <a:off x="9789504" y="1557857"/>
          <a:ext cx="15160336" cy="8229600"/>
        </p:xfrm>
        <a:graphic>
          <a:graphicData uri="http://schemas.openxmlformats.org/presentationml/2006/ole">
            <p:oleObj imgW="18186400" imgH="112522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7" id="17"/>
          <p:cNvSpPr txBox="true"/>
          <p:nvPr/>
        </p:nvSpPr>
        <p:spPr>
          <a:xfrm rot="0">
            <a:off x="807299" y="575237"/>
            <a:ext cx="9413893" cy="632427"/>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4. Kế hoạch chi tiết tiến độ dự án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0736" y="490255"/>
            <a:ext cx="3518820" cy="888116"/>
            <a:chOff x="0" y="0"/>
            <a:chExt cx="926767" cy="233907"/>
          </a:xfrm>
        </p:grpSpPr>
        <p:sp>
          <p:nvSpPr>
            <p:cNvPr name="Freeform 10" id="10"/>
            <p:cNvSpPr/>
            <p:nvPr/>
          </p:nvSpPr>
          <p:spPr>
            <a:xfrm flipH="false" flipV="false" rot="0">
              <a:off x="0" y="0"/>
              <a:ext cx="926767" cy="233907"/>
            </a:xfrm>
            <a:custGeom>
              <a:avLst/>
              <a:gdLst/>
              <a:ahLst/>
              <a:cxnLst/>
              <a:rect r="r" b="b" t="t" l="l"/>
              <a:pathLst>
                <a:path h="233907" w="926767">
                  <a:moveTo>
                    <a:pt x="116954" y="0"/>
                  </a:moveTo>
                  <a:lnTo>
                    <a:pt x="809814" y="0"/>
                  </a:lnTo>
                  <a:cubicBezTo>
                    <a:pt x="840832" y="0"/>
                    <a:pt x="870580" y="12322"/>
                    <a:pt x="892513" y="34255"/>
                  </a:cubicBezTo>
                  <a:cubicBezTo>
                    <a:pt x="914446" y="56188"/>
                    <a:pt x="926767" y="85936"/>
                    <a:pt x="926767" y="116954"/>
                  </a:cubicBezTo>
                  <a:lnTo>
                    <a:pt x="926767" y="116954"/>
                  </a:lnTo>
                  <a:cubicBezTo>
                    <a:pt x="926767" y="181545"/>
                    <a:pt x="874406" y="233907"/>
                    <a:pt x="809814"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1" id="11"/>
            <p:cNvSpPr txBox="true"/>
            <p:nvPr/>
          </p:nvSpPr>
          <p:spPr>
            <a:xfrm>
              <a:off x="0" y="-57150"/>
              <a:ext cx="926767" cy="29105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80736" y="490255"/>
            <a:ext cx="8563435" cy="888116"/>
            <a:chOff x="0" y="0"/>
            <a:chExt cx="2255390" cy="233907"/>
          </a:xfrm>
        </p:grpSpPr>
        <p:sp>
          <p:nvSpPr>
            <p:cNvPr name="Freeform 13" id="13"/>
            <p:cNvSpPr/>
            <p:nvPr/>
          </p:nvSpPr>
          <p:spPr>
            <a:xfrm flipH="false" flipV="false" rot="0">
              <a:off x="0" y="0"/>
              <a:ext cx="2255390" cy="233907"/>
            </a:xfrm>
            <a:custGeom>
              <a:avLst/>
              <a:gdLst/>
              <a:ahLst/>
              <a:cxnLst/>
              <a:rect r="r" b="b" t="t" l="l"/>
              <a:pathLst>
                <a:path h="233907" w="2255390">
                  <a:moveTo>
                    <a:pt x="90407" y="0"/>
                  </a:moveTo>
                  <a:lnTo>
                    <a:pt x="2164984" y="0"/>
                  </a:lnTo>
                  <a:cubicBezTo>
                    <a:pt x="2214914" y="0"/>
                    <a:pt x="2255390" y="40476"/>
                    <a:pt x="2255390" y="90407"/>
                  </a:cubicBezTo>
                  <a:lnTo>
                    <a:pt x="2255390" y="143500"/>
                  </a:lnTo>
                  <a:cubicBezTo>
                    <a:pt x="2255390" y="193431"/>
                    <a:pt x="2214914" y="233907"/>
                    <a:pt x="2164984" y="233907"/>
                  </a:cubicBezTo>
                  <a:lnTo>
                    <a:pt x="90407" y="233907"/>
                  </a:lnTo>
                  <a:cubicBezTo>
                    <a:pt x="40476" y="233907"/>
                    <a:pt x="0" y="193431"/>
                    <a:pt x="0" y="143500"/>
                  </a:cubicBezTo>
                  <a:lnTo>
                    <a:pt x="0" y="90407"/>
                  </a:lnTo>
                  <a:cubicBezTo>
                    <a:pt x="0" y="40476"/>
                    <a:pt x="40476" y="0"/>
                    <a:pt x="90407" y="0"/>
                  </a:cubicBezTo>
                  <a:close/>
                </a:path>
              </a:pathLst>
            </a:custGeom>
            <a:solidFill>
              <a:srgbClr val="FFFFFF"/>
            </a:solidFill>
            <a:ln cap="rnd">
              <a:noFill/>
              <a:prstDash val="solid"/>
              <a:round/>
            </a:ln>
          </p:spPr>
        </p:sp>
        <p:sp>
          <p:nvSpPr>
            <p:cNvPr name="TextBox 14" id="14"/>
            <p:cNvSpPr txBox="true"/>
            <p:nvPr/>
          </p:nvSpPr>
          <p:spPr>
            <a:xfrm>
              <a:off x="0" y="-57150"/>
              <a:ext cx="2255390" cy="291057"/>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807299" y="575237"/>
            <a:ext cx="9413893" cy="632427"/>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5. Kế hoạch quản lý rủi ro</a:t>
            </a:r>
          </a:p>
        </p:txBody>
      </p:sp>
      <p:grpSp>
        <p:nvGrpSpPr>
          <p:cNvPr name="Group 16" id="16"/>
          <p:cNvGrpSpPr/>
          <p:nvPr/>
        </p:nvGrpSpPr>
        <p:grpSpPr>
          <a:xfrm rot="0">
            <a:off x="306673" y="1914706"/>
            <a:ext cx="18499797" cy="8171410"/>
            <a:chOff x="0" y="0"/>
            <a:chExt cx="24666396" cy="10895214"/>
          </a:xfrm>
        </p:grpSpPr>
        <p:sp>
          <p:nvSpPr>
            <p:cNvPr name="TextBox 17" id="17"/>
            <p:cNvSpPr txBox="true"/>
            <p:nvPr/>
          </p:nvSpPr>
          <p:spPr>
            <a:xfrm rot="0">
              <a:off x="17627500" y="75691"/>
              <a:ext cx="5039546" cy="1032969"/>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Điểm kí</a:t>
              </a:r>
              <a:r>
                <a:rPr lang="en-US" b="true" sz="2799" strike="noStrike" u="none">
                  <a:solidFill>
                    <a:srgbClr val="000000"/>
                  </a:solidFill>
                  <a:latin typeface="Work Sans Bold"/>
                  <a:ea typeface="Work Sans Bold"/>
                  <a:cs typeface="Work Sans Bold"/>
                  <a:sym typeface="Work Sans Bold"/>
                </a:rPr>
                <a:t>ch hoạt (Trigger)</a:t>
              </a:r>
            </a:p>
          </p:txBody>
        </p:sp>
        <p:sp>
          <p:nvSpPr>
            <p:cNvPr name="TextBox 18" id="18"/>
            <p:cNvSpPr txBox="true"/>
            <p:nvPr/>
          </p:nvSpPr>
          <p:spPr>
            <a:xfrm rot="0">
              <a:off x="435416" y="8389905"/>
              <a:ext cx="4424862" cy="499445"/>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Thiếu nhân lực </a:t>
              </a:r>
            </a:p>
          </p:txBody>
        </p:sp>
        <p:sp>
          <p:nvSpPr>
            <p:cNvPr name="AutoShape 19" id="19"/>
            <p:cNvSpPr/>
            <p:nvPr/>
          </p:nvSpPr>
          <p:spPr>
            <a:xfrm>
              <a:off x="0" y="6346482"/>
              <a:ext cx="24390730" cy="0"/>
            </a:xfrm>
            <a:prstGeom prst="line">
              <a:avLst/>
            </a:prstGeom>
            <a:ln cap="flat" w="38100">
              <a:solidFill>
                <a:srgbClr val="000000">
                  <a:alpha val="47843"/>
                </a:srgbClr>
              </a:solidFill>
              <a:prstDash val="lgDash"/>
              <a:headEnd type="none" len="sm" w="sm"/>
              <a:tailEnd type="none" len="sm" w="sm"/>
            </a:ln>
          </p:spPr>
        </p:sp>
        <p:sp>
          <p:nvSpPr>
            <p:cNvPr name="AutoShape 20" id="20"/>
            <p:cNvSpPr/>
            <p:nvPr/>
          </p:nvSpPr>
          <p:spPr>
            <a:xfrm>
              <a:off x="0" y="3970398"/>
              <a:ext cx="24666396" cy="0"/>
            </a:xfrm>
            <a:prstGeom prst="line">
              <a:avLst/>
            </a:prstGeom>
            <a:ln cap="flat" w="38100">
              <a:solidFill>
                <a:srgbClr val="000000">
                  <a:alpha val="47843"/>
                </a:srgbClr>
              </a:solidFill>
              <a:prstDash val="lgDash"/>
              <a:headEnd type="none" len="sm" w="sm"/>
              <a:tailEnd type="none" len="sm" w="sm"/>
            </a:ln>
          </p:spPr>
        </p:sp>
        <p:sp>
          <p:nvSpPr>
            <p:cNvPr name="AutoShape 21" id="21"/>
            <p:cNvSpPr/>
            <p:nvPr/>
          </p:nvSpPr>
          <p:spPr>
            <a:xfrm>
              <a:off x="0" y="8167655"/>
              <a:ext cx="24627015" cy="0"/>
            </a:xfrm>
            <a:prstGeom prst="line">
              <a:avLst/>
            </a:prstGeom>
            <a:ln cap="flat" w="38100">
              <a:solidFill>
                <a:srgbClr val="000000">
                  <a:alpha val="47843"/>
                </a:srgbClr>
              </a:solidFill>
              <a:prstDash val="lgDash"/>
              <a:headEnd type="none" len="sm" w="sm"/>
              <a:tailEnd type="none" len="sm" w="sm"/>
            </a:ln>
          </p:spPr>
        </p:sp>
        <p:sp>
          <p:nvSpPr>
            <p:cNvPr name="AutoShape 22" id="22"/>
            <p:cNvSpPr/>
            <p:nvPr/>
          </p:nvSpPr>
          <p:spPr>
            <a:xfrm flipV="true">
              <a:off x="11472884" y="0"/>
              <a:ext cx="0" cy="9839177"/>
            </a:xfrm>
            <a:prstGeom prst="line">
              <a:avLst/>
            </a:prstGeom>
            <a:ln cap="flat" w="38100">
              <a:solidFill>
                <a:srgbClr val="000000">
                  <a:alpha val="47843"/>
                </a:srgbClr>
              </a:solidFill>
              <a:prstDash val="lgDash"/>
              <a:headEnd type="none" len="sm" w="sm"/>
              <a:tailEnd type="none" len="sm" w="sm"/>
            </a:ln>
          </p:spPr>
        </p:sp>
        <p:sp>
          <p:nvSpPr>
            <p:cNvPr name="AutoShape 23" id="23"/>
            <p:cNvSpPr/>
            <p:nvPr/>
          </p:nvSpPr>
          <p:spPr>
            <a:xfrm flipV="true">
              <a:off x="4660010" y="48699"/>
              <a:ext cx="57150" cy="9790478"/>
            </a:xfrm>
            <a:prstGeom prst="line">
              <a:avLst/>
            </a:prstGeom>
            <a:ln cap="flat" w="38100">
              <a:solidFill>
                <a:srgbClr val="000000">
                  <a:alpha val="47843"/>
                </a:srgbClr>
              </a:solidFill>
              <a:prstDash val="lgDash"/>
              <a:headEnd type="none" len="sm" w="sm"/>
              <a:tailEnd type="none" len="sm" w="sm"/>
            </a:ln>
          </p:spPr>
        </p:sp>
        <p:sp>
          <p:nvSpPr>
            <p:cNvPr name="AutoShape 24" id="24"/>
            <p:cNvSpPr/>
            <p:nvPr/>
          </p:nvSpPr>
          <p:spPr>
            <a:xfrm>
              <a:off x="0" y="1267881"/>
              <a:ext cx="24202586" cy="0"/>
            </a:xfrm>
            <a:prstGeom prst="line">
              <a:avLst/>
            </a:prstGeom>
            <a:ln cap="flat" w="38100">
              <a:solidFill>
                <a:srgbClr val="000000">
                  <a:alpha val="47843"/>
                </a:srgbClr>
              </a:solidFill>
              <a:prstDash val="lgDash"/>
              <a:headEnd type="none" len="sm" w="sm"/>
              <a:tailEnd type="none" len="sm" w="sm"/>
            </a:ln>
          </p:spPr>
        </p:sp>
        <p:sp>
          <p:nvSpPr>
            <p:cNvPr name="AutoShape 25" id="25"/>
            <p:cNvSpPr/>
            <p:nvPr/>
          </p:nvSpPr>
          <p:spPr>
            <a:xfrm flipV="true">
              <a:off x="17824350" y="0"/>
              <a:ext cx="0" cy="9839177"/>
            </a:xfrm>
            <a:prstGeom prst="line">
              <a:avLst/>
            </a:prstGeom>
            <a:ln cap="flat" w="38100">
              <a:solidFill>
                <a:srgbClr val="000000">
                  <a:alpha val="47843"/>
                </a:srgbClr>
              </a:solidFill>
              <a:prstDash val="lgDash"/>
              <a:headEnd type="none" len="sm" w="sm"/>
              <a:tailEnd type="none" len="sm" w="sm"/>
            </a:ln>
          </p:spPr>
        </p:sp>
        <p:sp>
          <p:nvSpPr>
            <p:cNvPr name="TextBox 26" id="26"/>
            <p:cNvSpPr txBox="true"/>
            <p:nvPr/>
          </p:nvSpPr>
          <p:spPr>
            <a:xfrm rot="0">
              <a:off x="101699" y="323297"/>
              <a:ext cx="4424862" cy="537757"/>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Rủ</a:t>
              </a:r>
              <a:r>
                <a:rPr lang="en-US" b="true" sz="2799" strike="noStrike" u="none">
                  <a:solidFill>
                    <a:srgbClr val="000000"/>
                  </a:solidFill>
                  <a:latin typeface="Work Sans Bold"/>
                  <a:ea typeface="Work Sans Bold"/>
                  <a:cs typeface="Work Sans Bold"/>
                  <a:sym typeface="Work Sans Bold"/>
                </a:rPr>
                <a:t>i ro</a:t>
              </a:r>
            </a:p>
          </p:txBody>
        </p:sp>
        <p:sp>
          <p:nvSpPr>
            <p:cNvPr name="TextBox 27" id="27"/>
            <p:cNvSpPr txBox="true"/>
            <p:nvPr/>
          </p:nvSpPr>
          <p:spPr>
            <a:xfrm rot="0">
              <a:off x="325666" y="1680631"/>
              <a:ext cx="4315964"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Nội dung truyền thông khô</a:t>
              </a:r>
              <a:r>
                <a:rPr lang="en-US" sz="2499" strike="noStrike" u="none">
                  <a:solidFill>
                    <a:srgbClr val="000000"/>
                  </a:solidFill>
                  <a:latin typeface="Work Sans"/>
                  <a:ea typeface="Work Sans"/>
                  <a:cs typeface="Work Sans"/>
                  <a:sym typeface="Work Sans"/>
                </a:rPr>
                <a:t>ng thu hút</a:t>
              </a:r>
            </a:p>
          </p:txBody>
        </p:sp>
        <p:sp>
          <p:nvSpPr>
            <p:cNvPr name="TextBox 28" id="28"/>
            <p:cNvSpPr txBox="true"/>
            <p:nvPr/>
          </p:nvSpPr>
          <p:spPr>
            <a:xfrm rot="0">
              <a:off x="401679" y="4480166"/>
              <a:ext cx="3947181" cy="994833"/>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Trễ deadline thiết kế poster/vided</a:t>
              </a:r>
            </a:p>
          </p:txBody>
        </p:sp>
        <p:sp>
          <p:nvSpPr>
            <p:cNvPr name="TextBox 29" id="29"/>
            <p:cNvSpPr txBox="true"/>
            <p:nvPr/>
          </p:nvSpPr>
          <p:spPr>
            <a:xfrm rot="0">
              <a:off x="402615" y="6594132"/>
              <a:ext cx="3972078" cy="499445"/>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Lỗi kỹ thuật</a:t>
              </a:r>
            </a:p>
          </p:txBody>
        </p:sp>
        <p:sp>
          <p:nvSpPr>
            <p:cNvPr name="TextBox 30" id="30"/>
            <p:cNvSpPr txBox="true"/>
            <p:nvPr/>
          </p:nvSpPr>
          <p:spPr>
            <a:xfrm rot="0">
              <a:off x="5028605" y="4385236"/>
              <a:ext cx="5955329" cy="1489869"/>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Lập timeline rõ ràng </a:t>
              </a:r>
            </a:p>
            <a:p>
              <a:pPr algn="l">
                <a:lnSpc>
                  <a:spcPts val="2974"/>
                </a:lnSpc>
              </a:pPr>
              <a:r>
                <a:rPr lang="en-US" sz="2499">
                  <a:solidFill>
                    <a:srgbClr val="000000"/>
                  </a:solidFill>
                  <a:latin typeface="Work Sans"/>
                  <a:ea typeface="Work Sans"/>
                  <a:cs typeface="Work Sans"/>
                  <a:sym typeface="Work Sans"/>
                </a:rPr>
                <a:t>- Chia task cụ thể </a:t>
              </a:r>
            </a:p>
            <a:p>
              <a:pPr algn="l" marL="0" indent="0" lvl="0">
                <a:lnSpc>
                  <a:spcPts val="2974"/>
                </a:lnSpc>
              </a:pPr>
              <a:r>
                <a:rPr lang="en-US" sz="2499">
                  <a:solidFill>
                    <a:srgbClr val="000000"/>
                  </a:solidFill>
                  <a:latin typeface="Work Sans"/>
                  <a:ea typeface="Work Sans"/>
                  <a:cs typeface="Work Sans"/>
                  <a:sym typeface="Work Sans"/>
                </a:rPr>
                <a:t>- Check tiến độ hàng ngày</a:t>
              </a:r>
            </a:p>
          </p:txBody>
        </p:sp>
        <p:sp>
          <p:nvSpPr>
            <p:cNvPr name="TextBox 31" id="31"/>
            <p:cNvSpPr txBox="true"/>
            <p:nvPr/>
          </p:nvSpPr>
          <p:spPr>
            <a:xfrm rot="0">
              <a:off x="5107527" y="6632232"/>
              <a:ext cx="5627722" cy="994657"/>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Kiểm tra trước khi đăng </a:t>
              </a:r>
            </a:p>
            <a:p>
              <a:pPr algn="l" marL="0" indent="0" lvl="0">
                <a:lnSpc>
                  <a:spcPts val="2974"/>
                </a:lnSpc>
              </a:pPr>
              <a:r>
                <a:rPr lang="en-US" sz="2499">
                  <a:solidFill>
                    <a:srgbClr val="000000"/>
                  </a:solidFill>
                  <a:latin typeface="Work Sans"/>
                  <a:ea typeface="Work Sans"/>
                  <a:cs typeface="Work Sans"/>
                  <a:sym typeface="Work Sans"/>
                </a:rPr>
                <a:t>- Chuẩn hóa format file</a:t>
              </a:r>
            </a:p>
          </p:txBody>
        </p:sp>
        <p:sp>
          <p:nvSpPr>
            <p:cNvPr name="TextBox 32" id="32"/>
            <p:cNvSpPr txBox="true"/>
            <p:nvPr/>
          </p:nvSpPr>
          <p:spPr>
            <a:xfrm rot="0">
              <a:off x="5188037" y="8453405"/>
              <a:ext cx="5435214" cy="1489869"/>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Phân công backup nhân sự </a:t>
              </a:r>
            </a:p>
            <a:p>
              <a:pPr algn="l" marL="0" indent="0" lvl="0">
                <a:lnSpc>
                  <a:spcPts val="2974"/>
                </a:lnSpc>
              </a:pPr>
              <a:r>
                <a:rPr lang="en-US" sz="2499">
                  <a:solidFill>
                    <a:srgbClr val="000000"/>
                  </a:solidFill>
                  <a:latin typeface="Work Sans"/>
                  <a:ea typeface="Work Sans"/>
                  <a:cs typeface="Work Sans"/>
                  <a:sym typeface="Work Sans"/>
                </a:rPr>
                <a:t>- Tài liệu hóa quy trình</a:t>
              </a:r>
            </a:p>
          </p:txBody>
        </p:sp>
        <p:sp>
          <p:nvSpPr>
            <p:cNvPr name="TextBox 33" id="33"/>
            <p:cNvSpPr txBox="true"/>
            <p:nvPr/>
          </p:nvSpPr>
          <p:spPr>
            <a:xfrm rot="0">
              <a:off x="5025475" y="1728420"/>
              <a:ext cx="6251104" cy="1985081"/>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Nghiên cứu lại insight người học </a:t>
              </a:r>
            </a:p>
            <a:p>
              <a:pPr algn="l">
                <a:lnSpc>
                  <a:spcPts val="2974"/>
                </a:lnSpc>
              </a:pPr>
              <a:r>
                <a:rPr lang="en-US" sz="2499">
                  <a:solidFill>
                    <a:srgbClr val="000000"/>
                  </a:solidFill>
                  <a:latin typeface="Work Sans"/>
                  <a:ea typeface="Work Sans"/>
                  <a:cs typeface="Work Sans"/>
                  <a:sym typeface="Work Sans"/>
                </a:rPr>
                <a:t>- Tham khảo trend </a:t>
              </a:r>
            </a:p>
            <a:p>
              <a:pPr algn="l" marL="0" indent="0" lvl="0">
                <a:lnSpc>
                  <a:spcPts val="2974"/>
                </a:lnSpc>
              </a:pPr>
              <a:r>
                <a:rPr lang="en-US" sz="2499">
                  <a:solidFill>
                    <a:srgbClr val="000000"/>
                  </a:solidFill>
                  <a:latin typeface="Work Sans"/>
                  <a:ea typeface="Work Sans"/>
                  <a:cs typeface="Work Sans"/>
                  <a:sym typeface="Work Sans"/>
                </a:rPr>
                <a:t>- Test A/B nội dung</a:t>
              </a:r>
            </a:p>
          </p:txBody>
        </p:sp>
        <p:sp>
          <p:nvSpPr>
            <p:cNvPr name="TextBox 34" id="34"/>
            <p:cNvSpPr txBox="true"/>
            <p:nvPr/>
          </p:nvSpPr>
          <p:spPr>
            <a:xfrm rot="0">
              <a:off x="11771781" y="1729200"/>
              <a:ext cx="5368867" cy="1985081"/>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Chạy quảng cáo boost bài </a:t>
              </a:r>
            </a:p>
            <a:p>
              <a:pPr algn="l" marL="0" indent="0" lvl="0">
                <a:lnSpc>
                  <a:spcPts val="2974"/>
                </a:lnSpc>
              </a:pPr>
              <a:r>
                <a:rPr lang="en-US" sz="2499">
                  <a:solidFill>
                    <a:srgbClr val="000000"/>
                  </a:solidFill>
                  <a:latin typeface="Work Sans"/>
                  <a:ea typeface="Work Sans"/>
                  <a:cs typeface="Work Sans"/>
                  <a:sym typeface="Work Sans"/>
                </a:rPr>
                <a:t>- Điều chỉn</a:t>
              </a:r>
              <a:r>
                <a:rPr lang="en-US" sz="2499" strike="noStrike" u="none">
                  <a:solidFill>
                    <a:srgbClr val="000000"/>
                  </a:solidFill>
                  <a:latin typeface="Work Sans"/>
                  <a:ea typeface="Work Sans"/>
                  <a:cs typeface="Work Sans"/>
                  <a:sym typeface="Work Sans"/>
                </a:rPr>
                <a:t>h content ngay</a:t>
              </a:r>
            </a:p>
          </p:txBody>
        </p:sp>
        <p:sp>
          <p:nvSpPr>
            <p:cNvPr name="TextBox 35" id="35"/>
            <p:cNvSpPr txBox="true"/>
            <p:nvPr/>
          </p:nvSpPr>
          <p:spPr>
            <a:xfrm rot="0">
              <a:off x="11860681" y="6598255"/>
              <a:ext cx="5856209" cy="994657"/>
            </a:xfrm>
            <a:prstGeom prst="rect">
              <a:avLst/>
            </a:prstGeom>
          </p:spPr>
          <p:txBody>
            <a:bodyPr anchor="t" rtlCol="false" tIns="0" lIns="0" bIns="0" rIns="0">
              <a:spAutoFit/>
            </a:bodyPr>
            <a:lstStyle/>
            <a:p>
              <a:pPr algn="just">
                <a:lnSpc>
                  <a:spcPts val="2974"/>
                </a:lnSpc>
              </a:pPr>
              <a:r>
                <a:rPr lang="en-US" sz="2499">
                  <a:solidFill>
                    <a:srgbClr val="000000"/>
                  </a:solidFill>
                  <a:latin typeface="Work Sans"/>
                  <a:ea typeface="Work Sans"/>
                  <a:cs typeface="Work Sans"/>
                  <a:sym typeface="Work Sans"/>
                </a:rPr>
                <a:t>- Gỡ bài, đăng lại nhanh </a:t>
              </a:r>
            </a:p>
            <a:p>
              <a:pPr algn="just" marL="0" indent="0" lvl="0">
                <a:lnSpc>
                  <a:spcPts val="2974"/>
                </a:lnSpc>
              </a:pPr>
              <a:r>
                <a:rPr lang="en-US" sz="2499">
                  <a:solidFill>
                    <a:srgbClr val="000000"/>
                  </a:solidFill>
                  <a:latin typeface="Work Sans"/>
                  <a:ea typeface="Work Sans"/>
                  <a:cs typeface="Work Sans"/>
                  <a:sym typeface="Work Sans"/>
                </a:rPr>
                <a:t>- Xin lỗi nếu cần</a:t>
              </a:r>
            </a:p>
          </p:txBody>
        </p:sp>
        <p:sp>
          <p:nvSpPr>
            <p:cNvPr name="TextBox 36" id="36"/>
            <p:cNvSpPr txBox="true"/>
            <p:nvPr/>
          </p:nvSpPr>
          <p:spPr>
            <a:xfrm rot="0">
              <a:off x="11753586" y="8542305"/>
              <a:ext cx="5963304" cy="994657"/>
            </a:xfrm>
            <a:prstGeom prst="rect">
              <a:avLst/>
            </a:prstGeom>
          </p:spPr>
          <p:txBody>
            <a:bodyPr anchor="t" rtlCol="false" tIns="0" lIns="0" bIns="0" rIns="0">
              <a:spAutoFit/>
            </a:bodyPr>
            <a:lstStyle/>
            <a:p>
              <a:pPr algn="just">
                <a:lnSpc>
                  <a:spcPts val="2974"/>
                </a:lnSpc>
              </a:pPr>
              <a:r>
                <a:rPr lang="en-US" sz="2499">
                  <a:solidFill>
                    <a:srgbClr val="000000"/>
                  </a:solidFill>
                  <a:latin typeface="Work Sans"/>
                  <a:ea typeface="Work Sans"/>
                  <a:cs typeface="Work Sans"/>
                  <a:sym typeface="Work Sans"/>
                </a:rPr>
                <a:t>- Phân bổ lại công việc </a:t>
              </a:r>
            </a:p>
            <a:p>
              <a:pPr algn="just" marL="0" indent="0" lvl="0">
                <a:lnSpc>
                  <a:spcPts val="2974"/>
                </a:lnSpc>
              </a:pPr>
              <a:r>
                <a:rPr lang="en-US" sz="2499">
                  <a:solidFill>
                    <a:srgbClr val="000000"/>
                  </a:solidFill>
                  <a:latin typeface="Work Sans"/>
                  <a:ea typeface="Work Sans"/>
                  <a:cs typeface="Work Sans"/>
                  <a:sym typeface="Work Sans"/>
                </a:rPr>
                <a:t>- Thuê freelan</a:t>
              </a:r>
              <a:r>
                <a:rPr lang="en-US" sz="2499" strike="noStrike" u="none">
                  <a:solidFill>
                    <a:srgbClr val="000000"/>
                  </a:solidFill>
                  <a:latin typeface="Work Sans"/>
                  <a:ea typeface="Work Sans"/>
                  <a:cs typeface="Work Sans"/>
                  <a:sym typeface="Work Sans"/>
                </a:rPr>
                <a:t>cer nếu cần</a:t>
              </a:r>
            </a:p>
          </p:txBody>
        </p:sp>
        <p:sp>
          <p:nvSpPr>
            <p:cNvPr name="TextBox 37" id="37"/>
            <p:cNvSpPr txBox="true"/>
            <p:nvPr/>
          </p:nvSpPr>
          <p:spPr>
            <a:xfrm rot="0">
              <a:off x="5708957" y="148394"/>
              <a:ext cx="4424862" cy="1032969"/>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Ngăn chặn &amp; g</a:t>
              </a:r>
              <a:r>
                <a:rPr lang="en-US" b="true" sz="2799" strike="noStrike" u="none">
                  <a:solidFill>
                    <a:srgbClr val="000000"/>
                  </a:solidFill>
                  <a:latin typeface="Work Sans Bold"/>
                  <a:ea typeface="Work Sans Bold"/>
                  <a:cs typeface="Work Sans Bold"/>
                  <a:sym typeface="Work Sans Bold"/>
                </a:rPr>
                <a:t>iảm thiểu (RR)</a:t>
              </a:r>
            </a:p>
          </p:txBody>
        </p:sp>
        <p:sp>
          <p:nvSpPr>
            <p:cNvPr name="TextBox 38" id="38"/>
            <p:cNvSpPr txBox="true"/>
            <p:nvPr/>
          </p:nvSpPr>
          <p:spPr>
            <a:xfrm rot="0">
              <a:off x="12050804" y="4480166"/>
              <a:ext cx="5475962" cy="1489869"/>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Điều động thêm người hỗ trợ</a:t>
              </a:r>
            </a:p>
            <a:p>
              <a:pPr algn="l" marL="0" indent="0" lvl="0">
                <a:lnSpc>
                  <a:spcPts val="2974"/>
                </a:lnSpc>
              </a:pPr>
              <a:r>
                <a:rPr lang="en-US" sz="2499">
                  <a:solidFill>
                    <a:srgbClr val="000000"/>
                  </a:solidFill>
                  <a:latin typeface="Work Sans"/>
                  <a:ea typeface="Work Sans"/>
                  <a:cs typeface="Work Sans"/>
                  <a:sym typeface="Work Sans"/>
                </a:rPr>
                <a:t>- Phân bổ lại</a:t>
              </a:r>
              <a:r>
                <a:rPr lang="en-US" sz="2499" strike="noStrike" u="none">
                  <a:solidFill>
                    <a:srgbClr val="000000"/>
                  </a:solidFill>
                  <a:latin typeface="Work Sans"/>
                  <a:ea typeface="Work Sans"/>
                  <a:cs typeface="Work Sans"/>
                  <a:sym typeface="Work Sans"/>
                </a:rPr>
                <a:t> công việc</a:t>
              </a:r>
            </a:p>
          </p:txBody>
        </p:sp>
        <p:sp>
          <p:nvSpPr>
            <p:cNvPr name="TextBox 39" id="39"/>
            <p:cNvSpPr txBox="true"/>
            <p:nvPr/>
          </p:nvSpPr>
          <p:spPr>
            <a:xfrm rot="0">
              <a:off x="12418856" y="77274"/>
              <a:ext cx="4424862" cy="1032969"/>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Biện pháp ứng</a:t>
              </a:r>
              <a:r>
                <a:rPr lang="en-US" b="true" sz="2799" strike="noStrike" u="none">
                  <a:solidFill>
                    <a:srgbClr val="000000"/>
                  </a:solidFill>
                  <a:latin typeface="Work Sans Bold"/>
                  <a:ea typeface="Work Sans Bold"/>
                  <a:cs typeface="Work Sans Bold"/>
                  <a:sym typeface="Work Sans Bold"/>
                </a:rPr>
                <a:t> phó (BF)</a:t>
              </a:r>
            </a:p>
          </p:txBody>
        </p:sp>
        <p:sp>
          <p:nvSpPr>
            <p:cNvPr name="TextBox 40" id="40"/>
            <p:cNvSpPr txBox="true"/>
            <p:nvPr/>
          </p:nvSpPr>
          <p:spPr>
            <a:xfrm rot="0">
              <a:off x="18338700" y="1964760"/>
              <a:ext cx="5690152" cy="1489869"/>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Sau 24h: </a:t>
              </a:r>
            </a:p>
            <a:p>
              <a:pPr algn="l" marL="0" indent="0" lvl="0">
                <a:lnSpc>
                  <a:spcPts val="2974"/>
                </a:lnSpc>
              </a:pPr>
              <a:r>
                <a:rPr lang="en-US" sz="2499">
                  <a:solidFill>
                    <a:srgbClr val="000000"/>
                  </a:solidFill>
                  <a:latin typeface="Work Sans"/>
                  <a:ea typeface="Work Sans"/>
                  <a:cs typeface="Work Sans"/>
                  <a:sym typeface="Work Sans"/>
                </a:rPr>
                <a:t>reach &lt; 50% KPI h</a:t>
              </a:r>
              <a:r>
                <a:rPr lang="en-US" sz="2499" strike="noStrike" u="none">
                  <a:solidFill>
                    <a:srgbClr val="000000"/>
                  </a:solidFill>
                  <a:latin typeface="Work Sans"/>
                  <a:ea typeface="Work Sans"/>
                  <a:cs typeface="Work Sans"/>
                  <a:sym typeface="Work Sans"/>
                </a:rPr>
                <a:t>oặc engagement &lt; 3%</a:t>
              </a:r>
            </a:p>
          </p:txBody>
        </p:sp>
        <p:sp>
          <p:nvSpPr>
            <p:cNvPr name="TextBox 41" id="41"/>
            <p:cNvSpPr txBox="true"/>
            <p:nvPr/>
          </p:nvSpPr>
          <p:spPr>
            <a:xfrm rot="0">
              <a:off x="18249800" y="4480166"/>
              <a:ext cx="5113666"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Khối lượng công việc vượt quá khả</a:t>
              </a:r>
              <a:r>
                <a:rPr lang="en-US" sz="2499" strike="noStrike" u="none">
                  <a:solidFill>
                    <a:srgbClr val="000000"/>
                  </a:solidFill>
                  <a:latin typeface="Work Sans"/>
                  <a:ea typeface="Work Sans"/>
                  <a:cs typeface="Work Sans"/>
                  <a:sym typeface="Work Sans"/>
                </a:rPr>
                <a:t> năng, không theo kịp tiến dộ</a:t>
              </a:r>
            </a:p>
          </p:txBody>
        </p:sp>
        <p:sp>
          <p:nvSpPr>
            <p:cNvPr name="TextBox 42" id="42"/>
            <p:cNvSpPr txBox="true"/>
            <p:nvPr/>
          </p:nvSpPr>
          <p:spPr>
            <a:xfrm rot="0">
              <a:off x="18338700" y="6663982"/>
              <a:ext cx="5062866"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Phát hiện lỗi sau khi</a:t>
              </a:r>
              <a:r>
                <a:rPr lang="en-US" sz="2499" strike="noStrike" u="none">
                  <a:solidFill>
                    <a:srgbClr val="000000"/>
                  </a:solidFill>
                  <a:latin typeface="Work Sans"/>
                  <a:ea typeface="Work Sans"/>
                  <a:cs typeface="Work Sans"/>
                  <a:sym typeface="Work Sans"/>
                </a:rPr>
                <a:t> đăng</a:t>
              </a:r>
            </a:p>
          </p:txBody>
        </p:sp>
        <p:sp>
          <p:nvSpPr>
            <p:cNvPr name="TextBox 43" id="43"/>
            <p:cNvSpPr txBox="true"/>
            <p:nvPr/>
          </p:nvSpPr>
          <p:spPr>
            <a:xfrm rot="0">
              <a:off x="18300600" y="8515701"/>
              <a:ext cx="5062866"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Task quan trọng nhưng thiếu</a:t>
              </a:r>
              <a:r>
                <a:rPr lang="en-US" sz="2499" strike="noStrike" u="none">
                  <a:solidFill>
                    <a:srgbClr val="000000"/>
                  </a:solidFill>
                  <a:latin typeface="Work Sans"/>
                  <a:ea typeface="Work Sans"/>
                  <a:cs typeface="Work Sans"/>
                  <a:sym typeface="Work Sans"/>
                </a:rPr>
                <a:t> người chủ chốt</a:t>
              </a:r>
            </a:p>
          </p:txBody>
        </p:sp>
        <p:sp>
          <p:nvSpPr>
            <p:cNvPr name="Freeform 44" id="44"/>
            <p:cNvSpPr/>
            <p:nvPr/>
          </p:nvSpPr>
          <p:spPr>
            <a:xfrm flipH="false" flipV="false" rot="0">
              <a:off x="3038971" y="10358740"/>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5" id="45"/>
            <p:cNvSpPr/>
            <p:nvPr/>
          </p:nvSpPr>
          <p:spPr>
            <a:xfrm flipH="false" flipV="false" rot="0">
              <a:off x="512918" y="10321889"/>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6" id="46"/>
            <p:cNvSpPr txBox="true"/>
            <p:nvPr/>
          </p:nvSpPr>
          <p:spPr>
            <a:xfrm rot="0">
              <a:off x="1264834" y="10311115"/>
              <a:ext cx="1293365" cy="547247"/>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00000"/>
                  </a:solidFill>
                  <a:latin typeface="Work Sans"/>
                  <a:ea typeface="Work Sans"/>
                  <a:cs typeface="Work Sans"/>
                  <a:sym typeface="Work Sans"/>
                </a:rPr>
                <a:t>Thấp</a:t>
              </a:r>
            </a:p>
          </p:txBody>
        </p:sp>
        <p:sp>
          <p:nvSpPr>
            <p:cNvPr name="TextBox 47" id="47"/>
            <p:cNvSpPr txBox="true"/>
            <p:nvPr/>
          </p:nvSpPr>
          <p:spPr>
            <a:xfrm rot="0">
              <a:off x="3796193" y="10289316"/>
              <a:ext cx="2487164" cy="547247"/>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00000"/>
                  </a:solidFill>
                  <a:latin typeface="Work Sans"/>
                  <a:ea typeface="Work Sans"/>
                  <a:cs typeface="Work Sans"/>
                  <a:sym typeface="Work Sans"/>
                </a:rPr>
                <a:t>Trung bình </a:t>
              </a:r>
            </a:p>
          </p:txBody>
        </p:sp>
        <p:sp>
          <p:nvSpPr>
            <p:cNvPr name="Freeform 48" id="48"/>
            <p:cNvSpPr/>
            <p:nvPr/>
          </p:nvSpPr>
          <p:spPr>
            <a:xfrm flipH="false" flipV="false" rot="0">
              <a:off x="9088812" y="10395592"/>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9" id="49"/>
            <p:cNvSpPr/>
            <p:nvPr/>
          </p:nvSpPr>
          <p:spPr>
            <a:xfrm flipH="false" flipV="false" rot="0">
              <a:off x="6562758" y="10358740"/>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0" id="50"/>
            <p:cNvSpPr txBox="true"/>
            <p:nvPr/>
          </p:nvSpPr>
          <p:spPr>
            <a:xfrm rot="0">
              <a:off x="7314674" y="10347967"/>
              <a:ext cx="1293365" cy="547247"/>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00000"/>
                  </a:solidFill>
                  <a:latin typeface="Work Sans"/>
                  <a:ea typeface="Work Sans"/>
                  <a:cs typeface="Work Sans"/>
                  <a:sym typeface="Work Sans"/>
                </a:rPr>
                <a:t>Cao</a:t>
              </a:r>
            </a:p>
          </p:txBody>
        </p:sp>
        <p:sp>
          <p:nvSpPr>
            <p:cNvPr name="TextBox 51" id="51"/>
            <p:cNvSpPr txBox="true"/>
            <p:nvPr/>
          </p:nvSpPr>
          <p:spPr>
            <a:xfrm rot="0">
              <a:off x="9846034" y="10326167"/>
              <a:ext cx="2487164" cy="547247"/>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00000"/>
                  </a:solidFill>
                  <a:latin typeface="Work Sans"/>
                  <a:ea typeface="Work Sans"/>
                  <a:cs typeface="Work Sans"/>
                  <a:sym typeface="Work Sans"/>
                </a:rPr>
                <a:t>Rất cao</a:t>
              </a:r>
            </a:p>
          </p:txBody>
        </p:sp>
        <p:sp>
          <p:nvSpPr>
            <p:cNvPr name="TextBox 52" id="52"/>
            <p:cNvSpPr txBox="true"/>
            <p:nvPr/>
          </p:nvSpPr>
          <p:spPr>
            <a:xfrm rot="0">
              <a:off x="497555" y="2945516"/>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P-</a:t>
              </a:r>
            </a:p>
          </p:txBody>
        </p:sp>
        <p:sp>
          <p:nvSpPr>
            <p:cNvPr name="TextBox 53" id="53"/>
            <p:cNvSpPr txBox="true"/>
            <p:nvPr/>
          </p:nvSpPr>
          <p:spPr>
            <a:xfrm rot="0">
              <a:off x="1853322" y="2945516"/>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I-</a:t>
              </a:r>
            </a:p>
          </p:txBody>
        </p:sp>
        <p:sp>
          <p:nvSpPr>
            <p:cNvPr name="Freeform 54" id="54"/>
            <p:cNvSpPr/>
            <p:nvPr/>
          </p:nvSpPr>
          <p:spPr>
            <a:xfrm flipH="false" flipV="false" rot="0">
              <a:off x="990278" y="3010058"/>
              <a:ext cx="477822" cy="477822"/>
            </a:xfrm>
            <a:custGeom>
              <a:avLst/>
              <a:gdLst/>
              <a:ahLst/>
              <a:cxnLst/>
              <a:rect r="r" b="b" t="t" l="l"/>
              <a:pathLst>
                <a:path h="477822" w="477822">
                  <a:moveTo>
                    <a:pt x="0" y="0"/>
                  </a:moveTo>
                  <a:lnTo>
                    <a:pt x="477822" y="0"/>
                  </a:lnTo>
                  <a:lnTo>
                    <a:pt x="477822" y="477823"/>
                  </a:lnTo>
                  <a:lnTo>
                    <a:pt x="0" y="4778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5" id="55"/>
            <p:cNvSpPr/>
            <p:nvPr/>
          </p:nvSpPr>
          <p:spPr>
            <a:xfrm flipH="false" flipV="false" rot="0">
              <a:off x="2215106" y="3010058"/>
              <a:ext cx="477822" cy="477822"/>
            </a:xfrm>
            <a:custGeom>
              <a:avLst/>
              <a:gdLst/>
              <a:ahLst/>
              <a:cxnLst/>
              <a:rect r="r" b="b" t="t" l="l"/>
              <a:pathLst>
                <a:path h="477822" w="477822">
                  <a:moveTo>
                    <a:pt x="0" y="0"/>
                  </a:moveTo>
                  <a:lnTo>
                    <a:pt x="477822" y="0"/>
                  </a:lnTo>
                  <a:lnTo>
                    <a:pt x="477822" y="477823"/>
                  </a:lnTo>
                  <a:lnTo>
                    <a:pt x="0" y="4778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6" id="56"/>
            <p:cNvSpPr txBox="true"/>
            <p:nvPr/>
          </p:nvSpPr>
          <p:spPr>
            <a:xfrm rot="0">
              <a:off x="497555" y="7244919"/>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P-</a:t>
              </a:r>
            </a:p>
          </p:txBody>
        </p:sp>
        <p:sp>
          <p:nvSpPr>
            <p:cNvPr name="TextBox 57" id="57"/>
            <p:cNvSpPr txBox="true"/>
            <p:nvPr/>
          </p:nvSpPr>
          <p:spPr>
            <a:xfrm rot="0">
              <a:off x="1853322" y="7244919"/>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I-</a:t>
              </a:r>
            </a:p>
          </p:txBody>
        </p:sp>
        <p:sp>
          <p:nvSpPr>
            <p:cNvPr name="Freeform 58" id="58"/>
            <p:cNvSpPr/>
            <p:nvPr/>
          </p:nvSpPr>
          <p:spPr>
            <a:xfrm flipH="false" flipV="false" rot="0">
              <a:off x="990278" y="7309461"/>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9" id="59"/>
            <p:cNvSpPr/>
            <p:nvPr/>
          </p:nvSpPr>
          <p:spPr>
            <a:xfrm flipH="false" flipV="false" rot="0">
              <a:off x="2215106" y="7309461"/>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0" id="60"/>
            <p:cNvSpPr txBox="true"/>
            <p:nvPr/>
          </p:nvSpPr>
          <p:spPr>
            <a:xfrm rot="0">
              <a:off x="497555" y="5502946"/>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P-</a:t>
              </a:r>
            </a:p>
          </p:txBody>
        </p:sp>
        <p:sp>
          <p:nvSpPr>
            <p:cNvPr name="TextBox 61" id="61"/>
            <p:cNvSpPr txBox="true"/>
            <p:nvPr/>
          </p:nvSpPr>
          <p:spPr>
            <a:xfrm rot="0">
              <a:off x="1853322" y="5502946"/>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I-</a:t>
              </a:r>
            </a:p>
          </p:txBody>
        </p:sp>
        <p:sp>
          <p:nvSpPr>
            <p:cNvPr name="Freeform 62" id="62"/>
            <p:cNvSpPr/>
            <p:nvPr/>
          </p:nvSpPr>
          <p:spPr>
            <a:xfrm flipH="false" flipV="false" rot="0">
              <a:off x="990278" y="5567488"/>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3" id="63"/>
            <p:cNvSpPr/>
            <p:nvPr/>
          </p:nvSpPr>
          <p:spPr>
            <a:xfrm flipH="false" flipV="false" rot="0">
              <a:off x="2215106" y="5567488"/>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64" id="64"/>
            <p:cNvSpPr txBox="true"/>
            <p:nvPr/>
          </p:nvSpPr>
          <p:spPr>
            <a:xfrm rot="0">
              <a:off x="512918" y="9145189"/>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P-</a:t>
              </a:r>
            </a:p>
          </p:txBody>
        </p:sp>
        <p:sp>
          <p:nvSpPr>
            <p:cNvPr name="TextBox 65" id="65"/>
            <p:cNvSpPr txBox="true"/>
            <p:nvPr/>
          </p:nvSpPr>
          <p:spPr>
            <a:xfrm rot="0">
              <a:off x="1868685" y="9145189"/>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I-</a:t>
              </a:r>
            </a:p>
          </p:txBody>
        </p:sp>
        <p:sp>
          <p:nvSpPr>
            <p:cNvPr name="Freeform 66" id="66"/>
            <p:cNvSpPr/>
            <p:nvPr/>
          </p:nvSpPr>
          <p:spPr>
            <a:xfrm flipH="false" flipV="false" rot="0">
              <a:off x="1005640" y="9209731"/>
              <a:ext cx="477822" cy="477822"/>
            </a:xfrm>
            <a:custGeom>
              <a:avLst/>
              <a:gdLst/>
              <a:ahLst/>
              <a:cxnLst/>
              <a:rect r="r" b="b" t="t" l="l"/>
              <a:pathLst>
                <a:path h="477822" w="477822">
                  <a:moveTo>
                    <a:pt x="0" y="0"/>
                  </a:moveTo>
                  <a:lnTo>
                    <a:pt x="477823" y="0"/>
                  </a:lnTo>
                  <a:lnTo>
                    <a:pt x="477823" y="477822"/>
                  </a:lnTo>
                  <a:lnTo>
                    <a:pt x="0" y="477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7" id="67"/>
            <p:cNvSpPr/>
            <p:nvPr/>
          </p:nvSpPr>
          <p:spPr>
            <a:xfrm flipH="false" flipV="false" rot="0">
              <a:off x="2230468" y="9209731"/>
              <a:ext cx="477822" cy="477822"/>
            </a:xfrm>
            <a:custGeom>
              <a:avLst/>
              <a:gdLst/>
              <a:ahLst/>
              <a:cxnLst/>
              <a:rect r="r" b="b" t="t" l="l"/>
              <a:pathLst>
                <a:path h="477822" w="477822">
                  <a:moveTo>
                    <a:pt x="0" y="0"/>
                  </a:moveTo>
                  <a:lnTo>
                    <a:pt x="477823" y="0"/>
                  </a:lnTo>
                  <a:lnTo>
                    <a:pt x="477823" y="477822"/>
                  </a:lnTo>
                  <a:lnTo>
                    <a:pt x="0" y="4778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0736" y="490255"/>
            <a:ext cx="3518820" cy="888116"/>
            <a:chOff x="0" y="0"/>
            <a:chExt cx="926767" cy="233907"/>
          </a:xfrm>
        </p:grpSpPr>
        <p:sp>
          <p:nvSpPr>
            <p:cNvPr name="Freeform 10" id="10"/>
            <p:cNvSpPr/>
            <p:nvPr/>
          </p:nvSpPr>
          <p:spPr>
            <a:xfrm flipH="false" flipV="false" rot="0">
              <a:off x="0" y="0"/>
              <a:ext cx="926767" cy="233907"/>
            </a:xfrm>
            <a:custGeom>
              <a:avLst/>
              <a:gdLst/>
              <a:ahLst/>
              <a:cxnLst/>
              <a:rect r="r" b="b" t="t" l="l"/>
              <a:pathLst>
                <a:path h="233907" w="926767">
                  <a:moveTo>
                    <a:pt x="116954" y="0"/>
                  </a:moveTo>
                  <a:lnTo>
                    <a:pt x="809814" y="0"/>
                  </a:lnTo>
                  <a:cubicBezTo>
                    <a:pt x="840832" y="0"/>
                    <a:pt x="870580" y="12322"/>
                    <a:pt x="892513" y="34255"/>
                  </a:cubicBezTo>
                  <a:cubicBezTo>
                    <a:pt x="914446" y="56188"/>
                    <a:pt x="926767" y="85936"/>
                    <a:pt x="926767" y="116954"/>
                  </a:cubicBezTo>
                  <a:lnTo>
                    <a:pt x="926767" y="116954"/>
                  </a:lnTo>
                  <a:cubicBezTo>
                    <a:pt x="926767" y="181545"/>
                    <a:pt x="874406" y="233907"/>
                    <a:pt x="809814"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1" id="11"/>
            <p:cNvSpPr txBox="true"/>
            <p:nvPr/>
          </p:nvSpPr>
          <p:spPr>
            <a:xfrm>
              <a:off x="0" y="-57150"/>
              <a:ext cx="926767" cy="29105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80736" y="490255"/>
            <a:ext cx="9740455" cy="888116"/>
            <a:chOff x="0" y="0"/>
            <a:chExt cx="12987274" cy="1184154"/>
          </a:xfrm>
        </p:grpSpPr>
        <p:grpSp>
          <p:nvGrpSpPr>
            <p:cNvPr name="Group 13" id="13"/>
            <p:cNvGrpSpPr/>
            <p:nvPr/>
          </p:nvGrpSpPr>
          <p:grpSpPr>
            <a:xfrm rot="0">
              <a:off x="0" y="0"/>
              <a:ext cx="11417914" cy="1184154"/>
              <a:chOff x="0" y="0"/>
              <a:chExt cx="2255390" cy="233907"/>
            </a:xfrm>
          </p:grpSpPr>
          <p:sp>
            <p:nvSpPr>
              <p:cNvPr name="Freeform 14" id="14"/>
              <p:cNvSpPr/>
              <p:nvPr/>
            </p:nvSpPr>
            <p:spPr>
              <a:xfrm flipH="false" flipV="false" rot="0">
                <a:off x="0" y="0"/>
                <a:ext cx="2255390" cy="233907"/>
              </a:xfrm>
              <a:custGeom>
                <a:avLst/>
                <a:gdLst/>
                <a:ahLst/>
                <a:cxnLst/>
                <a:rect r="r" b="b" t="t" l="l"/>
                <a:pathLst>
                  <a:path h="233907" w="2255390">
                    <a:moveTo>
                      <a:pt x="90407" y="0"/>
                    </a:moveTo>
                    <a:lnTo>
                      <a:pt x="2164984" y="0"/>
                    </a:lnTo>
                    <a:cubicBezTo>
                      <a:pt x="2214914" y="0"/>
                      <a:pt x="2255390" y="40476"/>
                      <a:pt x="2255390" y="90407"/>
                    </a:cubicBezTo>
                    <a:lnTo>
                      <a:pt x="2255390" y="143500"/>
                    </a:lnTo>
                    <a:cubicBezTo>
                      <a:pt x="2255390" y="193431"/>
                      <a:pt x="2214914" y="233907"/>
                      <a:pt x="2164984" y="233907"/>
                    </a:cubicBezTo>
                    <a:lnTo>
                      <a:pt x="90407" y="233907"/>
                    </a:lnTo>
                    <a:cubicBezTo>
                      <a:pt x="40476" y="233907"/>
                      <a:pt x="0" y="193431"/>
                      <a:pt x="0" y="143500"/>
                    </a:cubicBezTo>
                    <a:lnTo>
                      <a:pt x="0" y="90407"/>
                    </a:lnTo>
                    <a:cubicBezTo>
                      <a:pt x="0" y="40476"/>
                      <a:pt x="40476" y="0"/>
                      <a:pt x="90407" y="0"/>
                    </a:cubicBezTo>
                    <a:close/>
                  </a:path>
                </a:pathLst>
              </a:custGeom>
              <a:solidFill>
                <a:srgbClr val="FFFFFF"/>
              </a:solidFill>
              <a:ln cap="rnd">
                <a:noFill/>
                <a:prstDash val="solid"/>
                <a:round/>
              </a:ln>
            </p:spPr>
          </p:sp>
          <p:sp>
            <p:nvSpPr>
              <p:cNvPr name="TextBox 15" id="15"/>
              <p:cNvSpPr txBox="true"/>
              <p:nvPr/>
            </p:nvSpPr>
            <p:spPr>
              <a:xfrm>
                <a:off x="0" y="-57150"/>
                <a:ext cx="2255390" cy="291057"/>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435416" y="141884"/>
              <a:ext cx="12551858"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5. Kế hoạch quản lý rủi ro</a:t>
              </a:r>
            </a:p>
          </p:txBody>
        </p:sp>
      </p:grpSp>
      <p:grpSp>
        <p:nvGrpSpPr>
          <p:cNvPr name="Group 17" id="17"/>
          <p:cNvGrpSpPr/>
          <p:nvPr/>
        </p:nvGrpSpPr>
        <p:grpSpPr>
          <a:xfrm rot="0">
            <a:off x="303714" y="1874628"/>
            <a:ext cx="18499797" cy="8171410"/>
            <a:chOff x="0" y="0"/>
            <a:chExt cx="24666396" cy="10895214"/>
          </a:xfrm>
        </p:grpSpPr>
        <p:sp>
          <p:nvSpPr>
            <p:cNvPr name="TextBox 18" id="18"/>
            <p:cNvSpPr txBox="true"/>
            <p:nvPr/>
          </p:nvSpPr>
          <p:spPr>
            <a:xfrm rot="0">
              <a:off x="17627500" y="75691"/>
              <a:ext cx="5039546" cy="1032969"/>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Điểm kí</a:t>
              </a:r>
              <a:r>
                <a:rPr lang="en-US" b="true" sz="2799" strike="noStrike" u="none">
                  <a:solidFill>
                    <a:srgbClr val="000000"/>
                  </a:solidFill>
                  <a:latin typeface="Work Sans Bold"/>
                  <a:ea typeface="Work Sans Bold"/>
                  <a:cs typeface="Work Sans Bold"/>
                  <a:sym typeface="Work Sans Bold"/>
                </a:rPr>
                <a:t>ch hoạt (Trigger)</a:t>
              </a:r>
            </a:p>
          </p:txBody>
        </p:sp>
        <p:sp>
          <p:nvSpPr>
            <p:cNvPr name="TextBox 19" id="19"/>
            <p:cNvSpPr txBox="true"/>
            <p:nvPr/>
          </p:nvSpPr>
          <p:spPr>
            <a:xfrm rot="0">
              <a:off x="435416" y="8389905"/>
              <a:ext cx="4424862"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Không đạt số lượng tham gia mục tiêu</a:t>
              </a:r>
            </a:p>
          </p:txBody>
        </p:sp>
        <p:sp>
          <p:nvSpPr>
            <p:cNvPr name="AutoShape 20" id="20"/>
            <p:cNvSpPr/>
            <p:nvPr/>
          </p:nvSpPr>
          <p:spPr>
            <a:xfrm>
              <a:off x="0" y="6289884"/>
              <a:ext cx="24390730" cy="0"/>
            </a:xfrm>
            <a:prstGeom prst="line">
              <a:avLst/>
            </a:prstGeom>
            <a:ln cap="flat" w="38100">
              <a:solidFill>
                <a:srgbClr val="000000">
                  <a:alpha val="47843"/>
                </a:srgbClr>
              </a:solidFill>
              <a:prstDash val="lgDash"/>
              <a:headEnd type="none" len="sm" w="sm"/>
              <a:tailEnd type="none" len="sm" w="sm"/>
            </a:ln>
          </p:spPr>
        </p:sp>
        <p:sp>
          <p:nvSpPr>
            <p:cNvPr name="AutoShape 21" id="21"/>
            <p:cNvSpPr/>
            <p:nvPr/>
          </p:nvSpPr>
          <p:spPr>
            <a:xfrm>
              <a:off x="0" y="3970398"/>
              <a:ext cx="24666396" cy="0"/>
            </a:xfrm>
            <a:prstGeom prst="line">
              <a:avLst/>
            </a:prstGeom>
            <a:ln cap="flat" w="38100">
              <a:solidFill>
                <a:srgbClr val="000000">
                  <a:alpha val="47843"/>
                </a:srgbClr>
              </a:solidFill>
              <a:prstDash val="lgDash"/>
              <a:headEnd type="none" len="sm" w="sm"/>
              <a:tailEnd type="none" len="sm" w="sm"/>
            </a:ln>
          </p:spPr>
        </p:sp>
        <p:sp>
          <p:nvSpPr>
            <p:cNvPr name="AutoShape 22" id="22"/>
            <p:cNvSpPr/>
            <p:nvPr/>
          </p:nvSpPr>
          <p:spPr>
            <a:xfrm>
              <a:off x="0" y="8167655"/>
              <a:ext cx="24627015" cy="0"/>
            </a:xfrm>
            <a:prstGeom prst="line">
              <a:avLst/>
            </a:prstGeom>
            <a:ln cap="flat" w="38100">
              <a:solidFill>
                <a:srgbClr val="000000">
                  <a:alpha val="47843"/>
                </a:srgbClr>
              </a:solidFill>
              <a:prstDash val="lgDash"/>
              <a:headEnd type="none" len="sm" w="sm"/>
              <a:tailEnd type="none" len="sm" w="sm"/>
            </a:ln>
          </p:spPr>
        </p:sp>
        <p:sp>
          <p:nvSpPr>
            <p:cNvPr name="AutoShape 23" id="23"/>
            <p:cNvSpPr/>
            <p:nvPr/>
          </p:nvSpPr>
          <p:spPr>
            <a:xfrm flipV="true">
              <a:off x="11472884" y="0"/>
              <a:ext cx="0" cy="9839177"/>
            </a:xfrm>
            <a:prstGeom prst="line">
              <a:avLst/>
            </a:prstGeom>
            <a:ln cap="flat" w="38100">
              <a:solidFill>
                <a:srgbClr val="000000">
                  <a:alpha val="47843"/>
                </a:srgbClr>
              </a:solidFill>
              <a:prstDash val="lgDash"/>
              <a:headEnd type="none" len="sm" w="sm"/>
              <a:tailEnd type="none" len="sm" w="sm"/>
            </a:ln>
          </p:spPr>
        </p:sp>
        <p:sp>
          <p:nvSpPr>
            <p:cNvPr name="AutoShape 24" id="24"/>
            <p:cNvSpPr/>
            <p:nvPr/>
          </p:nvSpPr>
          <p:spPr>
            <a:xfrm flipV="true">
              <a:off x="4660010" y="48699"/>
              <a:ext cx="57150" cy="9790478"/>
            </a:xfrm>
            <a:prstGeom prst="line">
              <a:avLst/>
            </a:prstGeom>
            <a:ln cap="flat" w="38100">
              <a:solidFill>
                <a:srgbClr val="000000">
                  <a:alpha val="47843"/>
                </a:srgbClr>
              </a:solidFill>
              <a:prstDash val="lgDash"/>
              <a:headEnd type="none" len="sm" w="sm"/>
              <a:tailEnd type="none" len="sm" w="sm"/>
            </a:ln>
          </p:spPr>
        </p:sp>
        <p:sp>
          <p:nvSpPr>
            <p:cNvPr name="AutoShape 25" id="25"/>
            <p:cNvSpPr/>
            <p:nvPr/>
          </p:nvSpPr>
          <p:spPr>
            <a:xfrm>
              <a:off x="0" y="1267881"/>
              <a:ext cx="24202586" cy="0"/>
            </a:xfrm>
            <a:prstGeom prst="line">
              <a:avLst/>
            </a:prstGeom>
            <a:ln cap="flat" w="38100">
              <a:solidFill>
                <a:srgbClr val="000000">
                  <a:alpha val="47843"/>
                </a:srgbClr>
              </a:solidFill>
              <a:prstDash val="lgDash"/>
              <a:headEnd type="none" len="sm" w="sm"/>
              <a:tailEnd type="none" len="sm" w="sm"/>
            </a:ln>
          </p:spPr>
        </p:sp>
        <p:sp>
          <p:nvSpPr>
            <p:cNvPr name="AutoShape 26" id="26"/>
            <p:cNvSpPr/>
            <p:nvPr/>
          </p:nvSpPr>
          <p:spPr>
            <a:xfrm flipV="true">
              <a:off x="17824350" y="0"/>
              <a:ext cx="0" cy="9839177"/>
            </a:xfrm>
            <a:prstGeom prst="line">
              <a:avLst/>
            </a:prstGeom>
            <a:ln cap="flat" w="38100">
              <a:solidFill>
                <a:srgbClr val="000000">
                  <a:alpha val="47843"/>
                </a:srgbClr>
              </a:solidFill>
              <a:prstDash val="lgDash"/>
              <a:headEnd type="none" len="sm" w="sm"/>
              <a:tailEnd type="none" len="sm" w="sm"/>
            </a:ln>
          </p:spPr>
        </p:sp>
        <p:sp>
          <p:nvSpPr>
            <p:cNvPr name="TextBox 27" id="27"/>
            <p:cNvSpPr txBox="true"/>
            <p:nvPr/>
          </p:nvSpPr>
          <p:spPr>
            <a:xfrm rot="0">
              <a:off x="101699" y="323297"/>
              <a:ext cx="4424862" cy="537757"/>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Rủ</a:t>
              </a:r>
              <a:r>
                <a:rPr lang="en-US" b="true" sz="2799" strike="noStrike" u="none">
                  <a:solidFill>
                    <a:srgbClr val="000000"/>
                  </a:solidFill>
                  <a:latin typeface="Work Sans Bold"/>
                  <a:ea typeface="Work Sans Bold"/>
                  <a:cs typeface="Work Sans Bold"/>
                  <a:sym typeface="Work Sans Bold"/>
                </a:rPr>
                <a:t>i ro</a:t>
              </a:r>
            </a:p>
          </p:txBody>
        </p:sp>
        <p:sp>
          <p:nvSpPr>
            <p:cNvPr name="TextBox 28" id="28"/>
            <p:cNvSpPr txBox="true"/>
            <p:nvPr/>
          </p:nvSpPr>
          <p:spPr>
            <a:xfrm rot="0">
              <a:off x="435416" y="1729200"/>
              <a:ext cx="4315964"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Thông tin truyền thông sai</a:t>
              </a:r>
              <a:r>
                <a:rPr lang="en-US" sz="2499" strike="noStrike" u="none">
                  <a:solidFill>
                    <a:srgbClr val="000000"/>
                  </a:solidFill>
                  <a:latin typeface="Work Sans"/>
                  <a:ea typeface="Work Sans"/>
                  <a:cs typeface="Work Sans"/>
                  <a:sym typeface="Work Sans"/>
                </a:rPr>
                <a:t> lệch</a:t>
              </a:r>
            </a:p>
          </p:txBody>
        </p:sp>
        <p:sp>
          <p:nvSpPr>
            <p:cNvPr name="TextBox 29" id="29"/>
            <p:cNvSpPr txBox="true"/>
            <p:nvPr/>
          </p:nvSpPr>
          <p:spPr>
            <a:xfrm rot="0">
              <a:off x="435416" y="4365414"/>
              <a:ext cx="3947181"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Tương tác tiêu cực comment xấu</a:t>
              </a:r>
            </a:p>
          </p:txBody>
        </p:sp>
        <p:sp>
          <p:nvSpPr>
            <p:cNvPr name="TextBox 30" id="30"/>
            <p:cNvSpPr txBox="true"/>
            <p:nvPr/>
          </p:nvSpPr>
          <p:spPr>
            <a:xfrm rot="0">
              <a:off x="402615" y="6551622"/>
              <a:ext cx="3972078"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Kênh truyền thông bị hạn chế</a:t>
              </a:r>
            </a:p>
          </p:txBody>
        </p:sp>
        <p:sp>
          <p:nvSpPr>
            <p:cNvPr name="TextBox 31" id="31"/>
            <p:cNvSpPr txBox="true"/>
            <p:nvPr/>
          </p:nvSpPr>
          <p:spPr>
            <a:xfrm rot="0">
              <a:off x="5028605" y="4385236"/>
              <a:ext cx="5955329" cy="994657"/>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Xây guideline phản hồi </a:t>
              </a:r>
            </a:p>
            <a:p>
              <a:pPr algn="l" marL="0" indent="0" lvl="0">
                <a:lnSpc>
                  <a:spcPts val="2974"/>
                </a:lnSpc>
              </a:pPr>
              <a:r>
                <a:rPr lang="en-US" sz="2499">
                  <a:solidFill>
                    <a:srgbClr val="000000"/>
                  </a:solidFill>
                  <a:latin typeface="Work Sans"/>
                  <a:ea typeface="Work Sans"/>
                  <a:cs typeface="Work Sans"/>
                  <a:sym typeface="Work Sans"/>
                </a:rPr>
                <a:t>- Kiểm soát comment</a:t>
              </a:r>
            </a:p>
          </p:txBody>
        </p:sp>
        <p:sp>
          <p:nvSpPr>
            <p:cNvPr name="TextBox 32" id="32"/>
            <p:cNvSpPr txBox="true"/>
            <p:nvPr/>
          </p:nvSpPr>
          <p:spPr>
            <a:xfrm rot="0">
              <a:off x="5107527" y="6512134"/>
              <a:ext cx="5978007" cy="1489869"/>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Đa kênh (Facebook, TikTok, IG) </a:t>
              </a:r>
            </a:p>
            <a:p>
              <a:pPr algn="l" marL="0" indent="0" lvl="0">
                <a:lnSpc>
                  <a:spcPts val="2974"/>
                </a:lnSpc>
              </a:pPr>
              <a:r>
                <a:rPr lang="en-US" sz="2499">
                  <a:solidFill>
                    <a:srgbClr val="000000"/>
                  </a:solidFill>
                  <a:latin typeface="Work Sans"/>
                  <a:ea typeface="Work Sans"/>
                  <a:cs typeface="Work Sans"/>
                  <a:sym typeface="Work Sans"/>
                </a:rPr>
                <a:t>- Đăng giờ vàng</a:t>
              </a:r>
            </a:p>
          </p:txBody>
        </p:sp>
        <p:sp>
          <p:nvSpPr>
            <p:cNvPr name="TextBox 33" id="33"/>
            <p:cNvSpPr txBox="true"/>
            <p:nvPr/>
          </p:nvSpPr>
          <p:spPr>
            <a:xfrm rot="0">
              <a:off x="5107527" y="8470795"/>
              <a:ext cx="5435214" cy="994657"/>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Lập KPI rõ ràng </a:t>
              </a:r>
            </a:p>
            <a:p>
              <a:pPr algn="l" marL="0" indent="0" lvl="0">
                <a:lnSpc>
                  <a:spcPts val="2974"/>
                </a:lnSpc>
              </a:pPr>
              <a:r>
                <a:rPr lang="en-US" sz="2499">
                  <a:solidFill>
                    <a:srgbClr val="000000"/>
                  </a:solidFill>
                  <a:latin typeface="Work Sans"/>
                  <a:ea typeface="Work Sans"/>
                  <a:cs typeface="Work Sans"/>
                  <a:sym typeface="Work Sans"/>
                </a:rPr>
                <a:t>- Theo dõi hàng ngày</a:t>
              </a:r>
            </a:p>
          </p:txBody>
        </p:sp>
        <p:sp>
          <p:nvSpPr>
            <p:cNvPr name="TextBox 34" id="34"/>
            <p:cNvSpPr txBox="true"/>
            <p:nvPr/>
          </p:nvSpPr>
          <p:spPr>
            <a:xfrm rot="0">
              <a:off x="5025475" y="1728420"/>
              <a:ext cx="6251104" cy="994657"/>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Kiểm duyệt nội dung 2 lớp </a:t>
              </a:r>
            </a:p>
            <a:p>
              <a:pPr algn="l" marL="0" indent="0" lvl="0">
                <a:lnSpc>
                  <a:spcPts val="2974"/>
                </a:lnSpc>
              </a:pPr>
              <a:r>
                <a:rPr lang="en-US" sz="2499">
                  <a:solidFill>
                    <a:srgbClr val="000000"/>
                  </a:solidFill>
                  <a:latin typeface="Work Sans"/>
                  <a:ea typeface="Work Sans"/>
                  <a:cs typeface="Work Sans"/>
                  <a:sym typeface="Work Sans"/>
                </a:rPr>
                <a:t>- Xác nhận với BTC</a:t>
              </a:r>
            </a:p>
          </p:txBody>
        </p:sp>
        <p:sp>
          <p:nvSpPr>
            <p:cNvPr name="TextBox 35" id="35"/>
            <p:cNvSpPr txBox="true"/>
            <p:nvPr/>
          </p:nvSpPr>
          <p:spPr>
            <a:xfrm rot="0">
              <a:off x="11771781" y="1729200"/>
              <a:ext cx="5368867" cy="1489869"/>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Đính chính ngay trên tất cả kênh </a:t>
              </a:r>
            </a:p>
            <a:p>
              <a:pPr algn="l" marL="0" indent="0" lvl="0">
                <a:lnSpc>
                  <a:spcPts val="2974"/>
                </a:lnSpc>
              </a:pPr>
              <a:r>
                <a:rPr lang="en-US" sz="2499">
                  <a:solidFill>
                    <a:srgbClr val="000000"/>
                  </a:solidFill>
                  <a:latin typeface="Work Sans"/>
                  <a:ea typeface="Work Sans"/>
                  <a:cs typeface="Work Sans"/>
                  <a:sym typeface="Work Sans"/>
                </a:rPr>
                <a:t>- Thông</a:t>
              </a:r>
              <a:r>
                <a:rPr lang="en-US" sz="2499" strike="noStrike" u="none">
                  <a:solidFill>
                    <a:srgbClr val="000000"/>
                  </a:solidFill>
                  <a:latin typeface="Work Sans"/>
                  <a:ea typeface="Work Sans"/>
                  <a:cs typeface="Work Sans"/>
                  <a:sym typeface="Work Sans"/>
                </a:rPr>
                <a:t> báo sửa lỗi</a:t>
              </a:r>
            </a:p>
          </p:txBody>
        </p:sp>
        <p:sp>
          <p:nvSpPr>
            <p:cNvPr name="TextBox 36" id="36"/>
            <p:cNvSpPr txBox="true"/>
            <p:nvPr/>
          </p:nvSpPr>
          <p:spPr>
            <a:xfrm rot="0">
              <a:off x="11860681" y="6598255"/>
              <a:ext cx="5856209" cy="994657"/>
            </a:xfrm>
            <a:prstGeom prst="rect">
              <a:avLst/>
            </a:prstGeom>
          </p:spPr>
          <p:txBody>
            <a:bodyPr anchor="t" rtlCol="false" tIns="0" lIns="0" bIns="0" rIns="0">
              <a:spAutoFit/>
            </a:bodyPr>
            <a:lstStyle/>
            <a:p>
              <a:pPr algn="just">
                <a:lnSpc>
                  <a:spcPts val="2974"/>
                </a:lnSpc>
              </a:pPr>
              <a:r>
                <a:rPr lang="en-US" sz="2499">
                  <a:solidFill>
                    <a:srgbClr val="000000"/>
                  </a:solidFill>
                  <a:latin typeface="Work Sans"/>
                  <a:ea typeface="Work Sans"/>
                  <a:cs typeface="Work Sans"/>
                  <a:sym typeface="Work Sans"/>
                </a:rPr>
                <a:t>- Gỡ bài, đăng lại nhanh </a:t>
              </a:r>
            </a:p>
            <a:p>
              <a:pPr algn="just" marL="0" indent="0" lvl="0">
                <a:lnSpc>
                  <a:spcPts val="2974"/>
                </a:lnSpc>
              </a:pPr>
              <a:r>
                <a:rPr lang="en-US" sz="2499">
                  <a:solidFill>
                    <a:srgbClr val="000000"/>
                  </a:solidFill>
                  <a:latin typeface="Work Sans"/>
                  <a:ea typeface="Work Sans"/>
                  <a:cs typeface="Work Sans"/>
                  <a:sym typeface="Work Sans"/>
                </a:rPr>
                <a:t>- Xin lỗi nếu cần</a:t>
              </a:r>
            </a:p>
          </p:txBody>
        </p:sp>
        <p:sp>
          <p:nvSpPr>
            <p:cNvPr name="TextBox 37" id="37"/>
            <p:cNvSpPr txBox="true"/>
            <p:nvPr/>
          </p:nvSpPr>
          <p:spPr>
            <a:xfrm rot="0">
              <a:off x="11861046" y="8389905"/>
              <a:ext cx="5963304" cy="994657"/>
            </a:xfrm>
            <a:prstGeom prst="rect">
              <a:avLst/>
            </a:prstGeom>
          </p:spPr>
          <p:txBody>
            <a:bodyPr anchor="t" rtlCol="false" tIns="0" lIns="0" bIns="0" rIns="0">
              <a:spAutoFit/>
            </a:bodyPr>
            <a:lstStyle/>
            <a:p>
              <a:pPr algn="just" marL="0" indent="0" lvl="0">
                <a:lnSpc>
                  <a:spcPts val="2974"/>
                </a:lnSpc>
              </a:pPr>
              <a:r>
                <a:rPr lang="en-US" sz="2499">
                  <a:solidFill>
                    <a:srgbClr val="000000"/>
                  </a:solidFill>
                  <a:latin typeface="Work Sans"/>
                  <a:ea typeface="Work Sans"/>
                  <a:cs typeface="Work Sans"/>
                  <a:sym typeface="Work Sans"/>
                </a:rPr>
                <a:t>- Tăng ngân sách quảng cáo - Tăng</a:t>
              </a:r>
              <a:r>
                <a:rPr lang="en-US" sz="2499" strike="noStrike" u="none">
                  <a:solidFill>
                    <a:srgbClr val="000000"/>
                  </a:solidFill>
                  <a:latin typeface="Work Sans"/>
                  <a:ea typeface="Work Sans"/>
                  <a:cs typeface="Work Sans"/>
                  <a:sym typeface="Work Sans"/>
                </a:rPr>
                <a:t> tần suất đăng bài</a:t>
              </a:r>
            </a:p>
          </p:txBody>
        </p:sp>
        <p:sp>
          <p:nvSpPr>
            <p:cNvPr name="TextBox 38" id="38"/>
            <p:cNvSpPr txBox="true"/>
            <p:nvPr/>
          </p:nvSpPr>
          <p:spPr>
            <a:xfrm rot="0">
              <a:off x="5708957" y="148394"/>
              <a:ext cx="4424862" cy="1032969"/>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Ngăn chặn &amp; g</a:t>
              </a:r>
              <a:r>
                <a:rPr lang="en-US" b="true" sz="2799" strike="noStrike" u="none">
                  <a:solidFill>
                    <a:srgbClr val="000000"/>
                  </a:solidFill>
                  <a:latin typeface="Work Sans Bold"/>
                  <a:ea typeface="Work Sans Bold"/>
                  <a:cs typeface="Work Sans Bold"/>
                  <a:sym typeface="Work Sans Bold"/>
                </a:rPr>
                <a:t>iảm thiểu (RR)</a:t>
              </a:r>
            </a:p>
          </p:txBody>
        </p:sp>
        <p:sp>
          <p:nvSpPr>
            <p:cNvPr name="TextBox 39" id="39"/>
            <p:cNvSpPr txBox="true"/>
            <p:nvPr/>
          </p:nvSpPr>
          <p:spPr>
            <a:xfrm rot="0">
              <a:off x="11771781" y="4365414"/>
              <a:ext cx="5475962" cy="1489869"/>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Đưa ra câu trả lời chính thức </a:t>
              </a:r>
            </a:p>
            <a:p>
              <a:pPr algn="l" marL="0" indent="0" lvl="0">
                <a:lnSpc>
                  <a:spcPts val="2974"/>
                </a:lnSpc>
              </a:pPr>
              <a:r>
                <a:rPr lang="en-US" sz="2499">
                  <a:solidFill>
                    <a:srgbClr val="000000"/>
                  </a:solidFill>
                  <a:latin typeface="Work Sans"/>
                  <a:ea typeface="Work Sans"/>
                  <a:cs typeface="Work Sans"/>
                  <a:sym typeface="Work Sans"/>
                </a:rPr>
                <a:t>- Ẩn/xóa </a:t>
              </a:r>
              <a:r>
                <a:rPr lang="en-US" sz="2499" strike="noStrike" u="none">
                  <a:solidFill>
                    <a:srgbClr val="000000"/>
                  </a:solidFill>
                  <a:latin typeface="Work Sans"/>
                  <a:ea typeface="Work Sans"/>
                  <a:cs typeface="Work Sans"/>
                  <a:sym typeface="Work Sans"/>
                </a:rPr>
                <a:t>nếu vi phạm</a:t>
              </a:r>
            </a:p>
          </p:txBody>
        </p:sp>
        <p:sp>
          <p:nvSpPr>
            <p:cNvPr name="TextBox 40" id="40"/>
            <p:cNvSpPr txBox="true"/>
            <p:nvPr/>
          </p:nvSpPr>
          <p:spPr>
            <a:xfrm rot="0">
              <a:off x="12418856" y="77274"/>
              <a:ext cx="4424862" cy="1032969"/>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Biện pháp ứng</a:t>
              </a:r>
              <a:r>
                <a:rPr lang="en-US" b="true" sz="2799" strike="noStrike" u="none">
                  <a:solidFill>
                    <a:srgbClr val="000000"/>
                  </a:solidFill>
                  <a:latin typeface="Work Sans Bold"/>
                  <a:ea typeface="Work Sans Bold"/>
                  <a:cs typeface="Work Sans Bold"/>
                  <a:sym typeface="Work Sans Bold"/>
                </a:rPr>
                <a:t> phó (BF)</a:t>
              </a:r>
            </a:p>
          </p:txBody>
        </p:sp>
        <p:sp>
          <p:nvSpPr>
            <p:cNvPr name="TextBox 41" id="41"/>
            <p:cNvSpPr txBox="true"/>
            <p:nvPr/>
          </p:nvSpPr>
          <p:spPr>
            <a:xfrm rot="0">
              <a:off x="18338700" y="1728420"/>
              <a:ext cx="5690152"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Có phản hồi từ người xem h</a:t>
              </a:r>
              <a:r>
                <a:rPr lang="en-US" sz="2499" strike="noStrike" u="none">
                  <a:solidFill>
                    <a:srgbClr val="000000"/>
                  </a:solidFill>
                  <a:latin typeface="Work Sans"/>
                  <a:ea typeface="Work Sans"/>
                  <a:cs typeface="Work Sans"/>
                  <a:sym typeface="Work Sans"/>
                </a:rPr>
                <a:t>oặc BTC</a:t>
              </a:r>
            </a:p>
          </p:txBody>
        </p:sp>
        <p:sp>
          <p:nvSpPr>
            <p:cNvPr name="TextBox 42" id="42"/>
            <p:cNvSpPr txBox="true"/>
            <p:nvPr/>
          </p:nvSpPr>
          <p:spPr>
            <a:xfrm rot="0">
              <a:off x="18338700" y="4365414"/>
              <a:ext cx="5113666"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Xuất hiện ≥3 comment tiêu cực tro</a:t>
              </a:r>
              <a:r>
                <a:rPr lang="en-US" sz="2499" strike="noStrike" u="none">
                  <a:solidFill>
                    <a:srgbClr val="000000"/>
                  </a:solidFill>
                  <a:latin typeface="Work Sans"/>
                  <a:ea typeface="Work Sans"/>
                  <a:cs typeface="Work Sans"/>
                  <a:sym typeface="Work Sans"/>
                </a:rPr>
                <a:t>ng 1 bài</a:t>
              </a:r>
            </a:p>
          </p:txBody>
        </p:sp>
        <p:sp>
          <p:nvSpPr>
            <p:cNvPr name="TextBox 43" id="43"/>
            <p:cNvSpPr txBox="true"/>
            <p:nvPr/>
          </p:nvSpPr>
          <p:spPr>
            <a:xfrm rot="0">
              <a:off x="18338700" y="6512134"/>
              <a:ext cx="5231450" cy="1489869"/>
            </a:xfrm>
            <a:prstGeom prst="rect">
              <a:avLst/>
            </a:prstGeom>
          </p:spPr>
          <p:txBody>
            <a:bodyPr anchor="t" rtlCol="false" tIns="0" lIns="0" bIns="0" rIns="0">
              <a:spAutoFit/>
            </a:bodyPr>
            <a:lstStyle/>
            <a:p>
              <a:pPr algn="l">
                <a:lnSpc>
                  <a:spcPts val="2974"/>
                </a:lnSpc>
              </a:pPr>
              <a:r>
                <a:rPr lang="en-US" sz="2499">
                  <a:solidFill>
                    <a:srgbClr val="000000"/>
                  </a:solidFill>
                  <a:latin typeface="Work Sans"/>
                  <a:ea typeface="Work Sans"/>
                  <a:cs typeface="Work Sans"/>
                  <a:sym typeface="Work Sans"/>
                </a:rPr>
                <a:t>- Chạy ads </a:t>
              </a:r>
            </a:p>
            <a:p>
              <a:pPr algn="l" marL="0" indent="0" lvl="0">
                <a:lnSpc>
                  <a:spcPts val="2974"/>
                </a:lnSpc>
              </a:pPr>
              <a:r>
                <a:rPr lang="en-US" sz="2499">
                  <a:solidFill>
                    <a:srgbClr val="000000"/>
                  </a:solidFill>
                  <a:latin typeface="Work Sans"/>
                  <a:ea typeface="Work Sans"/>
                  <a:cs typeface="Work Sans"/>
                  <a:sym typeface="Work Sans"/>
                </a:rPr>
                <a:t>- Chuyển hướng</a:t>
              </a:r>
              <a:r>
                <a:rPr lang="en-US" sz="2499" strike="noStrike" u="none">
                  <a:solidFill>
                    <a:srgbClr val="000000"/>
                  </a:solidFill>
                  <a:latin typeface="Work Sans"/>
                  <a:ea typeface="Work Sans"/>
                  <a:cs typeface="Work Sans"/>
                  <a:sym typeface="Work Sans"/>
                </a:rPr>
                <a:t> sang kênh khác</a:t>
              </a:r>
            </a:p>
          </p:txBody>
        </p:sp>
        <p:sp>
          <p:nvSpPr>
            <p:cNvPr name="TextBox 44" id="44"/>
            <p:cNvSpPr txBox="true"/>
            <p:nvPr/>
          </p:nvSpPr>
          <p:spPr>
            <a:xfrm rot="0">
              <a:off x="18338700" y="8470795"/>
              <a:ext cx="5062866"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Số đăng ký &lt; 70% mục tiêu</a:t>
              </a:r>
              <a:r>
                <a:rPr lang="en-US" sz="2499" strike="noStrike" u="none">
                  <a:solidFill>
                    <a:srgbClr val="000000"/>
                  </a:solidFill>
                  <a:latin typeface="Work Sans"/>
                  <a:ea typeface="Work Sans"/>
                  <a:cs typeface="Work Sans"/>
                  <a:sym typeface="Work Sans"/>
                </a:rPr>
                <a:t> trước 3–5 ngày</a:t>
              </a:r>
            </a:p>
          </p:txBody>
        </p:sp>
        <p:sp>
          <p:nvSpPr>
            <p:cNvPr name="Freeform 45" id="45"/>
            <p:cNvSpPr/>
            <p:nvPr/>
          </p:nvSpPr>
          <p:spPr>
            <a:xfrm flipH="false" flipV="false" rot="0">
              <a:off x="3038971" y="10358740"/>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6" id="46"/>
            <p:cNvSpPr/>
            <p:nvPr/>
          </p:nvSpPr>
          <p:spPr>
            <a:xfrm flipH="false" flipV="false" rot="0">
              <a:off x="512918" y="10321889"/>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7" id="47"/>
            <p:cNvSpPr txBox="true"/>
            <p:nvPr/>
          </p:nvSpPr>
          <p:spPr>
            <a:xfrm rot="0">
              <a:off x="1264834" y="10311115"/>
              <a:ext cx="1293365" cy="547247"/>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00000"/>
                  </a:solidFill>
                  <a:latin typeface="Work Sans"/>
                  <a:ea typeface="Work Sans"/>
                  <a:cs typeface="Work Sans"/>
                  <a:sym typeface="Work Sans"/>
                </a:rPr>
                <a:t>Thấp</a:t>
              </a:r>
            </a:p>
          </p:txBody>
        </p:sp>
        <p:sp>
          <p:nvSpPr>
            <p:cNvPr name="TextBox 48" id="48"/>
            <p:cNvSpPr txBox="true"/>
            <p:nvPr/>
          </p:nvSpPr>
          <p:spPr>
            <a:xfrm rot="0">
              <a:off x="3796193" y="10289316"/>
              <a:ext cx="2487164" cy="547247"/>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00000"/>
                  </a:solidFill>
                  <a:latin typeface="Work Sans"/>
                  <a:ea typeface="Work Sans"/>
                  <a:cs typeface="Work Sans"/>
                  <a:sym typeface="Work Sans"/>
                </a:rPr>
                <a:t>Trung bình </a:t>
              </a:r>
            </a:p>
          </p:txBody>
        </p:sp>
        <p:sp>
          <p:nvSpPr>
            <p:cNvPr name="Freeform 49" id="49"/>
            <p:cNvSpPr/>
            <p:nvPr/>
          </p:nvSpPr>
          <p:spPr>
            <a:xfrm flipH="false" flipV="false" rot="0">
              <a:off x="9088812" y="10395592"/>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0" id="50"/>
            <p:cNvSpPr/>
            <p:nvPr/>
          </p:nvSpPr>
          <p:spPr>
            <a:xfrm flipH="false" flipV="false" rot="0">
              <a:off x="6562758" y="10358740"/>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1" id="51"/>
            <p:cNvSpPr txBox="true"/>
            <p:nvPr/>
          </p:nvSpPr>
          <p:spPr>
            <a:xfrm rot="0">
              <a:off x="7314674" y="10347967"/>
              <a:ext cx="1293365" cy="547247"/>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00000"/>
                  </a:solidFill>
                  <a:latin typeface="Work Sans"/>
                  <a:ea typeface="Work Sans"/>
                  <a:cs typeface="Work Sans"/>
                  <a:sym typeface="Work Sans"/>
                </a:rPr>
                <a:t>Cao</a:t>
              </a:r>
            </a:p>
          </p:txBody>
        </p:sp>
        <p:sp>
          <p:nvSpPr>
            <p:cNvPr name="TextBox 52" id="52"/>
            <p:cNvSpPr txBox="true"/>
            <p:nvPr/>
          </p:nvSpPr>
          <p:spPr>
            <a:xfrm rot="0">
              <a:off x="9846034" y="10326167"/>
              <a:ext cx="2487164" cy="547247"/>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00000"/>
                  </a:solidFill>
                  <a:latin typeface="Work Sans"/>
                  <a:ea typeface="Work Sans"/>
                  <a:cs typeface="Work Sans"/>
                  <a:sym typeface="Work Sans"/>
                </a:rPr>
                <a:t>Rất cao</a:t>
              </a:r>
            </a:p>
          </p:txBody>
        </p:sp>
        <p:sp>
          <p:nvSpPr>
            <p:cNvPr name="TextBox 53" id="53"/>
            <p:cNvSpPr txBox="true"/>
            <p:nvPr/>
          </p:nvSpPr>
          <p:spPr>
            <a:xfrm rot="0">
              <a:off x="497555" y="2945516"/>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P-</a:t>
              </a:r>
            </a:p>
          </p:txBody>
        </p:sp>
        <p:sp>
          <p:nvSpPr>
            <p:cNvPr name="TextBox 54" id="54"/>
            <p:cNvSpPr txBox="true"/>
            <p:nvPr/>
          </p:nvSpPr>
          <p:spPr>
            <a:xfrm rot="0">
              <a:off x="1853322" y="2945516"/>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I-</a:t>
              </a:r>
            </a:p>
          </p:txBody>
        </p:sp>
        <p:sp>
          <p:nvSpPr>
            <p:cNvPr name="Freeform 55" id="55"/>
            <p:cNvSpPr/>
            <p:nvPr/>
          </p:nvSpPr>
          <p:spPr>
            <a:xfrm flipH="false" flipV="false" rot="0">
              <a:off x="990278" y="3010058"/>
              <a:ext cx="477822" cy="477822"/>
            </a:xfrm>
            <a:custGeom>
              <a:avLst/>
              <a:gdLst/>
              <a:ahLst/>
              <a:cxnLst/>
              <a:rect r="r" b="b" t="t" l="l"/>
              <a:pathLst>
                <a:path h="477822" w="477822">
                  <a:moveTo>
                    <a:pt x="0" y="0"/>
                  </a:moveTo>
                  <a:lnTo>
                    <a:pt x="477822" y="0"/>
                  </a:lnTo>
                  <a:lnTo>
                    <a:pt x="477822" y="477823"/>
                  </a:lnTo>
                  <a:lnTo>
                    <a:pt x="0" y="4778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6" id="56"/>
            <p:cNvSpPr/>
            <p:nvPr/>
          </p:nvSpPr>
          <p:spPr>
            <a:xfrm flipH="false" flipV="false" rot="0">
              <a:off x="2215106" y="3010058"/>
              <a:ext cx="477822" cy="477822"/>
            </a:xfrm>
            <a:custGeom>
              <a:avLst/>
              <a:gdLst/>
              <a:ahLst/>
              <a:cxnLst/>
              <a:rect r="r" b="b" t="t" l="l"/>
              <a:pathLst>
                <a:path h="477822" w="477822">
                  <a:moveTo>
                    <a:pt x="0" y="0"/>
                  </a:moveTo>
                  <a:lnTo>
                    <a:pt x="477822" y="0"/>
                  </a:lnTo>
                  <a:lnTo>
                    <a:pt x="477822" y="477823"/>
                  </a:lnTo>
                  <a:lnTo>
                    <a:pt x="0" y="4778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57" id="57"/>
            <p:cNvSpPr txBox="true"/>
            <p:nvPr/>
          </p:nvSpPr>
          <p:spPr>
            <a:xfrm rot="0">
              <a:off x="497555" y="7481737"/>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P-</a:t>
              </a:r>
            </a:p>
          </p:txBody>
        </p:sp>
        <p:sp>
          <p:nvSpPr>
            <p:cNvPr name="TextBox 58" id="58"/>
            <p:cNvSpPr txBox="true"/>
            <p:nvPr/>
          </p:nvSpPr>
          <p:spPr>
            <a:xfrm rot="0">
              <a:off x="1853322" y="7481737"/>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I-</a:t>
              </a:r>
            </a:p>
          </p:txBody>
        </p:sp>
        <p:sp>
          <p:nvSpPr>
            <p:cNvPr name="Freeform 59" id="59"/>
            <p:cNvSpPr/>
            <p:nvPr/>
          </p:nvSpPr>
          <p:spPr>
            <a:xfrm flipH="false" flipV="false" rot="0">
              <a:off x="990278" y="7546279"/>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0" id="60"/>
            <p:cNvSpPr/>
            <p:nvPr/>
          </p:nvSpPr>
          <p:spPr>
            <a:xfrm flipH="false" flipV="false" rot="0">
              <a:off x="2215106" y="7546279"/>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1" id="61"/>
            <p:cNvSpPr txBox="true"/>
            <p:nvPr/>
          </p:nvSpPr>
          <p:spPr>
            <a:xfrm rot="0">
              <a:off x="497555" y="5502946"/>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P-</a:t>
              </a:r>
            </a:p>
          </p:txBody>
        </p:sp>
        <p:sp>
          <p:nvSpPr>
            <p:cNvPr name="TextBox 62" id="62"/>
            <p:cNvSpPr txBox="true"/>
            <p:nvPr/>
          </p:nvSpPr>
          <p:spPr>
            <a:xfrm rot="0">
              <a:off x="1853322" y="5502946"/>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I-</a:t>
              </a:r>
            </a:p>
          </p:txBody>
        </p:sp>
        <p:sp>
          <p:nvSpPr>
            <p:cNvPr name="Freeform 63" id="63"/>
            <p:cNvSpPr/>
            <p:nvPr/>
          </p:nvSpPr>
          <p:spPr>
            <a:xfrm flipH="false" flipV="false" rot="0">
              <a:off x="990278" y="5567488"/>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4" id="64"/>
            <p:cNvSpPr/>
            <p:nvPr/>
          </p:nvSpPr>
          <p:spPr>
            <a:xfrm flipH="false" flipV="false" rot="0">
              <a:off x="2215106" y="5567488"/>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5" id="65"/>
            <p:cNvSpPr txBox="true"/>
            <p:nvPr/>
          </p:nvSpPr>
          <p:spPr>
            <a:xfrm rot="0">
              <a:off x="512918" y="9396027"/>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P-</a:t>
              </a:r>
            </a:p>
          </p:txBody>
        </p:sp>
        <p:sp>
          <p:nvSpPr>
            <p:cNvPr name="TextBox 66" id="66"/>
            <p:cNvSpPr txBox="true"/>
            <p:nvPr/>
          </p:nvSpPr>
          <p:spPr>
            <a:xfrm rot="0">
              <a:off x="1868685" y="9396027"/>
              <a:ext cx="794525" cy="547247"/>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Work Sans Bold"/>
                  <a:ea typeface="Work Sans Bold"/>
                  <a:cs typeface="Work Sans Bold"/>
                  <a:sym typeface="Work Sans Bold"/>
                </a:rPr>
                <a:t>I-</a:t>
              </a:r>
            </a:p>
          </p:txBody>
        </p:sp>
        <p:sp>
          <p:nvSpPr>
            <p:cNvPr name="Freeform 67" id="67"/>
            <p:cNvSpPr/>
            <p:nvPr/>
          </p:nvSpPr>
          <p:spPr>
            <a:xfrm flipH="false" flipV="false" rot="0">
              <a:off x="1005640" y="9460569"/>
              <a:ext cx="477822" cy="477822"/>
            </a:xfrm>
            <a:custGeom>
              <a:avLst/>
              <a:gdLst/>
              <a:ahLst/>
              <a:cxnLst/>
              <a:rect r="r" b="b" t="t" l="l"/>
              <a:pathLst>
                <a:path h="477822" w="477822">
                  <a:moveTo>
                    <a:pt x="0" y="0"/>
                  </a:moveTo>
                  <a:lnTo>
                    <a:pt x="477823" y="0"/>
                  </a:lnTo>
                  <a:lnTo>
                    <a:pt x="477823" y="477822"/>
                  </a:lnTo>
                  <a:lnTo>
                    <a:pt x="0" y="477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8" id="68"/>
            <p:cNvSpPr/>
            <p:nvPr/>
          </p:nvSpPr>
          <p:spPr>
            <a:xfrm flipH="false" flipV="false" rot="0">
              <a:off x="2244737" y="9465452"/>
              <a:ext cx="477822" cy="477822"/>
            </a:xfrm>
            <a:custGeom>
              <a:avLst/>
              <a:gdLst/>
              <a:ahLst/>
              <a:cxnLst/>
              <a:rect r="r" b="b" t="t" l="l"/>
              <a:pathLst>
                <a:path h="477822" w="477822">
                  <a:moveTo>
                    <a:pt x="0" y="0"/>
                  </a:moveTo>
                  <a:lnTo>
                    <a:pt x="477822" y="0"/>
                  </a:lnTo>
                  <a:lnTo>
                    <a:pt x="477822" y="477822"/>
                  </a:lnTo>
                  <a:lnTo>
                    <a:pt x="0" y="4778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8432684" y="3408351"/>
            <a:ext cx="9311347" cy="4336104"/>
          </a:xfrm>
          <a:prstGeom prst="rect">
            <a:avLst/>
          </a:prstGeom>
        </p:spPr>
        <p:txBody>
          <a:bodyPr anchor="t" rtlCol="false" tIns="0" lIns="0" bIns="0" rIns="0">
            <a:spAutoFit/>
          </a:bodyPr>
          <a:lstStyle/>
          <a:p>
            <a:pPr algn="ctr" marL="0" indent="0" lvl="0">
              <a:lnSpc>
                <a:spcPts val="17450"/>
              </a:lnSpc>
              <a:spcBef>
                <a:spcPct val="0"/>
              </a:spcBef>
            </a:pPr>
            <a:r>
              <a:rPr lang="en-US" b="true" sz="12464">
                <a:solidFill>
                  <a:srgbClr val="50212A"/>
                </a:solidFill>
                <a:latin typeface="Ojuju Bold"/>
                <a:ea typeface="Ojuju Bold"/>
                <a:cs typeface="Ojuju Bold"/>
                <a:sym typeface="Ojuju Bold"/>
              </a:rPr>
              <a:t>3. TRIỂN KHAI DỰ ÁN</a:t>
            </a:r>
          </a:p>
        </p:txBody>
      </p:sp>
      <p:sp>
        <p:nvSpPr>
          <p:cNvPr name="Freeform 10" id="10"/>
          <p:cNvSpPr/>
          <p:nvPr/>
        </p:nvSpPr>
        <p:spPr>
          <a:xfrm flipH="false" flipV="false" rot="0">
            <a:off x="303714" y="2095539"/>
            <a:ext cx="8128970" cy="7871552"/>
          </a:xfrm>
          <a:custGeom>
            <a:avLst/>
            <a:gdLst/>
            <a:ahLst/>
            <a:cxnLst/>
            <a:rect r="r" b="b" t="t" l="l"/>
            <a:pathLst>
              <a:path h="7871552" w="8128970">
                <a:moveTo>
                  <a:pt x="0" y="0"/>
                </a:moveTo>
                <a:lnTo>
                  <a:pt x="8128970" y="0"/>
                </a:lnTo>
                <a:lnTo>
                  <a:pt x="8128970" y="7871552"/>
                </a:lnTo>
                <a:lnTo>
                  <a:pt x="0" y="78715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802043" y="5328459"/>
            <a:ext cx="14658313" cy="6587681"/>
            <a:chOff x="0" y="0"/>
            <a:chExt cx="3860626" cy="1735027"/>
          </a:xfrm>
        </p:grpSpPr>
        <p:sp>
          <p:nvSpPr>
            <p:cNvPr name="Freeform 10" id="10"/>
            <p:cNvSpPr/>
            <p:nvPr/>
          </p:nvSpPr>
          <p:spPr>
            <a:xfrm flipH="false" flipV="false" rot="0">
              <a:off x="0" y="0"/>
              <a:ext cx="3860626" cy="1735027"/>
            </a:xfrm>
            <a:custGeom>
              <a:avLst/>
              <a:gdLst/>
              <a:ahLst/>
              <a:cxnLst/>
              <a:rect r="r" b="b" t="t" l="l"/>
              <a:pathLst>
                <a:path h="1735027" w="3860626">
                  <a:moveTo>
                    <a:pt x="47534" y="0"/>
                  </a:moveTo>
                  <a:lnTo>
                    <a:pt x="3813091" y="0"/>
                  </a:lnTo>
                  <a:cubicBezTo>
                    <a:pt x="3825698" y="0"/>
                    <a:pt x="3837789" y="5008"/>
                    <a:pt x="3846703" y="13922"/>
                  </a:cubicBezTo>
                  <a:cubicBezTo>
                    <a:pt x="3855617" y="22837"/>
                    <a:pt x="3860626" y="34927"/>
                    <a:pt x="3860626" y="47534"/>
                  </a:cubicBezTo>
                  <a:lnTo>
                    <a:pt x="3860626" y="1687493"/>
                  </a:lnTo>
                  <a:cubicBezTo>
                    <a:pt x="3860626" y="1700100"/>
                    <a:pt x="3855617" y="1712190"/>
                    <a:pt x="3846703" y="1721105"/>
                  </a:cubicBezTo>
                  <a:cubicBezTo>
                    <a:pt x="3837789" y="1730019"/>
                    <a:pt x="3825698" y="1735027"/>
                    <a:pt x="3813091" y="1735027"/>
                  </a:cubicBezTo>
                  <a:lnTo>
                    <a:pt x="47534" y="1735027"/>
                  </a:lnTo>
                  <a:cubicBezTo>
                    <a:pt x="34927" y="1735027"/>
                    <a:pt x="22837" y="1730019"/>
                    <a:pt x="13922" y="1721105"/>
                  </a:cubicBezTo>
                  <a:cubicBezTo>
                    <a:pt x="5008" y="1712190"/>
                    <a:pt x="0" y="1700100"/>
                    <a:pt x="0" y="1687493"/>
                  </a:cubicBezTo>
                  <a:lnTo>
                    <a:pt x="0" y="47534"/>
                  </a:lnTo>
                  <a:cubicBezTo>
                    <a:pt x="0" y="34927"/>
                    <a:pt x="5008" y="22837"/>
                    <a:pt x="13922" y="13922"/>
                  </a:cubicBezTo>
                  <a:cubicBezTo>
                    <a:pt x="22837" y="5008"/>
                    <a:pt x="34927" y="0"/>
                    <a:pt x="47534" y="0"/>
                  </a:cubicBezTo>
                  <a:close/>
                </a:path>
              </a:pathLst>
            </a:custGeom>
            <a:solidFill>
              <a:srgbClr val="50212A"/>
            </a:solidFill>
            <a:ln cap="rnd">
              <a:noFill/>
              <a:prstDash val="solid"/>
              <a:round/>
            </a:ln>
          </p:spPr>
        </p:sp>
        <p:sp>
          <p:nvSpPr>
            <p:cNvPr name="TextBox 11" id="11"/>
            <p:cNvSpPr txBox="true"/>
            <p:nvPr/>
          </p:nvSpPr>
          <p:spPr>
            <a:xfrm>
              <a:off x="0" y="-57150"/>
              <a:ext cx="3860626" cy="179217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80736" y="490255"/>
            <a:ext cx="12520772" cy="888116"/>
            <a:chOff x="0" y="0"/>
            <a:chExt cx="16694363" cy="1184154"/>
          </a:xfrm>
        </p:grpSpPr>
        <p:grpSp>
          <p:nvGrpSpPr>
            <p:cNvPr name="Group 13" id="13"/>
            <p:cNvGrpSpPr/>
            <p:nvPr/>
          </p:nvGrpSpPr>
          <p:grpSpPr>
            <a:xfrm rot="0">
              <a:off x="0" y="0"/>
              <a:ext cx="15515222" cy="1184154"/>
              <a:chOff x="0" y="0"/>
              <a:chExt cx="3064735" cy="233907"/>
            </a:xfrm>
          </p:grpSpPr>
          <p:sp>
            <p:nvSpPr>
              <p:cNvPr name="Freeform 14" id="14"/>
              <p:cNvSpPr/>
              <p:nvPr/>
            </p:nvSpPr>
            <p:spPr>
              <a:xfrm flipH="false" flipV="false" rot="0">
                <a:off x="0" y="0"/>
                <a:ext cx="3064735" cy="233907"/>
              </a:xfrm>
              <a:custGeom>
                <a:avLst/>
                <a:gdLst/>
                <a:ahLst/>
                <a:cxnLst/>
                <a:rect r="r" b="b" t="t" l="l"/>
                <a:pathLst>
                  <a:path h="233907" w="3064735">
                    <a:moveTo>
                      <a:pt x="66532" y="0"/>
                    </a:moveTo>
                    <a:lnTo>
                      <a:pt x="2998203" y="0"/>
                    </a:lnTo>
                    <a:cubicBezTo>
                      <a:pt x="3034948" y="0"/>
                      <a:pt x="3064735" y="29787"/>
                      <a:pt x="3064735" y="66532"/>
                    </a:cubicBezTo>
                    <a:lnTo>
                      <a:pt x="3064735" y="167375"/>
                    </a:lnTo>
                    <a:cubicBezTo>
                      <a:pt x="3064735" y="204120"/>
                      <a:pt x="3034948" y="233907"/>
                      <a:pt x="2998203" y="233907"/>
                    </a:cubicBezTo>
                    <a:lnTo>
                      <a:pt x="66532" y="233907"/>
                    </a:lnTo>
                    <a:cubicBezTo>
                      <a:pt x="29787" y="233907"/>
                      <a:pt x="0" y="204120"/>
                      <a:pt x="0" y="167375"/>
                    </a:cubicBezTo>
                    <a:lnTo>
                      <a:pt x="0" y="66532"/>
                    </a:lnTo>
                    <a:cubicBezTo>
                      <a:pt x="0" y="29787"/>
                      <a:pt x="29787" y="0"/>
                      <a:pt x="66532" y="0"/>
                    </a:cubicBezTo>
                    <a:close/>
                  </a:path>
                </a:pathLst>
              </a:custGeom>
              <a:solidFill>
                <a:srgbClr val="FFFFFF"/>
              </a:solidFill>
              <a:ln cap="rnd">
                <a:noFill/>
                <a:prstDash val="solid"/>
                <a:round/>
              </a:ln>
            </p:spPr>
          </p:sp>
          <p:sp>
            <p:nvSpPr>
              <p:cNvPr name="TextBox 15" id="15"/>
              <p:cNvSpPr txBox="true"/>
              <p:nvPr/>
            </p:nvSpPr>
            <p:spPr>
              <a:xfrm>
                <a:off x="0" y="-57150"/>
                <a:ext cx="3064735" cy="291057"/>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435416" y="141884"/>
              <a:ext cx="1625894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1. Tổng quan quá trình triển khai </a:t>
              </a:r>
            </a:p>
          </p:txBody>
        </p:sp>
      </p:grpSp>
      <p:sp>
        <p:nvSpPr>
          <p:cNvPr name="TextBox 17" id="17"/>
          <p:cNvSpPr txBox="true"/>
          <p:nvPr/>
        </p:nvSpPr>
        <p:spPr>
          <a:xfrm rot="0">
            <a:off x="802043" y="2197164"/>
            <a:ext cx="11145205" cy="2772990"/>
          </a:xfrm>
          <a:prstGeom prst="rect">
            <a:avLst/>
          </a:prstGeom>
        </p:spPr>
        <p:txBody>
          <a:bodyPr anchor="t" rtlCol="false" tIns="0" lIns="0" bIns="0" rIns="0">
            <a:spAutoFit/>
          </a:bodyPr>
          <a:lstStyle/>
          <a:p>
            <a:pPr algn="l" marL="566097" indent="-283049" lvl="1">
              <a:lnSpc>
                <a:spcPts val="3670"/>
              </a:lnSpc>
              <a:buFont typeface="Arial"/>
              <a:buChar char="•"/>
            </a:pPr>
            <a:r>
              <a:rPr lang="en-US" b="true" sz="2622">
                <a:solidFill>
                  <a:srgbClr val="50212A"/>
                </a:solidFill>
                <a:latin typeface="Work Sans Bold"/>
                <a:ea typeface="Work Sans Bold"/>
                <a:cs typeface="Work Sans Bold"/>
                <a:sym typeface="Work Sans Bold"/>
              </a:rPr>
              <a:t>Thời gia</a:t>
            </a:r>
            <a:r>
              <a:rPr lang="en-US" b="true" sz="2622" strike="noStrike" u="none">
                <a:solidFill>
                  <a:srgbClr val="50212A"/>
                </a:solidFill>
                <a:latin typeface="Work Sans Bold"/>
                <a:ea typeface="Work Sans Bold"/>
                <a:cs typeface="Work Sans Bold"/>
                <a:sym typeface="Work Sans Bold"/>
              </a:rPr>
              <a:t>n triển khai dự án:</a:t>
            </a:r>
            <a:r>
              <a:rPr lang="en-US" sz="2622" strike="noStrike" u="none">
                <a:solidFill>
                  <a:srgbClr val="50212A"/>
                </a:solidFill>
                <a:latin typeface="Work Sans"/>
                <a:ea typeface="Work Sans"/>
                <a:cs typeface="Work Sans"/>
                <a:sym typeface="Work Sans"/>
              </a:rPr>
              <a:t> Chiến dịch được thực h</a:t>
            </a:r>
            <a:r>
              <a:rPr lang="en-US" sz="2622" strike="noStrike" u="none">
                <a:solidFill>
                  <a:srgbClr val="50212A"/>
                </a:solidFill>
                <a:latin typeface="Work Sans"/>
                <a:ea typeface="Work Sans"/>
                <a:cs typeface="Work Sans"/>
                <a:sym typeface="Work Sans"/>
              </a:rPr>
              <a:t>iện</a:t>
            </a:r>
            <a:r>
              <a:rPr lang="en-US" sz="2622" strike="noStrike" u="none">
                <a:solidFill>
                  <a:srgbClr val="50212A"/>
                </a:solidFill>
                <a:latin typeface="Work Sans"/>
                <a:ea typeface="Work Sans"/>
                <a:cs typeface="Work Sans"/>
                <a:sym typeface="Work Sans"/>
              </a:rPr>
              <a:t> trong 7 tuần</a:t>
            </a:r>
            <a:r>
              <a:rPr lang="en-US" sz="2622" strike="noStrike" u="none">
                <a:solidFill>
                  <a:srgbClr val="50212A"/>
                </a:solidFill>
                <a:latin typeface="Work Sans"/>
                <a:ea typeface="Work Sans"/>
                <a:cs typeface="Work Sans"/>
                <a:sym typeface="Work Sans"/>
              </a:rPr>
              <a:t>,</a:t>
            </a:r>
            <a:r>
              <a:rPr lang="en-US" sz="2622" strike="noStrike" u="none">
                <a:solidFill>
                  <a:srgbClr val="50212A"/>
                </a:solidFill>
                <a:latin typeface="Work Sans"/>
                <a:ea typeface="Work Sans"/>
                <a:cs typeface="Work Sans"/>
                <a:sym typeface="Work Sans"/>
              </a:rPr>
              <a:t> từ </a:t>
            </a:r>
            <a:r>
              <a:rPr lang="en-US" sz="2622" strike="noStrike" u="none">
                <a:solidFill>
                  <a:srgbClr val="50212A"/>
                </a:solidFill>
                <a:latin typeface="Work Sans"/>
                <a:ea typeface="Work Sans"/>
                <a:cs typeface="Work Sans"/>
                <a:sym typeface="Work Sans"/>
              </a:rPr>
              <a:t>10/05/2026</a:t>
            </a:r>
            <a:r>
              <a:rPr lang="en-US" sz="2622" strike="noStrike" u="none">
                <a:solidFill>
                  <a:srgbClr val="50212A"/>
                </a:solidFill>
                <a:latin typeface="Work Sans"/>
                <a:ea typeface="Work Sans"/>
                <a:cs typeface="Work Sans"/>
                <a:sym typeface="Work Sans"/>
              </a:rPr>
              <a:t> </a:t>
            </a:r>
            <a:r>
              <a:rPr lang="en-US" sz="2622" strike="noStrike" u="none">
                <a:solidFill>
                  <a:srgbClr val="50212A"/>
                </a:solidFill>
                <a:latin typeface="Work Sans"/>
                <a:ea typeface="Work Sans"/>
                <a:cs typeface="Work Sans"/>
                <a:sym typeface="Work Sans"/>
              </a:rPr>
              <a:t>đế</a:t>
            </a:r>
            <a:r>
              <a:rPr lang="en-US" sz="2622" strike="noStrike" u="none">
                <a:solidFill>
                  <a:srgbClr val="50212A"/>
                </a:solidFill>
                <a:latin typeface="Work Sans"/>
                <a:ea typeface="Work Sans"/>
                <a:cs typeface="Work Sans"/>
                <a:sym typeface="Work Sans"/>
              </a:rPr>
              <a:t>n 22/06/2026.</a:t>
            </a:r>
          </a:p>
          <a:p>
            <a:pPr algn="l" marL="566097" indent="-283049" lvl="1">
              <a:lnSpc>
                <a:spcPts val="3670"/>
              </a:lnSpc>
              <a:buFont typeface="Arial"/>
              <a:buChar char="•"/>
            </a:pPr>
            <a:r>
              <a:rPr lang="en-US" b="true" sz="2622" strike="noStrike" u="none">
                <a:solidFill>
                  <a:srgbClr val="50212A"/>
                </a:solidFill>
                <a:latin typeface="Work Sans Bold"/>
                <a:ea typeface="Work Sans Bold"/>
                <a:cs typeface="Work Sans Bold"/>
                <a:sym typeface="Work Sans Bold"/>
              </a:rPr>
              <a:t>Ti</a:t>
            </a:r>
            <a:r>
              <a:rPr lang="en-US" b="true" sz="2622" strike="noStrike" u="none">
                <a:solidFill>
                  <a:srgbClr val="50212A"/>
                </a:solidFill>
                <a:latin typeface="Work Sans Bold"/>
                <a:ea typeface="Work Sans Bold"/>
                <a:cs typeface="Work Sans Bold"/>
                <a:sym typeface="Work Sans Bold"/>
              </a:rPr>
              <a:t>ến độ</a:t>
            </a:r>
            <a:r>
              <a:rPr lang="en-US" b="true" sz="2622" strike="noStrike" u="none">
                <a:solidFill>
                  <a:srgbClr val="50212A"/>
                </a:solidFill>
                <a:latin typeface="Work Sans Bold"/>
                <a:ea typeface="Work Sans Bold"/>
                <a:cs typeface="Work Sans Bold"/>
                <a:sym typeface="Work Sans Bold"/>
              </a:rPr>
              <a:t> </a:t>
            </a:r>
            <a:r>
              <a:rPr lang="en-US" b="true" sz="2622" strike="noStrike" u="none">
                <a:solidFill>
                  <a:srgbClr val="50212A"/>
                </a:solidFill>
                <a:latin typeface="Work Sans Bold"/>
                <a:ea typeface="Work Sans Bold"/>
                <a:cs typeface="Work Sans Bold"/>
                <a:sym typeface="Work Sans Bold"/>
              </a:rPr>
              <a:t>thự</a:t>
            </a:r>
            <a:r>
              <a:rPr lang="en-US" b="true" sz="2622" strike="noStrike" u="none">
                <a:solidFill>
                  <a:srgbClr val="50212A"/>
                </a:solidFill>
                <a:latin typeface="Work Sans Bold"/>
                <a:ea typeface="Work Sans Bold"/>
                <a:cs typeface="Work Sans Bold"/>
                <a:sym typeface="Work Sans Bold"/>
              </a:rPr>
              <a:t>c </a:t>
            </a:r>
            <a:r>
              <a:rPr lang="en-US" b="true" sz="2622" strike="noStrike" u="none">
                <a:solidFill>
                  <a:srgbClr val="50212A"/>
                </a:solidFill>
                <a:latin typeface="Work Sans Bold"/>
                <a:ea typeface="Work Sans Bold"/>
                <a:cs typeface="Work Sans Bold"/>
                <a:sym typeface="Work Sans Bold"/>
              </a:rPr>
              <a:t>tế so với kế hoạch:</a:t>
            </a:r>
            <a:r>
              <a:rPr lang="en-US" sz="2622" strike="noStrike" u="none">
                <a:solidFill>
                  <a:srgbClr val="50212A"/>
                </a:solidFill>
                <a:latin typeface="Work Sans"/>
                <a:ea typeface="Work Sans"/>
                <a:cs typeface="Work Sans"/>
                <a:sym typeface="Work Sans"/>
              </a:rPr>
              <a:t> Dự án hoàn thành </a:t>
            </a:r>
            <a:r>
              <a:rPr lang="en-US" sz="2622" strike="noStrike" u="none">
                <a:solidFill>
                  <a:srgbClr val="50212A"/>
                </a:solidFill>
                <a:latin typeface="Work Sans"/>
                <a:ea typeface="Work Sans"/>
                <a:cs typeface="Work Sans"/>
                <a:sym typeface="Work Sans"/>
              </a:rPr>
              <a:t>mu</a:t>
            </a:r>
            <a:r>
              <a:rPr lang="en-US" sz="2622" strike="noStrike" u="none">
                <a:solidFill>
                  <a:srgbClr val="50212A"/>
                </a:solidFill>
                <a:latin typeface="Work Sans"/>
                <a:ea typeface="Work Sans"/>
                <a:cs typeface="Work Sans"/>
                <a:sym typeface="Work Sans"/>
              </a:rPr>
              <a:t>ộn hơn kế hoạch 8 ngày (so với mốc 14/06/2026) do chậm trễ trong việc thiết lập Fanpage Facebook và ảnh hưởng từ lịch học, thi cử của các thành viên.</a:t>
            </a:r>
          </a:p>
        </p:txBody>
      </p:sp>
      <p:sp>
        <p:nvSpPr>
          <p:cNvPr name="Freeform 18" id="18"/>
          <p:cNvSpPr/>
          <p:nvPr/>
        </p:nvSpPr>
        <p:spPr>
          <a:xfrm flipH="true" flipV="false" rot="0">
            <a:off x="12365735" y="3959467"/>
            <a:ext cx="6382277" cy="6571199"/>
          </a:xfrm>
          <a:custGeom>
            <a:avLst/>
            <a:gdLst/>
            <a:ahLst/>
            <a:cxnLst/>
            <a:rect r="r" b="b" t="t" l="l"/>
            <a:pathLst>
              <a:path h="6571199" w="6382277">
                <a:moveTo>
                  <a:pt x="6382277" y="0"/>
                </a:moveTo>
                <a:lnTo>
                  <a:pt x="0" y="0"/>
                </a:lnTo>
                <a:lnTo>
                  <a:pt x="0" y="6571199"/>
                </a:lnTo>
                <a:lnTo>
                  <a:pt x="6382277" y="6571199"/>
                </a:lnTo>
                <a:lnTo>
                  <a:pt x="638227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802043" y="5724119"/>
            <a:ext cx="11820826" cy="4105648"/>
          </a:xfrm>
          <a:prstGeom prst="rect">
            <a:avLst/>
          </a:prstGeom>
        </p:spPr>
        <p:txBody>
          <a:bodyPr anchor="t" rtlCol="false" tIns="0" lIns="0" bIns="0" rIns="0">
            <a:spAutoFit/>
          </a:bodyPr>
          <a:lstStyle/>
          <a:p>
            <a:pPr algn="l" marL="566098" indent="-283049" lvl="1">
              <a:lnSpc>
                <a:spcPts val="3670"/>
              </a:lnSpc>
              <a:buFont typeface="Arial"/>
              <a:buChar char="•"/>
            </a:pPr>
            <a:r>
              <a:rPr lang="en-US" b="true" sz="2622">
                <a:solidFill>
                  <a:srgbClr val="FDF6F2"/>
                </a:solidFill>
                <a:latin typeface="Work Sans Bold"/>
                <a:ea typeface="Work Sans Bold"/>
                <a:cs typeface="Work Sans Bold"/>
                <a:sym typeface="Work Sans Bold"/>
              </a:rPr>
              <a:t>Biện pháp khắc p</a:t>
            </a:r>
            <a:r>
              <a:rPr lang="en-US" b="true" sz="2622">
                <a:solidFill>
                  <a:srgbClr val="FDF6F2"/>
                </a:solidFill>
                <a:latin typeface="Work Sans Bold"/>
                <a:ea typeface="Work Sans Bold"/>
                <a:cs typeface="Work Sans Bold"/>
                <a:sym typeface="Work Sans Bold"/>
              </a:rPr>
              <a:t>hục:</a:t>
            </a:r>
            <a:r>
              <a:rPr lang="en-US" sz="2622">
                <a:solidFill>
                  <a:srgbClr val="FDF6F2"/>
                </a:solidFill>
                <a:latin typeface="Work Sans"/>
                <a:ea typeface="Work Sans"/>
                <a:cs typeface="Work Sans"/>
                <a:sym typeface="Work Sans"/>
              </a:rPr>
              <a:t> Điều phối nhân lực hợp lý và đẩy nha</a:t>
            </a:r>
            <a:r>
              <a:rPr lang="en-US" sz="2622" strike="noStrike" u="none">
                <a:solidFill>
                  <a:srgbClr val="FDF6F2"/>
                </a:solidFill>
                <a:latin typeface="Work Sans"/>
                <a:ea typeface="Work Sans"/>
                <a:cs typeface="Work Sans"/>
                <a:sym typeface="Work Sans"/>
              </a:rPr>
              <a:t>nh tiến độ ở giai đoạn cuối, đảm bảo hoàn thành đầy đủ các hạ</a:t>
            </a:r>
            <a:r>
              <a:rPr lang="en-US" sz="2622" strike="noStrike" u="none">
                <a:solidFill>
                  <a:srgbClr val="FDF6F2"/>
                </a:solidFill>
                <a:latin typeface="Work Sans"/>
                <a:ea typeface="Work Sans"/>
                <a:cs typeface="Work Sans"/>
                <a:sym typeface="Work Sans"/>
              </a:rPr>
              <a:t>ng</a:t>
            </a:r>
            <a:r>
              <a:rPr lang="en-US" sz="2622" strike="noStrike" u="none">
                <a:solidFill>
                  <a:srgbClr val="FDF6F2"/>
                </a:solidFill>
                <a:latin typeface="Work Sans"/>
                <a:ea typeface="Work Sans"/>
                <a:cs typeface="Work Sans"/>
                <a:sym typeface="Work Sans"/>
              </a:rPr>
              <a:t> mục và yêu cầu chất lượng.</a:t>
            </a:r>
          </a:p>
          <a:p>
            <a:pPr algn="l" marL="566098" indent="-283049" lvl="1">
              <a:lnSpc>
                <a:spcPts val="3670"/>
              </a:lnSpc>
              <a:buFont typeface="Arial"/>
              <a:buChar char="•"/>
            </a:pPr>
            <a:r>
              <a:rPr lang="en-US" b="true" sz="2622" strike="noStrike" u="none">
                <a:solidFill>
                  <a:srgbClr val="FDF6F2"/>
                </a:solidFill>
                <a:latin typeface="Work Sans Bold"/>
                <a:ea typeface="Work Sans Bold"/>
                <a:cs typeface="Work Sans Bold"/>
                <a:sym typeface="Work Sans Bold"/>
              </a:rPr>
              <a:t>Mục tiêu trọng tâm:</a:t>
            </a:r>
            <a:r>
              <a:rPr lang="en-US" sz="2622" strike="noStrike" u="none">
                <a:solidFill>
                  <a:srgbClr val="FDF6F2"/>
                </a:solidFill>
                <a:latin typeface="Work Sans"/>
                <a:ea typeface="Work Sans"/>
                <a:cs typeface="Work Sans"/>
                <a:sym typeface="Work Sans"/>
              </a:rPr>
              <a:t> Tập trung vào truyền th</a:t>
            </a:r>
            <a:r>
              <a:rPr lang="en-US" sz="2622" strike="noStrike" u="none">
                <a:solidFill>
                  <a:srgbClr val="FDF6F2"/>
                </a:solidFill>
                <a:latin typeface="Work Sans"/>
                <a:ea typeface="Work Sans"/>
                <a:cs typeface="Work Sans"/>
                <a:sym typeface="Work Sans"/>
              </a:rPr>
              <a:t>ông</a:t>
            </a:r>
            <a:r>
              <a:rPr lang="en-US" sz="2622" strike="noStrike" u="none">
                <a:solidFill>
                  <a:srgbClr val="FDF6F2"/>
                </a:solidFill>
                <a:latin typeface="Work Sans"/>
                <a:ea typeface="Work Sans"/>
                <a:cs typeface="Work Sans"/>
                <a:sym typeface="Work Sans"/>
              </a:rPr>
              <a:t> t</a:t>
            </a:r>
            <a:r>
              <a:rPr lang="en-US" sz="2622" strike="noStrike" u="none">
                <a:solidFill>
                  <a:srgbClr val="FDF6F2"/>
                </a:solidFill>
                <a:latin typeface="Work Sans"/>
                <a:ea typeface="Work Sans"/>
                <a:cs typeface="Work Sans"/>
                <a:sym typeface="Work Sans"/>
              </a:rPr>
              <a:t>ạo</a:t>
            </a:r>
            <a:r>
              <a:rPr lang="en-US" sz="2622" strike="noStrike" u="none">
                <a:solidFill>
                  <a:srgbClr val="FDF6F2"/>
                </a:solidFill>
                <a:latin typeface="Work Sans"/>
                <a:ea typeface="Work Sans"/>
                <a:cs typeface="Work Sans"/>
                <a:sym typeface="Work Sans"/>
              </a:rPr>
              <a:t> nhận diện và thu thập dữ liệ</a:t>
            </a:r>
            <a:r>
              <a:rPr lang="en-US" sz="2622" strike="noStrike" u="none">
                <a:solidFill>
                  <a:srgbClr val="FDF6F2"/>
                </a:solidFill>
                <a:latin typeface="Work Sans"/>
                <a:ea typeface="Work Sans"/>
                <a:cs typeface="Work Sans"/>
                <a:sym typeface="Work Sans"/>
              </a:rPr>
              <a:t>u</a:t>
            </a:r>
            <a:r>
              <a:rPr lang="en-US" sz="2622" strike="noStrike" u="none">
                <a:solidFill>
                  <a:srgbClr val="FDF6F2"/>
                </a:solidFill>
                <a:latin typeface="Work Sans"/>
                <a:ea typeface="Work Sans"/>
                <a:cs typeface="Work Sans"/>
                <a:sym typeface="Work Sans"/>
              </a:rPr>
              <a:t> đăng ký trước sự kiện OpenDay 2026 (diễn ra ngày 19/07/2026).</a:t>
            </a:r>
          </a:p>
          <a:p>
            <a:pPr algn="l" marL="566098" indent="-283049" lvl="1">
              <a:lnSpc>
                <a:spcPts val="3670"/>
              </a:lnSpc>
              <a:buFont typeface="Arial"/>
              <a:buChar char="•"/>
            </a:pPr>
            <a:r>
              <a:rPr lang="en-US" b="true" sz="2622" strike="noStrike" u="none">
                <a:solidFill>
                  <a:srgbClr val="FDF6F2"/>
                </a:solidFill>
                <a:latin typeface="Work Sans Bold"/>
                <a:ea typeface="Work Sans Bold"/>
                <a:cs typeface="Work Sans Bold"/>
                <a:sym typeface="Work Sans Bold"/>
              </a:rPr>
              <a:t>Sản phẩm bàn giao:</a:t>
            </a:r>
            <a:r>
              <a:rPr lang="en-US" sz="2622" strike="noStrike" u="none">
                <a:solidFill>
                  <a:srgbClr val="FDF6F2"/>
                </a:solidFill>
                <a:latin typeface="Work Sans"/>
                <a:ea typeface="Work Sans"/>
                <a:cs typeface="Work Sans"/>
                <a:sym typeface="Work Sans"/>
              </a:rPr>
              <a:t> Website tích hợp Chatbot tư vấn, hệ thống kênh truyền thông đa nền tảng được chuẩn hóa và cơ sở dữ liệu thí sinh đăng ký sự kiện.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0736" y="490255"/>
            <a:ext cx="3518820" cy="888116"/>
            <a:chOff x="0" y="0"/>
            <a:chExt cx="926767" cy="233907"/>
          </a:xfrm>
        </p:grpSpPr>
        <p:sp>
          <p:nvSpPr>
            <p:cNvPr name="Freeform 10" id="10"/>
            <p:cNvSpPr/>
            <p:nvPr/>
          </p:nvSpPr>
          <p:spPr>
            <a:xfrm flipH="false" flipV="false" rot="0">
              <a:off x="0" y="0"/>
              <a:ext cx="926767" cy="233907"/>
            </a:xfrm>
            <a:custGeom>
              <a:avLst/>
              <a:gdLst/>
              <a:ahLst/>
              <a:cxnLst/>
              <a:rect r="r" b="b" t="t" l="l"/>
              <a:pathLst>
                <a:path h="233907" w="926767">
                  <a:moveTo>
                    <a:pt x="116954" y="0"/>
                  </a:moveTo>
                  <a:lnTo>
                    <a:pt x="809814" y="0"/>
                  </a:lnTo>
                  <a:cubicBezTo>
                    <a:pt x="840832" y="0"/>
                    <a:pt x="870580" y="12322"/>
                    <a:pt x="892513" y="34255"/>
                  </a:cubicBezTo>
                  <a:cubicBezTo>
                    <a:pt x="914446" y="56188"/>
                    <a:pt x="926767" y="85936"/>
                    <a:pt x="926767" y="116954"/>
                  </a:cubicBezTo>
                  <a:lnTo>
                    <a:pt x="926767" y="116954"/>
                  </a:lnTo>
                  <a:cubicBezTo>
                    <a:pt x="926767" y="181545"/>
                    <a:pt x="874406" y="233907"/>
                    <a:pt x="809814"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1" id="11"/>
            <p:cNvSpPr txBox="true"/>
            <p:nvPr/>
          </p:nvSpPr>
          <p:spPr>
            <a:xfrm>
              <a:off x="0" y="-57150"/>
              <a:ext cx="926767" cy="29105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80736" y="490255"/>
            <a:ext cx="10680799" cy="888116"/>
            <a:chOff x="0" y="0"/>
            <a:chExt cx="2813050" cy="233907"/>
          </a:xfrm>
        </p:grpSpPr>
        <p:sp>
          <p:nvSpPr>
            <p:cNvPr name="Freeform 13" id="13"/>
            <p:cNvSpPr/>
            <p:nvPr/>
          </p:nvSpPr>
          <p:spPr>
            <a:xfrm flipH="false" flipV="false" rot="0">
              <a:off x="0" y="0"/>
              <a:ext cx="2813050" cy="233907"/>
            </a:xfrm>
            <a:custGeom>
              <a:avLst/>
              <a:gdLst/>
              <a:ahLst/>
              <a:cxnLst/>
              <a:rect r="r" b="b" t="t" l="l"/>
              <a:pathLst>
                <a:path h="233907" w="2813050">
                  <a:moveTo>
                    <a:pt x="72484" y="0"/>
                  </a:moveTo>
                  <a:lnTo>
                    <a:pt x="2740565" y="0"/>
                  </a:lnTo>
                  <a:cubicBezTo>
                    <a:pt x="2780598" y="0"/>
                    <a:pt x="2813050" y="32452"/>
                    <a:pt x="2813050" y="72484"/>
                  </a:cubicBezTo>
                  <a:lnTo>
                    <a:pt x="2813050" y="161423"/>
                  </a:lnTo>
                  <a:cubicBezTo>
                    <a:pt x="2813050" y="201455"/>
                    <a:pt x="2780598" y="233907"/>
                    <a:pt x="2740565" y="233907"/>
                  </a:cubicBezTo>
                  <a:lnTo>
                    <a:pt x="72484" y="233907"/>
                  </a:lnTo>
                  <a:cubicBezTo>
                    <a:pt x="32452" y="233907"/>
                    <a:pt x="0" y="201455"/>
                    <a:pt x="0" y="161423"/>
                  </a:cubicBezTo>
                  <a:lnTo>
                    <a:pt x="0" y="72484"/>
                  </a:lnTo>
                  <a:cubicBezTo>
                    <a:pt x="0" y="32452"/>
                    <a:pt x="32452" y="0"/>
                    <a:pt x="72484" y="0"/>
                  </a:cubicBezTo>
                  <a:close/>
                </a:path>
              </a:pathLst>
            </a:custGeom>
            <a:solidFill>
              <a:srgbClr val="FFFFFF"/>
            </a:solidFill>
            <a:ln cap="rnd">
              <a:noFill/>
              <a:prstDash val="solid"/>
              <a:round/>
            </a:ln>
          </p:spPr>
        </p:sp>
        <p:sp>
          <p:nvSpPr>
            <p:cNvPr name="TextBox 14" id="14"/>
            <p:cNvSpPr txBox="true"/>
            <p:nvPr/>
          </p:nvSpPr>
          <p:spPr>
            <a:xfrm>
              <a:off x="0" y="-57150"/>
              <a:ext cx="2813050" cy="291057"/>
            </a:xfrm>
            <a:prstGeom prst="rect">
              <a:avLst/>
            </a:prstGeom>
          </p:spPr>
          <p:txBody>
            <a:bodyPr anchor="ctr" rtlCol="false" tIns="50800" lIns="50800" bIns="50800" rIns="50800"/>
            <a:lstStyle/>
            <a:p>
              <a:pPr algn="ctr">
                <a:lnSpc>
                  <a:spcPts val="2659"/>
                </a:lnSpc>
              </a:pPr>
            </a:p>
          </p:txBody>
        </p:sp>
      </p:grpSp>
      <p:graphicFrame>
        <p:nvGraphicFramePr>
          <p:cNvPr name="Object 15" id="15"/>
          <p:cNvGraphicFramePr/>
          <p:nvPr/>
        </p:nvGraphicFramePr>
        <p:xfrm>
          <a:off x="9152068" y="2284927"/>
          <a:ext cx="16230600" cy="8079595"/>
        </p:xfrm>
        <a:graphic>
          <a:graphicData uri="http://schemas.openxmlformats.org/presentationml/2006/ole">
            <p:oleObj imgW="19469100" imgH="113157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aphicFrame>
        <p:nvGraphicFramePr>
          <p:cNvPr name="Object 16" id="16"/>
          <p:cNvGraphicFramePr/>
          <p:nvPr/>
        </p:nvGraphicFramePr>
        <p:xfrm>
          <a:off x="480736" y="2284927"/>
          <a:ext cx="15661834" cy="8229600"/>
        </p:xfrm>
        <a:graphic>
          <a:graphicData uri="http://schemas.openxmlformats.org/presentationml/2006/ole">
            <p:oleObj imgW="18783300" imgH="113538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7" id="17"/>
          <p:cNvSpPr txBox="true"/>
          <p:nvPr/>
        </p:nvSpPr>
        <p:spPr>
          <a:xfrm rot="0">
            <a:off x="807299" y="575237"/>
            <a:ext cx="11187901" cy="632427"/>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Kế hoạch chi tiết tiến độ dự án điều chỉnh</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357147">
            <a:off x="12434767" y="-130150"/>
            <a:ext cx="6247495" cy="13888595"/>
            <a:chOff x="0" y="0"/>
            <a:chExt cx="8329993" cy="18518127"/>
          </a:xfrm>
        </p:grpSpPr>
        <p:grpSp>
          <p:nvGrpSpPr>
            <p:cNvPr name="Group 3" id="3"/>
            <p:cNvGrpSpPr>
              <a:grpSpLocks noChangeAspect="true"/>
            </p:cNvGrpSpPr>
            <p:nvPr/>
          </p:nvGrpSpPr>
          <p:grpSpPr>
            <a:xfrm rot="422501">
              <a:off x="1154275" y="6251172"/>
              <a:ext cx="6043693" cy="6038034"/>
              <a:chOff x="0" y="0"/>
              <a:chExt cx="3255264" cy="3252216"/>
            </a:xfrm>
          </p:grpSpPr>
          <p:sp>
            <p:nvSpPr>
              <p:cNvPr name="Freeform 4" id="4"/>
              <p:cNvSpPr/>
              <p:nvPr/>
            </p:nvSpPr>
            <p:spPr>
              <a:xfrm flipH="false" flipV="false" rot="0">
                <a:off x="0" y="0"/>
                <a:ext cx="3255264" cy="3252216"/>
              </a:xfrm>
              <a:custGeom>
                <a:avLst/>
                <a:gdLst/>
                <a:ahLst/>
                <a:cxnLst/>
                <a:rect r="r" b="b" t="t" l="l"/>
                <a:pathLst>
                  <a:path h="3252216" w="3255264">
                    <a:moveTo>
                      <a:pt x="3255264" y="3252216"/>
                    </a:moveTo>
                    <a:lnTo>
                      <a:pt x="0" y="3252216"/>
                    </a:lnTo>
                    <a:lnTo>
                      <a:pt x="0" y="0"/>
                    </a:lnTo>
                    <a:lnTo>
                      <a:pt x="3255264" y="0"/>
                    </a:lnTo>
                    <a:lnTo>
                      <a:pt x="3255264" y="3252216"/>
                    </a:lnTo>
                    <a:close/>
                  </a:path>
                </a:pathLst>
              </a:custGeom>
              <a:blipFill>
                <a:blip r:embed="rId2"/>
                <a:stretch>
                  <a:fillRect l="-15" t="0" r="-15" b="0"/>
                </a:stretch>
              </a:blipFill>
            </p:spPr>
          </p:sp>
          <p:sp>
            <p:nvSpPr>
              <p:cNvPr name="Freeform 5" id="5"/>
              <p:cNvSpPr/>
              <p:nvPr/>
            </p:nvSpPr>
            <p:spPr>
              <a:xfrm flipH="false" flipV="false" rot="0">
                <a:off x="178981" y="170596"/>
                <a:ext cx="2903337" cy="2874918"/>
              </a:xfrm>
              <a:custGeom>
                <a:avLst/>
                <a:gdLst/>
                <a:ahLst/>
                <a:cxnLst/>
                <a:rect r="r" b="b" t="t" l="l"/>
                <a:pathLst>
                  <a:path h="2874918" w="2903337">
                    <a:moveTo>
                      <a:pt x="65410" y="2"/>
                    </a:moveTo>
                    <a:lnTo>
                      <a:pt x="2878279" y="31831"/>
                    </a:lnTo>
                    <a:cubicBezTo>
                      <a:pt x="2892304" y="31989"/>
                      <a:pt x="2903534" y="43509"/>
                      <a:pt x="2903334" y="57535"/>
                    </a:cubicBezTo>
                    <a:lnTo>
                      <a:pt x="2863557" y="2849935"/>
                    </a:lnTo>
                    <a:cubicBezTo>
                      <a:pt x="2863356" y="2863986"/>
                      <a:pt x="2851762" y="2875193"/>
                      <a:pt x="2837712" y="2874913"/>
                    </a:cubicBezTo>
                    <a:lnTo>
                      <a:pt x="24844" y="2819214"/>
                    </a:lnTo>
                    <a:cubicBezTo>
                      <a:pt x="10903" y="2818938"/>
                      <a:pt x="-197" y="2807452"/>
                      <a:pt x="3" y="2793509"/>
                    </a:cubicBezTo>
                    <a:lnTo>
                      <a:pt x="39780" y="24980"/>
                    </a:lnTo>
                    <a:cubicBezTo>
                      <a:pt x="39982" y="11015"/>
                      <a:pt x="51444" y="-156"/>
                      <a:pt x="65410" y="2"/>
                    </a:cubicBezTo>
                    <a:close/>
                  </a:path>
                </a:pathLst>
              </a:custGeom>
              <a:blipFill>
                <a:blip r:embed="rId3"/>
                <a:stretch>
                  <a:fillRect l="-37841" t="0" r="-37841" b="0"/>
                </a:stretch>
              </a:blipFill>
            </p:spPr>
          </p:sp>
        </p:grpSp>
        <p:grpSp>
          <p:nvGrpSpPr>
            <p:cNvPr name="Group 6" id="6"/>
            <p:cNvGrpSpPr>
              <a:grpSpLocks noChangeAspect="true"/>
            </p:cNvGrpSpPr>
            <p:nvPr/>
          </p:nvGrpSpPr>
          <p:grpSpPr>
            <a:xfrm rot="422501">
              <a:off x="1938987" y="347681"/>
              <a:ext cx="6043693" cy="6038034"/>
              <a:chOff x="0" y="0"/>
              <a:chExt cx="3255264" cy="3252216"/>
            </a:xfrm>
          </p:grpSpPr>
          <p:sp>
            <p:nvSpPr>
              <p:cNvPr name="Freeform 7" id="7"/>
              <p:cNvSpPr/>
              <p:nvPr/>
            </p:nvSpPr>
            <p:spPr>
              <a:xfrm flipH="false" flipV="false" rot="0">
                <a:off x="0" y="0"/>
                <a:ext cx="3255264" cy="3252216"/>
              </a:xfrm>
              <a:custGeom>
                <a:avLst/>
                <a:gdLst/>
                <a:ahLst/>
                <a:cxnLst/>
                <a:rect r="r" b="b" t="t" l="l"/>
                <a:pathLst>
                  <a:path h="3252216" w="3255264">
                    <a:moveTo>
                      <a:pt x="3255264" y="3252216"/>
                    </a:moveTo>
                    <a:lnTo>
                      <a:pt x="0" y="3252216"/>
                    </a:lnTo>
                    <a:lnTo>
                      <a:pt x="0" y="0"/>
                    </a:lnTo>
                    <a:lnTo>
                      <a:pt x="3255264" y="0"/>
                    </a:lnTo>
                    <a:lnTo>
                      <a:pt x="3255264" y="3252216"/>
                    </a:lnTo>
                    <a:close/>
                  </a:path>
                </a:pathLst>
              </a:custGeom>
              <a:blipFill>
                <a:blip r:embed="rId2"/>
                <a:stretch>
                  <a:fillRect l="-15" t="0" r="-15" b="0"/>
                </a:stretch>
              </a:blipFill>
            </p:spPr>
          </p:sp>
          <p:sp>
            <p:nvSpPr>
              <p:cNvPr name="Freeform 8" id="8"/>
              <p:cNvSpPr/>
              <p:nvPr/>
            </p:nvSpPr>
            <p:spPr>
              <a:xfrm flipH="false" flipV="false" rot="0">
                <a:off x="178981" y="170596"/>
                <a:ext cx="2903337" cy="2874918"/>
              </a:xfrm>
              <a:custGeom>
                <a:avLst/>
                <a:gdLst/>
                <a:ahLst/>
                <a:cxnLst/>
                <a:rect r="r" b="b" t="t" l="l"/>
                <a:pathLst>
                  <a:path h="2874918" w="2903337">
                    <a:moveTo>
                      <a:pt x="65410" y="2"/>
                    </a:moveTo>
                    <a:lnTo>
                      <a:pt x="2878279" y="31831"/>
                    </a:lnTo>
                    <a:cubicBezTo>
                      <a:pt x="2892304" y="31989"/>
                      <a:pt x="2903534" y="43509"/>
                      <a:pt x="2903334" y="57535"/>
                    </a:cubicBezTo>
                    <a:lnTo>
                      <a:pt x="2863557" y="2849935"/>
                    </a:lnTo>
                    <a:cubicBezTo>
                      <a:pt x="2863356" y="2863986"/>
                      <a:pt x="2851762" y="2875193"/>
                      <a:pt x="2837712" y="2874913"/>
                    </a:cubicBezTo>
                    <a:lnTo>
                      <a:pt x="24844" y="2819214"/>
                    </a:lnTo>
                    <a:cubicBezTo>
                      <a:pt x="10903" y="2818938"/>
                      <a:pt x="-197" y="2807452"/>
                      <a:pt x="3" y="2793509"/>
                    </a:cubicBezTo>
                    <a:lnTo>
                      <a:pt x="39780" y="24980"/>
                    </a:lnTo>
                    <a:cubicBezTo>
                      <a:pt x="39982" y="11015"/>
                      <a:pt x="51444" y="-156"/>
                      <a:pt x="65410" y="2"/>
                    </a:cubicBezTo>
                    <a:close/>
                  </a:path>
                </a:pathLst>
              </a:custGeom>
              <a:blipFill>
                <a:blip r:embed="rId4"/>
                <a:stretch>
                  <a:fillRect l="0" t="-21426" r="0" b="-21426"/>
                </a:stretch>
              </a:blipFill>
            </p:spPr>
          </p:sp>
        </p:grpSp>
        <p:grpSp>
          <p:nvGrpSpPr>
            <p:cNvPr name="Group 9" id="9"/>
            <p:cNvGrpSpPr>
              <a:grpSpLocks noChangeAspect="true"/>
            </p:cNvGrpSpPr>
            <p:nvPr/>
          </p:nvGrpSpPr>
          <p:grpSpPr>
            <a:xfrm rot="422501">
              <a:off x="347313" y="12132412"/>
              <a:ext cx="6043693" cy="6038034"/>
              <a:chOff x="0" y="0"/>
              <a:chExt cx="3255264" cy="3252216"/>
            </a:xfrm>
          </p:grpSpPr>
          <p:sp>
            <p:nvSpPr>
              <p:cNvPr name="Freeform 10" id="10"/>
              <p:cNvSpPr/>
              <p:nvPr/>
            </p:nvSpPr>
            <p:spPr>
              <a:xfrm flipH="false" flipV="false" rot="0">
                <a:off x="0" y="0"/>
                <a:ext cx="3255264" cy="3252216"/>
              </a:xfrm>
              <a:custGeom>
                <a:avLst/>
                <a:gdLst/>
                <a:ahLst/>
                <a:cxnLst/>
                <a:rect r="r" b="b" t="t" l="l"/>
                <a:pathLst>
                  <a:path h="3252216" w="3255264">
                    <a:moveTo>
                      <a:pt x="3255264" y="3252216"/>
                    </a:moveTo>
                    <a:lnTo>
                      <a:pt x="0" y="3252216"/>
                    </a:lnTo>
                    <a:lnTo>
                      <a:pt x="0" y="0"/>
                    </a:lnTo>
                    <a:lnTo>
                      <a:pt x="3255264" y="0"/>
                    </a:lnTo>
                    <a:lnTo>
                      <a:pt x="3255264" y="3252216"/>
                    </a:lnTo>
                    <a:close/>
                  </a:path>
                </a:pathLst>
              </a:custGeom>
              <a:blipFill>
                <a:blip r:embed="rId2"/>
                <a:stretch>
                  <a:fillRect l="-15" t="0" r="-15" b="0"/>
                </a:stretch>
              </a:blipFill>
            </p:spPr>
          </p:sp>
          <p:sp>
            <p:nvSpPr>
              <p:cNvPr name="Freeform 11" id="11"/>
              <p:cNvSpPr/>
              <p:nvPr/>
            </p:nvSpPr>
            <p:spPr>
              <a:xfrm flipH="false" flipV="false" rot="0">
                <a:off x="178981" y="170596"/>
                <a:ext cx="2903337" cy="2874918"/>
              </a:xfrm>
              <a:custGeom>
                <a:avLst/>
                <a:gdLst/>
                <a:ahLst/>
                <a:cxnLst/>
                <a:rect r="r" b="b" t="t" l="l"/>
                <a:pathLst>
                  <a:path h="2874918" w="2903337">
                    <a:moveTo>
                      <a:pt x="65410" y="2"/>
                    </a:moveTo>
                    <a:lnTo>
                      <a:pt x="2878279" y="31831"/>
                    </a:lnTo>
                    <a:cubicBezTo>
                      <a:pt x="2892304" y="31989"/>
                      <a:pt x="2903534" y="43509"/>
                      <a:pt x="2903334" y="57535"/>
                    </a:cubicBezTo>
                    <a:lnTo>
                      <a:pt x="2863557" y="2849935"/>
                    </a:lnTo>
                    <a:cubicBezTo>
                      <a:pt x="2863356" y="2863986"/>
                      <a:pt x="2851762" y="2875193"/>
                      <a:pt x="2837712" y="2874913"/>
                    </a:cubicBezTo>
                    <a:lnTo>
                      <a:pt x="24844" y="2819214"/>
                    </a:lnTo>
                    <a:cubicBezTo>
                      <a:pt x="10903" y="2818938"/>
                      <a:pt x="-197" y="2807452"/>
                      <a:pt x="3" y="2793509"/>
                    </a:cubicBezTo>
                    <a:lnTo>
                      <a:pt x="39780" y="24980"/>
                    </a:lnTo>
                    <a:cubicBezTo>
                      <a:pt x="39982" y="11015"/>
                      <a:pt x="51444" y="-156"/>
                      <a:pt x="65410" y="2"/>
                    </a:cubicBezTo>
                    <a:close/>
                  </a:path>
                </a:pathLst>
              </a:custGeom>
              <a:blipFill>
                <a:blip r:embed="rId5"/>
                <a:stretch>
                  <a:fillRect l="0" t="-494" r="0" b="-494"/>
                </a:stretch>
              </a:blipFill>
            </p:spPr>
          </p:sp>
        </p:grpSp>
      </p:grpSp>
      <p:grpSp>
        <p:nvGrpSpPr>
          <p:cNvPr name="Group 12" id="12"/>
          <p:cNvGrpSpPr/>
          <p:nvPr/>
        </p:nvGrpSpPr>
        <p:grpSpPr>
          <a:xfrm rot="0">
            <a:off x="303714" y="315711"/>
            <a:ext cx="17680571" cy="1237205"/>
            <a:chOff x="0" y="0"/>
            <a:chExt cx="4656611" cy="325848"/>
          </a:xfrm>
        </p:grpSpPr>
        <p:sp>
          <p:nvSpPr>
            <p:cNvPr name="Freeform 13" id="1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14" id="1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688530" y="490255"/>
            <a:ext cx="1118439" cy="888116"/>
            <a:chOff x="0" y="0"/>
            <a:chExt cx="294568" cy="233907"/>
          </a:xfrm>
        </p:grpSpPr>
        <p:sp>
          <p:nvSpPr>
            <p:cNvPr name="Freeform 16" id="1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7" id="1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7235378" y="1744562"/>
            <a:ext cx="3817244" cy="3398938"/>
          </a:xfrm>
          <a:custGeom>
            <a:avLst/>
            <a:gdLst/>
            <a:ahLst/>
            <a:cxnLst/>
            <a:rect r="r" b="b" t="t" l="l"/>
            <a:pathLst>
              <a:path h="3398938" w="3817244">
                <a:moveTo>
                  <a:pt x="0" y="0"/>
                </a:moveTo>
                <a:lnTo>
                  <a:pt x="3817244" y="0"/>
                </a:lnTo>
                <a:lnTo>
                  <a:pt x="3817244" y="3398938"/>
                </a:lnTo>
                <a:lnTo>
                  <a:pt x="0" y="33989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2184150" y="1619590"/>
            <a:ext cx="2654545" cy="2733123"/>
          </a:xfrm>
          <a:custGeom>
            <a:avLst/>
            <a:gdLst/>
            <a:ahLst/>
            <a:cxnLst/>
            <a:rect r="r" b="b" t="t" l="l"/>
            <a:pathLst>
              <a:path h="2733123" w="2654545">
                <a:moveTo>
                  <a:pt x="0" y="0"/>
                </a:moveTo>
                <a:lnTo>
                  <a:pt x="2654545" y="0"/>
                </a:lnTo>
                <a:lnTo>
                  <a:pt x="2654545" y="2733123"/>
                </a:lnTo>
                <a:lnTo>
                  <a:pt x="0" y="27331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1" id="21"/>
          <p:cNvGrpSpPr/>
          <p:nvPr/>
        </p:nvGrpSpPr>
        <p:grpSpPr>
          <a:xfrm rot="0">
            <a:off x="802043" y="4284623"/>
            <a:ext cx="5192102" cy="8331267"/>
            <a:chOff x="0" y="0"/>
            <a:chExt cx="1367467" cy="2194243"/>
          </a:xfrm>
        </p:grpSpPr>
        <p:sp>
          <p:nvSpPr>
            <p:cNvPr name="Freeform 22" id="22"/>
            <p:cNvSpPr/>
            <p:nvPr/>
          </p:nvSpPr>
          <p:spPr>
            <a:xfrm flipH="false" flipV="false" rot="0">
              <a:off x="0" y="0"/>
              <a:ext cx="1367467" cy="2194243"/>
            </a:xfrm>
            <a:custGeom>
              <a:avLst/>
              <a:gdLst/>
              <a:ahLst/>
              <a:cxnLst/>
              <a:rect r="r" b="b" t="t" l="l"/>
              <a:pathLst>
                <a:path h="2194243" w="1367467">
                  <a:moveTo>
                    <a:pt x="134199" y="0"/>
                  </a:moveTo>
                  <a:lnTo>
                    <a:pt x="1233269" y="0"/>
                  </a:lnTo>
                  <a:cubicBezTo>
                    <a:pt x="1307385" y="0"/>
                    <a:pt x="1367467" y="60083"/>
                    <a:pt x="1367467" y="134199"/>
                  </a:cubicBezTo>
                  <a:lnTo>
                    <a:pt x="1367467" y="2060045"/>
                  </a:lnTo>
                  <a:cubicBezTo>
                    <a:pt x="1367467" y="2095636"/>
                    <a:pt x="1353329" y="2129770"/>
                    <a:pt x="1328161" y="2154937"/>
                  </a:cubicBezTo>
                  <a:cubicBezTo>
                    <a:pt x="1302994" y="2180105"/>
                    <a:pt x="1268860" y="2194243"/>
                    <a:pt x="1233269" y="2194243"/>
                  </a:cubicBezTo>
                  <a:lnTo>
                    <a:pt x="134199" y="2194243"/>
                  </a:lnTo>
                  <a:cubicBezTo>
                    <a:pt x="98607" y="2194243"/>
                    <a:pt x="64473" y="2180105"/>
                    <a:pt x="39306" y="2154937"/>
                  </a:cubicBezTo>
                  <a:cubicBezTo>
                    <a:pt x="14139" y="2129770"/>
                    <a:pt x="0" y="2095636"/>
                    <a:pt x="0" y="2060045"/>
                  </a:cubicBezTo>
                  <a:lnTo>
                    <a:pt x="0" y="134199"/>
                  </a:lnTo>
                  <a:cubicBezTo>
                    <a:pt x="0" y="98607"/>
                    <a:pt x="14139" y="64473"/>
                    <a:pt x="39306" y="39306"/>
                  </a:cubicBezTo>
                  <a:cubicBezTo>
                    <a:pt x="64473" y="14139"/>
                    <a:pt x="98607" y="0"/>
                    <a:pt x="134199" y="0"/>
                  </a:cubicBezTo>
                  <a:close/>
                </a:path>
              </a:pathLst>
            </a:custGeom>
            <a:solidFill>
              <a:srgbClr val="50212A"/>
            </a:solidFill>
            <a:ln cap="rnd">
              <a:noFill/>
              <a:prstDash val="solid"/>
              <a:round/>
            </a:ln>
          </p:spPr>
        </p:sp>
        <p:sp>
          <p:nvSpPr>
            <p:cNvPr name="TextBox 23" id="23"/>
            <p:cNvSpPr txBox="true"/>
            <p:nvPr/>
          </p:nvSpPr>
          <p:spPr>
            <a:xfrm>
              <a:off x="0" y="-57150"/>
              <a:ext cx="1367467" cy="2251393"/>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6630181" y="4284623"/>
            <a:ext cx="4965445" cy="8331267"/>
            <a:chOff x="0" y="0"/>
            <a:chExt cx="1307772" cy="2194243"/>
          </a:xfrm>
        </p:grpSpPr>
        <p:sp>
          <p:nvSpPr>
            <p:cNvPr name="Freeform 25" id="25"/>
            <p:cNvSpPr/>
            <p:nvPr/>
          </p:nvSpPr>
          <p:spPr>
            <a:xfrm flipH="false" flipV="false" rot="0">
              <a:off x="0" y="0"/>
              <a:ext cx="1307772" cy="2194243"/>
            </a:xfrm>
            <a:custGeom>
              <a:avLst/>
              <a:gdLst/>
              <a:ahLst/>
              <a:cxnLst/>
              <a:rect r="r" b="b" t="t" l="l"/>
              <a:pathLst>
                <a:path h="2194243" w="1307772">
                  <a:moveTo>
                    <a:pt x="140324" y="0"/>
                  </a:moveTo>
                  <a:lnTo>
                    <a:pt x="1167447" y="0"/>
                  </a:lnTo>
                  <a:cubicBezTo>
                    <a:pt x="1244946" y="0"/>
                    <a:pt x="1307772" y="62825"/>
                    <a:pt x="1307772" y="140324"/>
                  </a:cubicBezTo>
                  <a:lnTo>
                    <a:pt x="1307772" y="2053919"/>
                  </a:lnTo>
                  <a:cubicBezTo>
                    <a:pt x="1307772" y="2131418"/>
                    <a:pt x="1244946" y="2194243"/>
                    <a:pt x="1167447" y="2194243"/>
                  </a:cubicBezTo>
                  <a:lnTo>
                    <a:pt x="140324" y="2194243"/>
                  </a:lnTo>
                  <a:cubicBezTo>
                    <a:pt x="103108" y="2194243"/>
                    <a:pt x="67416" y="2179459"/>
                    <a:pt x="41100" y="2153143"/>
                  </a:cubicBezTo>
                  <a:cubicBezTo>
                    <a:pt x="14784" y="2126827"/>
                    <a:pt x="0" y="2091135"/>
                    <a:pt x="0" y="2053919"/>
                  </a:cubicBezTo>
                  <a:lnTo>
                    <a:pt x="0" y="140324"/>
                  </a:lnTo>
                  <a:cubicBezTo>
                    <a:pt x="0" y="62825"/>
                    <a:pt x="62825" y="0"/>
                    <a:pt x="140324" y="0"/>
                  </a:cubicBezTo>
                  <a:close/>
                </a:path>
              </a:pathLst>
            </a:custGeom>
            <a:solidFill>
              <a:srgbClr val="50212A"/>
            </a:solidFill>
            <a:ln cap="rnd">
              <a:noFill/>
              <a:prstDash val="solid"/>
              <a:round/>
            </a:ln>
          </p:spPr>
        </p:sp>
        <p:sp>
          <p:nvSpPr>
            <p:cNvPr name="TextBox 26" id="26"/>
            <p:cNvSpPr txBox="true"/>
            <p:nvPr/>
          </p:nvSpPr>
          <p:spPr>
            <a:xfrm>
              <a:off x="0" y="-57150"/>
              <a:ext cx="1307772" cy="2251393"/>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802043" y="5647150"/>
            <a:ext cx="5192102" cy="6696315"/>
            <a:chOff x="0" y="0"/>
            <a:chExt cx="1367467" cy="1763639"/>
          </a:xfrm>
        </p:grpSpPr>
        <p:sp>
          <p:nvSpPr>
            <p:cNvPr name="Freeform 28" id="28"/>
            <p:cNvSpPr/>
            <p:nvPr/>
          </p:nvSpPr>
          <p:spPr>
            <a:xfrm flipH="false" flipV="false" rot="0">
              <a:off x="0" y="0"/>
              <a:ext cx="1367467" cy="1763639"/>
            </a:xfrm>
            <a:custGeom>
              <a:avLst/>
              <a:gdLst/>
              <a:ahLst/>
              <a:cxnLst/>
              <a:rect r="r" b="b" t="t" l="l"/>
              <a:pathLst>
                <a:path h="1763639" w="1367467">
                  <a:moveTo>
                    <a:pt x="134199" y="0"/>
                  </a:moveTo>
                  <a:lnTo>
                    <a:pt x="1233269" y="0"/>
                  </a:lnTo>
                  <a:cubicBezTo>
                    <a:pt x="1307385" y="0"/>
                    <a:pt x="1367467" y="60083"/>
                    <a:pt x="1367467" y="134199"/>
                  </a:cubicBezTo>
                  <a:lnTo>
                    <a:pt x="1367467" y="1629440"/>
                  </a:lnTo>
                  <a:cubicBezTo>
                    <a:pt x="1367467" y="1665032"/>
                    <a:pt x="1353329" y="1699166"/>
                    <a:pt x="1328161" y="1724333"/>
                  </a:cubicBezTo>
                  <a:cubicBezTo>
                    <a:pt x="1302994" y="1749500"/>
                    <a:pt x="1268860" y="1763639"/>
                    <a:pt x="1233269" y="1763639"/>
                  </a:cubicBezTo>
                  <a:lnTo>
                    <a:pt x="134199" y="1763639"/>
                  </a:lnTo>
                  <a:cubicBezTo>
                    <a:pt x="98607" y="1763639"/>
                    <a:pt x="64473" y="1749500"/>
                    <a:pt x="39306" y="1724333"/>
                  </a:cubicBezTo>
                  <a:cubicBezTo>
                    <a:pt x="14139" y="1699166"/>
                    <a:pt x="0" y="1665032"/>
                    <a:pt x="0" y="1629440"/>
                  </a:cubicBezTo>
                  <a:lnTo>
                    <a:pt x="0" y="134199"/>
                  </a:lnTo>
                  <a:cubicBezTo>
                    <a:pt x="0" y="98607"/>
                    <a:pt x="14139" y="64473"/>
                    <a:pt x="39306" y="39306"/>
                  </a:cubicBezTo>
                  <a:cubicBezTo>
                    <a:pt x="64473" y="14139"/>
                    <a:pt x="98607" y="0"/>
                    <a:pt x="134199" y="0"/>
                  </a:cubicBezTo>
                  <a:close/>
                </a:path>
              </a:pathLst>
            </a:custGeom>
            <a:solidFill>
              <a:srgbClr val="FFFFFF"/>
            </a:solidFill>
            <a:ln cap="rnd">
              <a:noFill/>
              <a:prstDash val="solid"/>
              <a:round/>
            </a:ln>
          </p:spPr>
        </p:sp>
        <p:sp>
          <p:nvSpPr>
            <p:cNvPr name="TextBox 29" id="29"/>
            <p:cNvSpPr txBox="true"/>
            <p:nvPr/>
          </p:nvSpPr>
          <p:spPr>
            <a:xfrm>
              <a:off x="0" y="-57150"/>
              <a:ext cx="1367467" cy="1820789"/>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6630181" y="5647150"/>
            <a:ext cx="4965445" cy="6696315"/>
            <a:chOff x="0" y="0"/>
            <a:chExt cx="1307772" cy="1763639"/>
          </a:xfrm>
        </p:grpSpPr>
        <p:sp>
          <p:nvSpPr>
            <p:cNvPr name="Freeform 31" id="31"/>
            <p:cNvSpPr/>
            <p:nvPr/>
          </p:nvSpPr>
          <p:spPr>
            <a:xfrm flipH="false" flipV="false" rot="0">
              <a:off x="0" y="0"/>
              <a:ext cx="1307772" cy="1763639"/>
            </a:xfrm>
            <a:custGeom>
              <a:avLst/>
              <a:gdLst/>
              <a:ahLst/>
              <a:cxnLst/>
              <a:rect r="r" b="b" t="t" l="l"/>
              <a:pathLst>
                <a:path h="1763639" w="1307772">
                  <a:moveTo>
                    <a:pt x="140324" y="0"/>
                  </a:moveTo>
                  <a:lnTo>
                    <a:pt x="1167447" y="0"/>
                  </a:lnTo>
                  <a:cubicBezTo>
                    <a:pt x="1244946" y="0"/>
                    <a:pt x="1307772" y="62825"/>
                    <a:pt x="1307772" y="140324"/>
                  </a:cubicBezTo>
                  <a:lnTo>
                    <a:pt x="1307772" y="1623314"/>
                  </a:lnTo>
                  <a:cubicBezTo>
                    <a:pt x="1307772" y="1660531"/>
                    <a:pt x="1292988" y="1696223"/>
                    <a:pt x="1266672" y="1722539"/>
                  </a:cubicBezTo>
                  <a:cubicBezTo>
                    <a:pt x="1240356" y="1748854"/>
                    <a:pt x="1204664" y="1763639"/>
                    <a:pt x="1167447" y="1763639"/>
                  </a:cubicBezTo>
                  <a:lnTo>
                    <a:pt x="140324" y="1763639"/>
                  </a:lnTo>
                  <a:cubicBezTo>
                    <a:pt x="103108" y="1763639"/>
                    <a:pt x="67416" y="1748854"/>
                    <a:pt x="41100" y="1722539"/>
                  </a:cubicBezTo>
                  <a:cubicBezTo>
                    <a:pt x="14784" y="1696223"/>
                    <a:pt x="0" y="1660531"/>
                    <a:pt x="0" y="1623314"/>
                  </a:cubicBezTo>
                  <a:lnTo>
                    <a:pt x="0" y="140324"/>
                  </a:lnTo>
                  <a:cubicBezTo>
                    <a:pt x="0" y="62825"/>
                    <a:pt x="62825" y="0"/>
                    <a:pt x="140324" y="0"/>
                  </a:cubicBezTo>
                  <a:close/>
                </a:path>
              </a:pathLst>
            </a:custGeom>
            <a:solidFill>
              <a:srgbClr val="FFFFFF"/>
            </a:solidFill>
            <a:ln cap="rnd">
              <a:noFill/>
              <a:prstDash val="solid"/>
              <a:round/>
            </a:ln>
          </p:spPr>
        </p:sp>
        <p:sp>
          <p:nvSpPr>
            <p:cNvPr name="TextBox 32" id="32"/>
            <p:cNvSpPr txBox="true"/>
            <p:nvPr/>
          </p:nvSpPr>
          <p:spPr>
            <a:xfrm>
              <a:off x="0" y="-57150"/>
              <a:ext cx="1307772" cy="1820789"/>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480736" y="490255"/>
            <a:ext cx="12520772" cy="888116"/>
            <a:chOff x="0" y="0"/>
            <a:chExt cx="16694363" cy="1184154"/>
          </a:xfrm>
        </p:grpSpPr>
        <p:grpSp>
          <p:nvGrpSpPr>
            <p:cNvPr name="Group 34" id="34"/>
            <p:cNvGrpSpPr/>
            <p:nvPr/>
          </p:nvGrpSpPr>
          <p:grpSpPr>
            <a:xfrm rot="0">
              <a:off x="0" y="0"/>
              <a:ext cx="15515222" cy="1184154"/>
              <a:chOff x="0" y="0"/>
              <a:chExt cx="3064735" cy="233907"/>
            </a:xfrm>
          </p:grpSpPr>
          <p:sp>
            <p:nvSpPr>
              <p:cNvPr name="Freeform 35" id="35"/>
              <p:cNvSpPr/>
              <p:nvPr/>
            </p:nvSpPr>
            <p:spPr>
              <a:xfrm flipH="false" flipV="false" rot="0">
                <a:off x="0" y="0"/>
                <a:ext cx="3064735" cy="233907"/>
              </a:xfrm>
              <a:custGeom>
                <a:avLst/>
                <a:gdLst/>
                <a:ahLst/>
                <a:cxnLst/>
                <a:rect r="r" b="b" t="t" l="l"/>
                <a:pathLst>
                  <a:path h="233907" w="3064735">
                    <a:moveTo>
                      <a:pt x="66532" y="0"/>
                    </a:moveTo>
                    <a:lnTo>
                      <a:pt x="2998203" y="0"/>
                    </a:lnTo>
                    <a:cubicBezTo>
                      <a:pt x="3034948" y="0"/>
                      <a:pt x="3064735" y="29787"/>
                      <a:pt x="3064735" y="66532"/>
                    </a:cubicBezTo>
                    <a:lnTo>
                      <a:pt x="3064735" y="167375"/>
                    </a:lnTo>
                    <a:cubicBezTo>
                      <a:pt x="3064735" y="204120"/>
                      <a:pt x="3034948" y="233907"/>
                      <a:pt x="2998203" y="233907"/>
                    </a:cubicBezTo>
                    <a:lnTo>
                      <a:pt x="66532" y="233907"/>
                    </a:lnTo>
                    <a:cubicBezTo>
                      <a:pt x="29787" y="233907"/>
                      <a:pt x="0" y="204120"/>
                      <a:pt x="0" y="167375"/>
                    </a:cubicBezTo>
                    <a:lnTo>
                      <a:pt x="0" y="66532"/>
                    </a:lnTo>
                    <a:cubicBezTo>
                      <a:pt x="0" y="29787"/>
                      <a:pt x="29787" y="0"/>
                      <a:pt x="66532" y="0"/>
                    </a:cubicBezTo>
                    <a:close/>
                  </a:path>
                </a:pathLst>
              </a:custGeom>
              <a:solidFill>
                <a:srgbClr val="FFFFFF"/>
              </a:solidFill>
              <a:ln cap="rnd">
                <a:noFill/>
                <a:prstDash val="solid"/>
                <a:round/>
              </a:ln>
            </p:spPr>
          </p:sp>
          <p:sp>
            <p:nvSpPr>
              <p:cNvPr name="TextBox 36" id="36"/>
              <p:cNvSpPr txBox="true"/>
              <p:nvPr/>
            </p:nvSpPr>
            <p:spPr>
              <a:xfrm>
                <a:off x="0" y="-57150"/>
                <a:ext cx="3064735" cy="291057"/>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435416" y="141884"/>
              <a:ext cx="1625894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2. Triển khai hoạt động trên nền tảng Facebook</a:t>
              </a:r>
            </a:p>
          </p:txBody>
        </p:sp>
      </p:grpSp>
      <p:sp>
        <p:nvSpPr>
          <p:cNvPr name="TextBox 38" id="38"/>
          <p:cNvSpPr txBox="true"/>
          <p:nvPr/>
        </p:nvSpPr>
        <p:spPr>
          <a:xfrm rot="0">
            <a:off x="1073631" y="4647988"/>
            <a:ext cx="4558717" cy="556829"/>
          </a:xfrm>
          <a:prstGeom prst="rect">
            <a:avLst/>
          </a:prstGeom>
        </p:spPr>
        <p:txBody>
          <a:bodyPr anchor="t" rtlCol="false" tIns="0" lIns="0" bIns="0" rIns="0">
            <a:spAutoFit/>
          </a:bodyPr>
          <a:lstStyle/>
          <a:p>
            <a:pPr algn="ctr" marL="0" indent="0" lvl="0">
              <a:lnSpc>
                <a:spcPts val="4480"/>
              </a:lnSpc>
              <a:spcBef>
                <a:spcPct val="0"/>
              </a:spcBef>
            </a:pPr>
            <a:r>
              <a:rPr lang="en-US" b="true" sz="3200">
                <a:solidFill>
                  <a:srgbClr val="FDF6F2"/>
                </a:solidFill>
                <a:latin typeface="Work Sans Bold"/>
                <a:ea typeface="Work Sans Bold"/>
                <a:cs typeface="Work Sans Bold"/>
                <a:sym typeface="Work Sans Bold"/>
              </a:rPr>
              <a:t>Mục tiêu</a:t>
            </a:r>
          </a:p>
        </p:txBody>
      </p:sp>
      <p:sp>
        <p:nvSpPr>
          <p:cNvPr name="TextBox 39" id="39"/>
          <p:cNvSpPr txBox="true"/>
          <p:nvPr/>
        </p:nvSpPr>
        <p:spPr>
          <a:xfrm rot="0">
            <a:off x="1207461" y="5835808"/>
            <a:ext cx="4587110" cy="4451192"/>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50212A"/>
                </a:solidFill>
                <a:latin typeface="Work Sans"/>
                <a:ea typeface="Work Sans"/>
                <a:cs typeface="Work Sans"/>
                <a:sym typeface="Work Sans"/>
              </a:rPr>
              <a:t>Fac</a:t>
            </a:r>
            <a:r>
              <a:rPr lang="en-US" sz="2099" strike="noStrike" u="none">
                <a:solidFill>
                  <a:srgbClr val="50212A"/>
                </a:solidFill>
                <a:latin typeface="Work Sans"/>
                <a:ea typeface="Work Sans"/>
                <a:cs typeface="Work Sans"/>
                <a:sym typeface="Work Sans"/>
              </a:rPr>
              <a:t>e</a:t>
            </a:r>
            <a:r>
              <a:rPr lang="en-US" sz="2099" strike="noStrike" u="none">
                <a:solidFill>
                  <a:srgbClr val="50212A"/>
                </a:solidFill>
                <a:latin typeface="Work Sans"/>
                <a:ea typeface="Work Sans"/>
                <a:cs typeface="Work Sans"/>
                <a:sym typeface="Work Sans"/>
              </a:rPr>
              <a:t>book</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là</a:t>
            </a:r>
            <a:r>
              <a:rPr lang="en-US" sz="2099" strike="noStrike" u="none">
                <a:solidFill>
                  <a:srgbClr val="50212A"/>
                </a:solidFill>
                <a:latin typeface="Work Sans"/>
                <a:ea typeface="Work Sans"/>
                <a:cs typeface="Work Sans"/>
                <a:sym typeface="Work Sans"/>
              </a:rPr>
              <a:t> kênh tr</a:t>
            </a:r>
            <a:r>
              <a:rPr lang="en-US" sz="2099" strike="noStrike" u="none">
                <a:solidFill>
                  <a:srgbClr val="50212A"/>
                </a:solidFill>
                <a:latin typeface="Work Sans"/>
                <a:ea typeface="Work Sans"/>
                <a:cs typeface="Work Sans"/>
                <a:sym typeface="Work Sans"/>
              </a:rPr>
              <a:t>uyền</a:t>
            </a:r>
            <a:r>
              <a:rPr lang="en-US" sz="2099" strike="noStrike" u="none">
                <a:solidFill>
                  <a:srgbClr val="50212A"/>
                </a:solidFill>
                <a:latin typeface="Work Sans"/>
                <a:ea typeface="Work Sans"/>
                <a:cs typeface="Work Sans"/>
                <a:sym typeface="Work Sans"/>
              </a:rPr>
              <a:t> t</a:t>
            </a:r>
            <a:r>
              <a:rPr lang="en-US" sz="2099" strike="noStrike" u="none">
                <a:solidFill>
                  <a:srgbClr val="50212A"/>
                </a:solidFill>
                <a:latin typeface="Work Sans"/>
                <a:ea typeface="Work Sans"/>
                <a:cs typeface="Work Sans"/>
                <a:sym typeface="Work Sans"/>
              </a:rPr>
              <a:t>hông</a:t>
            </a:r>
            <a:r>
              <a:rPr lang="en-US" sz="2099" strike="noStrike" u="none">
                <a:solidFill>
                  <a:srgbClr val="50212A"/>
                </a:solidFill>
                <a:latin typeface="Work Sans"/>
                <a:ea typeface="Work Sans"/>
                <a:cs typeface="Work Sans"/>
                <a:sym typeface="Work Sans"/>
              </a:rPr>
              <a:t> chính, tập trung c</a:t>
            </a:r>
            <a:r>
              <a:rPr lang="en-US" sz="2099" strike="noStrike" u="none">
                <a:solidFill>
                  <a:srgbClr val="50212A"/>
                </a:solidFill>
                <a:latin typeface="Work Sans"/>
                <a:ea typeface="Work Sans"/>
                <a:cs typeface="Work Sans"/>
                <a:sym typeface="Work Sans"/>
              </a:rPr>
              <a:t>u</a:t>
            </a:r>
            <a:r>
              <a:rPr lang="en-US" sz="2099" strike="noStrike" u="none">
                <a:solidFill>
                  <a:srgbClr val="50212A"/>
                </a:solidFill>
                <a:latin typeface="Work Sans"/>
                <a:ea typeface="Work Sans"/>
                <a:cs typeface="Work Sans"/>
                <a:sym typeface="Work Sans"/>
              </a:rPr>
              <a:t>ng c</a:t>
            </a:r>
            <a:r>
              <a:rPr lang="en-US" sz="2099" strike="noStrike" u="none">
                <a:solidFill>
                  <a:srgbClr val="50212A"/>
                </a:solidFill>
                <a:latin typeface="Work Sans"/>
                <a:ea typeface="Work Sans"/>
                <a:cs typeface="Work Sans"/>
                <a:sym typeface="Work Sans"/>
              </a:rPr>
              <a:t>ấp </a:t>
            </a:r>
            <a:r>
              <a:rPr lang="en-US" sz="2099" strike="noStrike" u="none">
                <a:solidFill>
                  <a:srgbClr val="50212A"/>
                </a:solidFill>
                <a:latin typeface="Work Sans"/>
                <a:ea typeface="Work Sans"/>
                <a:cs typeface="Work Sans"/>
                <a:sym typeface="Work Sans"/>
              </a:rPr>
              <a:t>t</a:t>
            </a:r>
            <a:r>
              <a:rPr lang="en-US" sz="2099" strike="noStrike" u="none">
                <a:solidFill>
                  <a:srgbClr val="50212A"/>
                </a:solidFill>
                <a:latin typeface="Work Sans"/>
                <a:ea typeface="Work Sans"/>
                <a:cs typeface="Work Sans"/>
                <a:sym typeface="Work Sans"/>
              </a:rPr>
              <a:t>hông </a:t>
            </a:r>
            <a:r>
              <a:rPr lang="en-US" sz="2099" strike="noStrike" u="none">
                <a:solidFill>
                  <a:srgbClr val="50212A"/>
                </a:solidFill>
                <a:latin typeface="Work Sans"/>
                <a:ea typeface="Work Sans"/>
                <a:cs typeface="Work Sans"/>
                <a:sym typeface="Work Sans"/>
              </a:rPr>
              <a:t>t</a:t>
            </a:r>
            <a:r>
              <a:rPr lang="en-US" sz="2099" strike="noStrike" u="none">
                <a:solidFill>
                  <a:srgbClr val="50212A"/>
                </a:solidFill>
                <a:latin typeface="Work Sans"/>
                <a:ea typeface="Work Sans"/>
                <a:cs typeface="Work Sans"/>
                <a:sym typeface="Work Sans"/>
              </a:rPr>
              <a:t>in và th</a:t>
            </a:r>
            <a:r>
              <a:rPr lang="en-US" sz="2099" strike="noStrike" u="none">
                <a:solidFill>
                  <a:srgbClr val="50212A"/>
                </a:solidFill>
                <a:latin typeface="Work Sans"/>
                <a:ea typeface="Work Sans"/>
                <a:cs typeface="Work Sans"/>
                <a:sym typeface="Work Sans"/>
              </a:rPr>
              <a:t>u</a:t>
            </a:r>
            <a:r>
              <a:rPr lang="en-US" sz="2099" strike="noStrike" u="none">
                <a:solidFill>
                  <a:srgbClr val="50212A"/>
                </a:solidFill>
                <a:latin typeface="Work Sans"/>
                <a:ea typeface="Work Sans"/>
                <a:cs typeface="Work Sans"/>
                <a:sym typeface="Work Sans"/>
              </a:rPr>
              <a:t> hút công</a:t>
            </a:r>
            <a:r>
              <a:rPr lang="en-US" sz="2099" strike="noStrike" u="none">
                <a:solidFill>
                  <a:srgbClr val="50212A"/>
                </a:solidFill>
                <a:latin typeface="Work Sans"/>
                <a:ea typeface="Work Sans"/>
                <a:cs typeface="Work Sans"/>
                <a:sym typeface="Work Sans"/>
              </a:rPr>
              <a:t> c</a:t>
            </a:r>
            <a:r>
              <a:rPr lang="en-US" sz="2099" strike="noStrike" u="none">
                <a:solidFill>
                  <a:srgbClr val="50212A"/>
                </a:solidFill>
                <a:latin typeface="Work Sans"/>
                <a:ea typeface="Work Sans"/>
                <a:cs typeface="Work Sans"/>
                <a:sym typeface="Work Sans"/>
              </a:rPr>
              <a:t>hú</a:t>
            </a:r>
            <a:r>
              <a:rPr lang="en-US" sz="2099" strike="noStrike" u="none">
                <a:solidFill>
                  <a:srgbClr val="50212A"/>
                </a:solidFill>
                <a:latin typeface="Work Sans"/>
                <a:ea typeface="Work Sans"/>
                <a:cs typeface="Work Sans"/>
                <a:sym typeface="Work Sans"/>
              </a:rPr>
              <a:t>ng:</a:t>
            </a:r>
          </a:p>
          <a:p>
            <a:pPr algn="l" marL="453387" indent="-226693" lvl="1">
              <a:lnSpc>
                <a:spcPts val="2939"/>
              </a:lnSpc>
              <a:spcBef>
                <a:spcPct val="0"/>
              </a:spcBef>
              <a:buFont typeface="Arial"/>
              <a:buChar char="•"/>
            </a:pPr>
            <a:r>
              <a:rPr lang="en-US" sz="2099" strike="noStrike" u="none">
                <a:solidFill>
                  <a:srgbClr val="50212A"/>
                </a:solidFill>
                <a:latin typeface="Work Sans"/>
                <a:ea typeface="Work Sans"/>
                <a:cs typeface="Work Sans"/>
                <a:sym typeface="Work Sans"/>
              </a:rPr>
              <a:t>Tăng nhận</a:t>
            </a:r>
            <a:r>
              <a:rPr lang="en-US" sz="2099" strike="noStrike" u="none">
                <a:solidFill>
                  <a:srgbClr val="50212A"/>
                </a:solidFill>
                <a:latin typeface="Work Sans"/>
                <a:ea typeface="Work Sans"/>
                <a:cs typeface="Work Sans"/>
                <a:sym typeface="Work Sans"/>
              </a:rPr>
              <a:t> diện t</a:t>
            </a:r>
            <a:r>
              <a:rPr lang="en-US" sz="2099" strike="noStrike" u="none">
                <a:solidFill>
                  <a:srgbClr val="50212A"/>
                </a:solidFill>
                <a:latin typeface="Work Sans"/>
                <a:ea typeface="Work Sans"/>
                <a:cs typeface="Work Sans"/>
                <a:sym typeface="Work Sans"/>
              </a:rPr>
              <a:t>hương</a:t>
            </a:r>
            <a:r>
              <a:rPr lang="en-US" sz="2099" strike="noStrike" u="none">
                <a:solidFill>
                  <a:srgbClr val="50212A"/>
                </a:solidFill>
                <a:latin typeface="Work Sans"/>
                <a:ea typeface="Work Sans"/>
                <a:cs typeface="Work Sans"/>
                <a:sym typeface="Work Sans"/>
              </a:rPr>
              <a:t> hiệu</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cho sự kiện Ope</a:t>
            </a:r>
            <a:r>
              <a:rPr lang="en-US" sz="2099" strike="noStrike" u="none">
                <a:solidFill>
                  <a:srgbClr val="50212A"/>
                </a:solidFill>
                <a:latin typeface="Work Sans"/>
                <a:ea typeface="Work Sans"/>
                <a:cs typeface="Work Sans"/>
                <a:sym typeface="Work Sans"/>
              </a:rPr>
              <a:t>nDay ngành Công</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nghệ</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Giáo</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dụ</a:t>
            </a:r>
            <a:r>
              <a:rPr lang="en-US" sz="2099" strike="noStrike" u="none">
                <a:solidFill>
                  <a:srgbClr val="50212A"/>
                </a:solidFill>
                <a:latin typeface="Work Sans"/>
                <a:ea typeface="Work Sans"/>
                <a:cs typeface="Work Sans"/>
                <a:sym typeface="Work Sans"/>
              </a:rPr>
              <a:t>c t</a:t>
            </a:r>
            <a:r>
              <a:rPr lang="en-US" sz="2099" strike="noStrike" u="none">
                <a:solidFill>
                  <a:srgbClr val="50212A"/>
                </a:solidFill>
                <a:latin typeface="Work Sans"/>
                <a:ea typeface="Work Sans"/>
                <a:cs typeface="Work Sans"/>
                <a:sym typeface="Work Sans"/>
              </a:rPr>
              <a:t>rên</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mạ</a:t>
            </a:r>
            <a:r>
              <a:rPr lang="en-US" sz="2099" strike="noStrike" u="none">
                <a:solidFill>
                  <a:srgbClr val="50212A"/>
                </a:solidFill>
                <a:latin typeface="Work Sans"/>
                <a:ea typeface="Work Sans"/>
                <a:cs typeface="Work Sans"/>
                <a:sym typeface="Work Sans"/>
              </a:rPr>
              <a:t>ng </a:t>
            </a:r>
            <a:r>
              <a:rPr lang="en-US" sz="2099" strike="noStrike" u="none">
                <a:solidFill>
                  <a:srgbClr val="50212A"/>
                </a:solidFill>
                <a:latin typeface="Work Sans"/>
                <a:ea typeface="Work Sans"/>
                <a:cs typeface="Work Sans"/>
                <a:sym typeface="Work Sans"/>
              </a:rPr>
              <a:t>xã</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hội.</a:t>
            </a:r>
          </a:p>
          <a:p>
            <a:pPr algn="l" marL="453387" indent="-226693" lvl="1">
              <a:lnSpc>
                <a:spcPts val="2939"/>
              </a:lnSpc>
              <a:spcBef>
                <a:spcPct val="0"/>
              </a:spcBef>
              <a:buFont typeface="Arial"/>
              <a:buChar char="•"/>
            </a:pPr>
            <a:r>
              <a:rPr lang="en-US" sz="2099" strike="noStrike" u="none">
                <a:solidFill>
                  <a:srgbClr val="50212A"/>
                </a:solidFill>
                <a:latin typeface="Work Sans"/>
                <a:ea typeface="Work Sans"/>
                <a:cs typeface="Work Sans"/>
                <a:sym typeface="Work Sans"/>
              </a:rPr>
              <a:t>Tiế</a:t>
            </a:r>
            <a:r>
              <a:rPr lang="en-US" sz="2099" strike="noStrike" u="none">
                <a:solidFill>
                  <a:srgbClr val="50212A"/>
                </a:solidFill>
                <a:latin typeface="Work Sans"/>
                <a:ea typeface="Work Sans"/>
                <a:cs typeface="Work Sans"/>
                <a:sym typeface="Work Sans"/>
              </a:rPr>
              <a:t>p cận và t</a:t>
            </a:r>
            <a:r>
              <a:rPr lang="en-US" sz="2099" strike="noStrike" u="none">
                <a:solidFill>
                  <a:srgbClr val="50212A"/>
                </a:solidFill>
                <a:latin typeface="Work Sans"/>
                <a:ea typeface="Work Sans"/>
                <a:cs typeface="Work Sans"/>
                <a:sym typeface="Work Sans"/>
              </a:rPr>
              <a:t>ương</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tá</a:t>
            </a:r>
            <a:r>
              <a:rPr lang="en-US" sz="2099" strike="noStrike" u="none">
                <a:solidFill>
                  <a:srgbClr val="50212A"/>
                </a:solidFill>
                <a:latin typeface="Work Sans"/>
                <a:ea typeface="Work Sans"/>
                <a:cs typeface="Work Sans"/>
                <a:sym typeface="Work Sans"/>
              </a:rPr>
              <a:t>c với</a:t>
            </a:r>
            <a:r>
              <a:rPr lang="en-US" sz="2099" strike="noStrike" u="none">
                <a:solidFill>
                  <a:srgbClr val="50212A"/>
                </a:solidFill>
                <a:latin typeface="Work Sans"/>
                <a:ea typeface="Work Sans"/>
                <a:cs typeface="Work Sans"/>
                <a:sym typeface="Work Sans"/>
              </a:rPr>
              <a:t> học</a:t>
            </a:r>
            <a:r>
              <a:rPr lang="en-US" sz="2099" strike="noStrike" u="none">
                <a:solidFill>
                  <a:srgbClr val="50212A"/>
                </a:solidFill>
                <a:latin typeface="Work Sans"/>
                <a:ea typeface="Work Sans"/>
                <a:cs typeface="Work Sans"/>
                <a:sym typeface="Work Sans"/>
              </a:rPr>
              <a:t> si</a:t>
            </a:r>
            <a:r>
              <a:rPr lang="en-US" sz="2099" strike="noStrike" u="none">
                <a:solidFill>
                  <a:srgbClr val="50212A"/>
                </a:solidFill>
                <a:latin typeface="Work Sans"/>
                <a:ea typeface="Work Sans"/>
                <a:cs typeface="Work Sans"/>
                <a:sym typeface="Work Sans"/>
              </a:rPr>
              <a:t>nh</a:t>
            </a:r>
            <a:r>
              <a:rPr lang="en-US" sz="2099" strike="noStrike" u="none">
                <a:solidFill>
                  <a:srgbClr val="50212A"/>
                </a:solidFill>
                <a:latin typeface="Work Sans"/>
                <a:ea typeface="Work Sans"/>
                <a:cs typeface="Work Sans"/>
                <a:sym typeface="Work Sans"/>
              </a:rPr>
              <a:t> THPT, phụ hu</a:t>
            </a:r>
            <a:r>
              <a:rPr lang="en-US" sz="2099" strike="noStrike" u="none">
                <a:solidFill>
                  <a:srgbClr val="50212A"/>
                </a:solidFill>
                <a:latin typeface="Work Sans"/>
                <a:ea typeface="Work Sans"/>
                <a:cs typeface="Work Sans"/>
                <a:sym typeface="Work Sans"/>
              </a:rPr>
              <a:t>ynh; </a:t>
            </a:r>
            <a:r>
              <a:rPr lang="en-US" sz="2099" strike="noStrike" u="none">
                <a:solidFill>
                  <a:srgbClr val="50212A"/>
                </a:solidFill>
                <a:latin typeface="Work Sans"/>
                <a:ea typeface="Work Sans"/>
                <a:cs typeface="Work Sans"/>
                <a:sym typeface="Work Sans"/>
              </a:rPr>
              <a:t>t</a:t>
            </a:r>
            <a:r>
              <a:rPr lang="en-US" sz="2099" strike="noStrike" u="none">
                <a:solidFill>
                  <a:srgbClr val="50212A"/>
                </a:solidFill>
                <a:latin typeface="Work Sans"/>
                <a:ea typeface="Work Sans"/>
                <a:cs typeface="Work Sans"/>
                <a:sym typeface="Work Sans"/>
              </a:rPr>
              <a:t>hú</a:t>
            </a:r>
            <a:r>
              <a:rPr lang="en-US" sz="2099" strike="noStrike" u="none">
                <a:solidFill>
                  <a:srgbClr val="50212A"/>
                </a:solidFill>
                <a:latin typeface="Work Sans"/>
                <a:ea typeface="Work Sans"/>
                <a:cs typeface="Work Sans"/>
                <a:sym typeface="Work Sans"/>
              </a:rPr>
              <a:t>c</a:t>
            </a:r>
            <a:r>
              <a:rPr lang="en-US" sz="2099" strike="noStrike" u="none">
                <a:solidFill>
                  <a:srgbClr val="50212A"/>
                </a:solidFill>
                <a:latin typeface="Work Sans"/>
                <a:ea typeface="Work Sans"/>
                <a:cs typeface="Work Sans"/>
                <a:sym typeface="Work Sans"/>
              </a:rPr>
              <a:t> đẩy đăng ký</a:t>
            </a:r>
            <a:r>
              <a:rPr lang="en-US" sz="2099" strike="noStrike" u="none">
                <a:solidFill>
                  <a:srgbClr val="50212A"/>
                </a:solidFill>
                <a:latin typeface="Work Sans"/>
                <a:ea typeface="Work Sans"/>
                <a:cs typeface="Work Sans"/>
                <a:sym typeface="Work Sans"/>
              </a:rPr>
              <a:t> tha</a:t>
            </a:r>
            <a:r>
              <a:rPr lang="en-US" sz="2099" strike="noStrike" u="none">
                <a:solidFill>
                  <a:srgbClr val="50212A"/>
                </a:solidFill>
                <a:latin typeface="Work Sans"/>
                <a:ea typeface="Work Sans"/>
                <a:cs typeface="Work Sans"/>
                <a:sym typeface="Work Sans"/>
              </a:rPr>
              <a:t>m</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g</a:t>
            </a:r>
            <a:r>
              <a:rPr lang="en-US" sz="2099" strike="noStrike" u="none">
                <a:solidFill>
                  <a:srgbClr val="50212A"/>
                </a:solidFill>
                <a:latin typeface="Work Sans"/>
                <a:ea typeface="Work Sans"/>
                <a:cs typeface="Work Sans"/>
                <a:sym typeface="Work Sans"/>
              </a:rPr>
              <a:t>ia s</a:t>
            </a:r>
            <a:r>
              <a:rPr lang="en-US" sz="2099" strike="noStrike" u="none">
                <a:solidFill>
                  <a:srgbClr val="50212A"/>
                </a:solidFill>
                <a:latin typeface="Work Sans"/>
                <a:ea typeface="Work Sans"/>
                <a:cs typeface="Work Sans"/>
                <a:sym typeface="Work Sans"/>
              </a:rPr>
              <a:t>ự</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kiện ngày 19/07/2026</a:t>
            </a:r>
            <a:r>
              <a:rPr lang="en-US" sz="2099" strike="noStrike" u="none">
                <a:solidFill>
                  <a:srgbClr val="50212A"/>
                </a:solidFill>
                <a:latin typeface="Work Sans"/>
                <a:ea typeface="Work Sans"/>
                <a:cs typeface="Work Sans"/>
                <a:sym typeface="Work Sans"/>
              </a:rPr>
              <a:t>.</a:t>
            </a:r>
          </a:p>
          <a:p>
            <a:pPr algn="l" marL="0" indent="0" lvl="0">
              <a:lnSpc>
                <a:spcPts val="2939"/>
              </a:lnSpc>
              <a:spcBef>
                <a:spcPct val="0"/>
              </a:spcBef>
            </a:pPr>
          </a:p>
        </p:txBody>
      </p:sp>
      <p:sp>
        <p:nvSpPr>
          <p:cNvPr name="TextBox 40" id="40"/>
          <p:cNvSpPr txBox="true"/>
          <p:nvPr/>
        </p:nvSpPr>
        <p:spPr>
          <a:xfrm rot="0">
            <a:off x="6975160" y="5835808"/>
            <a:ext cx="4337680" cy="3708374"/>
          </a:xfrm>
          <a:prstGeom prst="rect">
            <a:avLst/>
          </a:prstGeom>
        </p:spPr>
        <p:txBody>
          <a:bodyPr anchor="t" rtlCol="false" tIns="0" lIns="0" bIns="0" rIns="0">
            <a:spAutoFit/>
          </a:bodyPr>
          <a:lstStyle/>
          <a:p>
            <a:pPr algn="l" marL="453387" indent="-226693" lvl="1">
              <a:lnSpc>
                <a:spcPts val="2939"/>
              </a:lnSpc>
              <a:buFont typeface="Arial"/>
              <a:buChar char="•"/>
            </a:pPr>
            <a:r>
              <a:rPr lang="en-US" sz="2099">
                <a:solidFill>
                  <a:srgbClr val="50212A"/>
                </a:solidFill>
                <a:latin typeface="Work Sans"/>
                <a:ea typeface="Work Sans"/>
                <a:cs typeface="Work Sans"/>
                <a:sym typeface="Work Sans"/>
              </a:rPr>
              <a:t>Xây </a:t>
            </a:r>
            <a:r>
              <a:rPr lang="en-US" sz="2099" strike="noStrike" u="none">
                <a:solidFill>
                  <a:srgbClr val="50212A"/>
                </a:solidFill>
                <a:latin typeface="Work Sans"/>
                <a:ea typeface="Work Sans"/>
                <a:cs typeface="Work Sans"/>
                <a:sym typeface="Work Sans"/>
              </a:rPr>
              <a:t>d</a:t>
            </a:r>
            <a:r>
              <a:rPr lang="en-US" sz="2099" strike="noStrike" u="none">
                <a:solidFill>
                  <a:srgbClr val="50212A"/>
                </a:solidFill>
                <a:latin typeface="Work Sans"/>
                <a:ea typeface="Work Sans"/>
                <a:cs typeface="Work Sans"/>
                <a:sym typeface="Work Sans"/>
              </a:rPr>
              <a:t>ựng</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và</a:t>
            </a:r>
            <a:r>
              <a:rPr lang="en-US" sz="2099" strike="noStrike" u="none">
                <a:solidFill>
                  <a:srgbClr val="50212A"/>
                </a:solidFill>
                <a:latin typeface="Work Sans"/>
                <a:ea typeface="Work Sans"/>
                <a:cs typeface="Work Sans"/>
                <a:sym typeface="Work Sans"/>
              </a:rPr>
              <a:t> vận hành lịc</a:t>
            </a:r>
            <a:r>
              <a:rPr lang="en-US" sz="2099" strike="noStrike" u="none">
                <a:solidFill>
                  <a:srgbClr val="50212A"/>
                </a:solidFill>
                <a:latin typeface="Work Sans"/>
                <a:ea typeface="Work Sans"/>
                <a:cs typeface="Work Sans"/>
                <a:sym typeface="Work Sans"/>
              </a:rPr>
              <a:t>h</a:t>
            </a:r>
            <a:r>
              <a:rPr lang="en-US" sz="2099" strike="noStrike" u="none">
                <a:solidFill>
                  <a:srgbClr val="50212A"/>
                </a:solidFill>
                <a:latin typeface="Work Sans"/>
                <a:ea typeface="Work Sans"/>
                <a:cs typeface="Work Sans"/>
                <a:sym typeface="Work Sans"/>
              </a:rPr>
              <a:t> đăng </a:t>
            </a:r>
            <a:r>
              <a:rPr lang="en-US" sz="2099" strike="noStrike" u="none">
                <a:solidFill>
                  <a:srgbClr val="50212A"/>
                </a:solidFill>
                <a:latin typeface="Work Sans"/>
                <a:ea typeface="Work Sans"/>
                <a:cs typeface="Work Sans"/>
                <a:sym typeface="Work Sans"/>
              </a:rPr>
              <a:t>bà</a:t>
            </a:r>
            <a:r>
              <a:rPr lang="en-US" sz="2099" strike="noStrike" u="none">
                <a:solidFill>
                  <a:srgbClr val="50212A"/>
                </a:solidFill>
                <a:latin typeface="Work Sans"/>
                <a:ea typeface="Work Sans"/>
                <a:cs typeface="Work Sans"/>
                <a:sym typeface="Work Sans"/>
              </a:rPr>
              <a:t>i (Co</a:t>
            </a:r>
            <a:r>
              <a:rPr lang="en-US" sz="2099" strike="noStrike" u="none">
                <a:solidFill>
                  <a:srgbClr val="50212A"/>
                </a:solidFill>
                <a:latin typeface="Work Sans"/>
                <a:ea typeface="Work Sans"/>
                <a:cs typeface="Work Sans"/>
                <a:sym typeface="Work Sans"/>
              </a:rPr>
              <a:t>n</a:t>
            </a:r>
            <a:r>
              <a:rPr lang="en-US" sz="2099" strike="noStrike" u="none">
                <a:solidFill>
                  <a:srgbClr val="50212A"/>
                </a:solidFill>
                <a:latin typeface="Work Sans"/>
                <a:ea typeface="Work Sans"/>
                <a:cs typeface="Work Sans"/>
                <a:sym typeface="Work Sans"/>
              </a:rPr>
              <a:t>tent Ca</a:t>
            </a:r>
            <a:r>
              <a:rPr lang="en-US" sz="2099" strike="noStrike" u="none">
                <a:solidFill>
                  <a:srgbClr val="50212A"/>
                </a:solidFill>
                <a:latin typeface="Work Sans"/>
                <a:ea typeface="Work Sans"/>
                <a:cs typeface="Work Sans"/>
                <a:sym typeface="Work Sans"/>
              </a:rPr>
              <a:t>l</a:t>
            </a:r>
            <a:r>
              <a:rPr lang="en-US" sz="2099" strike="noStrike" u="none">
                <a:solidFill>
                  <a:srgbClr val="50212A"/>
                </a:solidFill>
                <a:latin typeface="Work Sans"/>
                <a:ea typeface="Work Sans"/>
                <a:cs typeface="Work Sans"/>
                <a:sym typeface="Work Sans"/>
              </a:rPr>
              <a:t>endar) khoa</a:t>
            </a:r>
            <a:r>
              <a:rPr lang="en-US" sz="2099" strike="noStrike" u="none">
                <a:solidFill>
                  <a:srgbClr val="50212A"/>
                </a:solidFill>
                <a:latin typeface="Work Sans"/>
                <a:ea typeface="Work Sans"/>
                <a:cs typeface="Work Sans"/>
                <a:sym typeface="Work Sans"/>
              </a:rPr>
              <a:t> họ</a:t>
            </a:r>
            <a:r>
              <a:rPr lang="en-US" sz="2099" strike="noStrike" u="none">
                <a:solidFill>
                  <a:srgbClr val="50212A"/>
                </a:solidFill>
                <a:latin typeface="Work Sans"/>
                <a:ea typeface="Work Sans"/>
                <a:cs typeface="Work Sans"/>
                <a:sym typeface="Work Sans"/>
              </a:rPr>
              <a:t>c tr</a:t>
            </a:r>
            <a:r>
              <a:rPr lang="en-US" sz="2099" strike="noStrike" u="none">
                <a:solidFill>
                  <a:srgbClr val="50212A"/>
                </a:solidFill>
                <a:latin typeface="Work Sans"/>
                <a:ea typeface="Work Sans"/>
                <a:cs typeface="Work Sans"/>
                <a:sym typeface="Work Sans"/>
              </a:rPr>
              <a:t>ên</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Fan</a:t>
            </a:r>
            <a:r>
              <a:rPr lang="en-US" sz="2099" strike="noStrike" u="none">
                <a:solidFill>
                  <a:srgbClr val="50212A"/>
                </a:solidFill>
                <a:latin typeface="Work Sans"/>
                <a:ea typeface="Work Sans"/>
                <a:cs typeface="Work Sans"/>
                <a:sym typeface="Work Sans"/>
              </a:rPr>
              <a:t>pa</a:t>
            </a:r>
            <a:r>
              <a:rPr lang="en-US" sz="2099" strike="noStrike" u="none">
                <a:solidFill>
                  <a:srgbClr val="50212A"/>
                </a:solidFill>
                <a:latin typeface="Work Sans"/>
                <a:ea typeface="Work Sans"/>
                <a:cs typeface="Work Sans"/>
                <a:sym typeface="Work Sans"/>
              </a:rPr>
              <a:t>ge</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tập</a:t>
            </a:r>
            <a:r>
              <a:rPr lang="en-US" sz="2099" strike="noStrike" u="none">
                <a:solidFill>
                  <a:srgbClr val="50212A"/>
                </a:solidFill>
                <a:latin typeface="Work Sans"/>
                <a:ea typeface="Work Sans"/>
                <a:cs typeface="Work Sans"/>
                <a:sym typeface="Work Sans"/>
              </a:rPr>
              <a:t> t</a:t>
            </a:r>
            <a:r>
              <a:rPr lang="en-US" sz="2099" strike="noStrike" u="none">
                <a:solidFill>
                  <a:srgbClr val="50212A"/>
                </a:solidFill>
                <a:latin typeface="Work Sans"/>
                <a:ea typeface="Work Sans"/>
                <a:cs typeface="Work Sans"/>
                <a:sym typeface="Work Sans"/>
              </a:rPr>
              <a:t>r</a:t>
            </a:r>
            <a:r>
              <a:rPr lang="en-US" sz="2099" strike="noStrike" u="none">
                <a:solidFill>
                  <a:srgbClr val="50212A"/>
                </a:solidFill>
                <a:latin typeface="Work Sans"/>
                <a:ea typeface="Work Sans"/>
                <a:cs typeface="Work Sans"/>
                <a:sym typeface="Work Sans"/>
              </a:rPr>
              <a:t>u</a:t>
            </a:r>
            <a:r>
              <a:rPr lang="en-US" sz="2099" strike="noStrike" u="none">
                <a:solidFill>
                  <a:srgbClr val="50212A"/>
                </a:solidFill>
                <a:latin typeface="Work Sans"/>
                <a:ea typeface="Work Sans"/>
                <a:cs typeface="Work Sans"/>
                <a:sym typeface="Work Sans"/>
              </a:rPr>
              <a:t>ng</a:t>
            </a:r>
            <a:r>
              <a:rPr lang="en-US" sz="2099" strike="noStrike" u="none">
                <a:solidFill>
                  <a:srgbClr val="50212A"/>
                </a:solidFill>
                <a:latin typeface="Work Sans"/>
                <a:ea typeface="Work Sans"/>
                <a:cs typeface="Work Sans"/>
                <a:sym typeface="Work Sans"/>
              </a:rPr>
              <a:t> v</a:t>
            </a:r>
            <a:r>
              <a:rPr lang="en-US" sz="2099" strike="noStrike" u="none">
                <a:solidFill>
                  <a:srgbClr val="50212A"/>
                </a:solidFill>
                <a:latin typeface="Work Sans"/>
                <a:ea typeface="Work Sans"/>
                <a:cs typeface="Work Sans"/>
                <a:sym typeface="Work Sans"/>
              </a:rPr>
              <a:t>à</a:t>
            </a:r>
            <a:r>
              <a:rPr lang="en-US" sz="2099" strike="noStrike" u="none">
                <a:solidFill>
                  <a:srgbClr val="50212A"/>
                </a:solidFill>
                <a:latin typeface="Work Sans"/>
                <a:ea typeface="Work Sans"/>
                <a:cs typeface="Work Sans"/>
                <a:sym typeface="Work Sans"/>
              </a:rPr>
              <a:t>o</a:t>
            </a:r>
            <a:r>
              <a:rPr lang="en-US" sz="2099" strike="noStrike" u="none">
                <a:solidFill>
                  <a:srgbClr val="50212A"/>
                </a:solidFill>
                <a:latin typeface="Work Sans"/>
                <a:ea typeface="Work Sans"/>
                <a:cs typeface="Work Sans"/>
                <a:sym typeface="Work Sans"/>
              </a:rPr>
              <a:t> các kh</a:t>
            </a:r>
            <a:r>
              <a:rPr lang="en-US" sz="2099" strike="noStrike" u="none">
                <a:solidFill>
                  <a:srgbClr val="50212A"/>
                </a:solidFill>
                <a:latin typeface="Work Sans"/>
                <a:ea typeface="Work Sans"/>
                <a:cs typeface="Work Sans"/>
                <a:sym typeface="Work Sans"/>
              </a:rPr>
              <a:t>ung </a:t>
            </a:r>
            <a:r>
              <a:rPr lang="en-US" sz="2099" strike="noStrike" u="none">
                <a:solidFill>
                  <a:srgbClr val="50212A"/>
                </a:solidFill>
                <a:latin typeface="Work Sans"/>
                <a:ea typeface="Work Sans"/>
                <a:cs typeface="Work Sans"/>
                <a:sym typeface="Work Sans"/>
              </a:rPr>
              <a:t>giờ có lượ</a:t>
            </a:r>
            <a:r>
              <a:rPr lang="en-US" sz="2099" strike="noStrike" u="none">
                <a:solidFill>
                  <a:srgbClr val="50212A"/>
                </a:solidFill>
                <a:latin typeface="Work Sans"/>
                <a:ea typeface="Work Sans"/>
                <a:cs typeface="Work Sans"/>
                <a:sym typeface="Work Sans"/>
              </a:rPr>
              <a:t>ng học sinh </a:t>
            </a:r>
            <a:r>
              <a:rPr lang="en-US" sz="2099" strike="noStrike" u="none">
                <a:solidFill>
                  <a:srgbClr val="50212A"/>
                </a:solidFill>
                <a:latin typeface="Work Sans"/>
                <a:ea typeface="Work Sans"/>
                <a:cs typeface="Work Sans"/>
                <a:sym typeface="Work Sans"/>
              </a:rPr>
              <a:t>THPT</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h</a:t>
            </a:r>
            <a:r>
              <a:rPr lang="en-US" sz="2099" strike="noStrike" u="none">
                <a:solidFill>
                  <a:srgbClr val="50212A"/>
                </a:solidFill>
                <a:latin typeface="Work Sans"/>
                <a:ea typeface="Work Sans"/>
                <a:cs typeface="Work Sans"/>
                <a:sym typeface="Work Sans"/>
              </a:rPr>
              <a:t>o</a:t>
            </a:r>
            <a:r>
              <a:rPr lang="en-US" sz="2099" strike="noStrike" u="none">
                <a:solidFill>
                  <a:srgbClr val="50212A"/>
                </a:solidFill>
                <a:latin typeface="Work Sans"/>
                <a:ea typeface="Work Sans"/>
                <a:cs typeface="Work Sans"/>
                <a:sym typeface="Work Sans"/>
              </a:rPr>
              <a:t>ạ</a:t>
            </a:r>
            <a:r>
              <a:rPr lang="en-US" sz="2099" strike="noStrike" u="none">
                <a:solidFill>
                  <a:srgbClr val="50212A"/>
                </a:solidFill>
                <a:latin typeface="Work Sans"/>
                <a:ea typeface="Work Sans"/>
                <a:cs typeface="Work Sans"/>
                <a:sym typeface="Work Sans"/>
              </a:rPr>
              <a:t>t</a:t>
            </a:r>
            <a:r>
              <a:rPr lang="en-US" sz="2099" strike="noStrike" u="none">
                <a:solidFill>
                  <a:srgbClr val="50212A"/>
                </a:solidFill>
                <a:latin typeface="Work Sans"/>
                <a:ea typeface="Work Sans"/>
                <a:cs typeface="Work Sans"/>
                <a:sym typeface="Work Sans"/>
              </a:rPr>
              <a:t> động c</a:t>
            </a:r>
            <a:r>
              <a:rPr lang="en-US" sz="2099" strike="noStrike" u="none">
                <a:solidFill>
                  <a:srgbClr val="50212A"/>
                </a:solidFill>
                <a:latin typeface="Work Sans"/>
                <a:ea typeface="Work Sans"/>
                <a:cs typeface="Work Sans"/>
                <a:sym typeface="Work Sans"/>
              </a:rPr>
              <a:t>a</a:t>
            </a:r>
            <a:r>
              <a:rPr lang="en-US" sz="2099" strike="noStrike" u="none">
                <a:solidFill>
                  <a:srgbClr val="50212A"/>
                </a:solidFill>
                <a:latin typeface="Work Sans"/>
                <a:ea typeface="Work Sans"/>
                <a:cs typeface="Work Sans"/>
                <a:sym typeface="Work Sans"/>
              </a:rPr>
              <a:t>o.</a:t>
            </a:r>
            <a:r>
              <a:rPr lang="en-US" sz="2099" strike="noStrike" u="none">
                <a:solidFill>
                  <a:srgbClr val="50212A"/>
                </a:solidFill>
                <a:latin typeface="Work Sans"/>
                <a:ea typeface="Work Sans"/>
                <a:cs typeface="Work Sans"/>
                <a:sym typeface="Work Sans"/>
              </a:rPr>
              <a:t> </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Phân bổ hợp lý giữa bài viết cung cấp thông tin và bài viết kêu gọi đăng ký nhằm duy trì tương tác ổn định.</a:t>
            </a:r>
          </a:p>
        </p:txBody>
      </p:sp>
      <p:sp>
        <p:nvSpPr>
          <p:cNvPr name="TextBox 41" id="41"/>
          <p:cNvSpPr txBox="true"/>
          <p:nvPr/>
        </p:nvSpPr>
        <p:spPr>
          <a:xfrm rot="0">
            <a:off x="6933049" y="4367033"/>
            <a:ext cx="4359709" cy="1118738"/>
          </a:xfrm>
          <a:prstGeom prst="rect">
            <a:avLst/>
          </a:prstGeom>
        </p:spPr>
        <p:txBody>
          <a:bodyPr anchor="t" rtlCol="false" tIns="0" lIns="0" bIns="0" rIns="0">
            <a:spAutoFit/>
          </a:bodyPr>
          <a:lstStyle/>
          <a:p>
            <a:pPr algn="ctr" marL="0" indent="0" lvl="0">
              <a:lnSpc>
                <a:spcPts val="4480"/>
              </a:lnSpc>
              <a:spcBef>
                <a:spcPct val="0"/>
              </a:spcBef>
            </a:pPr>
            <a:r>
              <a:rPr lang="en-US" b="true" sz="3200">
                <a:solidFill>
                  <a:srgbClr val="FDF6F2"/>
                </a:solidFill>
                <a:latin typeface="Work Sans Bold"/>
                <a:ea typeface="Work Sans Bold"/>
                <a:cs typeface="Work Sans Bold"/>
                <a:sym typeface="Work Sans Bold"/>
              </a:rPr>
              <a:t>Hoạt động triển khai thực tế</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357147">
            <a:off x="12298930" y="286501"/>
            <a:ext cx="6247495" cy="13888595"/>
            <a:chOff x="0" y="0"/>
            <a:chExt cx="8329993" cy="18518127"/>
          </a:xfrm>
        </p:grpSpPr>
        <p:grpSp>
          <p:nvGrpSpPr>
            <p:cNvPr name="Group 3" id="3"/>
            <p:cNvGrpSpPr>
              <a:grpSpLocks noChangeAspect="true"/>
            </p:cNvGrpSpPr>
            <p:nvPr/>
          </p:nvGrpSpPr>
          <p:grpSpPr>
            <a:xfrm rot="422501">
              <a:off x="1154275" y="6251172"/>
              <a:ext cx="6043693" cy="6038034"/>
              <a:chOff x="0" y="0"/>
              <a:chExt cx="3255264" cy="3252216"/>
            </a:xfrm>
          </p:grpSpPr>
          <p:sp>
            <p:nvSpPr>
              <p:cNvPr name="Freeform 4" id="4"/>
              <p:cNvSpPr/>
              <p:nvPr/>
            </p:nvSpPr>
            <p:spPr>
              <a:xfrm flipH="false" flipV="false" rot="0">
                <a:off x="0" y="0"/>
                <a:ext cx="3255264" cy="3252216"/>
              </a:xfrm>
              <a:custGeom>
                <a:avLst/>
                <a:gdLst/>
                <a:ahLst/>
                <a:cxnLst/>
                <a:rect r="r" b="b" t="t" l="l"/>
                <a:pathLst>
                  <a:path h="3252216" w="3255264">
                    <a:moveTo>
                      <a:pt x="3255264" y="3252216"/>
                    </a:moveTo>
                    <a:lnTo>
                      <a:pt x="0" y="3252216"/>
                    </a:lnTo>
                    <a:lnTo>
                      <a:pt x="0" y="0"/>
                    </a:lnTo>
                    <a:lnTo>
                      <a:pt x="3255264" y="0"/>
                    </a:lnTo>
                    <a:lnTo>
                      <a:pt x="3255264" y="3252216"/>
                    </a:lnTo>
                    <a:close/>
                  </a:path>
                </a:pathLst>
              </a:custGeom>
              <a:blipFill>
                <a:blip r:embed="rId2"/>
                <a:stretch>
                  <a:fillRect l="-15" t="0" r="-15" b="0"/>
                </a:stretch>
              </a:blipFill>
            </p:spPr>
          </p:sp>
          <p:sp>
            <p:nvSpPr>
              <p:cNvPr name="Freeform 5" id="5"/>
              <p:cNvSpPr/>
              <p:nvPr/>
            </p:nvSpPr>
            <p:spPr>
              <a:xfrm flipH="false" flipV="false" rot="0">
                <a:off x="178981" y="170596"/>
                <a:ext cx="2903337" cy="2874918"/>
              </a:xfrm>
              <a:custGeom>
                <a:avLst/>
                <a:gdLst/>
                <a:ahLst/>
                <a:cxnLst/>
                <a:rect r="r" b="b" t="t" l="l"/>
                <a:pathLst>
                  <a:path h="2874918" w="2903337">
                    <a:moveTo>
                      <a:pt x="65410" y="2"/>
                    </a:moveTo>
                    <a:lnTo>
                      <a:pt x="2878279" y="31831"/>
                    </a:lnTo>
                    <a:cubicBezTo>
                      <a:pt x="2892304" y="31989"/>
                      <a:pt x="2903534" y="43509"/>
                      <a:pt x="2903334" y="57535"/>
                    </a:cubicBezTo>
                    <a:lnTo>
                      <a:pt x="2863557" y="2849935"/>
                    </a:lnTo>
                    <a:cubicBezTo>
                      <a:pt x="2863356" y="2863986"/>
                      <a:pt x="2851762" y="2875193"/>
                      <a:pt x="2837712" y="2874913"/>
                    </a:cubicBezTo>
                    <a:lnTo>
                      <a:pt x="24844" y="2819214"/>
                    </a:lnTo>
                    <a:cubicBezTo>
                      <a:pt x="10903" y="2818938"/>
                      <a:pt x="-197" y="2807452"/>
                      <a:pt x="3" y="2793509"/>
                    </a:cubicBezTo>
                    <a:lnTo>
                      <a:pt x="39780" y="24980"/>
                    </a:lnTo>
                    <a:cubicBezTo>
                      <a:pt x="39982" y="11015"/>
                      <a:pt x="51444" y="-156"/>
                      <a:pt x="65410" y="2"/>
                    </a:cubicBezTo>
                    <a:close/>
                  </a:path>
                </a:pathLst>
              </a:custGeom>
              <a:blipFill>
                <a:blip r:embed="rId3"/>
                <a:stretch>
                  <a:fillRect l="-35901" t="0" r="-35901" b="0"/>
                </a:stretch>
              </a:blipFill>
            </p:spPr>
          </p:sp>
        </p:grpSp>
        <p:grpSp>
          <p:nvGrpSpPr>
            <p:cNvPr name="Group 6" id="6"/>
            <p:cNvGrpSpPr>
              <a:grpSpLocks noChangeAspect="true"/>
            </p:cNvGrpSpPr>
            <p:nvPr/>
          </p:nvGrpSpPr>
          <p:grpSpPr>
            <a:xfrm rot="422501">
              <a:off x="1938987" y="347681"/>
              <a:ext cx="6043693" cy="6038034"/>
              <a:chOff x="0" y="0"/>
              <a:chExt cx="3255264" cy="3252216"/>
            </a:xfrm>
          </p:grpSpPr>
          <p:sp>
            <p:nvSpPr>
              <p:cNvPr name="Freeform 7" id="7"/>
              <p:cNvSpPr/>
              <p:nvPr/>
            </p:nvSpPr>
            <p:spPr>
              <a:xfrm flipH="false" flipV="false" rot="0">
                <a:off x="0" y="0"/>
                <a:ext cx="3255264" cy="3252216"/>
              </a:xfrm>
              <a:custGeom>
                <a:avLst/>
                <a:gdLst/>
                <a:ahLst/>
                <a:cxnLst/>
                <a:rect r="r" b="b" t="t" l="l"/>
                <a:pathLst>
                  <a:path h="3252216" w="3255264">
                    <a:moveTo>
                      <a:pt x="3255264" y="3252216"/>
                    </a:moveTo>
                    <a:lnTo>
                      <a:pt x="0" y="3252216"/>
                    </a:lnTo>
                    <a:lnTo>
                      <a:pt x="0" y="0"/>
                    </a:lnTo>
                    <a:lnTo>
                      <a:pt x="3255264" y="0"/>
                    </a:lnTo>
                    <a:lnTo>
                      <a:pt x="3255264" y="3252216"/>
                    </a:lnTo>
                    <a:close/>
                  </a:path>
                </a:pathLst>
              </a:custGeom>
              <a:blipFill>
                <a:blip r:embed="rId2"/>
                <a:stretch>
                  <a:fillRect l="-15" t="0" r="-15" b="0"/>
                </a:stretch>
              </a:blipFill>
            </p:spPr>
          </p:sp>
          <p:sp>
            <p:nvSpPr>
              <p:cNvPr name="Freeform 8" id="8"/>
              <p:cNvSpPr/>
              <p:nvPr/>
            </p:nvSpPr>
            <p:spPr>
              <a:xfrm flipH="false" flipV="false" rot="0">
                <a:off x="178981" y="170596"/>
                <a:ext cx="2903337" cy="2874918"/>
              </a:xfrm>
              <a:custGeom>
                <a:avLst/>
                <a:gdLst/>
                <a:ahLst/>
                <a:cxnLst/>
                <a:rect r="r" b="b" t="t" l="l"/>
                <a:pathLst>
                  <a:path h="2874918" w="2903337">
                    <a:moveTo>
                      <a:pt x="65410" y="2"/>
                    </a:moveTo>
                    <a:lnTo>
                      <a:pt x="2878279" y="31831"/>
                    </a:lnTo>
                    <a:cubicBezTo>
                      <a:pt x="2892304" y="31989"/>
                      <a:pt x="2903534" y="43509"/>
                      <a:pt x="2903334" y="57535"/>
                    </a:cubicBezTo>
                    <a:lnTo>
                      <a:pt x="2863557" y="2849935"/>
                    </a:lnTo>
                    <a:cubicBezTo>
                      <a:pt x="2863356" y="2863986"/>
                      <a:pt x="2851762" y="2875193"/>
                      <a:pt x="2837712" y="2874913"/>
                    </a:cubicBezTo>
                    <a:lnTo>
                      <a:pt x="24844" y="2819214"/>
                    </a:lnTo>
                    <a:cubicBezTo>
                      <a:pt x="10903" y="2818938"/>
                      <a:pt x="-197" y="2807452"/>
                      <a:pt x="3" y="2793509"/>
                    </a:cubicBezTo>
                    <a:lnTo>
                      <a:pt x="39780" y="24980"/>
                    </a:lnTo>
                    <a:cubicBezTo>
                      <a:pt x="39982" y="11015"/>
                      <a:pt x="51444" y="-156"/>
                      <a:pt x="65410" y="2"/>
                    </a:cubicBezTo>
                    <a:close/>
                  </a:path>
                </a:pathLst>
              </a:custGeom>
              <a:blipFill>
                <a:blip r:embed="rId4"/>
                <a:stretch>
                  <a:fillRect l="-53035" t="0" r="-53035" b="0"/>
                </a:stretch>
              </a:blipFill>
            </p:spPr>
          </p:sp>
        </p:grpSp>
        <p:grpSp>
          <p:nvGrpSpPr>
            <p:cNvPr name="Group 9" id="9"/>
            <p:cNvGrpSpPr>
              <a:grpSpLocks noChangeAspect="true"/>
            </p:cNvGrpSpPr>
            <p:nvPr/>
          </p:nvGrpSpPr>
          <p:grpSpPr>
            <a:xfrm rot="422501">
              <a:off x="347313" y="12132412"/>
              <a:ext cx="6043693" cy="6038034"/>
              <a:chOff x="0" y="0"/>
              <a:chExt cx="3255264" cy="3252216"/>
            </a:xfrm>
          </p:grpSpPr>
          <p:sp>
            <p:nvSpPr>
              <p:cNvPr name="Freeform 10" id="10"/>
              <p:cNvSpPr/>
              <p:nvPr/>
            </p:nvSpPr>
            <p:spPr>
              <a:xfrm flipH="false" flipV="false" rot="0">
                <a:off x="0" y="0"/>
                <a:ext cx="3255264" cy="3252216"/>
              </a:xfrm>
              <a:custGeom>
                <a:avLst/>
                <a:gdLst/>
                <a:ahLst/>
                <a:cxnLst/>
                <a:rect r="r" b="b" t="t" l="l"/>
                <a:pathLst>
                  <a:path h="3252216" w="3255264">
                    <a:moveTo>
                      <a:pt x="3255264" y="3252216"/>
                    </a:moveTo>
                    <a:lnTo>
                      <a:pt x="0" y="3252216"/>
                    </a:lnTo>
                    <a:lnTo>
                      <a:pt x="0" y="0"/>
                    </a:lnTo>
                    <a:lnTo>
                      <a:pt x="3255264" y="0"/>
                    </a:lnTo>
                    <a:lnTo>
                      <a:pt x="3255264" y="3252216"/>
                    </a:lnTo>
                    <a:close/>
                  </a:path>
                </a:pathLst>
              </a:custGeom>
              <a:blipFill>
                <a:blip r:embed="rId2"/>
                <a:stretch>
                  <a:fillRect l="-15" t="0" r="-15" b="0"/>
                </a:stretch>
              </a:blipFill>
            </p:spPr>
          </p:sp>
          <p:sp>
            <p:nvSpPr>
              <p:cNvPr name="Freeform 11" id="11"/>
              <p:cNvSpPr/>
              <p:nvPr/>
            </p:nvSpPr>
            <p:spPr>
              <a:xfrm flipH="false" flipV="false" rot="0">
                <a:off x="178981" y="170596"/>
                <a:ext cx="2903337" cy="2874918"/>
              </a:xfrm>
              <a:custGeom>
                <a:avLst/>
                <a:gdLst/>
                <a:ahLst/>
                <a:cxnLst/>
                <a:rect r="r" b="b" t="t" l="l"/>
                <a:pathLst>
                  <a:path h="2874918" w="2903337">
                    <a:moveTo>
                      <a:pt x="65410" y="2"/>
                    </a:moveTo>
                    <a:lnTo>
                      <a:pt x="2878279" y="31831"/>
                    </a:lnTo>
                    <a:cubicBezTo>
                      <a:pt x="2892304" y="31989"/>
                      <a:pt x="2903534" y="43509"/>
                      <a:pt x="2903334" y="57535"/>
                    </a:cubicBezTo>
                    <a:lnTo>
                      <a:pt x="2863557" y="2849935"/>
                    </a:lnTo>
                    <a:cubicBezTo>
                      <a:pt x="2863356" y="2863986"/>
                      <a:pt x="2851762" y="2875193"/>
                      <a:pt x="2837712" y="2874913"/>
                    </a:cubicBezTo>
                    <a:lnTo>
                      <a:pt x="24844" y="2819214"/>
                    </a:lnTo>
                    <a:cubicBezTo>
                      <a:pt x="10903" y="2818938"/>
                      <a:pt x="-197" y="2807452"/>
                      <a:pt x="3" y="2793509"/>
                    </a:cubicBezTo>
                    <a:lnTo>
                      <a:pt x="39780" y="24980"/>
                    </a:lnTo>
                    <a:cubicBezTo>
                      <a:pt x="39982" y="11015"/>
                      <a:pt x="51444" y="-156"/>
                      <a:pt x="65410" y="2"/>
                    </a:cubicBezTo>
                    <a:close/>
                  </a:path>
                </a:pathLst>
              </a:custGeom>
              <a:blipFill>
                <a:blip r:embed="rId5"/>
                <a:stretch>
                  <a:fillRect l="-52589" t="0" r="-52589" b="0"/>
                </a:stretch>
              </a:blipFill>
            </p:spPr>
          </p:sp>
        </p:grpSp>
      </p:grpSp>
      <p:grpSp>
        <p:nvGrpSpPr>
          <p:cNvPr name="Group 12" id="12"/>
          <p:cNvGrpSpPr/>
          <p:nvPr/>
        </p:nvGrpSpPr>
        <p:grpSpPr>
          <a:xfrm rot="0">
            <a:off x="303714" y="315711"/>
            <a:ext cx="17680571" cy="1237205"/>
            <a:chOff x="0" y="0"/>
            <a:chExt cx="4656611" cy="325848"/>
          </a:xfrm>
        </p:grpSpPr>
        <p:sp>
          <p:nvSpPr>
            <p:cNvPr name="Freeform 13" id="1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14" id="1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688530" y="490255"/>
            <a:ext cx="1118439" cy="888116"/>
            <a:chOff x="0" y="0"/>
            <a:chExt cx="294568" cy="233907"/>
          </a:xfrm>
        </p:grpSpPr>
        <p:sp>
          <p:nvSpPr>
            <p:cNvPr name="Freeform 16" id="1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7" id="1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7235378" y="1744562"/>
            <a:ext cx="3817244" cy="3398938"/>
          </a:xfrm>
          <a:custGeom>
            <a:avLst/>
            <a:gdLst/>
            <a:ahLst/>
            <a:cxnLst/>
            <a:rect r="r" b="b" t="t" l="l"/>
            <a:pathLst>
              <a:path h="3398938" w="3817244">
                <a:moveTo>
                  <a:pt x="0" y="0"/>
                </a:moveTo>
                <a:lnTo>
                  <a:pt x="3817244" y="0"/>
                </a:lnTo>
                <a:lnTo>
                  <a:pt x="3817244" y="3398938"/>
                </a:lnTo>
                <a:lnTo>
                  <a:pt x="0" y="33989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2184150" y="1619590"/>
            <a:ext cx="2654545" cy="2733123"/>
          </a:xfrm>
          <a:custGeom>
            <a:avLst/>
            <a:gdLst/>
            <a:ahLst/>
            <a:cxnLst/>
            <a:rect r="r" b="b" t="t" l="l"/>
            <a:pathLst>
              <a:path h="2733123" w="2654545">
                <a:moveTo>
                  <a:pt x="0" y="0"/>
                </a:moveTo>
                <a:lnTo>
                  <a:pt x="2654545" y="0"/>
                </a:lnTo>
                <a:lnTo>
                  <a:pt x="2654545" y="2733123"/>
                </a:lnTo>
                <a:lnTo>
                  <a:pt x="0" y="27331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1" id="21"/>
          <p:cNvGrpSpPr/>
          <p:nvPr/>
        </p:nvGrpSpPr>
        <p:grpSpPr>
          <a:xfrm rot="0">
            <a:off x="802043" y="4284623"/>
            <a:ext cx="5192102" cy="8331267"/>
            <a:chOff x="0" y="0"/>
            <a:chExt cx="1367467" cy="2194243"/>
          </a:xfrm>
        </p:grpSpPr>
        <p:sp>
          <p:nvSpPr>
            <p:cNvPr name="Freeform 22" id="22"/>
            <p:cNvSpPr/>
            <p:nvPr/>
          </p:nvSpPr>
          <p:spPr>
            <a:xfrm flipH="false" flipV="false" rot="0">
              <a:off x="0" y="0"/>
              <a:ext cx="1367467" cy="2194243"/>
            </a:xfrm>
            <a:custGeom>
              <a:avLst/>
              <a:gdLst/>
              <a:ahLst/>
              <a:cxnLst/>
              <a:rect r="r" b="b" t="t" l="l"/>
              <a:pathLst>
                <a:path h="2194243" w="1367467">
                  <a:moveTo>
                    <a:pt x="134199" y="0"/>
                  </a:moveTo>
                  <a:lnTo>
                    <a:pt x="1233269" y="0"/>
                  </a:lnTo>
                  <a:cubicBezTo>
                    <a:pt x="1307385" y="0"/>
                    <a:pt x="1367467" y="60083"/>
                    <a:pt x="1367467" y="134199"/>
                  </a:cubicBezTo>
                  <a:lnTo>
                    <a:pt x="1367467" y="2060045"/>
                  </a:lnTo>
                  <a:cubicBezTo>
                    <a:pt x="1367467" y="2095636"/>
                    <a:pt x="1353329" y="2129770"/>
                    <a:pt x="1328161" y="2154937"/>
                  </a:cubicBezTo>
                  <a:cubicBezTo>
                    <a:pt x="1302994" y="2180105"/>
                    <a:pt x="1268860" y="2194243"/>
                    <a:pt x="1233269" y="2194243"/>
                  </a:cubicBezTo>
                  <a:lnTo>
                    <a:pt x="134199" y="2194243"/>
                  </a:lnTo>
                  <a:cubicBezTo>
                    <a:pt x="98607" y="2194243"/>
                    <a:pt x="64473" y="2180105"/>
                    <a:pt x="39306" y="2154937"/>
                  </a:cubicBezTo>
                  <a:cubicBezTo>
                    <a:pt x="14139" y="2129770"/>
                    <a:pt x="0" y="2095636"/>
                    <a:pt x="0" y="2060045"/>
                  </a:cubicBezTo>
                  <a:lnTo>
                    <a:pt x="0" y="134199"/>
                  </a:lnTo>
                  <a:cubicBezTo>
                    <a:pt x="0" y="98607"/>
                    <a:pt x="14139" y="64473"/>
                    <a:pt x="39306" y="39306"/>
                  </a:cubicBezTo>
                  <a:cubicBezTo>
                    <a:pt x="64473" y="14139"/>
                    <a:pt x="98607" y="0"/>
                    <a:pt x="134199" y="0"/>
                  </a:cubicBezTo>
                  <a:close/>
                </a:path>
              </a:pathLst>
            </a:custGeom>
            <a:solidFill>
              <a:srgbClr val="50212A"/>
            </a:solidFill>
            <a:ln cap="rnd">
              <a:noFill/>
              <a:prstDash val="solid"/>
              <a:round/>
            </a:ln>
          </p:spPr>
        </p:sp>
        <p:sp>
          <p:nvSpPr>
            <p:cNvPr name="TextBox 23" id="23"/>
            <p:cNvSpPr txBox="true"/>
            <p:nvPr/>
          </p:nvSpPr>
          <p:spPr>
            <a:xfrm>
              <a:off x="0" y="-57150"/>
              <a:ext cx="1367467" cy="2251393"/>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6630181" y="4284623"/>
            <a:ext cx="4965445" cy="8331267"/>
            <a:chOff x="0" y="0"/>
            <a:chExt cx="1307772" cy="2194243"/>
          </a:xfrm>
        </p:grpSpPr>
        <p:sp>
          <p:nvSpPr>
            <p:cNvPr name="Freeform 25" id="25"/>
            <p:cNvSpPr/>
            <p:nvPr/>
          </p:nvSpPr>
          <p:spPr>
            <a:xfrm flipH="false" flipV="false" rot="0">
              <a:off x="0" y="0"/>
              <a:ext cx="1307772" cy="2194243"/>
            </a:xfrm>
            <a:custGeom>
              <a:avLst/>
              <a:gdLst/>
              <a:ahLst/>
              <a:cxnLst/>
              <a:rect r="r" b="b" t="t" l="l"/>
              <a:pathLst>
                <a:path h="2194243" w="1307772">
                  <a:moveTo>
                    <a:pt x="140324" y="0"/>
                  </a:moveTo>
                  <a:lnTo>
                    <a:pt x="1167447" y="0"/>
                  </a:lnTo>
                  <a:cubicBezTo>
                    <a:pt x="1244946" y="0"/>
                    <a:pt x="1307772" y="62825"/>
                    <a:pt x="1307772" y="140324"/>
                  </a:cubicBezTo>
                  <a:lnTo>
                    <a:pt x="1307772" y="2053919"/>
                  </a:lnTo>
                  <a:cubicBezTo>
                    <a:pt x="1307772" y="2131418"/>
                    <a:pt x="1244946" y="2194243"/>
                    <a:pt x="1167447" y="2194243"/>
                  </a:cubicBezTo>
                  <a:lnTo>
                    <a:pt x="140324" y="2194243"/>
                  </a:lnTo>
                  <a:cubicBezTo>
                    <a:pt x="103108" y="2194243"/>
                    <a:pt x="67416" y="2179459"/>
                    <a:pt x="41100" y="2153143"/>
                  </a:cubicBezTo>
                  <a:cubicBezTo>
                    <a:pt x="14784" y="2126827"/>
                    <a:pt x="0" y="2091135"/>
                    <a:pt x="0" y="2053919"/>
                  </a:cubicBezTo>
                  <a:lnTo>
                    <a:pt x="0" y="140324"/>
                  </a:lnTo>
                  <a:cubicBezTo>
                    <a:pt x="0" y="62825"/>
                    <a:pt x="62825" y="0"/>
                    <a:pt x="140324" y="0"/>
                  </a:cubicBezTo>
                  <a:close/>
                </a:path>
              </a:pathLst>
            </a:custGeom>
            <a:solidFill>
              <a:srgbClr val="50212A"/>
            </a:solidFill>
            <a:ln cap="rnd">
              <a:noFill/>
              <a:prstDash val="solid"/>
              <a:round/>
            </a:ln>
          </p:spPr>
        </p:sp>
        <p:sp>
          <p:nvSpPr>
            <p:cNvPr name="TextBox 26" id="26"/>
            <p:cNvSpPr txBox="true"/>
            <p:nvPr/>
          </p:nvSpPr>
          <p:spPr>
            <a:xfrm>
              <a:off x="0" y="-57150"/>
              <a:ext cx="1307772" cy="2251393"/>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802043" y="5647150"/>
            <a:ext cx="5192102" cy="6696315"/>
            <a:chOff x="0" y="0"/>
            <a:chExt cx="1367467" cy="1763639"/>
          </a:xfrm>
        </p:grpSpPr>
        <p:sp>
          <p:nvSpPr>
            <p:cNvPr name="Freeform 28" id="28"/>
            <p:cNvSpPr/>
            <p:nvPr/>
          </p:nvSpPr>
          <p:spPr>
            <a:xfrm flipH="false" flipV="false" rot="0">
              <a:off x="0" y="0"/>
              <a:ext cx="1367467" cy="1763639"/>
            </a:xfrm>
            <a:custGeom>
              <a:avLst/>
              <a:gdLst/>
              <a:ahLst/>
              <a:cxnLst/>
              <a:rect r="r" b="b" t="t" l="l"/>
              <a:pathLst>
                <a:path h="1763639" w="1367467">
                  <a:moveTo>
                    <a:pt x="134199" y="0"/>
                  </a:moveTo>
                  <a:lnTo>
                    <a:pt x="1233269" y="0"/>
                  </a:lnTo>
                  <a:cubicBezTo>
                    <a:pt x="1307385" y="0"/>
                    <a:pt x="1367467" y="60083"/>
                    <a:pt x="1367467" y="134199"/>
                  </a:cubicBezTo>
                  <a:lnTo>
                    <a:pt x="1367467" y="1629440"/>
                  </a:lnTo>
                  <a:cubicBezTo>
                    <a:pt x="1367467" y="1665032"/>
                    <a:pt x="1353329" y="1699166"/>
                    <a:pt x="1328161" y="1724333"/>
                  </a:cubicBezTo>
                  <a:cubicBezTo>
                    <a:pt x="1302994" y="1749500"/>
                    <a:pt x="1268860" y="1763639"/>
                    <a:pt x="1233269" y="1763639"/>
                  </a:cubicBezTo>
                  <a:lnTo>
                    <a:pt x="134199" y="1763639"/>
                  </a:lnTo>
                  <a:cubicBezTo>
                    <a:pt x="98607" y="1763639"/>
                    <a:pt x="64473" y="1749500"/>
                    <a:pt x="39306" y="1724333"/>
                  </a:cubicBezTo>
                  <a:cubicBezTo>
                    <a:pt x="14139" y="1699166"/>
                    <a:pt x="0" y="1665032"/>
                    <a:pt x="0" y="1629440"/>
                  </a:cubicBezTo>
                  <a:lnTo>
                    <a:pt x="0" y="134199"/>
                  </a:lnTo>
                  <a:cubicBezTo>
                    <a:pt x="0" y="98607"/>
                    <a:pt x="14139" y="64473"/>
                    <a:pt x="39306" y="39306"/>
                  </a:cubicBezTo>
                  <a:cubicBezTo>
                    <a:pt x="64473" y="14139"/>
                    <a:pt x="98607" y="0"/>
                    <a:pt x="134199" y="0"/>
                  </a:cubicBezTo>
                  <a:close/>
                </a:path>
              </a:pathLst>
            </a:custGeom>
            <a:solidFill>
              <a:srgbClr val="FFFFFF"/>
            </a:solidFill>
            <a:ln cap="rnd">
              <a:noFill/>
              <a:prstDash val="solid"/>
              <a:round/>
            </a:ln>
          </p:spPr>
        </p:sp>
        <p:sp>
          <p:nvSpPr>
            <p:cNvPr name="TextBox 29" id="29"/>
            <p:cNvSpPr txBox="true"/>
            <p:nvPr/>
          </p:nvSpPr>
          <p:spPr>
            <a:xfrm>
              <a:off x="0" y="-57150"/>
              <a:ext cx="1367467" cy="1820789"/>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6630181" y="5647150"/>
            <a:ext cx="4965445" cy="6696315"/>
            <a:chOff x="0" y="0"/>
            <a:chExt cx="1307772" cy="1763639"/>
          </a:xfrm>
        </p:grpSpPr>
        <p:sp>
          <p:nvSpPr>
            <p:cNvPr name="Freeform 31" id="31"/>
            <p:cNvSpPr/>
            <p:nvPr/>
          </p:nvSpPr>
          <p:spPr>
            <a:xfrm flipH="false" flipV="false" rot="0">
              <a:off x="0" y="0"/>
              <a:ext cx="1307772" cy="1763639"/>
            </a:xfrm>
            <a:custGeom>
              <a:avLst/>
              <a:gdLst/>
              <a:ahLst/>
              <a:cxnLst/>
              <a:rect r="r" b="b" t="t" l="l"/>
              <a:pathLst>
                <a:path h="1763639" w="1307772">
                  <a:moveTo>
                    <a:pt x="140324" y="0"/>
                  </a:moveTo>
                  <a:lnTo>
                    <a:pt x="1167447" y="0"/>
                  </a:lnTo>
                  <a:cubicBezTo>
                    <a:pt x="1244946" y="0"/>
                    <a:pt x="1307772" y="62825"/>
                    <a:pt x="1307772" y="140324"/>
                  </a:cubicBezTo>
                  <a:lnTo>
                    <a:pt x="1307772" y="1623314"/>
                  </a:lnTo>
                  <a:cubicBezTo>
                    <a:pt x="1307772" y="1660531"/>
                    <a:pt x="1292988" y="1696223"/>
                    <a:pt x="1266672" y="1722539"/>
                  </a:cubicBezTo>
                  <a:cubicBezTo>
                    <a:pt x="1240356" y="1748854"/>
                    <a:pt x="1204664" y="1763639"/>
                    <a:pt x="1167447" y="1763639"/>
                  </a:cubicBezTo>
                  <a:lnTo>
                    <a:pt x="140324" y="1763639"/>
                  </a:lnTo>
                  <a:cubicBezTo>
                    <a:pt x="103108" y="1763639"/>
                    <a:pt x="67416" y="1748854"/>
                    <a:pt x="41100" y="1722539"/>
                  </a:cubicBezTo>
                  <a:cubicBezTo>
                    <a:pt x="14784" y="1696223"/>
                    <a:pt x="0" y="1660531"/>
                    <a:pt x="0" y="1623314"/>
                  </a:cubicBezTo>
                  <a:lnTo>
                    <a:pt x="0" y="140324"/>
                  </a:lnTo>
                  <a:cubicBezTo>
                    <a:pt x="0" y="62825"/>
                    <a:pt x="62825" y="0"/>
                    <a:pt x="140324" y="0"/>
                  </a:cubicBezTo>
                  <a:close/>
                </a:path>
              </a:pathLst>
            </a:custGeom>
            <a:solidFill>
              <a:srgbClr val="FFFFFF"/>
            </a:solidFill>
            <a:ln cap="rnd">
              <a:noFill/>
              <a:prstDash val="solid"/>
              <a:round/>
            </a:ln>
          </p:spPr>
        </p:sp>
        <p:sp>
          <p:nvSpPr>
            <p:cNvPr name="TextBox 32" id="32"/>
            <p:cNvSpPr txBox="true"/>
            <p:nvPr/>
          </p:nvSpPr>
          <p:spPr>
            <a:xfrm>
              <a:off x="0" y="-57150"/>
              <a:ext cx="1307772" cy="1820789"/>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480736" y="490255"/>
            <a:ext cx="10960815" cy="888116"/>
            <a:chOff x="0" y="0"/>
            <a:chExt cx="14614420" cy="1184154"/>
          </a:xfrm>
        </p:grpSpPr>
        <p:grpSp>
          <p:nvGrpSpPr>
            <p:cNvPr name="Group 34" id="34"/>
            <p:cNvGrpSpPr/>
            <p:nvPr/>
          </p:nvGrpSpPr>
          <p:grpSpPr>
            <a:xfrm rot="0">
              <a:off x="0" y="0"/>
              <a:ext cx="14549535" cy="1184154"/>
              <a:chOff x="0" y="0"/>
              <a:chExt cx="2873982" cy="233907"/>
            </a:xfrm>
          </p:grpSpPr>
          <p:sp>
            <p:nvSpPr>
              <p:cNvPr name="Freeform 35" id="35"/>
              <p:cNvSpPr/>
              <p:nvPr/>
            </p:nvSpPr>
            <p:spPr>
              <a:xfrm flipH="false" flipV="false" rot="0">
                <a:off x="0" y="0"/>
                <a:ext cx="2873982" cy="233907"/>
              </a:xfrm>
              <a:custGeom>
                <a:avLst/>
                <a:gdLst/>
                <a:ahLst/>
                <a:cxnLst/>
                <a:rect r="r" b="b" t="t" l="l"/>
                <a:pathLst>
                  <a:path h="233907" w="2873982">
                    <a:moveTo>
                      <a:pt x="70948" y="0"/>
                    </a:moveTo>
                    <a:lnTo>
                      <a:pt x="2803035" y="0"/>
                    </a:lnTo>
                    <a:cubicBezTo>
                      <a:pt x="2842218" y="0"/>
                      <a:pt x="2873982" y="31764"/>
                      <a:pt x="2873982" y="70948"/>
                    </a:cubicBezTo>
                    <a:lnTo>
                      <a:pt x="2873982" y="162959"/>
                    </a:lnTo>
                    <a:cubicBezTo>
                      <a:pt x="2873982" y="202143"/>
                      <a:pt x="2842218" y="233907"/>
                      <a:pt x="2803035" y="233907"/>
                    </a:cubicBezTo>
                    <a:lnTo>
                      <a:pt x="70948" y="233907"/>
                    </a:lnTo>
                    <a:cubicBezTo>
                      <a:pt x="31764" y="233907"/>
                      <a:pt x="0" y="202143"/>
                      <a:pt x="0" y="162959"/>
                    </a:cubicBezTo>
                    <a:lnTo>
                      <a:pt x="0" y="70948"/>
                    </a:lnTo>
                    <a:cubicBezTo>
                      <a:pt x="0" y="31764"/>
                      <a:pt x="31764" y="0"/>
                      <a:pt x="70948" y="0"/>
                    </a:cubicBezTo>
                    <a:close/>
                  </a:path>
                </a:pathLst>
              </a:custGeom>
              <a:solidFill>
                <a:srgbClr val="FFFFFF"/>
              </a:solidFill>
              <a:ln cap="rnd">
                <a:noFill/>
                <a:prstDash val="solid"/>
                <a:round/>
              </a:ln>
            </p:spPr>
          </p:sp>
          <p:sp>
            <p:nvSpPr>
              <p:cNvPr name="TextBox 36" id="36"/>
              <p:cNvSpPr txBox="true"/>
              <p:nvPr/>
            </p:nvSpPr>
            <p:spPr>
              <a:xfrm>
                <a:off x="0" y="-57150"/>
                <a:ext cx="2873982" cy="291057"/>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435416" y="141884"/>
              <a:ext cx="14179004"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3. Triển khai hoạt động trên nền tảng TikTok</a:t>
              </a:r>
            </a:p>
          </p:txBody>
        </p:sp>
      </p:grpSp>
      <p:sp>
        <p:nvSpPr>
          <p:cNvPr name="TextBox 38" id="38"/>
          <p:cNvSpPr txBox="true"/>
          <p:nvPr/>
        </p:nvSpPr>
        <p:spPr>
          <a:xfrm rot="0">
            <a:off x="1073631" y="4647988"/>
            <a:ext cx="4558717" cy="556829"/>
          </a:xfrm>
          <a:prstGeom prst="rect">
            <a:avLst/>
          </a:prstGeom>
        </p:spPr>
        <p:txBody>
          <a:bodyPr anchor="t" rtlCol="false" tIns="0" lIns="0" bIns="0" rIns="0">
            <a:spAutoFit/>
          </a:bodyPr>
          <a:lstStyle/>
          <a:p>
            <a:pPr algn="ctr" marL="0" indent="0" lvl="0">
              <a:lnSpc>
                <a:spcPts val="4480"/>
              </a:lnSpc>
              <a:spcBef>
                <a:spcPct val="0"/>
              </a:spcBef>
            </a:pPr>
            <a:r>
              <a:rPr lang="en-US" b="true" sz="3200">
                <a:solidFill>
                  <a:srgbClr val="FDF6F2"/>
                </a:solidFill>
                <a:latin typeface="Work Sans Bold"/>
                <a:ea typeface="Work Sans Bold"/>
                <a:cs typeface="Work Sans Bold"/>
                <a:sym typeface="Work Sans Bold"/>
              </a:rPr>
              <a:t>Mục tiêu</a:t>
            </a:r>
          </a:p>
        </p:txBody>
      </p:sp>
      <p:sp>
        <p:nvSpPr>
          <p:cNvPr name="TextBox 39" id="39"/>
          <p:cNvSpPr txBox="true"/>
          <p:nvPr/>
        </p:nvSpPr>
        <p:spPr>
          <a:xfrm rot="0">
            <a:off x="6933049" y="4367033"/>
            <a:ext cx="4359709" cy="1118738"/>
          </a:xfrm>
          <a:prstGeom prst="rect">
            <a:avLst/>
          </a:prstGeom>
        </p:spPr>
        <p:txBody>
          <a:bodyPr anchor="t" rtlCol="false" tIns="0" lIns="0" bIns="0" rIns="0">
            <a:spAutoFit/>
          </a:bodyPr>
          <a:lstStyle/>
          <a:p>
            <a:pPr algn="ctr" marL="0" indent="0" lvl="0">
              <a:lnSpc>
                <a:spcPts val="4480"/>
              </a:lnSpc>
              <a:spcBef>
                <a:spcPct val="0"/>
              </a:spcBef>
            </a:pPr>
            <a:r>
              <a:rPr lang="en-US" b="true" sz="3200">
                <a:solidFill>
                  <a:srgbClr val="FDF6F2"/>
                </a:solidFill>
                <a:latin typeface="Work Sans Bold"/>
                <a:ea typeface="Work Sans Bold"/>
                <a:cs typeface="Work Sans Bold"/>
                <a:sym typeface="Work Sans Bold"/>
              </a:rPr>
              <a:t>Hoạt động triển khai thực tế</a:t>
            </a:r>
          </a:p>
        </p:txBody>
      </p:sp>
      <p:sp>
        <p:nvSpPr>
          <p:cNvPr name="TextBox 40" id="40"/>
          <p:cNvSpPr txBox="true"/>
          <p:nvPr/>
        </p:nvSpPr>
        <p:spPr>
          <a:xfrm rot="0">
            <a:off x="1217868" y="5877161"/>
            <a:ext cx="4587110" cy="4079783"/>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50212A"/>
                </a:solidFill>
                <a:latin typeface="Work Sans"/>
                <a:ea typeface="Work Sans"/>
                <a:cs typeface="Work Sans"/>
                <a:sym typeface="Work Sans"/>
              </a:rPr>
              <a:t>K</a:t>
            </a:r>
            <a:r>
              <a:rPr lang="en-US" sz="2099" strike="noStrike" u="none">
                <a:solidFill>
                  <a:srgbClr val="50212A"/>
                </a:solidFill>
                <a:latin typeface="Work Sans"/>
                <a:ea typeface="Work Sans"/>
                <a:cs typeface="Work Sans"/>
                <a:sym typeface="Work Sans"/>
              </a:rPr>
              <a:t>ênh truyền thông tiktok trọng tâm để tiếp cận h</a:t>
            </a:r>
            <a:r>
              <a:rPr lang="en-US" sz="2099" strike="noStrike" u="none">
                <a:solidFill>
                  <a:srgbClr val="50212A"/>
                </a:solidFill>
                <a:latin typeface="Work Sans"/>
                <a:ea typeface="Work Sans"/>
                <a:cs typeface="Work Sans"/>
                <a:sym typeface="Work Sans"/>
              </a:rPr>
              <a:t>ọc</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s</a:t>
            </a:r>
            <a:r>
              <a:rPr lang="en-US" sz="2099" strike="noStrike" u="none">
                <a:solidFill>
                  <a:srgbClr val="50212A"/>
                </a:solidFill>
                <a:latin typeface="Work Sans"/>
                <a:ea typeface="Work Sans"/>
                <a:cs typeface="Work Sans"/>
                <a:sym typeface="Work Sans"/>
              </a:rPr>
              <a:t>in</a:t>
            </a:r>
            <a:r>
              <a:rPr lang="en-US" sz="2099" strike="noStrike" u="none">
                <a:solidFill>
                  <a:srgbClr val="50212A"/>
                </a:solidFill>
                <a:latin typeface="Work Sans"/>
                <a:ea typeface="Work Sans"/>
                <a:cs typeface="Work Sans"/>
                <a:sym typeface="Work Sans"/>
              </a:rPr>
              <a:t>h THPT</a:t>
            </a:r>
            <a:r>
              <a:rPr lang="en-US" sz="2099" strike="noStrike" u="none">
                <a:solidFill>
                  <a:srgbClr val="50212A"/>
                </a:solidFill>
                <a:latin typeface="Work Sans"/>
                <a:ea typeface="Work Sans"/>
                <a:cs typeface="Work Sans"/>
                <a:sym typeface="Work Sans"/>
              </a:rPr>
              <a:t> và gia tăng nhận diện ngành CNGD.</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Q</a:t>
            </a:r>
            <a:r>
              <a:rPr lang="en-US" sz="2099" strike="noStrike" u="none">
                <a:solidFill>
                  <a:srgbClr val="50212A"/>
                </a:solidFill>
                <a:latin typeface="Work Sans"/>
                <a:ea typeface="Work Sans"/>
                <a:cs typeface="Work Sans"/>
                <a:sym typeface="Work Sans"/>
              </a:rPr>
              <a:t>ua các video ngắn, tr</a:t>
            </a:r>
            <a:r>
              <a:rPr lang="en-US" sz="2099" strike="noStrike" u="none">
                <a:solidFill>
                  <a:srgbClr val="50212A"/>
                </a:solidFill>
                <a:latin typeface="Work Sans"/>
                <a:ea typeface="Work Sans"/>
                <a:cs typeface="Work Sans"/>
                <a:sym typeface="Work Sans"/>
              </a:rPr>
              <a:t>ực</a:t>
            </a:r>
            <a:r>
              <a:rPr lang="en-US" sz="2099" strike="noStrike" u="none">
                <a:solidFill>
                  <a:srgbClr val="50212A"/>
                </a:solidFill>
                <a:latin typeface="Work Sans"/>
                <a:ea typeface="Work Sans"/>
                <a:cs typeface="Work Sans"/>
                <a:sym typeface="Work Sans"/>
              </a:rPr>
              <a:t> quan và h</a:t>
            </a:r>
            <a:r>
              <a:rPr lang="en-US" sz="2099" strike="noStrike" u="none">
                <a:solidFill>
                  <a:srgbClr val="50212A"/>
                </a:solidFill>
                <a:latin typeface="Work Sans"/>
                <a:ea typeface="Work Sans"/>
                <a:cs typeface="Work Sans"/>
                <a:sym typeface="Work Sans"/>
              </a:rPr>
              <a:t>ấ</a:t>
            </a:r>
            <a:r>
              <a:rPr lang="en-US" sz="2099" strike="noStrike" u="none">
                <a:solidFill>
                  <a:srgbClr val="50212A"/>
                </a:solidFill>
                <a:latin typeface="Work Sans"/>
                <a:ea typeface="Work Sans"/>
                <a:cs typeface="Work Sans"/>
                <a:sym typeface="Work Sans"/>
              </a:rPr>
              <a:t>p dẫn, giúp giới thiệu ng</a:t>
            </a:r>
            <a:r>
              <a:rPr lang="en-US" sz="2099" strike="noStrike" u="none">
                <a:solidFill>
                  <a:srgbClr val="50212A"/>
                </a:solidFill>
                <a:latin typeface="Work Sans"/>
                <a:ea typeface="Work Sans"/>
                <a:cs typeface="Work Sans"/>
                <a:sym typeface="Work Sans"/>
              </a:rPr>
              <a:t>ành</a:t>
            </a:r>
            <a:r>
              <a:rPr lang="en-US" sz="2099" strike="noStrike" u="none">
                <a:solidFill>
                  <a:srgbClr val="50212A"/>
                </a:solidFill>
                <a:latin typeface="Work Sans"/>
                <a:ea typeface="Work Sans"/>
                <a:cs typeface="Work Sans"/>
                <a:sym typeface="Work Sans"/>
              </a:rPr>
              <a:t> học gần gũi, gợi sự quan tâm của học sinh.</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Điều hướng người xem truy </a:t>
            </a:r>
            <a:r>
              <a:rPr lang="en-US" sz="2099" strike="noStrike" u="none">
                <a:solidFill>
                  <a:srgbClr val="50212A"/>
                </a:solidFill>
                <a:latin typeface="Work Sans"/>
                <a:ea typeface="Work Sans"/>
                <a:cs typeface="Work Sans"/>
                <a:sym typeface="Work Sans"/>
              </a:rPr>
              <a:t>cập Websi</a:t>
            </a:r>
            <a:r>
              <a:rPr lang="en-US" sz="2099" strike="noStrike" u="none">
                <a:solidFill>
                  <a:srgbClr val="50212A"/>
                </a:solidFill>
                <a:latin typeface="Work Sans"/>
                <a:ea typeface="Work Sans"/>
                <a:cs typeface="Work Sans"/>
                <a:sym typeface="Work Sans"/>
              </a:rPr>
              <a:t>te h</a:t>
            </a:r>
            <a:r>
              <a:rPr lang="en-US" sz="2099" strike="noStrike" u="none">
                <a:solidFill>
                  <a:srgbClr val="50212A"/>
                </a:solidFill>
                <a:latin typeface="Work Sans"/>
                <a:ea typeface="Work Sans"/>
                <a:cs typeface="Work Sans"/>
                <a:sym typeface="Work Sans"/>
              </a:rPr>
              <a:t>oặ</a:t>
            </a:r>
            <a:r>
              <a:rPr lang="en-US" sz="2099" strike="noStrike" u="none">
                <a:solidFill>
                  <a:srgbClr val="50212A"/>
                </a:solidFill>
                <a:latin typeface="Work Sans"/>
                <a:ea typeface="Work Sans"/>
                <a:cs typeface="Work Sans"/>
                <a:sym typeface="Work Sans"/>
              </a:rPr>
              <a:t>c đăng ký tham gia sự kiện </a:t>
            </a:r>
            <a:r>
              <a:rPr lang="en-US" sz="2099" strike="noStrike" u="none">
                <a:solidFill>
                  <a:srgbClr val="50212A"/>
                </a:solidFill>
                <a:latin typeface="Work Sans"/>
                <a:ea typeface="Work Sans"/>
                <a:cs typeface="Work Sans"/>
                <a:sym typeface="Work Sans"/>
              </a:rPr>
              <a:t>OpenDay </a:t>
            </a:r>
            <a:r>
              <a:rPr lang="en-US" sz="2099" strike="noStrike" u="none">
                <a:solidFill>
                  <a:srgbClr val="50212A"/>
                </a:solidFill>
                <a:latin typeface="Work Sans"/>
                <a:ea typeface="Work Sans"/>
                <a:cs typeface="Work Sans"/>
                <a:sym typeface="Work Sans"/>
              </a:rPr>
              <a:t>ngày 19/07/2026.</a:t>
            </a:r>
          </a:p>
        </p:txBody>
      </p:sp>
      <p:sp>
        <p:nvSpPr>
          <p:cNvPr name="TextBox 41" id="41"/>
          <p:cNvSpPr txBox="true"/>
          <p:nvPr/>
        </p:nvSpPr>
        <p:spPr>
          <a:xfrm rot="0">
            <a:off x="6975160" y="5877161"/>
            <a:ext cx="4337680" cy="4079783"/>
          </a:xfrm>
          <a:prstGeom prst="rect">
            <a:avLst/>
          </a:prstGeom>
        </p:spPr>
        <p:txBody>
          <a:bodyPr anchor="t" rtlCol="false" tIns="0" lIns="0" bIns="0" rIns="0">
            <a:spAutoFit/>
          </a:bodyPr>
          <a:lstStyle/>
          <a:p>
            <a:pPr algn="l">
              <a:lnSpc>
                <a:spcPts val="2939"/>
              </a:lnSpc>
            </a:pPr>
            <a:r>
              <a:rPr lang="en-US" sz="2099">
                <a:solidFill>
                  <a:srgbClr val="50212A"/>
                </a:solidFill>
                <a:latin typeface="Work Sans"/>
                <a:ea typeface="Work Sans"/>
                <a:cs typeface="Work Sans"/>
                <a:sym typeface="Work Sans"/>
              </a:rPr>
              <a:t>Từ 10/05 đến</a:t>
            </a:r>
            <a:r>
              <a:rPr lang="en-US" sz="2099" strike="noStrike" u="none">
                <a:solidFill>
                  <a:srgbClr val="50212A"/>
                </a:solidFill>
                <a:latin typeface="Work Sans"/>
                <a:ea typeface="Work Sans"/>
                <a:cs typeface="Work Sans"/>
                <a:sym typeface="Work Sans"/>
              </a:rPr>
              <a:t> 19/06/2026, triển khai sản xuất và đăng tải video TikTok </a:t>
            </a:r>
            <a:r>
              <a:rPr lang="en-US" sz="2099" strike="noStrike" u="none">
                <a:solidFill>
                  <a:srgbClr val="50212A"/>
                </a:solidFill>
                <a:latin typeface="Work Sans"/>
                <a:ea typeface="Work Sans"/>
                <a:cs typeface="Work Sans"/>
                <a:sym typeface="Work Sans"/>
              </a:rPr>
              <a:t>ngắn:</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Sử dụng âm thanh xu hướng và h</a:t>
            </a:r>
            <a:r>
              <a:rPr lang="en-US" sz="2099" strike="noStrike" u="none">
                <a:solidFill>
                  <a:srgbClr val="50212A"/>
                </a:solidFill>
                <a:latin typeface="Work Sans"/>
                <a:ea typeface="Work Sans"/>
                <a:cs typeface="Work Sans"/>
                <a:sym typeface="Work Sans"/>
              </a:rPr>
              <a:t>iệ</a:t>
            </a:r>
            <a:r>
              <a:rPr lang="en-US" sz="2099" strike="noStrike" u="none">
                <a:solidFill>
                  <a:srgbClr val="50212A"/>
                </a:solidFill>
                <a:latin typeface="Work Sans"/>
                <a:ea typeface="Work Sans"/>
                <a:cs typeface="Work Sans"/>
                <a:sym typeface="Work Sans"/>
              </a:rPr>
              <a:t>u ứng phù hợp để </a:t>
            </a:r>
            <a:r>
              <a:rPr lang="en-US" sz="2099" strike="noStrike" u="none">
                <a:solidFill>
                  <a:srgbClr val="50212A"/>
                </a:solidFill>
                <a:latin typeface="Work Sans"/>
                <a:ea typeface="Work Sans"/>
                <a:cs typeface="Work Sans"/>
                <a:sym typeface="Work Sans"/>
              </a:rPr>
              <a:t>thu</a:t>
            </a:r>
            <a:r>
              <a:rPr lang="en-US" sz="2099" strike="noStrike" u="none">
                <a:solidFill>
                  <a:srgbClr val="50212A"/>
                </a:solidFill>
                <a:latin typeface="Work Sans"/>
                <a:ea typeface="Work Sans"/>
                <a:cs typeface="Work Sans"/>
                <a:sym typeface="Work Sans"/>
              </a:rPr>
              <a:t> </a:t>
            </a:r>
            <a:r>
              <a:rPr lang="en-US" sz="2099" strike="noStrike" u="none">
                <a:solidFill>
                  <a:srgbClr val="50212A"/>
                </a:solidFill>
                <a:latin typeface="Work Sans"/>
                <a:ea typeface="Work Sans"/>
                <a:cs typeface="Work Sans"/>
                <a:sym typeface="Work Sans"/>
              </a:rPr>
              <a:t>hút</a:t>
            </a:r>
            <a:r>
              <a:rPr lang="en-US" sz="2099" strike="noStrike" u="none">
                <a:solidFill>
                  <a:srgbClr val="50212A"/>
                </a:solidFill>
                <a:latin typeface="Work Sans"/>
                <a:ea typeface="Work Sans"/>
                <a:cs typeface="Work Sans"/>
                <a:sym typeface="Work Sans"/>
              </a:rPr>
              <a:t> học sinh THPT</a:t>
            </a:r>
            <a:r>
              <a:rPr lang="en-US" sz="2099" strike="noStrike" u="none">
                <a:solidFill>
                  <a:srgbClr val="50212A"/>
                </a:solidFill>
                <a:latin typeface="Work Sans"/>
                <a:ea typeface="Work Sans"/>
                <a:cs typeface="Work Sans"/>
                <a:sym typeface="Work Sans"/>
              </a:rPr>
              <a:t>.</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Gắn hashtag chiến dịch và kêu gọi người xem truy cập Facebook, Website,... góp phần tăng nhận diện và hiệu quả truyền thông.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357147">
            <a:off x="12298930" y="286501"/>
            <a:ext cx="6247495" cy="13888595"/>
            <a:chOff x="0" y="0"/>
            <a:chExt cx="8329993" cy="18518127"/>
          </a:xfrm>
        </p:grpSpPr>
        <p:grpSp>
          <p:nvGrpSpPr>
            <p:cNvPr name="Group 3" id="3"/>
            <p:cNvGrpSpPr>
              <a:grpSpLocks noChangeAspect="true"/>
            </p:cNvGrpSpPr>
            <p:nvPr/>
          </p:nvGrpSpPr>
          <p:grpSpPr>
            <a:xfrm rot="422501">
              <a:off x="1154275" y="6251172"/>
              <a:ext cx="6043693" cy="6038034"/>
              <a:chOff x="0" y="0"/>
              <a:chExt cx="3255264" cy="3252216"/>
            </a:xfrm>
          </p:grpSpPr>
          <p:sp>
            <p:nvSpPr>
              <p:cNvPr name="Freeform 4" id="4"/>
              <p:cNvSpPr/>
              <p:nvPr/>
            </p:nvSpPr>
            <p:spPr>
              <a:xfrm flipH="false" flipV="false" rot="0">
                <a:off x="0" y="0"/>
                <a:ext cx="3255264" cy="3252216"/>
              </a:xfrm>
              <a:custGeom>
                <a:avLst/>
                <a:gdLst/>
                <a:ahLst/>
                <a:cxnLst/>
                <a:rect r="r" b="b" t="t" l="l"/>
                <a:pathLst>
                  <a:path h="3252216" w="3255264">
                    <a:moveTo>
                      <a:pt x="3255264" y="3252216"/>
                    </a:moveTo>
                    <a:lnTo>
                      <a:pt x="0" y="3252216"/>
                    </a:lnTo>
                    <a:lnTo>
                      <a:pt x="0" y="0"/>
                    </a:lnTo>
                    <a:lnTo>
                      <a:pt x="3255264" y="0"/>
                    </a:lnTo>
                    <a:lnTo>
                      <a:pt x="3255264" y="3252216"/>
                    </a:lnTo>
                    <a:close/>
                  </a:path>
                </a:pathLst>
              </a:custGeom>
              <a:blipFill>
                <a:blip r:embed="rId2"/>
                <a:stretch>
                  <a:fillRect l="-15" t="0" r="-15" b="0"/>
                </a:stretch>
              </a:blipFill>
            </p:spPr>
          </p:sp>
          <p:sp>
            <p:nvSpPr>
              <p:cNvPr name="Freeform 5" id="5"/>
              <p:cNvSpPr/>
              <p:nvPr/>
            </p:nvSpPr>
            <p:spPr>
              <a:xfrm flipH="false" flipV="false" rot="0">
                <a:off x="178981" y="170596"/>
                <a:ext cx="2903337" cy="2874918"/>
              </a:xfrm>
              <a:custGeom>
                <a:avLst/>
                <a:gdLst/>
                <a:ahLst/>
                <a:cxnLst/>
                <a:rect r="r" b="b" t="t" l="l"/>
                <a:pathLst>
                  <a:path h="2874918" w="2903337">
                    <a:moveTo>
                      <a:pt x="65410" y="2"/>
                    </a:moveTo>
                    <a:lnTo>
                      <a:pt x="2878279" y="31831"/>
                    </a:lnTo>
                    <a:cubicBezTo>
                      <a:pt x="2892304" y="31989"/>
                      <a:pt x="2903534" y="43509"/>
                      <a:pt x="2903334" y="57535"/>
                    </a:cubicBezTo>
                    <a:lnTo>
                      <a:pt x="2863557" y="2849935"/>
                    </a:lnTo>
                    <a:cubicBezTo>
                      <a:pt x="2863356" y="2863986"/>
                      <a:pt x="2851762" y="2875193"/>
                      <a:pt x="2837712" y="2874913"/>
                    </a:cubicBezTo>
                    <a:lnTo>
                      <a:pt x="24844" y="2819214"/>
                    </a:lnTo>
                    <a:cubicBezTo>
                      <a:pt x="10903" y="2818938"/>
                      <a:pt x="-197" y="2807452"/>
                      <a:pt x="3" y="2793509"/>
                    </a:cubicBezTo>
                    <a:lnTo>
                      <a:pt x="39780" y="24980"/>
                    </a:lnTo>
                    <a:cubicBezTo>
                      <a:pt x="39982" y="11015"/>
                      <a:pt x="51444" y="-156"/>
                      <a:pt x="65410" y="2"/>
                    </a:cubicBezTo>
                    <a:close/>
                  </a:path>
                </a:pathLst>
              </a:custGeom>
              <a:blipFill>
                <a:blip r:embed="rId3"/>
                <a:stretch>
                  <a:fillRect l="0" t="-2880" r="0" b="-50550"/>
                </a:stretch>
              </a:blipFill>
            </p:spPr>
          </p:sp>
        </p:grpSp>
        <p:grpSp>
          <p:nvGrpSpPr>
            <p:cNvPr name="Group 6" id="6"/>
            <p:cNvGrpSpPr>
              <a:grpSpLocks noChangeAspect="true"/>
            </p:cNvGrpSpPr>
            <p:nvPr/>
          </p:nvGrpSpPr>
          <p:grpSpPr>
            <a:xfrm rot="422501">
              <a:off x="1938987" y="347681"/>
              <a:ext cx="6043693" cy="6038034"/>
              <a:chOff x="0" y="0"/>
              <a:chExt cx="3255264" cy="3252216"/>
            </a:xfrm>
          </p:grpSpPr>
          <p:sp>
            <p:nvSpPr>
              <p:cNvPr name="Freeform 7" id="7"/>
              <p:cNvSpPr/>
              <p:nvPr/>
            </p:nvSpPr>
            <p:spPr>
              <a:xfrm flipH="false" flipV="false" rot="0">
                <a:off x="0" y="0"/>
                <a:ext cx="3255264" cy="3252216"/>
              </a:xfrm>
              <a:custGeom>
                <a:avLst/>
                <a:gdLst/>
                <a:ahLst/>
                <a:cxnLst/>
                <a:rect r="r" b="b" t="t" l="l"/>
                <a:pathLst>
                  <a:path h="3252216" w="3255264">
                    <a:moveTo>
                      <a:pt x="3255264" y="3252216"/>
                    </a:moveTo>
                    <a:lnTo>
                      <a:pt x="0" y="3252216"/>
                    </a:lnTo>
                    <a:lnTo>
                      <a:pt x="0" y="0"/>
                    </a:lnTo>
                    <a:lnTo>
                      <a:pt x="3255264" y="0"/>
                    </a:lnTo>
                    <a:lnTo>
                      <a:pt x="3255264" y="3252216"/>
                    </a:lnTo>
                    <a:close/>
                  </a:path>
                </a:pathLst>
              </a:custGeom>
              <a:blipFill>
                <a:blip r:embed="rId2"/>
                <a:stretch>
                  <a:fillRect l="-15" t="0" r="-15" b="0"/>
                </a:stretch>
              </a:blipFill>
            </p:spPr>
          </p:sp>
          <p:sp>
            <p:nvSpPr>
              <p:cNvPr name="Freeform 8" id="8"/>
              <p:cNvSpPr/>
              <p:nvPr/>
            </p:nvSpPr>
            <p:spPr>
              <a:xfrm flipH="false" flipV="false" rot="0">
                <a:off x="178981" y="170596"/>
                <a:ext cx="2903337" cy="2874918"/>
              </a:xfrm>
              <a:custGeom>
                <a:avLst/>
                <a:gdLst/>
                <a:ahLst/>
                <a:cxnLst/>
                <a:rect r="r" b="b" t="t" l="l"/>
                <a:pathLst>
                  <a:path h="2874918" w="2903337">
                    <a:moveTo>
                      <a:pt x="65410" y="2"/>
                    </a:moveTo>
                    <a:lnTo>
                      <a:pt x="2878279" y="31831"/>
                    </a:lnTo>
                    <a:cubicBezTo>
                      <a:pt x="2892304" y="31989"/>
                      <a:pt x="2903534" y="43509"/>
                      <a:pt x="2903334" y="57535"/>
                    </a:cubicBezTo>
                    <a:lnTo>
                      <a:pt x="2863557" y="2849935"/>
                    </a:lnTo>
                    <a:cubicBezTo>
                      <a:pt x="2863356" y="2863986"/>
                      <a:pt x="2851762" y="2875193"/>
                      <a:pt x="2837712" y="2874913"/>
                    </a:cubicBezTo>
                    <a:lnTo>
                      <a:pt x="24844" y="2819214"/>
                    </a:lnTo>
                    <a:cubicBezTo>
                      <a:pt x="10903" y="2818938"/>
                      <a:pt x="-197" y="2807452"/>
                      <a:pt x="3" y="2793509"/>
                    </a:cubicBezTo>
                    <a:lnTo>
                      <a:pt x="39780" y="24980"/>
                    </a:lnTo>
                    <a:cubicBezTo>
                      <a:pt x="39982" y="11015"/>
                      <a:pt x="51444" y="-156"/>
                      <a:pt x="65410" y="2"/>
                    </a:cubicBezTo>
                    <a:close/>
                  </a:path>
                </a:pathLst>
              </a:custGeom>
              <a:blipFill>
                <a:blip r:embed="rId4"/>
                <a:stretch>
                  <a:fillRect l="-85390" t="-135" r="-54485" b="-17119"/>
                </a:stretch>
              </a:blipFill>
            </p:spPr>
          </p:sp>
        </p:grpSp>
        <p:grpSp>
          <p:nvGrpSpPr>
            <p:cNvPr name="Group 9" id="9"/>
            <p:cNvGrpSpPr>
              <a:grpSpLocks noChangeAspect="true"/>
            </p:cNvGrpSpPr>
            <p:nvPr/>
          </p:nvGrpSpPr>
          <p:grpSpPr>
            <a:xfrm rot="422501">
              <a:off x="347313" y="12132412"/>
              <a:ext cx="6043693" cy="6038034"/>
              <a:chOff x="0" y="0"/>
              <a:chExt cx="3255264" cy="3252216"/>
            </a:xfrm>
          </p:grpSpPr>
          <p:sp>
            <p:nvSpPr>
              <p:cNvPr name="Freeform 10" id="10"/>
              <p:cNvSpPr/>
              <p:nvPr/>
            </p:nvSpPr>
            <p:spPr>
              <a:xfrm flipH="false" flipV="false" rot="0">
                <a:off x="0" y="0"/>
                <a:ext cx="3255264" cy="3252216"/>
              </a:xfrm>
              <a:custGeom>
                <a:avLst/>
                <a:gdLst/>
                <a:ahLst/>
                <a:cxnLst/>
                <a:rect r="r" b="b" t="t" l="l"/>
                <a:pathLst>
                  <a:path h="3252216" w="3255264">
                    <a:moveTo>
                      <a:pt x="3255264" y="3252216"/>
                    </a:moveTo>
                    <a:lnTo>
                      <a:pt x="0" y="3252216"/>
                    </a:lnTo>
                    <a:lnTo>
                      <a:pt x="0" y="0"/>
                    </a:lnTo>
                    <a:lnTo>
                      <a:pt x="3255264" y="0"/>
                    </a:lnTo>
                    <a:lnTo>
                      <a:pt x="3255264" y="3252216"/>
                    </a:lnTo>
                    <a:close/>
                  </a:path>
                </a:pathLst>
              </a:custGeom>
              <a:blipFill>
                <a:blip r:embed="rId2"/>
                <a:stretch>
                  <a:fillRect l="-15" t="0" r="-15" b="0"/>
                </a:stretch>
              </a:blipFill>
            </p:spPr>
          </p:sp>
          <p:sp>
            <p:nvSpPr>
              <p:cNvPr name="Freeform 11" id="11"/>
              <p:cNvSpPr/>
              <p:nvPr/>
            </p:nvSpPr>
            <p:spPr>
              <a:xfrm flipH="false" flipV="false" rot="0">
                <a:off x="178981" y="170596"/>
                <a:ext cx="2903337" cy="2874918"/>
              </a:xfrm>
              <a:custGeom>
                <a:avLst/>
                <a:gdLst/>
                <a:ahLst/>
                <a:cxnLst/>
                <a:rect r="r" b="b" t="t" l="l"/>
                <a:pathLst>
                  <a:path h="2874918" w="2903337">
                    <a:moveTo>
                      <a:pt x="65410" y="2"/>
                    </a:moveTo>
                    <a:lnTo>
                      <a:pt x="2878279" y="31831"/>
                    </a:lnTo>
                    <a:cubicBezTo>
                      <a:pt x="2892304" y="31989"/>
                      <a:pt x="2903534" y="43509"/>
                      <a:pt x="2903334" y="57535"/>
                    </a:cubicBezTo>
                    <a:lnTo>
                      <a:pt x="2863557" y="2849935"/>
                    </a:lnTo>
                    <a:cubicBezTo>
                      <a:pt x="2863356" y="2863986"/>
                      <a:pt x="2851762" y="2875193"/>
                      <a:pt x="2837712" y="2874913"/>
                    </a:cubicBezTo>
                    <a:lnTo>
                      <a:pt x="24844" y="2819214"/>
                    </a:lnTo>
                    <a:cubicBezTo>
                      <a:pt x="10903" y="2818938"/>
                      <a:pt x="-197" y="2807452"/>
                      <a:pt x="3" y="2793509"/>
                    </a:cubicBezTo>
                    <a:lnTo>
                      <a:pt x="39780" y="24980"/>
                    </a:lnTo>
                    <a:cubicBezTo>
                      <a:pt x="39982" y="11015"/>
                      <a:pt x="51444" y="-156"/>
                      <a:pt x="65410" y="2"/>
                    </a:cubicBezTo>
                    <a:close/>
                  </a:path>
                </a:pathLst>
              </a:custGeom>
              <a:blipFill>
                <a:blip r:embed="rId5"/>
                <a:stretch>
                  <a:fillRect l="-10226" t="-7108" r="-63518" b="-8880"/>
                </a:stretch>
              </a:blipFill>
            </p:spPr>
          </p:sp>
        </p:grpSp>
      </p:grpSp>
      <p:grpSp>
        <p:nvGrpSpPr>
          <p:cNvPr name="Group 12" id="12"/>
          <p:cNvGrpSpPr/>
          <p:nvPr/>
        </p:nvGrpSpPr>
        <p:grpSpPr>
          <a:xfrm rot="0">
            <a:off x="303714" y="315711"/>
            <a:ext cx="17680571" cy="1237205"/>
            <a:chOff x="0" y="0"/>
            <a:chExt cx="4656611" cy="325848"/>
          </a:xfrm>
        </p:grpSpPr>
        <p:sp>
          <p:nvSpPr>
            <p:cNvPr name="Freeform 13" id="1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14" id="1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688530" y="490255"/>
            <a:ext cx="1118439" cy="888116"/>
            <a:chOff x="0" y="0"/>
            <a:chExt cx="294568" cy="233907"/>
          </a:xfrm>
        </p:grpSpPr>
        <p:sp>
          <p:nvSpPr>
            <p:cNvPr name="Freeform 16" id="1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7" id="1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7235378" y="1744562"/>
            <a:ext cx="3817244" cy="3398938"/>
          </a:xfrm>
          <a:custGeom>
            <a:avLst/>
            <a:gdLst/>
            <a:ahLst/>
            <a:cxnLst/>
            <a:rect r="r" b="b" t="t" l="l"/>
            <a:pathLst>
              <a:path h="3398938" w="3817244">
                <a:moveTo>
                  <a:pt x="0" y="0"/>
                </a:moveTo>
                <a:lnTo>
                  <a:pt x="3817244" y="0"/>
                </a:lnTo>
                <a:lnTo>
                  <a:pt x="3817244" y="3398938"/>
                </a:lnTo>
                <a:lnTo>
                  <a:pt x="0" y="33989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2184150" y="1619590"/>
            <a:ext cx="2654545" cy="2733123"/>
          </a:xfrm>
          <a:custGeom>
            <a:avLst/>
            <a:gdLst/>
            <a:ahLst/>
            <a:cxnLst/>
            <a:rect r="r" b="b" t="t" l="l"/>
            <a:pathLst>
              <a:path h="2733123" w="2654545">
                <a:moveTo>
                  <a:pt x="0" y="0"/>
                </a:moveTo>
                <a:lnTo>
                  <a:pt x="2654545" y="0"/>
                </a:lnTo>
                <a:lnTo>
                  <a:pt x="2654545" y="2733123"/>
                </a:lnTo>
                <a:lnTo>
                  <a:pt x="0" y="27331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1" id="21"/>
          <p:cNvGrpSpPr/>
          <p:nvPr/>
        </p:nvGrpSpPr>
        <p:grpSpPr>
          <a:xfrm rot="0">
            <a:off x="802043" y="4284623"/>
            <a:ext cx="5192102" cy="8331267"/>
            <a:chOff x="0" y="0"/>
            <a:chExt cx="1367467" cy="2194243"/>
          </a:xfrm>
        </p:grpSpPr>
        <p:sp>
          <p:nvSpPr>
            <p:cNvPr name="Freeform 22" id="22"/>
            <p:cNvSpPr/>
            <p:nvPr/>
          </p:nvSpPr>
          <p:spPr>
            <a:xfrm flipH="false" flipV="false" rot="0">
              <a:off x="0" y="0"/>
              <a:ext cx="1367467" cy="2194243"/>
            </a:xfrm>
            <a:custGeom>
              <a:avLst/>
              <a:gdLst/>
              <a:ahLst/>
              <a:cxnLst/>
              <a:rect r="r" b="b" t="t" l="l"/>
              <a:pathLst>
                <a:path h="2194243" w="1367467">
                  <a:moveTo>
                    <a:pt x="134199" y="0"/>
                  </a:moveTo>
                  <a:lnTo>
                    <a:pt x="1233269" y="0"/>
                  </a:lnTo>
                  <a:cubicBezTo>
                    <a:pt x="1307385" y="0"/>
                    <a:pt x="1367467" y="60083"/>
                    <a:pt x="1367467" y="134199"/>
                  </a:cubicBezTo>
                  <a:lnTo>
                    <a:pt x="1367467" y="2060045"/>
                  </a:lnTo>
                  <a:cubicBezTo>
                    <a:pt x="1367467" y="2095636"/>
                    <a:pt x="1353329" y="2129770"/>
                    <a:pt x="1328161" y="2154937"/>
                  </a:cubicBezTo>
                  <a:cubicBezTo>
                    <a:pt x="1302994" y="2180105"/>
                    <a:pt x="1268860" y="2194243"/>
                    <a:pt x="1233269" y="2194243"/>
                  </a:cubicBezTo>
                  <a:lnTo>
                    <a:pt x="134199" y="2194243"/>
                  </a:lnTo>
                  <a:cubicBezTo>
                    <a:pt x="98607" y="2194243"/>
                    <a:pt x="64473" y="2180105"/>
                    <a:pt x="39306" y="2154937"/>
                  </a:cubicBezTo>
                  <a:cubicBezTo>
                    <a:pt x="14139" y="2129770"/>
                    <a:pt x="0" y="2095636"/>
                    <a:pt x="0" y="2060045"/>
                  </a:cubicBezTo>
                  <a:lnTo>
                    <a:pt x="0" y="134199"/>
                  </a:lnTo>
                  <a:cubicBezTo>
                    <a:pt x="0" y="98607"/>
                    <a:pt x="14139" y="64473"/>
                    <a:pt x="39306" y="39306"/>
                  </a:cubicBezTo>
                  <a:cubicBezTo>
                    <a:pt x="64473" y="14139"/>
                    <a:pt x="98607" y="0"/>
                    <a:pt x="134199" y="0"/>
                  </a:cubicBezTo>
                  <a:close/>
                </a:path>
              </a:pathLst>
            </a:custGeom>
            <a:solidFill>
              <a:srgbClr val="50212A"/>
            </a:solidFill>
            <a:ln cap="rnd">
              <a:noFill/>
              <a:prstDash val="solid"/>
              <a:round/>
            </a:ln>
          </p:spPr>
        </p:sp>
        <p:sp>
          <p:nvSpPr>
            <p:cNvPr name="TextBox 23" id="23"/>
            <p:cNvSpPr txBox="true"/>
            <p:nvPr/>
          </p:nvSpPr>
          <p:spPr>
            <a:xfrm>
              <a:off x="0" y="-57150"/>
              <a:ext cx="1367467" cy="2251393"/>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6630181" y="4284623"/>
            <a:ext cx="4965445" cy="8331267"/>
            <a:chOff x="0" y="0"/>
            <a:chExt cx="1307772" cy="2194243"/>
          </a:xfrm>
        </p:grpSpPr>
        <p:sp>
          <p:nvSpPr>
            <p:cNvPr name="Freeform 25" id="25"/>
            <p:cNvSpPr/>
            <p:nvPr/>
          </p:nvSpPr>
          <p:spPr>
            <a:xfrm flipH="false" flipV="false" rot="0">
              <a:off x="0" y="0"/>
              <a:ext cx="1307772" cy="2194243"/>
            </a:xfrm>
            <a:custGeom>
              <a:avLst/>
              <a:gdLst/>
              <a:ahLst/>
              <a:cxnLst/>
              <a:rect r="r" b="b" t="t" l="l"/>
              <a:pathLst>
                <a:path h="2194243" w="1307772">
                  <a:moveTo>
                    <a:pt x="140324" y="0"/>
                  </a:moveTo>
                  <a:lnTo>
                    <a:pt x="1167447" y="0"/>
                  </a:lnTo>
                  <a:cubicBezTo>
                    <a:pt x="1244946" y="0"/>
                    <a:pt x="1307772" y="62825"/>
                    <a:pt x="1307772" y="140324"/>
                  </a:cubicBezTo>
                  <a:lnTo>
                    <a:pt x="1307772" y="2053919"/>
                  </a:lnTo>
                  <a:cubicBezTo>
                    <a:pt x="1307772" y="2131418"/>
                    <a:pt x="1244946" y="2194243"/>
                    <a:pt x="1167447" y="2194243"/>
                  </a:cubicBezTo>
                  <a:lnTo>
                    <a:pt x="140324" y="2194243"/>
                  </a:lnTo>
                  <a:cubicBezTo>
                    <a:pt x="103108" y="2194243"/>
                    <a:pt x="67416" y="2179459"/>
                    <a:pt x="41100" y="2153143"/>
                  </a:cubicBezTo>
                  <a:cubicBezTo>
                    <a:pt x="14784" y="2126827"/>
                    <a:pt x="0" y="2091135"/>
                    <a:pt x="0" y="2053919"/>
                  </a:cubicBezTo>
                  <a:lnTo>
                    <a:pt x="0" y="140324"/>
                  </a:lnTo>
                  <a:cubicBezTo>
                    <a:pt x="0" y="62825"/>
                    <a:pt x="62825" y="0"/>
                    <a:pt x="140324" y="0"/>
                  </a:cubicBezTo>
                  <a:close/>
                </a:path>
              </a:pathLst>
            </a:custGeom>
            <a:solidFill>
              <a:srgbClr val="50212A"/>
            </a:solidFill>
            <a:ln cap="rnd">
              <a:noFill/>
              <a:prstDash val="solid"/>
              <a:round/>
            </a:ln>
          </p:spPr>
        </p:sp>
        <p:sp>
          <p:nvSpPr>
            <p:cNvPr name="TextBox 26" id="26"/>
            <p:cNvSpPr txBox="true"/>
            <p:nvPr/>
          </p:nvSpPr>
          <p:spPr>
            <a:xfrm>
              <a:off x="0" y="-57150"/>
              <a:ext cx="1307772" cy="2251393"/>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802043" y="5647150"/>
            <a:ext cx="5192102" cy="6696315"/>
            <a:chOff x="0" y="0"/>
            <a:chExt cx="1367467" cy="1763639"/>
          </a:xfrm>
        </p:grpSpPr>
        <p:sp>
          <p:nvSpPr>
            <p:cNvPr name="Freeform 28" id="28"/>
            <p:cNvSpPr/>
            <p:nvPr/>
          </p:nvSpPr>
          <p:spPr>
            <a:xfrm flipH="false" flipV="false" rot="0">
              <a:off x="0" y="0"/>
              <a:ext cx="1367467" cy="1763639"/>
            </a:xfrm>
            <a:custGeom>
              <a:avLst/>
              <a:gdLst/>
              <a:ahLst/>
              <a:cxnLst/>
              <a:rect r="r" b="b" t="t" l="l"/>
              <a:pathLst>
                <a:path h="1763639" w="1367467">
                  <a:moveTo>
                    <a:pt x="134199" y="0"/>
                  </a:moveTo>
                  <a:lnTo>
                    <a:pt x="1233269" y="0"/>
                  </a:lnTo>
                  <a:cubicBezTo>
                    <a:pt x="1307385" y="0"/>
                    <a:pt x="1367467" y="60083"/>
                    <a:pt x="1367467" y="134199"/>
                  </a:cubicBezTo>
                  <a:lnTo>
                    <a:pt x="1367467" y="1629440"/>
                  </a:lnTo>
                  <a:cubicBezTo>
                    <a:pt x="1367467" y="1665032"/>
                    <a:pt x="1353329" y="1699166"/>
                    <a:pt x="1328161" y="1724333"/>
                  </a:cubicBezTo>
                  <a:cubicBezTo>
                    <a:pt x="1302994" y="1749500"/>
                    <a:pt x="1268860" y="1763639"/>
                    <a:pt x="1233269" y="1763639"/>
                  </a:cubicBezTo>
                  <a:lnTo>
                    <a:pt x="134199" y="1763639"/>
                  </a:lnTo>
                  <a:cubicBezTo>
                    <a:pt x="98607" y="1763639"/>
                    <a:pt x="64473" y="1749500"/>
                    <a:pt x="39306" y="1724333"/>
                  </a:cubicBezTo>
                  <a:cubicBezTo>
                    <a:pt x="14139" y="1699166"/>
                    <a:pt x="0" y="1665032"/>
                    <a:pt x="0" y="1629440"/>
                  </a:cubicBezTo>
                  <a:lnTo>
                    <a:pt x="0" y="134199"/>
                  </a:lnTo>
                  <a:cubicBezTo>
                    <a:pt x="0" y="98607"/>
                    <a:pt x="14139" y="64473"/>
                    <a:pt x="39306" y="39306"/>
                  </a:cubicBezTo>
                  <a:cubicBezTo>
                    <a:pt x="64473" y="14139"/>
                    <a:pt x="98607" y="0"/>
                    <a:pt x="134199" y="0"/>
                  </a:cubicBezTo>
                  <a:close/>
                </a:path>
              </a:pathLst>
            </a:custGeom>
            <a:solidFill>
              <a:srgbClr val="FFFFFF"/>
            </a:solidFill>
            <a:ln cap="rnd">
              <a:noFill/>
              <a:prstDash val="solid"/>
              <a:round/>
            </a:ln>
          </p:spPr>
        </p:sp>
        <p:sp>
          <p:nvSpPr>
            <p:cNvPr name="TextBox 29" id="29"/>
            <p:cNvSpPr txBox="true"/>
            <p:nvPr/>
          </p:nvSpPr>
          <p:spPr>
            <a:xfrm>
              <a:off x="0" y="-57150"/>
              <a:ext cx="1367467" cy="1820789"/>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6630181" y="5647150"/>
            <a:ext cx="4965445" cy="6696315"/>
            <a:chOff x="0" y="0"/>
            <a:chExt cx="1307772" cy="1763639"/>
          </a:xfrm>
        </p:grpSpPr>
        <p:sp>
          <p:nvSpPr>
            <p:cNvPr name="Freeform 31" id="31"/>
            <p:cNvSpPr/>
            <p:nvPr/>
          </p:nvSpPr>
          <p:spPr>
            <a:xfrm flipH="false" flipV="false" rot="0">
              <a:off x="0" y="0"/>
              <a:ext cx="1307772" cy="1763639"/>
            </a:xfrm>
            <a:custGeom>
              <a:avLst/>
              <a:gdLst/>
              <a:ahLst/>
              <a:cxnLst/>
              <a:rect r="r" b="b" t="t" l="l"/>
              <a:pathLst>
                <a:path h="1763639" w="1307772">
                  <a:moveTo>
                    <a:pt x="140324" y="0"/>
                  </a:moveTo>
                  <a:lnTo>
                    <a:pt x="1167447" y="0"/>
                  </a:lnTo>
                  <a:cubicBezTo>
                    <a:pt x="1244946" y="0"/>
                    <a:pt x="1307772" y="62825"/>
                    <a:pt x="1307772" y="140324"/>
                  </a:cubicBezTo>
                  <a:lnTo>
                    <a:pt x="1307772" y="1623314"/>
                  </a:lnTo>
                  <a:cubicBezTo>
                    <a:pt x="1307772" y="1660531"/>
                    <a:pt x="1292988" y="1696223"/>
                    <a:pt x="1266672" y="1722539"/>
                  </a:cubicBezTo>
                  <a:cubicBezTo>
                    <a:pt x="1240356" y="1748854"/>
                    <a:pt x="1204664" y="1763639"/>
                    <a:pt x="1167447" y="1763639"/>
                  </a:cubicBezTo>
                  <a:lnTo>
                    <a:pt x="140324" y="1763639"/>
                  </a:lnTo>
                  <a:cubicBezTo>
                    <a:pt x="103108" y="1763639"/>
                    <a:pt x="67416" y="1748854"/>
                    <a:pt x="41100" y="1722539"/>
                  </a:cubicBezTo>
                  <a:cubicBezTo>
                    <a:pt x="14784" y="1696223"/>
                    <a:pt x="0" y="1660531"/>
                    <a:pt x="0" y="1623314"/>
                  </a:cubicBezTo>
                  <a:lnTo>
                    <a:pt x="0" y="140324"/>
                  </a:lnTo>
                  <a:cubicBezTo>
                    <a:pt x="0" y="62825"/>
                    <a:pt x="62825" y="0"/>
                    <a:pt x="140324" y="0"/>
                  </a:cubicBezTo>
                  <a:close/>
                </a:path>
              </a:pathLst>
            </a:custGeom>
            <a:solidFill>
              <a:srgbClr val="FFFFFF"/>
            </a:solidFill>
            <a:ln cap="rnd">
              <a:noFill/>
              <a:prstDash val="solid"/>
              <a:round/>
            </a:ln>
          </p:spPr>
        </p:sp>
        <p:sp>
          <p:nvSpPr>
            <p:cNvPr name="TextBox 32" id="32"/>
            <p:cNvSpPr txBox="true"/>
            <p:nvPr/>
          </p:nvSpPr>
          <p:spPr>
            <a:xfrm>
              <a:off x="0" y="-57150"/>
              <a:ext cx="1307772" cy="1820789"/>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480736" y="490255"/>
            <a:ext cx="7959243" cy="888116"/>
            <a:chOff x="0" y="0"/>
            <a:chExt cx="10612324" cy="1184154"/>
          </a:xfrm>
        </p:grpSpPr>
        <p:grpSp>
          <p:nvGrpSpPr>
            <p:cNvPr name="Group 34" id="34"/>
            <p:cNvGrpSpPr/>
            <p:nvPr/>
          </p:nvGrpSpPr>
          <p:grpSpPr>
            <a:xfrm rot="0">
              <a:off x="0" y="0"/>
              <a:ext cx="10503937" cy="1184154"/>
              <a:chOff x="0" y="0"/>
              <a:chExt cx="2074852" cy="233907"/>
            </a:xfrm>
          </p:grpSpPr>
          <p:sp>
            <p:nvSpPr>
              <p:cNvPr name="Freeform 35" id="35"/>
              <p:cNvSpPr/>
              <p:nvPr/>
            </p:nvSpPr>
            <p:spPr>
              <a:xfrm flipH="false" flipV="false" rot="0">
                <a:off x="0" y="0"/>
                <a:ext cx="2074852" cy="233907"/>
              </a:xfrm>
              <a:custGeom>
                <a:avLst/>
                <a:gdLst/>
                <a:ahLst/>
                <a:cxnLst/>
                <a:rect r="r" b="b" t="t" l="l"/>
                <a:pathLst>
                  <a:path h="233907" w="2074852">
                    <a:moveTo>
                      <a:pt x="98273" y="0"/>
                    </a:moveTo>
                    <a:lnTo>
                      <a:pt x="1976579" y="0"/>
                    </a:lnTo>
                    <a:cubicBezTo>
                      <a:pt x="2002642" y="0"/>
                      <a:pt x="2027638" y="10354"/>
                      <a:pt x="2046068" y="28784"/>
                    </a:cubicBezTo>
                    <a:cubicBezTo>
                      <a:pt x="2064498" y="47213"/>
                      <a:pt x="2074852" y="72210"/>
                      <a:pt x="2074852" y="98273"/>
                    </a:cubicBezTo>
                    <a:lnTo>
                      <a:pt x="2074852" y="135634"/>
                    </a:lnTo>
                    <a:cubicBezTo>
                      <a:pt x="2074852" y="161698"/>
                      <a:pt x="2064498" y="186694"/>
                      <a:pt x="2046068" y="205124"/>
                    </a:cubicBezTo>
                    <a:cubicBezTo>
                      <a:pt x="2027638" y="223553"/>
                      <a:pt x="2002642" y="233907"/>
                      <a:pt x="1976579" y="233907"/>
                    </a:cubicBezTo>
                    <a:lnTo>
                      <a:pt x="98273" y="233907"/>
                    </a:lnTo>
                    <a:cubicBezTo>
                      <a:pt x="72210" y="233907"/>
                      <a:pt x="47213" y="223553"/>
                      <a:pt x="28784" y="205124"/>
                    </a:cubicBezTo>
                    <a:cubicBezTo>
                      <a:pt x="10354" y="186694"/>
                      <a:pt x="0" y="161698"/>
                      <a:pt x="0" y="135634"/>
                    </a:cubicBezTo>
                    <a:lnTo>
                      <a:pt x="0" y="98273"/>
                    </a:lnTo>
                    <a:cubicBezTo>
                      <a:pt x="0" y="72210"/>
                      <a:pt x="10354" y="47213"/>
                      <a:pt x="28784" y="28784"/>
                    </a:cubicBezTo>
                    <a:cubicBezTo>
                      <a:pt x="47213" y="10354"/>
                      <a:pt x="72210" y="0"/>
                      <a:pt x="98273" y="0"/>
                    </a:cubicBezTo>
                    <a:close/>
                  </a:path>
                </a:pathLst>
              </a:custGeom>
              <a:solidFill>
                <a:srgbClr val="FFFFFF"/>
              </a:solidFill>
              <a:ln cap="rnd">
                <a:noFill/>
                <a:prstDash val="solid"/>
                <a:round/>
              </a:ln>
            </p:spPr>
          </p:sp>
          <p:sp>
            <p:nvSpPr>
              <p:cNvPr name="TextBox 36" id="36"/>
              <p:cNvSpPr txBox="true"/>
              <p:nvPr/>
            </p:nvSpPr>
            <p:spPr>
              <a:xfrm>
                <a:off x="0" y="-57150"/>
                <a:ext cx="2074852" cy="291057"/>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435416" y="141884"/>
              <a:ext cx="10176907"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4. Triển khai xây dựng Website</a:t>
              </a:r>
            </a:p>
          </p:txBody>
        </p:sp>
      </p:grpSp>
      <p:sp>
        <p:nvSpPr>
          <p:cNvPr name="TextBox 38" id="38"/>
          <p:cNvSpPr txBox="true"/>
          <p:nvPr/>
        </p:nvSpPr>
        <p:spPr>
          <a:xfrm rot="0">
            <a:off x="1073631" y="4402463"/>
            <a:ext cx="4731347" cy="1118738"/>
          </a:xfrm>
          <a:prstGeom prst="rect">
            <a:avLst/>
          </a:prstGeom>
        </p:spPr>
        <p:txBody>
          <a:bodyPr anchor="t" rtlCol="false" tIns="0" lIns="0" bIns="0" rIns="0">
            <a:spAutoFit/>
          </a:bodyPr>
          <a:lstStyle/>
          <a:p>
            <a:pPr algn="ctr" marL="0" indent="0" lvl="0">
              <a:lnSpc>
                <a:spcPts val="4480"/>
              </a:lnSpc>
              <a:spcBef>
                <a:spcPct val="0"/>
              </a:spcBef>
            </a:pPr>
            <a:r>
              <a:rPr lang="en-US" b="true" sz="3200">
                <a:solidFill>
                  <a:srgbClr val="FDF6F2"/>
                </a:solidFill>
                <a:latin typeface="Work Sans Bold"/>
                <a:ea typeface="Work Sans Bold"/>
                <a:cs typeface="Work Sans Bold"/>
                <a:sym typeface="Work Sans Bold"/>
              </a:rPr>
              <a:t>Chức năng của hệ thống Website</a:t>
            </a:r>
          </a:p>
        </p:txBody>
      </p:sp>
      <p:sp>
        <p:nvSpPr>
          <p:cNvPr name="TextBox 39" id="39"/>
          <p:cNvSpPr txBox="true"/>
          <p:nvPr/>
        </p:nvSpPr>
        <p:spPr>
          <a:xfrm rot="0">
            <a:off x="6933049" y="4367033"/>
            <a:ext cx="4359709" cy="1118738"/>
          </a:xfrm>
          <a:prstGeom prst="rect">
            <a:avLst/>
          </a:prstGeom>
        </p:spPr>
        <p:txBody>
          <a:bodyPr anchor="t" rtlCol="false" tIns="0" lIns="0" bIns="0" rIns="0">
            <a:spAutoFit/>
          </a:bodyPr>
          <a:lstStyle/>
          <a:p>
            <a:pPr algn="ctr" marL="0" indent="0" lvl="0">
              <a:lnSpc>
                <a:spcPts val="4480"/>
              </a:lnSpc>
              <a:spcBef>
                <a:spcPct val="0"/>
              </a:spcBef>
            </a:pPr>
            <a:r>
              <a:rPr lang="en-US" b="true" sz="3200">
                <a:solidFill>
                  <a:srgbClr val="FDF6F2"/>
                </a:solidFill>
                <a:latin typeface="Work Sans Bold"/>
                <a:ea typeface="Work Sans Bold"/>
                <a:cs typeface="Work Sans Bold"/>
                <a:sym typeface="Work Sans Bold"/>
              </a:rPr>
              <a:t>Hoạt động triển khai thực tế</a:t>
            </a:r>
          </a:p>
        </p:txBody>
      </p:sp>
      <p:sp>
        <p:nvSpPr>
          <p:cNvPr name="TextBox 40" id="40"/>
          <p:cNvSpPr txBox="true"/>
          <p:nvPr/>
        </p:nvSpPr>
        <p:spPr>
          <a:xfrm rot="0">
            <a:off x="1217868" y="5877161"/>
            <a:ext cx="4587110" cy="4079783"/>
          </a:xfrm>
          <a:prstGeom prst="rect">
            <a:avLst/>
          </a:prstGeom>
        </p:spPr>
        <p:txBody>
          <a:bodyPr anchor="t" rtlCol="false" tIns="0" lIns="0" bIns="0" rIns="0">
            <a:spAutoFit/>
          </a:bodyPr>
          <a:lstStyle/>
          <a:p>
            <a:pPr algn="l">
              <a:lnSpc>
                <a:spcPts val="2939"/>
              </a:lnSpc>
            </a:pPr>
            <a:r>
              <a:rPr lang="en-US" sz="2099">
                <a:solidFill>
                  <a:srgbClr val="50212A"/>
                </a:solidFill>
                <a:latin typeface="Work Sans"/>
                <a:ea typeface="Work Sans"/>
                <a:cs typeface="Work Sans"/>
                <a:sym typeface="Work Sans"/>
              </a:rPr>
              <a:t>C</a:t>
            </a:r>
            <a:r>
              <a:rPr lang="en-US" sz="2099" strike="noStrike" u="none">
                <a:solidFill>
                  <a:srgbClr val="50212A"/>
                </a:solidFill>
                <a:latin typeface="Work Sans"/>
                <a:ea typeface="Work Sans"/>
                <a:cs typeface="Work Sans"/>
                <a:sym typeface="Work Sans"/>
              </a:rPr>
              <a:t>ổng thông tin trung tâm, lư</a:t>
            </a:r>
            <a:r>
              <a:rPr lang="en-US" sz="2099" strike="noStrike" u="none">
                <a:solidFill>
                  <a:srgbClr val="50212A"/>
                </a:solidFill>
                <a:latin typeface="Work Sans"/>
                <a:ea typeface="Work Sans"/>
                <a:cs typeface="Work Sans"/>
                <a:sym typeface="Work Sans"/>
              </a:rPr>
              <a:t>u trữ toàn bộ cơ sở dữ liệu chính thống và điều hướng hành vi quyết định.</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Cung cấp cái nhìn toàn diện về chương trình đào tạo, chuẩn đầu ra và cơ hội nghề nghiệp</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H</a:t>
            </a:r>
            <a:r>
              <a:rPr lang="en-US" sz="2099" strike="noStrike" u="none">
                <a:solidFill>
                  <a:srgbClr val="50212A"/>
                </a:solidFill>
                <a:latin typeface="Work Sans"/>
                <a:ea typeface="Work Sans"/>
                <a:cs typeface="Work Sans"/>
                <a:sym typeface="Work Sans"/>
              </a:rPr>
              <a:t>iển thị dòng thời gian triển khai chi tiết (Timeline) sự kiện Openday 2026</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Tích hợp chatbot hỗ trợ giải đáp thắc 24/7</a:t>
            </a:r>
          </a:p>
        </p:txBody>
      </p:sp>
      <p:sp>
        <p:nvSpPr>
          <p:cNvPr name="TextBox 41" id="41"/>
          <p:cNvSpPr txBox="true"/>
          <p:nvPr/>
        </p:nvSpPr>
        <p:spPr>
          <a:xfrm rot="0">
            <a:off x="6975160" y="5877161"/>
            <a:ext cx="4337680" cy="3708374"/>
          </a:xfrm>
          <a:prstGeom prst="rect">
            <a:avLst/>
          </a:prstGeom>
        </p:spPr>
        <p:txBody>
          <a:bodyPr anchor="t" rtlCol="false" tIns="0" lIns="0" bIns="0" rIns="0">
            <a:spAutoFit/>
          </a:bodyPr>
          <a:lstStyle/>
          <a:p>
            <a:pPr algn="l" marL="453387" indent="-226693" lvl="1">
              <a:lnSpc>
                <a:spcPts val="2939"/>
              </a:lnSpc>
              <a:buFont typeface="Arial"/>
              <a:buChar char="•"/>
            </a:pPr>
            <a:r>
              <a:rPr lang="en-US" sz="2099">
                <a:solidFill>
                  <a:srgbClr val="50212A"/>
                </a:solidFill>
                <a:latin typeface="Work Sans"/>
                <a:ea typeface="Work Sans"/>
                <a:cs typeface="Work Sans"/>
                <a:sym typeface="Work Sans"/>
              </a:rPr>
              <a:t>Xây dựng </a:t>
            </a:r>
            <a:r>
              <a:rPr lang="en-US" sz="2099" strike="noStrike" u="none">
                <a:solidFill>
                  <a:srgbClr val="50212A"/>
                </a:solidFill>
                <a:latin typeface="Work Sans"/>
                <a:ea typeface="Work Sans"/>
                <a:cs typeface="Work Sans"/>
                <a:sym typeface="Work Sans"/>
              </a:rPr>
              <a:t>sơ đồ website (sitemap) và thiết kế giao diện mẫu (wireframe).</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Tổng hợp nội dung, hình ảnh cho chuyên mục thông tin.</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Tiến hành xây dựng website chính thức.</a:t>
            </a:r>
          </a:p>
          <a:p>
            <a:pPr algn="l" marL="453387" indent="-226693" lvl="1">
              <a:lnSpc>
                <a:spcPts val="2939"/>
              </a:lnSpc>
              <a:buFont typeface="Arial"/>
              <a:buChar char="•"/>
            </a:pPr>
            <a:r>
              <a:rPr lang="en-US" sz="2099" strike="noStrike" u="none">
                <a:solidFill>
                  <a:srgbClr val="50212A"/>
                </a:solidFill>
                <a:latin typeface="Work Sans"/>
                <a:ea typeface="Work Sans"/>
                <a:cs typeface="Work Sans"/>
                <a:sym typeface="Work Sans"/>
              </a:rPr>
              <a:t>Phát triển tính năng tăng trải nghiệm người dùng (chatbot, chủ đề giao diện sáng tối,..)</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266112" y="2340777"/>
            <a:ext cx="10718174" cy="6543396"/>
          </a:xfrm>
          <a:prstGeom prst="rect">
            <a:avLst/>
          </a:prstGeom>
        </p:spPr>
        <p:txBody>
          <a:bodyPr anchor="t" rtlCol="false" tIns="0" lIns="0" bIns="0" rIns="0">
            <a:spAutoFit/>
          </a:bodyPr>
          <a:lstStyle/>
          <a:p>
            <a:pPr algn="ctr" marL="0" indent="0" lvl="0">
              <a:lnSpc>
                <a:spcPts val="17450"/>
              </a:lnSpc>
              <a:spcBef>
                <a:spcPct val="0"/>
              </a:spcBef>
            </a:pPr>
            <a:r>
              <a:rPr lang="en-US" b="true" sz="12464">
                <a:solidFill>
                  <a:srgbClr val="50212A"/>
                </a:solidFill>
                <a:latin typeface="Ojuju Bold"/>
                <a:ea typeface="Ojuju Bold"/>
                <a:cs typeface="Ojuju Bold"/>
                <a:sym typeface="Ojuju Bold"/>
              </a:rPr>
              <a:t>4. GIÁM SÁT VÀ KIỂM SOÁT TIẾN ĐỘ</a:t>
            </a:r>
          </a:p>
        </p:txBody>
      </p:sp>
      <p:sp>
        <p:nvSpPr>
          <p:cNvPr name="Freeform 10" id="10"/>
          <p:cNvSpPr/>
          <p:nvPr/>
        </p:nvSpPr>
        <p:spPr>
          <a:xfrm flipH="false" flipV="false" rot="0">
            <a:off x="592294" y="2578902"/>
            <a:ext cx="6415251" cy="6447488"/>
          </a:xfrm>
          <a:custGeom>
            <a:avLst/>
            <a:gdLst/>
            <a:ahLst/>
            <a:cxnLst/>
            <a:rect r="r" b="b" t="t" l="l"/>
            <a:pathLst>
              <a:path h="6447488" w="6415251">
                <a:moveTo>
                  <a:pt x="0" y="0"/>
                </a:moveTo>
                <a:lnTo>
                  <a:pt x="6415251" y="0"/>
                </a:lnTo>
                <a:lnTo>
                  <a:pt x="6415251" y="6447489"/>
                </a:lnTo>
                <a:lnTo>
                  <a:pt x="0" y="6447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954906" y="253082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954906" y="6436389"/>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966628" y="2388582"/>
            <a:ext cx="3747194" cy="622902"/>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Ojuju Semi-Bold"/>
                <a:ea typeface="Ojuju Semi-Bold"/>
                <a:cs typeface="Ojuju Semi-Bold"/>
                <a:sym typeface="Ojuju Semi-Bold"/>
              </a:rPr>
              <a:t>TIẾN ĐỘ</a:t>
            </a:r>
          </a:p>
        </p:txBody>
      </p:sp>
      <p:sp>
        <p:nvSpPr>
          <p:cNvPr name="TextBox 12" id="12"/>
          <p:cNvSpPr txBox="true"/>
          <p:nvPr/>
        </p:nvSpPr>
        <p:spPr>
          <a:xfrm rot="0">
            <a:off x="10966628" y="6294149"/>
            <a:ext cx="3747194" cy="622902"/>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Ojuju Semi-Bold"/>
                <a:ea typeface="Ojuju Semi-Bold"/>
                <a:cs typeface="Ojuju Semi-Bold"/>
                <a:sym typeface="Ojuju Semi-Bold"/>
              </a:rPr>
              <a:t>QUẢN LÝ DỰ ÁN</a:t>
            </a:r>
          </a:p>
        </p:txBody>
      </p:sp>
      <p:sp>
        <p:nvSpPr>
          <p:cNvPr name="TextBox 13" id="13"/>
          <p:cNvSpPr txBox="true"/>
          <p:nvPr/>
        </p:nvSpPr>
        <p:spPr>
          <a:xfrm rot="0">
            <a:off x="9954906" y="3241358"/>
            <a:ext cx="7542560" cy="2111177"/>
          </a:xfrm>
          <a:prstGeom prst="rect">
            <a:avLst/>
          </a:prstGeom>
        </p:spPr>
        <p:txBody>
          <a:bodyPr anchor="t" rtlCol="false" tIns="0" lIns="0" bIns="0" rIns="0">
            <a:spAutoFit/>
          </a:bodyPr>
          <a:lstStyle/>
          <a:p>
            <a:pPr algn="l" marL="431797" indent="-215899" lvl="1">
              <a:lnSpc>
                <a:spcPts val="2799"/>
              </a:lnSpc>
              <a:buFont typeface="Arial"/>
              <a:buChar char="•"/>
            </a:pPr>
            <a:r>
              <a:rPr lang="en-US" sz="1999">
                <a:solidFill>
                  <a:srgbClr val="50212A"/>
                </a:solidFill>
                <a:latin typeface="Work Sans"/>
                <a:ea typeface="Work Sans"/>
                <a:cs typeface="Work Sans"/>
                <a:sym typeface="Work Sans"/>
              </a:rPr>
              <a:t>Giai đoạn đầu bị chậm do phân quyền Fanpage trễ và trùng lịch thi, gây chậm chuỗi sản xuất nội dung và website. </a:t>
            </a:r>
          </a:p>
          <a:p>
            <a:pPr algn="l" marL="431797" indent="-215899" lvl="1">
              <a:lnSpc>
                <a:spcPts val="2799"/>
              </a:lnSpc>
              <a:buFont typeface="Arial"/>
              <a:buChar char="•"/>
            </a:pPr>
            <a:r>
              <a:rPr lang="en-US" sz="1999">
                <a:solidFill>
                  <a:srgbClr val="50212A"/>
                </a:solidFill>
                <a:latin typeface="Work Sans"/>
                <a:ea typeface="Work Sans"/>
                <a:cs typeface="Work Sans"/>
                <a:sym typeface="Work Sans"/>
              </a:rPr>
              <a:t>Sau đó áp dụng quản lý cuốn chiếu, tăng cường làm việc ở Tuần 4–5 và đưa dự án về đúng tiến độ, hoàn thành 100% WBS trước 19/06/2026.</a:t>
            </a:r>
          </a:p>
        </p:txBody>
      </p:sp>
      <p:sp>
        <p:nvSpPr>
          <p:cNvPr name="TextBox 14" id="14"/>
          <p:cNvSpPr txBox="true"/>
          <p:nvPr/>
        </p:nvSpPr>
        <p:spPr>
          <a:xfrm rot="0">
            <a:off x="9954906" y="7146925"/>
            <a:ext cx="7542560" cy="1406393"/>
          </a:xfrm>
          <a:prstGeom prst="rect">
            <a:avLst/>
          </a:prstGeom>
        </p:spPr>
        <p:txBody>
          <a:bodyPr anchor="t" rtlCol="false" tIns="0" lIns="0" bIns="0" rIns="0">
            <a:spAutoFit/>
          </a:bodyPr>
          <a:lstStyle/>
          <a:p>
            <a:pPr algn="l" marL="431797" indent="-215899" lvl="1">
              <a:lnSpc>
                <a:spcPts val="2799"/>
              </a:lnSpc>
              <a:buFont typeface="Arial"/>
              <a:buChar char="•"/>
            </a:pPr>
            <a:r>
              <a:rPr lang="en-US" sz="1999">
                <a:solidFill>
                  <a:srgbClr val="50212A"/>
                </a:solidFill>
                <a:latin typeface="Work Sans"/>
                <a:ea typeface="Work Sans"/>
                <a:cs typeface="Work Sans"/>
                <a:sym typeface="Work Sans"/>
              </a:rPr>
              <a:t>D</a:t>
            </a:r>
            <a:r>
              <a:rPr lang="en-US" sz="1999">
                <a:solidFill>
                  <a:srgbClr val="50212A"/>
                </a:solidFill>
                <a:latin typeface="Work Sans"/>
                <a:ea typeface="Work Sans"/>
                <a:cs typeface="Work Sans"/>
                <a:sym typeface="Work Sans"/>
              </a:rPr>
              <a:t>uy</a:t>
            </a:r>
            <a:r>
              <a:rPr lang="en-US" sz="1999" strike="noStrike" u="none">
                <a:solidFill>
                  <a:srgbClr val="50212A"/>
                </a:solidFill>
                <a:latin typeface="Work Sans"/>
                <a:ea typeface="Work Sans"/>
                <a:cs typeface="Work Sans"/>
                <a:sym typeface="Work Sans"/>
              </a:rPr>
              <a:t> </a:t>
            </a:r>
            <a:r>
              <a:rPr lang="en-US" sz="1999" strike="noStrike" u="none">
                <a:solidFill>
                  <a:srgbClr val="50212A"/>
                </a:solidFill>
                <a:latin typeface="Work Sans"/>
                <a:ea typeface="Work Sans"/>
                <a:cs typeface="Work Sans"/>
                <a:sym typeface="Work Sans"/>
              </a:rPr>
              <a:t>trì</a:t>
            </a:r>
            <a:r>
              <a:rPr lang="en-US" sz="1999" strike="noStrike" u="none">
                <a:solidFill>
                  <a:srgbClr val="50212A"/>
                </a:solidFill>
                <a:latin typeface="Work Sans"/>
                <a:ea typeface="Work Sans"/>
                <a:cs typeface="Work Sans"/>
                <a:sym typeface="Work Sans"/>
              </a:rPr>
              <a:t> họp tuần định kỳ đ</a:t>
            </a:r>
            <a:r>
              <a:rPr lang="en-US" sz="1999" strike="noStrike" u="none">
                <a:solidFill>
                  <a:srgbClr val="50212A"/>
                </a:solidFill>
                <a:latin typeface="Work Sans"/>
                <a:ea typeface="Work Sans"/>
                <a:cs typeface="Work Sans"/>
                <a:sym typeface="Work Sans"/>
              </a:rPr>
              <a:t>ể</a:t>
            </a:r>
            <a:r>
              <a:rPr lang="en-US" sz="1999" strike="noStrike" u="none">
                <a:solidFill>
                  <a:srgbClr val="50212A"/>
                </a:solidFill>
                <a:latin typeface="Work Sans"/>
                <a:ea typeface="Work Sans"/>
                <a:cs typeface="Work Sans"/>
                <a:sym typeface="Work Sans"/>
              </a:rPr>
              <a:t> </a:t>
            </a:r>
            <a:r>
              <a:rPr lang="en-US" sz="1999" strike="noStrike" u="none">
                <a:solidFill>
                  <a:srgbClr val="50212A"/>
                </a:solidFill>
                <a:latin typeface="Work Sans"/>
                <a:ea typeface="Work Sans"/>
                <a:cs typeface="Work Sans"/>
                <a:sym typeface="Work Sans"/>
              </a:rPr>
              <a:t>tổ</a:t>
            </a:r>
            <a:r>
              <a:rPr lang="en-US" sz="1999" strike="noStrike" u="none">
                <a:solidFill>
                  <a:srgbClr val="50212A"/>
                </a:solidFill>
                <a:latin typeface="Work Sans"/>
                <a:ea typeface="Work Sans"/>
                <a:cs typeface="Work Sans"/>
                <a:sym typeface="Work Sans"/>
              </a:rPr>
              <a:t>ng </a:t>
            </a:r>
            <a:r>
              <a:rPr lang="en-US" sz="1999" strike="noStrike" u="none">
                <a:solidFill>
                  <a:srgbClr val="50212A"/>
                </a:solidFill>
                <a:latin typeface="Work Sans"/>
                <a:ea typeface="Work Sans"/>
                <a:cs typeface="Work Sans"/>
                <a:sym typeface="Work Sans"/>
              </a:rPr>
              <a:t>kế</a:t>
            </a:r>
            <a:r>
              <a:rPr lang="en-US" sz="1999" strike="noStrike" u="none">
                <a:solidFill>
                  <a:srgbClr val="50212A"/>
                </a:solidFill>
                <a:latin typeface="Work Sans"/>
                <a:ea typeface="Work Sans"/>
                <a:cs typeface="Work Sans"/>
                <a:sym typeface="Work Sans"/>
              </a:rPr>
              <a:t>t </a:t>
            </a:r>
            <a:r>
              <a:rPr lang="en-US" sz="1999" strike="noStrike" u="none">
                <a:solidFill>
                  <a:srgbClr val="50212A"/>
                </a:solidFill>
                <a:latin typeface="Work Sans"/>
                <a:ea typeface="Work Sans"/>
                <a:cs typeface="Work Sans"/>
                <a:sym typeface="Work Sans"/>
              </a:rPr>
              <a:t>c</a:t>
            </a:r>
            <a:r>
              <a:rPr lang="en-US" sz="1999" strike="noStrike" u="none">
                <a:solidFill>
                  <a:srgbClr val="50212A"/>
                </a:solidFill>
                <a:latin typeface="Work Sans"/>
                <a:ea typeface="Work Sans"/>
                <a:cs typeface="Work Sans"/>
                <a:sym typeface="Work Sans"/>
              </a:rPr>
              <a:t>ông việc, xây dựng kế hoạch tuần mới</a:t>
            </a:r>
          </a:p>
          <a:p>
            <a:pPr algn="l" marL="431797" indent="-215899" lvl="1">
              <a:lnSpc>
                <a:spcPts val="2799"/>
              </a:lnSpc>
              <a:buFont typeface="Arial"/>
              <a:buChar char="•"/>
            </a:pPr>
            <a:r>
              <a:rPr lang="en-US" sz="1999" strike="noStrike" u="none">
                <a:solidFill>
                  <a:srgbClr val="50212A"/>
                </a:solidFill>
                <a:latin typeface="Work Sans"/>
                <a:ea typeface="Work Sans"/>
                <a:cs typeface="Work Sans"/>
                <a:sym typeface="Work Sans"/>
              </a:rPr>
              <a:t>Ghi nhận biên bản đầy đủ nhằm đảm bảo kiểm soát và điều phối hiệu quả.</a:t>
            </a:r>
          </a:p>
        </p:txBody>
      </p:sp>
      <p:grpSp>
        <p:nvGrpSpPr>
          <p:cNvPr name="Group 15" id="15"/>
          <p:cNvGrpSpPr/>
          <p:nvPr/>
        </p:nvGrpSpPr>
        <p:grpSpPr>
          <a:xfrm rot="0">
            <a:off x="480736" y="490255"/>
            <a:ext cx="8024176" cy="888116"/>
            <a:chOff x="0" y="0"/>
            <a:chExt cx="10698902" cy="1184154"/>
          </a:xfrm>
        </p:grpSpPr>
        <p:grpSp>
          <p:nvGrpSpPr>
            <p:cNvPr name="Group 16" id="16"/>
            <p:cNvGrpSpPr/>
            <p:nvPr/>
          </p:nvGrpSpPr>
          <p:grpSpPr>
            <a:xfrm rot="0">
              <a:off x="0" y="0"/>
              <a:ext cx="10626864" cy="1184154"/>
              <a:chOff x="0" y="0"/>
              <a:chExt cx="2099134" cy="233907"/>
            </a:xfrm>
          </p:grpSpPr>
          <p:sp>
            <p:nvSpPr>
              <p:cNvPr name="Freeform 17" id="17"/>
              <p:cNvSpPr/>
              <p:nvPr/>
            </p:nvSpPr>
            <p:spPr>
              <a:xfrm flipH="false" flipV="false" rot="0">
                <a:off x="0" y="0"/>
                <a:ext cx="2099134" cy="233907"/>
              </a:xfrm>
              <a:custGeom>
                <a:avLst/>
                <a:gdLst/>
                <a:ahLst/>
                <a:cxnLst/>
                <a:rect r="r" b="b" t="t" l="l"/>
                <a:pathLst>
                  <a:path h="233907" w="2099134">
                    <a:moveTo>
                      <a:pt x="97136" y="0"/>
                    </a:moveTo>
                    <a:lnTo>
                      <a:pt x="2001997" y="0"/>
                    </a:lnTo>
                    <a:cubicBezTo>
                      <a:pt x="2055644" y="0"/>
                      <a:pt x="2099134" y="43489"/>
                      <a:pt x="2099134" y="97136"/>
                    </a:cubicBezTo>
                    <a:lnTo>
                      <a:pt x="2099134" y="136771"/>
                    </a:lnTo>
                    <a:cubicBezTo>
                      <a:pt x="2099134" y="190418"/>
                      <a:pt x="2055644" y="233907"/>
                      <a:pt x="2001997" y="233907"/>
                    </a:cubicBezTo>
                    <a:lnTo>
                      <a:pt x="97136" y="233907"/>
                    </a:lnTo>
                    <a:cubicBezTo>
                      <a:pt x="43489" y="233907"/>
                      <a:pt x="0" y="190418"/>
                      <a:pt x="0" y="136771"/>
                    </a:cubicBezTo>
                    <a:lnTo>
                      <a:pt x="0" y="97136"/>
                    </a:lnTo>
                    <a:cubicBezTo>
                      <a:pt x="0" y="43489"/>
                      <a:pt x="43489" y="0"/>
                      <a:pt x="97136" y="0"/>
                    </a:cubicBezTo>
                    <a:close/>
                  </a:path>
                </a:pathLst>
              </a:custGeom>
              <a:solidFill>
                <a:srgbClr val="FFFFFF"/>
              </a:solidFill>
              <a:ln cap="rnd">
                <a:noFill/>
                <a:prstDash val="solid"/>
                <a:round/>
              </a:ln>
            </p:spPr>
          </p:sp>
          <p:sp>
            <p:nvSpPr>
              <p:cNvPr name="TextBox 18" id="18"/>
              <p:cNvSpPr txBox="true"/>
              <p:nvPr/>
            </p:nvSpPr>
            <p:spPr>
              <a:xfrm>
                <a:off x="0" y="-57150"/>
                <a:ext cx="2099134" cy="291057"/>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57186" y="141884"/>
              <a:ext cx="103417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1. Theo dõi tiến độ thực hiện</a:t>
              </a:r>
            </a:p>
          </p:txBody>
        </p:sp>
      </p:grpSp>
      <p:sp>
        <p:nvSpPr>
          <p:cNvPr name="Freeform 20" id="20"/>
          <p:cNvSpPr/>
          <p:nvPr/>
        </p:nvSpPr>
        <p:spPr>
          <a:xfrm flipH="false" flipV="false" rot="0">
            <a:off x="303714" y="1888143"/>
            <a:ext cx="8673518" cy="8398857"/>
          </a:xfrm>
          <a:custGeom>
            <a:avLst/>
            <a:gdLst/>
            <a:ahLst/>
            <a:cxnLst/>
            <a:rect r="r" b="b" t="t" l="l"/>
            <a:pathLst>
              <a:path h="8398857" w="8673518">
                <a:moveTo>
                  <a:pt x="0" y="0"/>
                </a:moveTo>
                <a:lnTo>
                  <a:pt x="8673519" y="0"/>
                </a:lnTo>
                <a:lnTo>
                  <a:pt x="8673519" y="8398857"/>
                </a:lnTo>
                <a:lnTo>
                  <a:pt x="0" y="83988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0736" y="490255"/>
            <a:ext cx="8024176" cy="888116"/>
            <a:chOff x="0" y="0"/>
            <a:chExt cx="10698902" cy="1184154"/>
          </a:xfrm>
        </p:grpSpPr>
        <p:grpSp>
          <p:nvGrpSpPr>
            <p:cNvPr name="Group 10" id="10"/>
            <p:cNvGrpSpPr/>
            <p:nvPr/>
          </p:nvGrpSpPr>
          <p:grpSpPr>
            <a:xfrm rot="0">
              <a:off x="0" y="0"/>
              <a:ext cx="10626864" cy="1184154"/>
              <a:chOff x="0" y="0"/>
              <a:chExt cx="2099134" cy="233907"/>
            </a:xfrm>
          </p:grpSpPr>
          <p:sp>
            <p:nvSpPr>
              <p:cNvPr name="Freeform 11" id="11"/>
              <p:cNvSpPr/>
              <p:nvPr/>
            </p:nvSpPr>
            <p:spPr>
              <a:xfrm flipH="false" flipV="false" rot="0">
                <a:off x="0" y="0"/>
                <a:ext cx="2099134" cy="233907"/>
              </a:xfrm>
              <a:custGeom>
                <a:avLst/>
                <a:gdLst/>
                <a:ahLst/>
                <a:cxnLst/>
                <a:rect r="r" b="b" t="t" l="l"/>
                <a:pathLst>
                  <a:path h="233907" w="2099134">
                    <a:moveTo>
                      <a:pt x="97136" y="0"/>
                    </a:moveTo>
                    <a:lnTo>
                      <a:pt x="2001997" y="0"/>
                    </a:lnTo>
                    <a:cubicBezTo>
                      <a:pt x="2055644" y="0"/>
                      <a:pt x="2099134" y="43489"/>
                      <a:pt x="2099134" y="97136"/>
                    </a:cubicBezTo>
                    <a:lnTo>
                      <a:pt x="2099134" y="136771"/>
                    </a:lnTo>
                    <a:cubicBezTo>
                      <a:pt x="2099134" y="190418"/>
                      <a:pt x="2055644" y="233907"/>
                      <a:pt x="2001997" y="233907"/>
                    </a:cubicBezTo>
                    <a:lnTo>
                      <a:pt x="97136" y="233907"/>
                    </a:lnTo>
                    <a:cubicBezTo>
                      <a:pt x="43489" y="233907"/>
                      <a:pt x="0" y="190418"/>
                      <a:pt x="0" y="136771"/>
                    </a:cubicBezTo>
                    <a:lnTo>
                      <a:pt x="0" y="97136"/>
                    </a:lnTo>
                    <a:cubicBezTo>
                      <a:pt x="0" y="43489"/>
                      <a:pt x="43489" y="0"/>
                      <a:pt x="97136" y="0"/>
                    </a:cubicBezTo>
                    <a:close/>
                  </a:path>
                </a:pathLst>
              </a:custGeom>
              <a:solidFill>
                <a:srgbClr val="FFFFFF"/>
              </a:solidFill>
              <a:ln cap="rnd">
                <a:noFill/>
                <a:prstDash val="solid"/>
                <a:round/>
              </a:ln>
            </p:spPr>
          </p:sp>
          <p:sp>
            <p:nvSpPr>
              <p:cNvPr name="TextBox 12" id="12"/>
              <p:cNvSpPr txBox="true"/>
              <p:nvPr/>
            </p:nvSpPr>
            <p:spPr>
              <a:xfrm>
                <a:off x="0" y="-57150"/>
                <a:ext cx="2099134" cy="291057"/>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57186" y="141884"/>
              <a:ext cx="103417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2. Những thay đổi trong dự án</a:t>
              </a:r>
            </a:p>
          </p:txBody>
        </p:sp>
      </p:grpSp>
      <p:grpSp>
        <p:nvGrpSpPr>
          <p:cNvPr name="Group 14" id="14"/>
          <p:cNvGrpSpPr/>
          <p:nvPr/>
        </p:nvGrpSpPr>
        <p:grpSpPr>
          <a:xfrm rot="0">
            <a:off x="106034" y="1931566"/>
            <a:ext cx="17985329" cy="8040662"/>
            <a:chOff x="0" y="0"/>
            <a:chExt cx="23980439" cy="10720883"/>
          </a:xfrm>
        </p:grpSpPr>
        <p:sp>
          <p:nvSpPr>
            <p:cNvPr name="TextBox 15" id="15"/>
            <p:cNvSpPr txBox="true"/>
            <p:nvPr/>
          </p:nvSpPr>
          <p:spPr>
            <a:xfrm rot="0">
              <a:off x="17757339" y="276292"/>
              <a:ext cx="5039546" cy="537757"/>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Tá</a:t>
              </a:r>
              <a:r>
                <a:rPr lang="en-US" b="true" sz="2799" strike="noStrike" u="none">
                  <a:solidFill>
                    <a:srgbClr val="000000"/>
                  </a:solidFill>
                  <a:latin typeface="Work Sans Bold"/>
                  <a:ea typeface="Work Sans Bold"/>
                  <a:cs typeface="Work Sans Bold"/>
                  <a:sym typeface="Work Sans Bold"/>
                </a:rPr>
                <a:t>c động đến sự án</a:t>
              </a:r>
            </a:p>
          </p:txBody>
        </p:sp>
        <p:sp>
          <p:nvSpPr>
            <p:cNvPr name="TextBox 16" id="16"/>
            <p:cNvSpPr txBox="true"/>
            <p:nvPr/>
          </p:nvSpPr>
          <p:spPr>
            <a:xfrm rot="0">
              <a:off x="631614" y="9150852"/>
              <a:ext cx="443779" cy="499445"/>
            </a:xfrm>
            <a:prstGeom prst="rect">
              <a:avLst/>
            </a:prstGeom>
          </p:spPr>
          <p:txBody>
            <a:bodyPr anchor="t" rtlCol="false" tIns="0" lIns="0" bIns="0" rIns="0">
              <a:spAutoFit/>
            </a:bodyPr>
            <a:lstStyle/>
            <a:p>
              <a:pPr algn="l" marL="0" indent="0" lvl="0">
                <a:lnSpc>
                  <a:spcPts val="2974"/>
                </a:lnSpc>
              </a:pPr>
              <a:r>
                <a:rPr lang="en-US" b="true" sz="2499">
                  <a:solidFill>
                    <a:srgbClr val="000000"/>
                  </a:solidFill>
                  <a:latin typeface="Work Sans Bold"/>
                  <a:ea typeface="Work Sans Bold"/>
                  <a:cs typeface="Work Sans Bold"/>
                  <a:sym typeface="Work Sans Bold"/>
                </a:rPr>
                <a:t>4</a:t>
              </a:r>
            </a:p>
          </p:txBody>
        </p:sp>
        <p:sp>
          <p:nvSpPr>
            <p:cNvPr name="AutoShape 17" id="17"/>
            <p:cNvSpPr/>
            <p:nvPr/>
          </p:nvSpPr>
          <p:spPr>
            <a:xfrm>
              <a:off x="338821" y="6173905"/>
              <a:ext cx="23641618" cy="0"/>
            </a:xfrm>
            <a:prstGeom prst="line">
              <a:avLst/>
            </a:prstGeom>
            <a:ln cap="flat" w="38100">
              <a:solidFill>
                <a:srgbClr val="000000">
                  <a:alpha val="47843"/>
                </a:srgbClr>
              </a:solidFill>
              <a:prstDash val="lgDash"/>
              <a:headEnd type="none" len="sm" w="sm"/>
              <a:tailEnd type="none" len="sm" w="sm"/>
            </a:ln>
          </p:spPr>
        </p:sp>
        <p:sp>
          <p:nvSpPr>
            <p:cNvPr name="AutoShape 18" id="18"/>
            <p:cNvSpPr/>
            <p:nvPr/>
          </p:nvSpPr>
          <p:spPr>
            <a:xfrm>
              <a:off x="338821" y="3713504"/>
              <a:ext cx="23603448" cy="0"/>
            </a:xfrm>
            <a:prstGeom prst="line">
              <a:avLst/>
            </a:prstGeom>
            <a:ln cap="flat" w="38100">
              <a:solidFill>
                <a:srgbClr val="000000">
                  <a:alpha val="47843"/>
                </a:srgbClr>
              </a:solidFill>
              <a:prstDash val="lgDash"/>
              <a:headEnd type="none" len="sm" w="sm"/>
              <a:tailEnd type="none" len="sm" w="sm"/>
            </a:ln>
          </p:spPr>
        </p:sp>
        <p:sp>
          <p:nvSpPr>
            <p:cNvPr name="AutoShape 19" id="19"/>
            <p:cNvSpPr/>
            <p:nvPr/>
          </p:nvSpPr>
          <p:spPr>
            <a:xfrm>
              <a:off x="338821" y="8429113"/>
              <a:ext cx="23603448" cy="0"/>
            </a:xfrm>
            <a:prstGeom prst="line">
              <a:avLst/>
            </a:prstGeom>
            <a:ln cap="flat" w="38100">
              <a:solidFill>
                <a:srgbClr val="000000">
                  <a:alpha val="47843"/>
                </a:srgbClr>
              </a:solidFill>
              <a:prstDash val="lgDash"/>
              <a:headEnd type="none" len="sm" w="sm"/>
              <a:tailEnd type="none" len="sm" w="sm"/>
            </a:ln>
          </p:spPr>
        </p:sp>
        <p:sp>
          <p:nvSpPr>
            <p:cNvPr name="AutoShape 20" id="20"/>
            <p:cNvSpPr/>
            <p:nvPr/>
          </p:nvSpPr>
          <p:spPr>
            <a:xfrm flipV="true">
              <a:off x="8971878" y="504530"/>
              <a:ext cx="0" cy="10152326"/>
            </a:xfrm>
            <a:prstGeom prst="line">
              <a:avLst/>
            </a:prstGeom>
            <a:ln cap="flat" w="38100">
              <a:solidFill>
                <a:srgbClr val="000000">
                  <a:alpha val="47843"/>
                </a:srgbClr>
              </a:solidFill>
              <a:prstDash val="lgDash"/>
              <a:headEnd type="none" len="sm" w="sm"/>
              <a:tailEnd type="none" len="sm" w="sm"/>
            </a:ln>
          </p:spPr>
        </p:sp>
        <p:sp>
          <p:nvSpPr>
            <p:cNvPr name="AutoShape 21" id="21"/>
            <p:cNvSpPr/>
            <p:nvPr/>
          </p:nvSpPr>
          <p:spPr>
            <a:xfrm flipV="true">
              <a:off x="1489429" y="111"/>
              <a:ext cx="57150" cy="9790478"/>
            </a:xfrm>
            <a:prstGeom prst="line">
              <a:avLst/>
            </a:prstGeom>
            <a:ln cap="flat" w="38100">
              <a:solidFill>
                <a:srgbClr val="000000">
                  <a:alpha val="47843"/>
                </a:srgbClr>
              </a:solidFill>
              <a:prstDash val="lgDash"/>
              <a:headEnd type="none" len="sm" w="sm"/>
              <a:tailEnd type="none" len="sm" w="sm"/>
            </a:ln>
          </p:spPr>
        </p:sp>
        <p:sp>
          <p:nvSpPr>
            <p:cNvPr name="AutoShape 22" id="22"/>
            <p:cNvSpPr/>
            <p:nvPr/>
          </p:nvSpPr>
          <p:spPr>
            <a:xfrm flipV="true">
              <a:off x="338821" y="1219293"/>
              <a:ext cx="23603448" cy="0"/>
            </a:xfrm>
            <a:prstGeom prst="line">
              <a:avLst/>
            </a:prstGeom>
            <a:ln cap="flat" w="38100">
              <a:solidFill>
                <a:srgbClr val="000000">
                  <a:alpha val="47843"/>
                </a:srgbClr>
              </a:solidFill>
              <a:prstDash val="lgDash"/>
              <a:headEnd type="none" len="sm" w="sm"/>
              <a:tailEnd type="none" len="sm" w="sm"/>
            </a:ln>
          </p:spPr>
        </p:sp>
        <p:sp>
          <p:nvSpPr>
            <p:cNvPr name="AutoShape 23" id="23"/>
            <p:cNvSpPr/>
            <p:nvPr/>
          </p:nvSpPr>
          <p:spPr>
            <a:xfrm flipV="true">
              <a:off x="16905582" y="467154"/>
              <a:ext cx="0" cy="10189702"/>
            </a:xfrm>
            <a:prstGeom prst="line">
              <a:avLst/>
            </a:prstGeom>
            <a:ln cap="flat" w="38100">
              <a:solidFill>
                <a:srgbClr val="000000">
                  <a:alpha val="47843"/>
                </a:srgbClr>
              </a:solidFill>
              <a:prstDash val="lgDash"/>
              <a:headEnd type="none" len="sm" w="sm"/>
              <a:tailEnd type="none" len="sm" w="sm"/>
            </a:ln>
          </p:spPr>
        </p:sp>
        <p:sp>
          <p:nvSpPr>
            <p:cNvPr name="TextBox 24" id="24"/>
            <p:cNvSpPr txBox="true"/>
            <p:nvPr/>
          </p:nvSpPr>
          <p:spPr>
            <a:xfrm rot="0">
              <a:off x="0" y="276292"/>
              <a:ext cx="1707008" cy="537757"/>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STT</a:t>
              </a:r>
            </a:p>
          </p:txBody>
        </p:sp>
        <p:sp>
          <p:nvSpPr>
            <p:cNvPr name="TextBox 25" id="25"/>
            <p:cNvSpPr txBox="true"/>
            <p:nvPr/>
          </p:nvSpPr>
          <p:spPr>
            <a:xfrm rot="0">
              <a:off x="631614" y="2058927"/>
              <a:ext cx="527838" cy="499445"/>
            </a:xfrm>
            <a:prstGeom prst="rect">
              <a:avLst/>
            </a:prstGeom>
          </p:spPr>
          <p:txBody>
            <a:bodyPr anchor="t" rtlCol="false" tIns="0" lIns="0" bIns="0" rIns="0">
              <a:spAutoFit/>
            </a:bodyPr>
            <a:lstStyle/>
            <a:p>
              <a:pPr algn="l" marL="0" indent="0" lvl="0">
                <a:lnSpc>
                  <a:spcPts val="2974"/>
                </a:lnSpc>
              </a:pPr>
              <a:r>
                <a:rPr lang="en-US" b="true" sz="2499">
                  <a:solidFill>
                    <a:srgbClr val="000000"/>
                  </a:solidFill>
                  <a:latin typeface="Work Sans Bold"/>
                  <a:ea typeface="Work Sans Bold"/>
                  <a:cs typeface="Work Sans Bold"/>
                  <a:sym typeface="Work Sans Bold"/>
                </a:rPr>
                <a:t>1</a:t>
              </a:r>
            </a:p>
          </p:txBody>
        </p:sp>
        <p:sp>
          <p:nvSpPr>
            <p:cNvPr name="TextBox 26" id="26"/>
            <p:cNvSpPr txBox="true"/>
            <p:nvPr/>
          </p:nvSpPr>
          <p:spPr>
            <a:xfrm rot="0">
              <a:off x="625825" y="4577672"/>
              <a:ext cx="425454" cy="499445"/>
            </a:xfrm>
            <a:prstGeom prst="rect">
              <a:avLst/>
            </a:prstGeom>
          </p:spPr>
          <p:txBody>
            <a:bodyPr anchor="t" rtlCol="false" tIns="0" lIns="0" bIns="0" rIns="0">
              <a:spAutoFit/>
            </a:bodyPr>
            <a:lstStyle/>
            <a:p>
              <a:pPr algn="l" marL="0" indent="0" lvl="0">
                <a:lnSpc>
                  <a:spcPts val="2974"/>
                </a:lnSpc>
              </a:pPr>
              <a:r>
                <a:rPr lang="en-US" b="true" sz="2499">
                  <a:solidFill>
                    <a:srgbClr val="000000"/>
                  </a:solidFill>
                  <a:latin typeface="Work Sans Bold"/>
                  <a:ea typeface="Work Sans Bold"/>
                  <a:cs typeface="Work Sans Bold"/>
                  <a:sym typeface="Work Sans Bold"/>
                </a:rPr>
                <a:t>2</a:t>
              </a:r>
            </a:p>
          </p:txBody>
        </p:sp>
        <p:sp>
          <p:nvSpPr>
            <p:cNvPr name="TextBox 27" id="27"/>
            <p:cNvSpPr txBox="true"/>
            <p:nvPr/>
          </p:nvSpPr>
          <p:spPr>
            <a:xfrm rot="0">
              <a:off x="665031" y="7110606"/>
              <a:ext cx="565190" cy="499445"/>
            </a:xfrm>
            <a:prstGeom prst="rect">
              <a:avLst/>
            </a:prstGeom>
          </p:spPr>
          <p:txBody>
            <a:bodyPr anchor="t" rtlCol="false" tIns="0" lIns="0" bIns="0" rIns="0">
              <a:spAutoFit/>
            </a:bodyPr>
            <a:lstStyle/>
            <a:p>
              <a:pPr algn="l" marL="0" indent="0" lvl="0">
                <a:lnSpc>
                  <a:spcPts val="2974"/>
                </a:lnSpc>
              </a:pPr>
              <a:r>
                <a:rPr lang="en-US" b="true" sz="2499">
                  <a:solidFill>
                    <a:srgbClr val="000000"/>
                  </a:solidFill>
                  <a:latin typeface="Work Sans Bold"/>
                  <a:ea typeface="Work Sans Bold"/>
                  <a:cs typeface="Work Sans Bold"/>
                  <a:sym typeface="Work Sans Bold"/>
                </a:rPr>
                <a:t>3</a:t>
              </a:r>
            </a:p>
          </p:txBody>
        </p:sp>
        <p:sp>
          <p:nvSpPr>
            <p:cNvPr name="TextBox 28" id="28"/>
            <p:cNvSpPr txBox="true"/>
            <p:nvPr/>
          </p:nvSpPr>
          <p:spPr>
            <a:xfrm rot="0">
              <a:off x="2213329" y="3955372"/>
              <a:ext cx="5955329"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Tồn đọng tiến độ phê duyệt kịch bản và sản xuất hậu kỳ video ngắn</a:t>
              </a:r>
            </a:p>
          </p:txBody>
        </p:sp>
        <p:sp>
          <p:nvSpPr>
            <p:cNvPr name="TextBox 29" id="29"/>
            <p:cNvSpPr txBox="true"/>
            <p:nvPr/>
          </p:nvSpPr>
          <p:spPr>
            <a:xfrm rot="0">
              <a:off x="2132818" y="6615394"/>
              <a:ext cx="6431595"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Tiến độ lập trình giao diện thô và hoàn thiện kỹ thuật Website bị kéo dài</a:t>
              </a:r>
            </a:p>
          </p:txBody>
        </p:sp>
        <p:sp>
          <p:nvSpPr>
            <p:cNvPr name="TextBox 30" id="30"/>
            <p:cNvSpPr txBox="true"/>
            <p:nvPr/>
          </p:nvSpPr>
          <p:spPr>
            <a:xfrm rot="0">
              <a:off x="2213329" y="8816463"/>
              <a:ext cx="6351084"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Tính năng trải nghiệm không gian ảo VR360 bị mờ, nhiễu hạt cục bộ</a:t>
              </a:r>
            </a:p>
          </p:txBody>
        </p:sp>
        <p:sp>
          <p:nvSpPr>
            <p:cNvPr name="TextBox 31" id="31"/>
            <p:cNvSpPr txBox="true"/>
            <p:nvPr/>
          </p:nvSpPr>
          <p:spPr>
            <a:xfrm rot="0">
              <a:off x="2213329" y="1657443"/>
              <a:ext cx="6513647"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Chậm trễ khởi tạo và phân quyền quản trị Fanpage Facebook</a:t>
              </a:r>
            </a:p>
          </p:txBody>
        </p:sp>
        <p:sp>
          <p:nvSpPr>
            <p:cNvPr name="TextBox 32" id="32"/>
            <p:cNvSpPr txBox="true"/>
            <p:nvPr/>
          </p:nvSpPr>
          <p:spPr>
            <a:xfrm rot="0">
              <a:off x="9730275" y="1648779"/>
              <a:ext cx="6732425"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Chậm trễ khởi tạo và phân</a:t>
              </a:r>
              <a:r>
                <a:rPr lang="en-US" sz="2499" strike="noStrike" u="none">
                  <a:solidFill>
                    <a:srgbClr val="000000"/>
                  </a:solidFill>
                  <a:latin typeface="Work Sans"/>
                  <a:ea typeface="Work Sans"/>
                  <a:cs typeface="Work Sans"/>
                  <a:sym typeface="Work Sans"/>
                </a:rPr>
                <a:t> quyền quản trị Fanpage Facebook</a:t>
              </a:r>
            </a:p>
          </p:txBody>
        </p:sp>
        <p:sp>
          <p:nvSpPr>
            <p:cNvPr name="TextBox 33" id="33"/>
            <p:cNvSpPr txBox="true"/>
            <p:nvPr/>
          </p:nvSpPr>
          <p:spPr>
            <a:xfrm rot="0">
              <a:off x="9730275" y="6499008"/>
              <a:ext cx="7146246"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Nhân sự nội bộ thiếu hụt kỹ năng chuyên sâu về tối ưu giao diện tương thích (Responsive UI/UX)</a:t>
              </a:r>
            </a:p>
          </p:txBody>
        </p:sp>
        <p:sp>
          <p:nvSpPr>
            <p:cNvPr name="TextBox 34" id="34"/>
            <p:cNvSpPr txBox="true"/>
            <p:nvPr/>
          </p:nvSpPr>
          <p:spPr>
            <a:xfrm rot="0">
              <a:off x="9768375" y="8735802"/>
              <a:ext cx="7118157" cy="1985081"/>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Thiếu hụt thiết bị chuyên dụng; các phần mềm xử lý miễn phí bị giới hạn nghiêm ngặt về chất lượng</a:t>
              </a:r>
              <a:r>
                <a:rPr lang="en-US" sz="2499" strike="noStrike" u="none">
                  <a:solidFill>
                    <a:srgbClr val="000000"/>
                  </a:solidFill>
                  <a:latin typeface="Work Sans"/>
                  <a:ea typeface="Work Sans"/>
                  <a:cs typeface="Work Sans"/>
                  <a:sym typeface="Work Sans"/>
                </a:rPr>
                <a:t> xuất ảnh</a:t>
              </a:r>
            </a:p>
          </p:txBody>
        </p:sp>
        <p:sp>
          <p:nvSpPr>
            <p:cNvPr name="TextBox 35" id="35"/>
            <p:cNvSpPr txBox="true"/>
            <p:nvPr/>
          </p:nvSpPr>
          <p:spPr>
            <a:xfrm rot="0">
              <a:off x="2527743" y="276292"/>
              <a:ext cx="4424862" cy="537757"/>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Vấn đề phát s</a:t>
              </a:r>
              <a:r>
                <a:rPr lang="en-US" b="true" sz="2799" strike="noStrike" u="none">
                  <a:solidFill>
                    <a:srgbClr val="000000"/>
                  </a:solidFill>
                  <a:latin typeface="Work Sans Bold"/>
                  <a:ea typeface="Work Sans Bold"/>
                  <a:cs typeface="Work Sans Bold"/>
                  <a:sym typeface="Work Sans Bold"/>
                </a:rPr>
                <a:t>inh</a:t>
              </a:r>
            </a:p>
          </p:txBody>
        </p:sp>
        <p:sp>
          <p:nvSpPr>
            <p:cNvPr name="TextBox 36" id="36"/>
            <p:cNvSpPr txBox="true"/>
            <p:nvPr/>
          </p:nvSpPr>
          <p:spPr>
            <a:xfrm rot="0">
              <a:off x="9676728" y="3902673"/>
              <a:ext cx="6785972" cy="1985081"/>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Thành viên vướng lịch thi học kỳ và các bài kiểm tra chuyên ngành dày đặc tại</a:t>
              </a:r>
              <a:r>
                <a:rPr lang="en-US" sz="2499" strike="noStrike" u="none">
                  <a:solidFill>
                    <a:srgbClr val="000000"/>
                  </a:solidFill>
                  <a:latin typeface="Work Sans"/>
                  <a:ea typeface="Work Sans"/>
                  <a:cs typeface="Work Sans"/>
                  <a:sym typeface="Work Sans"/>
                </a:rPr>
                <a:t> Đại học Bách khoa Hà Nội</a:t>
              </a:r>
            </a:p>
          </p:txBody>
        </p:sp>
        <p:sp>
          <p:nvSpPr>
            <p:cNvPr name="TextBox 37" id="37"/>
            <p:cNvSpPr txBox="true"/>
            <p:nvPr/>
          </p:nvSpPr>
          <p:spPr>
            <a:xfrm rot="0">
              <a:off x="10527481" y="198174"/>
              <a:ext cx="5551835" cy="537757"/>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Nguyên nhân gốc</a:t>
              </a:r>
              <a:r>
                <a:rPr lang="en-US" b="true" sz="2799" strike="noStrike" u="none">
                  <a:solidFill>
                    <a:srgbClr val="000000"/>
                  </a:solidFill>
                  <a:latin typeface="Work Sans Bold"/>
                  <a:ea typeface="Work Sans Bold"/>
                  <a:cs typeface="Work Sans Bold"/>
                  <a:sym typeface="Work Sans Bold"/>
                </a:rPr>
                <a:t> rễ</a:t>
              </a:r>
            </a:p>
          </p:txBody>
        </p:sp>
        <p:sp>
          <p:nvSpPr>
            <p:cNvPr name="TextBox 38" id="38"/>
            <p:cNvSpPr txBox="true"/>
            <p:nvPr/>
          </p:nvSpPr>
          <p:spPr>
            <a:xfrm rot="0">
              <a:off x="17610432" y="1726897"/>
              <a:ext cx="5690152"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Lùi lịch phát hành tuyến nội du</a:t>
              </a:r>
              <a:r>
                <a:rPr lang="en-US" sz="2499" strike="noStrike" u="none">
                  <a:solidFill>
                    <a:srgbClr val="000000"/>
                  </a:solidFill>
                  <a:latin typeface="Work Sans"/>
                  <a:ea typeface="Work Sans"/>
                  <a:cs typeface="Work Sans"/>
                  <a:sym typeface="Work Sans"/>
                </a:rPr>
                <a:t>ng</a:t>
              </a:r>
            </a:p>
          </p:txBody>
        </p:sp>
        <p:sp>
          <p:nvSpPr>
            <p:cNvPr name="TextBox 39" id="39"/>
            <p:cNvSpPr txBox="true"/>
            <p:nvPr/>
          </p:nvSpPr>
          <p:spPr>
            <a:xfrm rot="0">
              <a:off x="17704487" y="3971243"/>
              <a:ext cx="5466675"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Gây áp lực nén thời gian lên các giai</a:t>
              </a:r>
              <a:r>
                <a:rPr lang="en-US" sz="2499" strike="noStrike" u="none">
                  <a:solidFill>
                    <a:srgbClr val="000000"/>
                  </a:solidFill>
                  <a:latin typeface="Work Sans"/>
                  <a:ea typeface="Work Sans"/>
                  <a:cs typeface="Work Sans"/>
                  <a:sym typeface="Work Sans"/>
                </a:rPr>
                <a:t> đoạn truyền thông kế tiếp.</a:t>
              </a:r>
            </a:p>
          </p:txBody>
        </p:sp>
        <p:sp>
          <p:nvSpPr>
            <p:cNvPr name="TextBox 40" id="40"/>
            <p:cNvSpPr txBox="true"/>
            <p:nvPr/>
          </p:nvSpPr>
          <p:spPr>
            <a:xfrm rot="0">
              <a:off x="17610432" y="6631265"/>
              <a:ext cx="5062866" cy="994657"/>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Kéo dài thời gian kiểm thử kỹ</a:t>
              </a:r>
              <a:r>
                <a:rPr lang="en-US" sz="2499" strike="noStrike" u="none">
                  <a:solidFill>
                    <a:srgbClr val="000000"/>
                  </a:solidFill>
                  <a:latin typeface="Work Sans"/>
                  <a:ea typeface="Work Sans"/>
                  <a:cs typeface="Work Sans"/>
                  <a:sym typeface="Work Sans"/>
                </a:rPr>
                <a:t> thuật</a:t>
              </a:r>
            </a:p>
          </p:txBody>
        </p:sp>
        <p:sp>
          <p:nvSpPr>
            <p:cNvPr name="TextBox 41" id="41"/>
            <p:cNvSpPr txBox="true"/>
            <p:nvPr/>
          </p:nvSpPr>
          <p:spPr>
            <a:xfrm rot="0">
              <a:off x="17610432" y="8816463"/>
              <a:ext cx="5730984"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Sản phẩm đầu ra tại phân hệ VR360 chưa đạt độ sắc nét lý tưởng</a:t>
              </a:r>
              <a:r>
                <a:rPr lang="en-US" sz="2499" strike="noStrike" u="none">
                  <a:solidFill>
                    <a:srgbClr val="000000"/>
                  </a:solidFill>
                  <a:latin typeface="Work Sans"/>
                  <a:ea typeface="Work Sans"/>
                  <a:cs typeface="Work Sans"/>
                  <a:sym typeface="Work Sans"/>
                </a:rPr>
                <a:t> như kế hoạch</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80736" y="490255"/>
            <a:ext cx="8024176" cy="888116"/>
            <a:chOff x="0" y="0"/>
            <a:chExt cx="10698902" cy="1184154"/>
          </a:xfrm>
        </p:grpSpPr>
        <p:grpSp>
          <p:nvGrpSpPr>
            <p:cNvPr name="Group 10" id="10"/>
            <p:cNvGrpSpPr/>
            <p:nvPr/>
          </p:nvGrpSpPr>
          <p:grpSpPr>
            <a:xfrm rot="0">
              <a:off x="0" y="0"/>
              <a:ext cx="10626864" cy="1184154"/>
              <a:chOff x="0" y="0"/>
              <a:chExt cx="2099134" cy="233907"/>
            </a:xfrm>
          </p:grpSpPr>
          <p:sp>
            <p:nvSpPr>
              <p:cNvPr name="Freeform 11" id="11"/>
              <p:cNvSpPr/>
              <p:nvPr/>
            </p:nvSpPr>
            <p:spPr>
              <a:xfrm flipH="false" flipV="false" rot="0">
                <a:off x="0" y="0"/>
                <a:ext cx="2099134" cy="233907"/>
              </a:xfrm>
              <a:custGeom>
                <a:avLst/>
                <a:gdLst/>
                <a:ahLst/>
                <a:cxnLst/>
                <a:rect r="r" b="b" t="t" l="l"/>
                <a:pathLst>
                  <a:path h="233907" w="2099134">
                    <a:moveTo>
                      <a:pt x="97136" y="0"/>
                    </a:moveTo>
                    <a:lnTo>
                      <a:pt x="2001997" y="0"/>
                    </a:lnTo>
                    <a:cubicBezTo>
                      <a:pt x="2055644" y="0"/>
                      <a:pt x="2099134" y="43489"/>
                      <a:pt x="2099134" y="97136"/>
                    </a:cubicBezTo>
                    <a:lnTo>
                      <a:pt x="2099134" y="136771"/>
                    </a:lnTo>
                    <a:cubicBezTo>
                      <a:pt x="2099134" y="190418"/>
                      <a:pt x="2055644" y="233907"/>
                      <a:pt x="2001997" y="233907"/>
                    </a:cubicBezTo>
                    <a:lnTo>
                      <a:pt x="97136" y="233907"/>
                    </a:lnTo>
                    <a:cubicBezTo>
                      <a:pt x="43489" y="233907"/>
                      <a:pt x="0" y="190418"/>
                      <a:pt x="0" y="136771"/>
                    </a:cubicBezTo>
                    <a:lnTo>
                      <a:pt x="0" y="97136"/>
                    </a:lnTo>
                    <a:cubicBezTo>
                      <a:pt x="0" y="43489"/>
                      <a:pt x="43489" y="0"/>
                      <a:pt x="97136" y="0"/>
                    </a:cubicBezTo>
                    <a:close/>
                  </a:path>
                </a:pathLst>
              </a:custGeom>
              <a:solidFill>
                <a:srgbClr val="FFFFFF"/>
              </a:solidFill>
              <a:ln cap="rnd">
                <a:noFill/>
                <a:prstDash val="solid"/>
                <a:round/>
              </a:ln>
            </p:spPr>
          </p:sp>
          <p:sp>
            <p:nvSpPr>
              <p:cNvPr name="TextBox 12" id="12"/>
              <p:cNvSpPr txBox="true"/>
              <p:nvPr/>
            </p:nvSpPr>
            <p:spPr>
              <a:xfrm>
                <a:off x="0" y="-57150"/>
                <a:ext cx="2099134" cy="291057"/>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57186" y="141884"/>
              <a:ext cx="103417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3. Các biện pháp điều chỉnh</a:t>
              </a:r>
            </a:p>
          </p:txBody>
        </p:sp>
      </p:grpSp>
      <p:grpSp>
        <p:nvGrpSpPr>
          <p:cNvPr name="Group 14" id="14"/>
          <p:cNvGrpSpPr/>
          <p:nvPr/>
        </p:nvGrpSpPr>
        <p:grpSpPr>
          <a:xfrm rot="0">
            <a:off x="80658" y="2231432"/>
            <a:ext cx="18126684" cy="7630427"/>
            <a:chOff x="0" y="0"/>
            <a:chExt cx="24168912" cy="10173903"/>
          </a:xfrm>
        </p:grpSpPr>
        <p:sp>
          <p:nvSpPr>
            <p:cNvPr name="TextBox 15" id="15"/>
            <p:cNvSpPr txBox="true"/>
            <p:nvPr/>
          </p:nvSpPr>
          <p:spPr>
            <a:xfrm rot="0">
              <a:off x="18301970" y="54928"/>
              <a:ext cx="5039546" cy="1032969"/>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Cơ </a:t>
              </a:r>
              <a:r>
                <a:rPr lang="en-US" b="true" sz="2799" strike="noStrike" u="none">
                  <a:solidFill>
                    <a:srgbClr val="000000"/>
                  </a:solidFill>
                  <a:latin typeface="Work Sans Bold"/>
                  <a:ea typeface="Work Sans Bold"/>
                  <a:cs typeface="Work Sans Bold"/>
                  <a:sym typeface="Work Sans Bold"/>
                </a:rPr>
                <a:t>chế điều phối nguồn lực</a:t>
              </a:r>
            </a:p>
          </p:txBody>
        </p:sp>
        <p:sp>
          <p:nvSpPr>
            <p:cNvPr name="AutoShape 16" id="16"/>
            <p:cNvSpPr/>
            <p:nvPr/>
          </p:nvSpPr>
          <p:spPr>
            <a:xfrm>
              <a:off x="527294" y="7403424"/>
              <a:ext cx="23641618" cy="0"/>
            </a:xfrm>
            <a:prstGeom prst="line">
              <a:avLst/>
            </a:prstGeom>
            <a:ln cap="flat" w="38100">
              <a:solidFill>
                <a:srgbClr val="000000">
                  <a:alpha val="47843"/>
                </a:srgbClr>
              </a:solidFill>
              <a:prstDash val="lgDash"/>
              <a:headEnd type="none" len="sm" w="sm"/>
              <a:tailEnd type="none" len="sm" w="sm"/>
            </a:ln>
          </p:spPr>
        </p:sp>
        <p:sp>
          <p:nvSpPr>
            <p:cNvPr name="AutoShape 17" id="17"/>
            <p:cNvSpPr/>
            <p:nvPr/>
          </p:nvSpPr>
          <p:spPr>
            <a:xfrm>
              <a:off x="527294" y="3980616"/>
              <a:ext cx="23603448" cy="0"/>
            </a:xfrm>
            <a:prstGeom prst="line">
              <a:avLst/>
            </a:prstGeom>
            <a:ln cap="flat" w="38100">
              <a:solidFill>
                <a:srgbClr val="000000">
                  <a:alpha val="47843"/>
                </a:srgbClr>
              </a:solidFill>
              <a:prstDash val="lgDash"/>
              <a:headEnd type="none" len="sm" w="sm"/>
              <a:tailEnd type="none" len="sm" w="sm"/>
            </a:ln>
          </p:spPr>
        </p:sp>
        <p:sp>
          <p:nvSpPr>
            <p:cNvPr name="AutoShape 18" id="18"/>
            <p:cNvSpPr/>
            <p:nvPr/>
          </p:nvSpPr>
          <p:spPr>
            <a:xfrm>
              <a:off x="452046" y="10154853"/>
              <a:ext cx="23603448" cy="0"/>
            </a:xfrm>
            <a:prstGeom prst="line">
              <a:avLst/>
            </a:prstGeom>
            <a:ln cap="flat" w="38100">
              <a:solidFill>
                <a:srgbClr val="000000">
                  <a:alpha val="47843"/>
                </a:srgbClr>
              </a:solidFill>
              <a:prstDash val="lgDash"/>
              <a:headEnd type="none" len="sm" w="sm"/>
              <a:tailEnd type="none" len="sm" w="sm"/>
            </a:ln>
          </p:spPr>
        </p:sp>
        <p:sp>
          <p:nvSpPr>
            <p:cNvPr name="AutoShape 19" id="19"/>
            <p:cNvSpPr/>
            <p:nvPr/>
          </p:nvSpPr>
          <p:spPr>
            <a:xfrm flipV="true">
              <a:off x="9160350" y="209645"/>
              <a:ext cx="0" cy="9677049"/>
            </a:xfrm>
            <a:prstGeom prst="line">
              <a:avLst/>
            </a:prstGeom>
            <a:ln cap="flat" w="38100">
              <a:solidFill>
                <a:srgbClr val="000000">
                  <a:alpha val="47843"/>
                </a:srgbClr>
              </a:solidFill>
              <a:prstDash val="lgDash"/>
              <a:headEnd type="none" len="sm" w="sm"/>
              <a:tailEnd type="none" len="sm" w="sm"/>
            </a:ln>
          </p:spPr>
        </p:sp>
        <p:sp>
          <p:nvSpPr>
            <p:cNvPr name="AutoShape 20" id="20"/>
            <p:cNvSpPr/>
            <p:nvPr/>
          </p:nvSpPr>
          <p:spPr>
            <a:xfrm flipV="true">
              <a:off x="1579475" y="0"/>
              <a:ext cx="0" cy="9821329"/>
            </a:xfrm>
            <a:prstGeom prst="line">
              <a:avLst/>
            </a:prstGeom>
            <a:ln cap="flat" w="38100">
              <a:solidFill>
                <a:srgbClr val="000000">
                  <a:alpha val="47843"/>
                </a:srgbClr>
              </a:solidFill>
              <a:prstDash val="lgDash"/>
              <a:headEnd type="none" len="sm" w="sm"/>
              <a:tailEnd type="none" len="sm" w="sm"/>
            </a:ln>
          </p:spPr>
        </p:sp>
        <p:sp>
          <p:nvSpPr>
            <p:cNvPr name="AutoShape 21" id="21"/>
            <p:cNvSpPr/>
            <p:nvPr/>
          </p:nvSpPr>
          <p:spPr>
            <a:xfrm flipV="true">
              <a:off x="527294" y="1245535"/>
              <a:ext cx="23603448" cy="0"/>
            </a:xfrm>
            <a:prstGeom prst="line">
              <a:avLst/>
            </a:prstGeom>
            <a:ln cap="flat" w="38100">
              <a:solidFill>
                <a:srgbClr val="000000">
                  <a:alpha val="47843"/>
                </a:srgbClr>
              </a:solidFill>
              <a:prstDash val="lgDash"/>
              <a:headEnd type="none" len="sm" w="sm"/>
              <a:tailEnd type="none" len="sm" w="sm"/>
            </a:ln>
          </p:spPr>
        </p:sp>
        <p:sp>
          <p:nvSpPr>
            <p:cNvPr name="AutoShape 22" id="22"/>
            <p:cNvSpPr/>
            <p:nvPr/>
          </p:nvSpPr>
          <p:spPr>
            <a:xfrm flipH="true" flipV="true">
              <a:off x="16996084" y="273959"/>
              <a:ext cx="19050" cy="9739781"/>
            </a:xfrm>
            <a:prstGeom prst="line">
              <a:avLst/>
            </a:prstGeom>
            <a:ln cap="flat" w="38100">
              <a:solidFill>
                <a:srgbClr val="000000">
                  <a:alpha val="47843"/>
                </a:srgbClr>
              </a:solidFill>
              <a:prstDash val="lgDash"/>
              <a:headEnd type="none" len="sm" w="sm"/>
              <a:tailEnd type="none" len="sm" w="sm"/>
            </a:ln>
          </p:spPr>
        </p:sp>
        <p:sp>
          <p:nvSpPr>
            <p:cNvPr name="TextBox 23" id="23"/>
            <p:cNvSpPr txBox="true"/>
            <p:nvPr/>
          </p:nvSpPr>
          <p:spPr>
            <a:xfrm rot="0">
              <a:off x="0" y="550140"/>
              <a:ext cx="1707008" cy="537757"/>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STT</a:t>
              </a:r>
            </a:p>
          </p:txBody>
        </p:sp>
        <p:sp>
          <p:nvSpPr>
            <p:cNvPr name="TextBox 24" id="24"/>
            <p:cNvSpPr txBox="true"/>
            <p:nvPr/>
          </p:nvSpPr>
          <p:spPr>
            <a:xfrm rot="0">
              <a:off x="820086" y="2085169"/>
              <a:ext cx="527838" cy="499445"/>
            </a:xfrm>
            <a:prstGeom prst="rect">
              <a:avLst/>
            </a:prstGeom>
          </p:spPr>
          <p:txBody>
            <a:bodyPr anchor="t" rtlCol="false" tIns="0" lIns="0" bIns="0" rIns="0">
              <a:spAutoFit/>
            </a:bodyPr>
            <a:lstStyle/>
            <a:p>
              <a:pPr algn="l" marL="0" indent="0" lvl="0">
                <a:lnSpc>
                  <a:spcPts val="2974"/>
                </a:lnSpc>
              </a:pPr>
              <a:r>
                <a:rPr lang="en-US" b="true" sz="2499">
                  <a:solidFill>
                    <a:srgbClr val="000000"/>
                  </a:solidFill>
                  <a:latin typeface="Work Sans Bold"/>
                  <a:ea typeface="Work Sans Bold"/>
                  <a:cs typeface="Work Sans Bold"/>
                  <a:sym typeface="Work Sans Bold"/>
                </a:rPr>
                <a:t>1</a:t>
              </a:r>
            </a:p>
          </p:txBody>
        </p:sp>
        <p:sp>
          <p:nvSpPr>
            <p:cNvPr name="TextBox 25" id="25"/>
            <p:cNvSpPr txBox="true"/>
            <p:nvPr/>
          </p:nvSpPr>
          <p:spPr>
            <a:xfrm rot="0">
              <a:off x="814297" y="5244266"/>
              <a:ext cx="425454" cy="499445"/>
            </a:xfrm>
            <a:prstGeom prst="rect">
              <a:avLst/>
            </a:prstGeom>
          </p:spPr>
          <p:txBody>
            <a:bodyPr anchor="t" rtlCol="false" tIns="0" lIns="0" bIns="0" rIns="0">
              <a:spAutoFit/>
            </a:bodyPr>
            <a:lstStyle/>
            <a:p>
              <a:pPr algn="l" marL="0" indent="0" lvl="0">
                <a:lnSpc>
                  <a:spcPts val="2974"/>
                </a:lnSpc>
              </a:pPr>
              <a:r>
                <a:rPr lang="en-US" b="true" sz="2499">
                  <a:solidFill>
                    <a:srgbClr val="000000"/>
                  </a:solidFill>
                  <a:latin typeface="Work Sans Bold"/>
                  <a:ea typeface="Work Sans Bold"/>
                  <a:cs typeface="Work Sans Bold"/>
                  <a:sym typeface="Work Sans Bold"/>
                </a:rPr>
                <a:t>2</a:t>
              </a:r>
            </a:p>
          </p:txBody>
        </p:sp>
        <p:sp>
          <p:nvSpPr>
            <p:cNvPr name="TextBox 26" id="26"/>
            <p:cNvSpPr txBox="true"/>
            <p:nvPr/>
          </p:nvSpPr>
          <p:spPr>
            <a:xfrm rot="0">
              <a:off x="853504" y="8329344"/>
              <a:ext cx="565190" cy="499445"/>
            </a:xfrm>
            <a:prstGeom prst="rect">
              <a:avLst/>
            </a:prstGeom>
          </p:spPr>
          <p:txBody>
            <a:bodyPr anchor="t" rtlCol="false" tIns="0" lIns="0" bIns="0" rIns="0">
              <a:spAutoFit/>
            </a:bodyPr>
            <a:lstStyle/>
            <a:p>
              <a:pPr algn="l" marL="0" indent="0" lvl="0">
                <a:lnSpc>
                  <a:spcPts val="2974"/>
                </a:lnSpc>
              </a:pPr>
              <a:r>
                <a:rPr lang="en-US" b="true" sz="2499">
                  <a:solidFill>
                    <a:srgbClr val="000000"/>
                  </a:solidFill>
                  <a:latin typeface="Work Sans Bold"/>
                  <a:ea typeface="Work Sans Bold"/>
                  <a:cs typeface="Work Sans Bold"/>
                  <a:sym typeface="Work Sans Bold"/>
                </a:rPr>
                <a:t>3</a:t>
              </a:r>
            </a:p>
          </p:txBody>
        </p:sp>
        <p:sp>
          <p:nvSpPr>
            <p:cNvPr name="TextBox 27" id="27"/>
            <p:cNvSpPr txBox="true"/>
            <p:nvPr/>
          </p:nvSpPr>
          <p:spPr>
            <a:xfrm rot="0">
              <a:off x="2401801" y="4471466"/>
              <a:ext cx="5955329"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Phân hệ VR360 bị lỗi hiển thị, hình ảnh mờ nhiễu do giới hạn phần mềm miễn phí</a:t>
              </a:r>
            </a:p>
          </p:txBody>
        </p:sp>
        <p:sp>
          <p:nvSpPr>
            <p:cNvPr name="TextBox 28" id="28"/>
            <p:cNvSpPr txBox="true"/>
            <p:nvPr/>
          </p:nvSpPr>
          <p:spPr>
            <a:xfrm rot="0">
              <a:off x="2482072" y="7836249"/>
              <a:ext cx="6431595" cy="1985081"/>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Chỉ số tương tác Facebook tuần đầu bị chững; tiến độ thu thập biểu mẫu Form đăng ký chậm</a:t>
              </a:r>
            </a:p>
          </p:txBody>
        </p:sp>
        <p:sp>
          <p:nvSpPr>
            <p:cNvPr name="TextBox 29" id="29"/>
            <p:cNvSpPr txBox="true"/>
            <p:nvPr/>
          </p:nvSpPr>
          <p:spPr>
            <a:xfrm rot="0">
              <a:off x="2401801" y="1683685"/>
              <a:ext cx="6351084"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Trễ hạn sản xuất video và lập trình thô Website do thành viên bận lịch thi</a:t>
              </a:r>
            </a:p>
          </p:txBody>
        </p:sp>
        <p:sp>
          <p:nvSpPr>
            <p:cNvPr name="TextBox 30" id="30"/>
            <p:cNvSpPr txBox="true"/>
            <p:nvPr/>
          </p:nvSpPr>
          <p:spPr>
            <a:xfrm rot="0">
              <a:off x="9918748" y="1675021"/>
              <a:ext cx="7077336" cy="1985081"/>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Tăng cường nhân sự hỗ trợ chéo. Áp dụng</a:t>
              </a:r>
              <a:r>
                <a:rPr lang="en-US" sz="2499" strike="noStrike" u="none">
                  <a:solidFill>
                    <a:srgbClr val="000000"/>
                  </a:solidFill>
                  <a:latin typeface="Work Sans"/>
                  <a:ea typeface="Work Sans"/>
                  <a:cs typeface="Work Sans"/>
                  <a:sym typeface="Work Sans"/>
                </a:rPr>
                <a:t> quy trình sản xuất cuốn chiếu (content - Desgin - Code chạy song song)</a:t>
              </a:r>
            </a:p>
          </p:txBody>
        </p:sp>
        <p:sp>
          <p:nvSpPr>
            <p:cNvPr name="TextBox 31" id="31"/>
            <p:cNvSpPr txBox="true"/>
            <p:nvPr/>
          </p:nvSpPr>
          <p:spPr>
            <a:xfrm rot="0">
              <a:off x="9918748" y="7841574"/>
              <a:ext cx="6732425"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Các thành viên trong nhóm dự án tích cự seeding, chia sẻ bài đăng</a:t>
              </a:r>
            </a:p>
          </p:txBody>
        </p:sp>
        <p:sp>
          <p:nvSpPr>
            <p:cNvPr name="TextBox 32" id="32"/>
            <p:cNvSpPr txBox="true"/>
            <p:nvPr/>
          </p:nvSpPr>
          <p:spPr>
            <a:xfrm rot="0">
              <a:off x="2716215" y="302534"/>
              <a:ext cx="4424862" cy="537757"/>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Sự cố ghi </a:t>
              </a:r>
              <a:r>
                <a:rPr lang="en-US" b="true" sz="2799" strike="noStrike" u="none">
                  <a:solidFill>
                    <a:srgbClr val="000000"/>
                  </a:solidFill>
                  <a:latin typeface="Work Sans Bold"/>
                  <a:ea typeface="Work Sans Bold"/>
                  <a:cs typeface="Work Sans Bold"/>
                  <a:sym typeface="Work Sans Bold"/>
                </a:rPr>
                <a:t>nhận</a:t>
              </a:r>
            </a:p>
          </p:txBody>
        </p:sp>
        <p:sp>
          <p:nvSpPr>
            <p:cNvPr name="TextBox 33" id="33"/>
            <p:cNvSpPr txBox="true"/>
            <p:nvPr/>
          </p:nvSpPr>
          <p:spPr>
            <a:xfrm rot="0">
              <a:off x="9865200" y="4418766"/>
              <a:ext cx="6785972" cy="1985081"/>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Triển khai thử nghiệm, căn chỉnh và xuất ảnh nhiều lần dưới các thuật toán nén khác nhau.</a:t>
              </a:r>
              <a:r>
                <a:rPr lang="en-US" sz="2499" strike="noStrike" u="none">
                  <a:solidFill>
                    <a:srgbClr val="000000"/>
                  </a:solidFill>
                  <a:latin typeface="Work Sans"/>
                  <a:ea typeface="Work Sans"/>
                  <a:cs typeface="Work Sans"/>
                  <a:sym typeface="Work Sans"/>
                </a:rPr>
                <a:t> Chấp nhận lỗi để giữ tiến độ.</a:t>
              </a:r>
            </a:p>
          </p:txBody>
        </p:sp>
        <p:sp>
          <p:nvSpPr>
            <p:cNvPr name="TextBox 34" id="34"/>
            <p:cNvSpPr txBox="true"/>
            <p:nvPr/>
          </p:nvSpPr>
          <p:spPr>
            <a:xfrm rot="0">
              <a:off x="10266369" y="302534"/>
              <a:ext cx="5551835" cy="537757"/>
            </a:xfrm>
            <a:prstGeom prst="rect">
              <a:avLst/>
            </a:prstGeom>
          </p:spPr>
          <p:txBody>
            <a:bodyPr anchor="t" rtlCol="false" tIns="0" lIns="0" bIns="0" rIns="0">
              <a:spAutoFit/>
            </a:bodyPr>
            <a:lstStyle/>
            <a:p>
              <a:pPr algn="ctr" marL="0" indent="0" lvl="0">
                <a:lnSpc>
                  <a:spcPts val="2939"/>
                </a:lnSpc>
              </a:pPr>
              <a:r>
                <a:rPr lang="en-US" b="true" sz="2799">
                  <a:solidFill>
                    <a:srgbClr val="000000"/>
                  </a:solidFill>
                  <a:latin typeface="Work Sans Bold"/>
                  <a:ea typeface="Work Sans Bold"/>
                  <a:cs typeface="Work Sans Bold"/>
                  <a:sym typeface="Work Sans Bold"/>
                </a:rPr>
                <a:t>Biện pháp can</a:t>
              </a:r>
              <a:r>
                <a:rPr lang="en-US" b="true" sz="2799" strike="noStrike" u="none">
                  <a:solidFill>
                    <a:srgbClr val="000000"/>
                  </a:solidFill>
                  <a:latin typeface="Work Sans Bold"/>
                  <a:ea typeface="Work Sans Bold"/>
                  <a:cs typeface="Work Sans Bold"/>
                  <a:sym typeface="Work Sans Bold"/>
                </a:rPr>
                <a:t> thiệp</a:t>
              </a:r>
            </a:p>
          </p:txBody>
        </p:sp>
        <p:sp>
          <p:nvSpPr>
            <p:cNvPr name="TextBox 35" id="35"/>
            <p:cNvSpPr txBox="true"/>
            <p:nvPr/>
          </p:nvSpPr>
          <p:spPr>
            <a:xfrm rot="0">
              <a:off x="17532204" y="1753139"/>
              <a:ext cx="5785324" cy="1985081"/>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Điều chuyển thành viên nhóm</a:t>
              </a:r>
              <a:r>
                <a:rPr lang="en-US" sz="2499" strike="noStrike" u="none">
                  <a:solidFill>
                    <a:srgbClr val="000000"/>
                  </a:solidFill>
                  <a:latin typeface="Work Sans"/>
                  <a:ea typeface="Work Sans"/>
                  <a:cs typeface="Work Sans"/>
                  <a:sym typeface="Work Sans"/>
                </a:rPr>
                <a:t> sang hỗ trợ nhóm kỹ thuật nhập liệu và dịch kịch bản</a:t>
              </a:r>
            </a:p>
          </p:txBody>
        </p:sp>
        <p:sp>
          <p:nvSpPr>
            <p:cNvPr name="TextBox 36" id="36"/>
            <p:cNvSpPr txBox="true"/>
            <p:nvPr/>
          </p:nvSpPr>
          <p:spPr>
            <a:xfrm rot="0">
              <a:off x="17629072" y="4487337"/>
              <a:ext cx="6257515" cy="2480292"/>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Tập trung tối ưu hóa thủ công trong phạm vi</a:t>
              </a:r>
              <a:r>
                <a:rPr lang="en-US" sz="2499" strike="noStrike" u="none">
                  <a:solidFill>
                    <a:srgbClr val="000000"/>
                  </a:solidFill>
                  <a:latin typeface="Work Sans"/>
                  <a:ea typeface="Work Sans"/>
                  <a:cs typeface="Work Sans"/>
                  <a:sym typeface="Work Sans"/>
                </a:rPr>
                <a:t> cho phép; Trưởng dự án lập hồ sơ kiến nghị cho các dự án sau kế thừa</a:t>
              </a:r>
            </a:p>
          </p:txBody>
        </p:sp>
        <p:sp>
          <p:nvSpPr>
            <p:cNvPr name="TextBox 37" id="37"/>
            <p:cNvSpPr txBox="true"/>
            <p:nvPr/>
          </p:nvSpPr>
          <p:spPr>
            <a:xfrm rot="0">
              <a:off x="17692986" y="7838365"/>
              <a:ext cx="6257515" cy="1489869"/>
            </a:xfrm>
            <a:prstGeom prst="rect">
              <a:avLst/>
            </a:prstGeom>
          </p:spPr>
          <p:txBody>
            <a:bodyPr anchor="t" rtlCol="false" tIns="0" lIns="0" bIns="0" rIns="0">
              <a:spAutoFit/>
            </a:bodyPr>
            <a:lstStyle/>
            <a:p>
              <a:pPr algn="l" marL="0" indent="0" lvl="0">
                <a:lnSpc>
                  <a:spcPts val="2974"/>
                </a:lnSpc>
              </a:pPr>
              <a:r>
                <a:rPr lang="en-US" sz="2499">
                  <a:solidFill>
                    <a:srgbClr val="000000"/>
                  </a:solidFill>
                  <a:latin typeface="Work Sans"/>
                  <a:ea typeface="Work Sans"/>
                  <a:cs typeface="Work Sans"/>
                  <a:sym typeface="Work Sans"/>
                </a:rPr>
                <a:t>Trưởng dự án đốc thúc và lập KPI tương tác cho các thành viên trong nhóm dự</a:t>
              </a:r>
              <a:r>
                <a:rPr lang="en-US" sz="2499" strike="noStrike" u="none">
                  <a:solidFill>
                    <a:srgbClr val="000000"/>
                  </a:solidFill>
                  <a:latin typeface="Work Sans"/>
                  <a:ea typeface="Work Sans"/>
                  <a:cs typeface="Work Sans"/>
                  <a:sym typeface="Work Sans"/>
                </a:rPr>
                <a:t> án</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266112" y="3444366"/>
            <a:ext cx="10718174" cy="4336220"/>
          </a:xfrm>
          <a:prstGeom prst="rect">
            <a:avLst/>
          </a:prstGeom>
        </p:spPr>
        <p:txBody>
          <a:bodyPr anchor="t" rtlCol="false" tIns="0" lIns="0" bIns="0" rIns="0">
            <a:spAutoFit/>
          </a:bodyPr>
          <a:lstStyle/>
          <a:p>
            <a:pPr algn="ctr">
              <a:lnSpc>
                <a:spcPts val="17450"/>
              </a:lnSpc>
            </a:pPr>
            <a:r>
              <a:rPr lang="en-US" b="true" sz="12464">
                <a:solidFill>
                  <a:srgbClr val="50212A"/>
                </a:solidFill>
                <a:latin typeface="Ojuju Bold"/>
                <a:ea typeface="Ojuju Bold"/>
                <a:cs typeface="Ojuju Bold"/>
                <a:sym typeface="Ojuju Bold"/>
              </a:rPr>
              <a:t>5. TỔNG KẾT </a:t>
            </a:r>
          </a:p>
          <a:p>
            <a:pPr algn="ctr" marL="0" indent="0" lvl="0">
              <a:lnSpc>
                <a:spcPts val="17450"/>
              </a:lnSpc>
              <a:spcBef>
                <a:spcPct val="0"/>
              </a:spcBef>
            </a:pPr>
            <a:r>
              <a:rPr lang="en-US" b="true" sz="12464">
                <a:solidFill>
                  <a:srgbClr val="50212A"/>
                </a:solidFill>
                <a:latin typeface="Ojuju Bold"/>
                <a:ea typeface="Ojuju Bold"/>
                <a:cs typeface="Ojuju Bold"/>
                <a:sym typeface="Ojuju Bold"/>
              </a:rPr>
              <a:t>DỰ ÁN</a:t>
            </a:r>
          </a:p>
        </p:txBody>
      </p:sp>
      <p:sp>
        <p:nvSpPr>
          <p:cNvPr name="Freeform 10" id="10"/>
          <p:cNvSpPr/>
          <p:nvPr/>
        </p:nvSpPr>
        <p:spPr>
          <a:xfrm flipH="false" flipV="false" rot="0">
            <a:off x="303714" y="2424167"/>
            <a:ext cx="7131269" cy="6834133"/>
          </a:xfrm>
          <a:custGeom>
            <a:avLst/>
            <a:gdLst/>
            <a:ahLst/>
            <a:cxnLst/>
            <a:rect r="r" b="b" t="t" l="l"/>
            <a:pathLst>
              <a:path h="6834133" w="7131269">
                <a:moveTo>
                  <a:pt x="0" y="0"/>
                </a:moveTo>
                <a:lnTo>
                  <a:pt x="7131270" y="0"/>
                </a:lnTo>
                <a:lnTo>
                  <a:pt x="7131270" y="6834133"/>
                </a:lnTo>
                <a:lnTo>
                  <a:pt x="0" y="68341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089764" y="1028700"/>
            <a:ext cx="5995781" cy="5745956"/>
          </a:xfrm>
          <a:custGeom>
            <a:avLst/>
            <a:gdLst/>
            <a:ahLst/>
            <a:cxnLst/>
            <a:rect r="r" b="b" t="t" l="l"/>
            <a:pathLst>
              <a:path h="5745956" w="5995781">
                <a:moveTo>
                  <a:pt x="0" y="0"/>
                </a:moveTo>
                <a:lnTo>
                  <a:pt x="5995781" y="0"/>
                </a:lnTo>
                <a:lnTo>
                  <a:pt x="5995781" y="5745956"/>
                </a:lnTo>
                <a:lnTo>
                  <a:pt x="0" y="5745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3040699" y="1237720"/>
            <a:ext cx="6030015" cy="5839065"/>
          </a:xfrm>
          <a:custGeom>
            <a:avLst/>
            <a:gdLst/>
            <a:ahLst/>
            <a:cxnLst/>
            <a:rect r="r" b="b" t="t" l="l"/>
            <a:pathLst>
              <a:path h="5839065" w="6030015">
                <a:moveTo>
                  <a:pt x="0" y="0"/>
                </a:moveTo>
                <a:lnTo>
                  <a:pt x="6030015" y="0"/>
                </a:lnTo>
                <a:lnTo>
                  <a:pt x="6030015" y="5839065"/>
                </a:lnTo>
                <a:lnTo>
                  <a:pt x="0" y="58390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0" y="5862951"/>
            <a:ext cx="18288000" cy="6701845"/>
            <a:chOff x="0" y="0"/>
            <a:chExt cx="4816593" cy="1765095"/>
          </a:xfrm>
        </p:grpSpPr>
        <p:sp>
          <p:nvSpPr>
            <p:cNvPr name="Freeform 12" id="12"/>
            <p:cNvSpPr/>
            <p:nvPr/>
          </p:nvSpPr>
          <p:spPr>
            <a:xfrm flipH="false" flipV="false" rot="0">
              <a:off x="0" y="0"/>
              <a:ext cx="4816592" cy="1765095"/>
            </a:xfrm>
            <a:custGeom>
              <a:avLst/>
              <a:gdLst/>
              <a:ahLst/>
              <a:cxnLst/>
              <a:rect r="r" b="b" t="t" l="l"/>
              <a:pathLst>
                <a:path h="1765095" w="4816592">
                  <a:moveTo>
                    <a:pt x="42333" y="0"/>
                  </a:moveTo>
                  <a:lnTo>
                    <a:pt x="4774259" y="0"/>
                  </a:lnTo>
                  <a:cubicBezTo>
                    <a:pt x="4785487" y="0"/>
                    <a:pt x="4796254" y="4460"/>
                    <a:pt x="4804193" y="12399"/>
                  </a:cubicBezTo>
                  <a:cubicBezTo>
                    <a:pt x="4812132" y="20338"/>
                    <a:pt x="4816592" y="31106"/>
                    <a:pt x="4816592" y="42333"/>
                  </a:cubicBezTo>
                  <a:lnTo>
                    <a:pt x="4816592" y="1722762"/>
                  </a:lnTo>
                  <a:cubicBezTo>
                    <a:pt x="4816592" y="1733989"/>
                    <a:pt x="4812132" y="1744757"/>
                    <a:pt x="4804193" y="1752696"/>
                  </a:cubicBezTo>
                  <a:cubicBezTo>
                    <a:pt x="4796254" y="1760635"/>
                    <a:pt x="4785487" y="1765095"/>
                    <a:pt x="4774259" y="1765095"/>
                  </a:cubicBezTo>
                  <a:lnTo>
                    <a:pt x="42333" y="1765095"/>
                  </a:lnTo>
                  <a:cubicBezTo>
                    <a:pt x="31106" y="1765095"/>
                    <a:pt x="20338" y="1760635"/>
                    <a:pt x="12399" y="1752696"/>
                  </a:cubicBezTo>
                  <a:cubicBezTo>
                    <a:pt x="4460" y="1744757"/>
                    <a:pt x="0" y="1733989"/>
                    <a:pt x="0" y="1722762"/>
                  </a:cubicBezTo>
                  <a:lnTo>
                    <a:pt x="0" y="42333"/>
                  </a:lnTo>
                  <a:cubicBezTo>
                    <a:pt x="0" y="31106"/>
                    <a:pt x="4460" y="20338"/>
                    <a:pt x="12399" y="12399"/>
                  </a:cubicBezTo>
                  <a:cubicBezTo>
                    <a:pt x="20338" y="4460"/>
                    <a:pt x="31106" y="0"/>
                    <a:pt x="42333" y="0"/>
                  </a:cubicBezTo>
                  <a:close/>
                </a:path>
              </a:pathLst>
            </a:custGeom>
            <a:solidFill>
              <a:srgbClr val="50212A"/>
            </a:solidFill>
          </p:spPr>
        </p:sp>
        <p:sp>
          <p:nvSpPr>
            <p:cNvPr name="TextBox 13" id="13"/>
            <p:cNvSpPr txBox="true"/>
            <p:nvPr/>
          </p:nvSpPr>
          <p:spPr>
            <a:xfrm>
              <a:off x="0" y="-57150"/>
              <a:ext cx="4816593" cy="1822245"/>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2430" y="6369042"/>
            <a:ext cx="4061541" cy="3086102"/>
            <a:chOff x="0" y="0"/>
            <a:chExt cx="5415387" cy="4114803"/>
          </a:xfrm>
        </p:grpSpPr>
        <p:grpSp>
          <p:nvGrpSpPr>
            <p:cNvPr name="Group 15" id="15"/>
            <p:cNvGrpSpPr/>
            <p:nvPr/>
          </p:nvGrpSpPr>
          <p:grpSpPr>
            <a:xfrm rot="0">
              <a:off x="0" y="2094126"/>
              <a:ext cx="5415387" cy="2020677"/>
              <a:chOff x="0" y="0"/>
              <a:chExt cx="963105" cy="359369"/>
            </a:xfrm>
          </p:grpSpPr>
          <p:sp>
            <p:nvSpPr>
              <p:cNvPr name="Freeform 16" id="16"/>
              <p:cNvSpPr/>
              <p:nvPr/>
            </p:nvSpPr>
            <p:spPr>
              <a:xfrm flipH="false" flipV="false" rot="0">
                <a:off x="0" y="0"/>
                <a:ext cx="963105" cy="359369"/>
              </a:xfrm>
              <a:custGeom>
                <a:avLst/>
                <a:gdLst/>
                <a:ahLst/>
                <a:cxnLst/>
                <a:rect r="r" b="b" t="t" l="l"/>
                <a:pathLst>
                  <a:path h="359369" w="963105">
                    <a:moveTo>
                      <a:pt x="171554" y="0"/>
                    </a:moveTo>
                    <a:lnTo>
                      <a:pt x="791551" y="0"/>
                    </a:lnTo>
                    <a:cubicBezTo>
                      <a:pt x="837050" y="0"/>
                      <a:pt x="880686" y="18074"/>
                      <a:pt x="912858" y="50247"/>
                    </a:cubicBezTo>
                    <a:cubicBezTo>
                      <a:pt x="945031" y="82420"/>
                      <a:pt x="963105" y="126055"/>
                      <a:pt x="963105" y="171554"/>
                    </a:cubicBezTo>
                    <a:lnTo>
                      <a:pt x="963105" y="187816"/>
                    </a:lnTo>
                    <a:cubicBezTo>
                      <a:pt x="963105" y="282562"/>
                      <a:pt x="886298" y="359369"/>
                      <a:pt x="791551" y="359369"/>
                    </a:cubicBezTo>
                    <a:lnTo>
                      <a:pt x="171554" y="359369"/>
                    </a:lnTo>
                    <a:cubicBezTo>
                      <a:pt x="126055" y="359369"/>
                      <a:pt x="82420" y="341295"/>
                      <a:pt x="50247" y="309122"/>
                    </a:cubicBezTo>
                    <a:cubicBezTo>
                      <a:pt x="18074" y="276950"/>
                      <a:pt x="0" y="233314"/>
                      <a:pt x="0" y="187816"/>
                    </a:cubicBezTo>
                    <a:lnTo>
                      <a:pt x="0" y="171554"/>
                    </a:lnTo>
                    <a:cubicBezTo>
                      <a:pt x="0" y="126055"/>
                      <a:pt x="18074" y="82420"/>
                      <a:pt x="50247" y="50247"/>
                    </a:cubicBezTo>
                    <a:cubicBezTo>
                      <a:pt x="82420" y="18074"/>
                      <a:pt x="126055" y="0"/>
                      <a:pt x="171554" y="0"/>
                    </a:cubicBezTo>
                    <a:close/>
                  </a:path>
                </a:pathLst>
              </a:custGeom>
              <a:solidFill>
                <a:srgbClr val="FDF6F2"/>
              </a:solidFill>
              <a:ln cap="rnd">
                <a:noFill/>
                <a:prstDash val="solid"/>
                <a:round/>
              </a:ln>
            </p:spPr>
          </p:sp>
          <p:sp>
            <p:nvSpPr>
              <p:cNvPr name="TextBox 17" id="17"/>
              <p:cNvSpPr txBox="true"/>
              <p:nvPr/>
            </p:nvSpPr>
            <p:spPr>
              <a:xfrm>
                <a:off x="0" y="-57150"/>
                <a:ext cx="963105" cy="416519"/>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443828" y="-228600"/>
              <a:ext cx="4219773" cy="2666912"/>
            </a:xfrm>
            <a:prstGeom prst="rect">
              <a:avLst/>
            </a:prstGeom>
          </p:spPr>
          <p:txBody>
            <a:bodyPr anchor="t" rtlCol="false" tIns="0" lIns="0" bIns="0" rIns="0">
              <a:spAutoFit/>
            </a:bodyPr>
            <a:lstStyle/>
            <a:p>
              <a:pPr algn="ctr" marL="0" indent="0" lvl="0">
                <a:lnSpc>
                  <a:spcPts val="16800"/>
                </a:lnSpc>
                <a:spcBef>
                  <a:spcPct val="0"/>
                </a:spcBef>
              </a:pPr>
              <a:r>
                <a:rPr lang="en-US" b="true" sz="12000">
                  <a:solidFill>
                    <a:srgbClr val="FDF6F2"/>
                  </a:solidFill>
                  <a:latin typeface="Ojuju Bold"/>
                  <a:ea typeface="Ojuju Bold"/>
                  <a:cs typeface="Ojuju Bold"/>
                  <a:sym typeface="Ojuju Bold"/>
                </a:rPr>
                <a:t>+1K</a:t>
              </a:r>
            </a:p>
          </p:txBody>
        </p:sp>
        <p:sp>
          <p:nvSpPr>
            <p:cNvPr name="TextBox 19" id="19"/>
            <p:cNvSpPr txBox="true"/>
            <p:nvPr/>
          </p:nvSpPr>
          <p:spPr>
            <a:xfrm rot="0">
              <a:off x="300069" y="2656515"/>
              <a:ext cx="4815249" cy="991149"/>
            </a:xfrm>
            <a:prstGeom prst="rect">
              <a:avLst/>
            </a:prstGeom>
          </p:spPr>
          <p:txBody>
            <a:bodyPr anchor="t" rtlCol="false" tIns="0" lIns="0" bIns="0" rIns="0">
              <a:spAutoFit/>
            </a:bodyPr>
            <a:lstStyle/>
            <a:p>
              <a:pPr algn="ctr">
                <a:lnSpc>
                  <a:spcPts val="2267"/>
                </a:lnSpc>
              </a:pPr>
              <a:r>
                <a:rPr lang="en-US" sz="2799" b="true">
                  <a:solidFill>
                    <a:srgbClr val="50212A"/>
                  </a:solidFill>
                  <a:latin typeface="Work Sans Medium"/>
                  <a:ea typeface="Work Sans Medium"/>
                  <a:cs typeface="Work Sans Medium"/>
                  <a:sym typeface="Work Sans Medium"/>
                </a:rPr>
                <a:t>Người theo dõi</a:t>
              </a:r>
            </a:p>
            <a:p>
              <a:pPr algn="ctr" marL="0" indent="0" lvl="0">
                <a:lnSpc>
                  <a:spcPts val="3919"/>
                </a:lnSpc>
                <a:spcBef>
                  <a:spcPct val="0"/>
                </a:spcBef>
              </a:pPr>
              <a:r>
                <a:rPr lang="en-US" b="true" sz="2799">
                  <a:solidFill>
                    <a:srgbClr val="50212A"/>
                  </a:solidFill>
                  <a:latin typeface="Work Sans Medium"/>
                  <a:ea typeface="Work Sans Medium"/>
                  <a:cs typeface="Work Sans Medium"/>
                  <a:sym typeface="Work Sans Medium"/>
                </a:rPr>
                <a:t>Fanpage Facebook</a:t>
              </a:r>
            </a:p>
          </p:txBody>
        </p:sp>
      </p:grpSp>
      <p:grpSp>
        <p:nvGrpSpPr>
          <p:cNvPr name="Group 20" id="20"/>
          <p:cNvGrpSpPr/>
          <p:nvPr/>
        </p:nvGrpSpPr>
        <p:grpSpPr>
          <a:xfrm rot="0">
            <a:off x="4846743" y="6369042"/>
            <a:ext cx="4061541" cy="3086102"/>
            <a:chOff x="0" y="0"/>
            <a:chExt cx="5415387" cy="4114803"/>
          </a:xfrm>
        </p:grpSpPr>
        <p:grpSp>
          <p:nvGrpSpPr>
            <p:cNvPr name="Group 21" id="21"/>
            <p:cNvGrpSpPr/>
            <p:nvPr/>
          </p:nvGrpSpPr>
          <p:grpSpPr>
            <a:xfrm rot="0">
              <a:off x="0" y="2094126"/>
              <a:ext cx="5415387" cy="2020677"/>
              <a:chOff x="0" y="0"/>
              <a:chExt cx="963105" cy="359369"/>
            </a:xfrm>
          </p:grpSpPr>
          <p:sp>
            <p:nvSpPr>
              <p:cNvPr name="Freeform 22" id="22"/>
              <p:cNvSpPr/>
              <p:nvPr/>
            </p:nvSpPr>
            <p:spPr>
              <a:xfrm flipH="false" flipV="false" rot="0">
                <a:off x="0" y="0"/>
                <a:ext cx="963105" cy="359369"/>
              </a:xfrm>
              <a:custGeom>
                <a:avLst/>
                <a:gdLst/>
                <a:ahLst/>
                <a:cxnLst/>
                <a:rect r="r" b="b" t="t" l="l"/>
                <a:pathLst>
                  <a:path h="359369" w="963105">
                    <a:moveTo>
                      <a:pt x="171554" y="0"/>
                    </a:moveTo>
                    <a:lnTo>
                      <a:pt x="791551" y="0"/>
                    </a:lnTo>
                    <a:cubicBezTo>
                      <a:pt x="837050" y="0"/>
                      <a:pt x="880686" y="18074"/>
                      <a:pt x="912858" y="50247"/>
                    </a:cubicBezTo>
                    <a:cubicBezTo>
                      <a:pt x="945031" y="82420"/>
                      <a:pt x="963105" y="126055"/>
                      <a:pt x="963105" y="171554"/>
                    </a:cubicBezTo>
                    <a:lnTo>
                      <a:pt x="963105" y="187816"/>
                    </a:lnTo>
                    <a:cubicBezTo>
                      <a:pt x="963105" y="282562"/>
                      <a:pt x="886298" y="359369"/>
                      <a:pt x="791551" y="359369"/>
                    </a:cubicBezTo>
                    <a:lnTo>
                      <a:pt x="171554" y="359369"/>
                    </a:lnTo>
                    <a:cubicBezTo>
                      <a:pt x="126055" y="359369"/>
                      <a:pt x="82420" y="341295"/>
                      <a:pt x="50247" y="309122"/>
                    </a:cubicBezTo>
                    <a:cubicBezTo>
                      <a:pt x="18074" y="276950"/>
                      <a:pt x="0" y="233314"/>
                      <a:pt x="0" y="187816"/>
                    </a:cubicBezTo>
                    <a:lnTo>
                      <a:pt x="0" y="171554"/>
                    </a:lnTo>
                    <a:cubicBezTo>
                      <a:pt x="0" y="126055"/>
                      <a:pt x="18074" y="82420"/>
                      <a:pt x="50247" y="50247"/>
                    </a:cubicBezTo>
                    <a:cubicBezTo>
                      <a:pt x="82420" y="18074"/>
                      <a:pt x="126055" y="0"/>
                      <a:pt x="171554" y="0"/>
                    </a:cubicBezTo>
                    <a:close/>
                  </a:path>
                </a:pathLst>
              </a:custGeom>
              <a:solidFill>
                <a:srgbClr val="FDF6F2"/>
              </a:solidFill>
              <a:ln cap="rnd">
                <a:noFill/>
                <a:prstDash val="solid"/>
                <a:round/>
              </a:ln>
            </p:spPr>
          </p:sp>
          <p:sp>
            <p:nvSpPr>
              <p:cNvPr name="TextBox 23" id="23"/>
              <p:cNvSpPr txBox="true"/>
              <p:nvPr/>
            </p:nvSpPr>
            <p:spPr>
              <a:xfrm>
                <a:off x="0" y="-57150"/>
                <a:ext cx="963105" cy="416519"/>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443828" y="-228600"/>
              <a:ext cx="4219773" cy="2666912"/>
            </a:xfrm>
            <a:prstGeom prst="rect">
              <a:avLst/>
            </a:prstGeom>
          </p:spPr>
          <p:txBody>
            <a:bodyPr anchor="t" rtlCol="false" tIns="0" lIns="0" bIns="0" rIns="0">
              <a:spAutoFit/>
            </a:bodyPr>
            <a:lstStyle/>
            <a:p>
              <a:pPr algn="ctr" marL="0" indent="0" lvl="0">
                <a:lnSpc>
                  <a:spcPts val="16800"/>
                </a:lnSpc>
                <a:spcBef>
                  <a:spcPct val="0"/>
                </a:spcBef>
              </a:pPr>
              <a:r>
                <a:rPr lang="en-US" b="true" sz="12000">
                  <a:solidFill>
                    <a:srgbClr val="FDF6F2"/>
                  </a:solidFill>
                  <a:latin typeface="Ojuju Bold"/>
                  <a:ea typeface="Ojuju Bold"/>
                  <a:cs typeface="Ojuju Bold"/>
                  <a:sym typeface="Ojuju Bold"/>
                </a:rPr>
                <a:t>24</a:t>
              </a:r>
            </a:p>
          </p:txBody>
        </p:sp>
        <p:sp>
          <p:nvSpPr>
            <p:cNvPr name="TextBox 25" id="25"/>
            <p:cNvSpPr txBox="true"/>
            <p:nvPr/>
          </p:nvSpPr>
          <p:spPr>
            <a:xfrm rot="0">
              <a:off x="300069" y="2494590"/>
              <a:ext cx="4815249" cy="1292560"/>
            </a:xfrm>
            <a:prstGeom prst="rect">
              <a:avLst/>
            </a:prstGeom>
          </p:spPr>
          <p:txBody>
            <a:bodyPr anchor="t" rtlCol="false" tIns="0" lIns="0" bIns="0" rIns="0">
              <a:spAutoFit/>
            </a:bodyPr>
            <a:lstStyle/>
            <a:p>
              <a:pPr algn="ctr" marL="0" indent="0" lvl="0">
                <a:lnSpc>
                  <a:spcPts val="3919"/>
                </a:lnSpc>
                <a:spcBef>
                  <a:spcPct val="0"/>
                </a:spcBef>
              </a:pPr>
              <a:r>
                <a:rPr lang="en-US" b="true" sz="2799">
                  <a:solidFill>
                    <a:srgbClr val="50212A"/>
                  </a:solidFill>
                  <a:latin typeface="Work Sans Medium"/>
                  <a:ea typeface="Work Sans Medium"/>
                  <a:cs typeface="Work Sans Medium"/>
                  <a:sym typeface="Work Sans Medium"/>
                </a:rPr>
                <a:t>Bài viết, ấn phẩm được xuất bản</a:t>
              </a:r>
            </a:p>
          </p:txBody>
        </p:sp>
      </p:grpSp>
      <p:grpSp>
        <p:nvGrpSpPr>
          <p:cNvPr name="Group 26" id="26"/>
          <p:cNvGrpSpPr/>
          <p:nvPr/>
        </p:nvGrpSpPr>
        <p:grpSpPr>
          <a:xfrm rot="0">
            <a:off x="9527409" y="6369042"/>
            <a:ext cx="4061541" cy="3086102"/>
            <a:chOff x="0" y="0"/>
            <a:chExt cx="5415387" cy="4114803"/>
          </a:xfrm>
        </p:grpSpPr>
        <p:grpSp>
          <p:nvGrpSpPr>
            <p:cNvPr name="Group 27" id="27"/>
            <p:cNvGrpSpPr/>
            <p:nvPr/>
          </p:nvGrpSpPr>
          <p:grpSpPr>
            <a:xfrm rot="0">
              <a:off x="0" y="2094126"/>
              <a:ext cx="5415387" cy="2020677"/>
              <a:chOff x="0" y="0"/>
              <a:chExt cx="963105" cy="359369"/>
            </a:xfrm>
          </p:grpSpPr>
          <p:sp>
            <p:nvSpPr>
              <p:cNvPr name="Freeform 28" id="28"/>
              <p:cNvSpPr/>
              <p:nvPr/>
            </p:nvSpPr>
            <p:spPr>
              <a:xfrm flipH="false" flipV="false" rot="0">
                <a:off x="0" y="0"/>
                <a:ext cx="963105" cy="359369"/>
              </a:xfrm>
              <a:custGeom>
                <a:avLst/>
                <a:gdLst/>
                <a:ahLst/>
                <a:cxnLst/>
                <a:rect r="r" b="b" t="t" l="l"/>
                <a:pathLst>
                  <a:path h="359369" w="963105">
                    <a:moveTo>
                      <a:pt x="171554" y="0"/>
                    </a:moveTo>
                    <a:lnTo>
                      <a:pt x="791551" y="0"/>
                    </a:lnTo>
                    <a:cubicBezTo>
                      <a:pt x="837050" y="0"/>
                      <a:pt x="880686" y="18074"/>
                      <a:pt x="912858" y="50247"/>
                    </a:cubicBezTo>
                    <a:cubicBezTo>
                      <a:pt x="945031" y="82420"/>
                      <a:pt x="963105" y="126055"/>
                      <a:pt x="963105" y="171554"/>
                    </a:cubicBezTo>
                    <a:lnTo>
                      <a:pt x="963105" y="187816"/>
                    </a:lnTo>
                    <a:cubicBezTo>
                      <a:pt x="963105" y="282562"/>
                      <a:pt x="886298" y="359369"/>
                      <a:pt x="791551" y="359369"/>
                    </a:cubicBezTo>
                    <a:lnTo>
                      <a:pt x="171554" y="359369"/>
                    </a:lnTo>
                    <a:cubicBezTo>
                      <a:pt x="126055" y="359369"/>
                      <a:pt x="82420" y="341295"/>
                      <a:pt x="50247" y="309122"/>
                    </a:cubicBezTo>
                    <a:cubicBezTo>
                      <a:pt x="18074" y="276950"/>
                      <a:pt x="0" y="233314"/>
                      <a:pt x="0" y="187816"/>
                    </a:cubicBezTo>
                    <a:lnTo>
                      <a:pt x="0" y="171554"/>
                    </a:lnTo>
                    <a:cubicBezTo>
                      <a:pt x="0" y="126055"/>
                      <a:pt x="18074" y="82420"/>
                      <a:pt x="50247" y="50247"/>
                    </a:cubicBezTo>
                    <a:cubicBezTo>
                      <a:pt x="82420" y="18074"/>
                      <a:pt x="126055" y="0"/>
                      <a:pt x="171554" y="0"/>
                    </a:cubicBezTo>
                    <a:close/>
                  </a:path>
                </a:pathLst>
              </a:custGeom>
              <a:solidFill>
                <a:srgbClr val="FDF6F2"/>
              </a:solidFill>
              <a:ln cap="rnd">
                <a:noFill/>
                <a:prstDash val="solid"/>
                <a:round/>
              </a:ln>
            </p:spPr>
          </p:sp>
          <p:sp>
            <p:nvSpPr>
              <p:cNvPr name="TextBox 29" id="29"/>
              <p:cNvSpPr txBox="true"/>
              <p:nvPr/>
            </p:nvSpPr>
            <p:spPr>
              <a:xfrm>
                <a:off x="0" y="-57150"/>
                <a:ext cx="963105" cy="416519"/>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443828" y="-228600"/>
              <a:ext cx="4219773" cy="2666912"/>
            </a:xfrm>
            <a:prstGeom prst="rect">
              <a:avLst/>
            </a:prstGeom>
          </p:spPr>
          <p:txBody>
            <a:bodyPr anchor="t" rtlCol="false" tIns="0" lIns="0" bIns="0" rIns="0">
              <a:spAutoFit/>
            </a:bodyPr>
            <a:lstStyle/>
            <a:p>
              <a:pPr algn="ctr" marL="0" indent="0" lvl="0">
                <a:lnSpc>
                  <a:spcPts val="16800"/>
                </a:lnSpc>
                <a:spcBef>
                  <a:spcPct val="0"/>
                </a:spcBef>
              </a:pPr>
              <a:r>
                <a:rPr lang="en-US" b="true" sz="12000">
                  <a:solidFill>
                    <a:srgbClr val="FDF6F2"/>
                  </a:solidFill>
                  <a:latin typeface="Ojuju Bold"/>
                  <a:ea typeface="Ojuju Bold"/>
                  <a:cs typeface="Ojuju Bold"/>
                  <a:sym typeface="Ojuju Bold"/>
                </a:rPr>
                <a:t>05</a:t>
              </a:r>
            </a:p>
          </p:txBody>
        </p:sp>
        <p:sp>
          <p:nvSpPr>
            <p:cNvPr name="TextBox 31" id="31"/>
            <p:cNvSpPr txBox="true"/>
            <p:nvPr/>
          </p:nvSpPr>
          <p:spPr>
            <a:xfrm rot="0">
              <a:off x="300069" y="2494590"/>
              <a:ext cx="4815249" cy="1292560"/>
            </a:xfrm>
            <a:prstGeom prst="rect">
              <a:avLst/>
            </a:prstGeom>
          </p:spPr>
          <p:txBody>
            <a:bodyPr anchor="t" rtlCol="false" tIns="0" lIns="0" bIns="0" rIns="0">
              <a:spAutoFit/>
            </a:bodyPr>
            <a:lstStyle/>
            <a:p>
              <a:pPr algn="ctr" marL="0" indent="0" lvl="0">
                <a:lnSpc>
                  <a:spcPts val="3919"/>
                </a:lnSpc>
                <a:spcBef>
                  <a:spcPct val="0"/>
                </a:spcBef>
              </a:pPr>
              <a:r>
                <a:rPr lang="en-US" b="true" sz="2799">
                  <a:solidFill>
                    <a:srgbClr val="50212A"/>
                  </a:solidFill>
                  <a:latin typeface="Work Sans Medium"/>
                  <a:ea typeface="Work Sans Medium"/>
                  <a:cs typeface="Work Sans Medium"/>
                  <a:sym typeface="Work Sans Medium"/>
                </a:rPr>
                <a:t>Video ngắn điều hướng Tiktok </a:t>
              </a:r>
            </a:p>
          </p:txBody>
        </p:sp>
      </p:grpSp>
      <p:grpSp>
        <p:nvGrpSpPr>
          <p:cNvPr name="Group 32" id="32"/>
          <p:cNvGrpSpPr/>
          <p:nvPr/>
        </p:nvGrpSpPr>
        <p:grpSpPr>
          <a:xfrm rot="0">
            <a:off x="14064029" y="6369042"/>
            <a:ext cx="4061541" cy="3086102"/>
            <a:chOff x="0" y="0"/>
            <a:chExt cx="5415387" cy="4114803"/>
          </a:xfrm>
        </p:grpSpPr>
        <p:grpSp>
          <p:nvGrpSpPr>
            <p:cNvPr name="Group 33" id="33"/>
            <p:cNvGrpSpPr/>
            <p:nvPr/>
          </p:nvGrpSpPr>
          <p:grpSpPr>
            <a:xfrm rot="0">
              <a:off x="0" y="2094126"/>
              <a:ext cx="5415387" cy="2020677"/>
              <a:chOff x="0" y="0"/>
              <a:chExt cx="963105" cy="359369"/>
            </a:xfrm>
          </p:grpSpPr>
          <p:sp>
            <p:nvSpPr>
              <p:cNvPr name="Freeform 34" id="34"/>
              <p:cNvSpPr/>
              <p:nvPr/>
            </p:nvSpPr>
            <p:spPr>
              <a:xfrm flipH="false" flipV="false" rot="0">
                <a:off x="0" y="0"/>
                <a:ext cx="963105" cy="359369"/>
              </a:xfrm>
              <a:custGeom>
                <a:avLst/>
                <a:gdLst/>
                <a:ahLst/>
                <a:cxnLst/>
                <a:rect r="r" b="b" t="t" l="l"/>
                <a:pathLst>
                  <a:path h="359369" w="963105">
                    <a:moveTo>
                      <a:pt x="171554" y="0"/>
                    </a:moveTo>
                    <a:lnTo>
                      <a:pt x="791551" y="0"/>
                    </a:lnTo>
                    <a:cubicBezTo>
                      <a:pt x="837050" y="0"/>
                      <a:pt x="880686" y="18074"/>
                      <a:pt x="912858" y="50247"/>
                    </a:cubicBezTo>
                    <a:cubicBezTo>
                      <a:pt x="945031" y="82420"/>
                      <a:pt x="963105" y="126055"/>
                      <a:pt x="963105" y="171554"/>
                    </a:cubicBezTo>
                    <a:lnTo>
                      <a:pt x="963105" y="187816"/>
                    </a:lnTo>
                    <a:cubicBezTo>
                      <a:pt x="963105" y="282562"/>
                      <a:pt x="886298" y="359369"/>
                      <a:pt x="791551" y="359369"/>
                    </a:cubicBezTo>
                    <a:lnTo>
                      <a:pt x="171554" y="359369"/>
                    </a:lnTo>
                    <a:cubicBezTo>
                      <a:pt x="126055" y="359369"/>
                      <a:pt x="82420" y="341295"/>
                      <a:pt x="50247" y="309122"/>
                    </a:cubicBezTo>
                    <a:cubicBezTo>
                      <a:pt x="18074" y="276950"/>
                      <a:pt x="0" y="233314"/>
                      <a:pt x="0" y="187816"/>
                    </a:cubicBezTo>
                    <a:lnTo>
                      <a:pt x="0" y="171554"/>
                    </a:lnTo>
                    <a:cubicBezTo>
                      <a:pt x="0" y="126055"/>
                      <a:pt x="18074" y="82420"/>
                      <a:pt x="50247" y="50247"/>
                    </a:cubicBezTo>
                    <a:cubicBezTo>
                      <a:pt x="82420" y="18074"/>
                      <a:pt x="126055" y="0"/>
                      <a:pt x="171554" y="0"/>
                    </a:cubicBezTo>
                    <a:close/>
                  </a:path>
                </a:pathLst>
              </a:custGeom>
              <a:solidFill>
                <a:srgbClr val="FDF6F2"/>
              </a:solidFill>
              <a:ln cap="rnd">
                <a:noFill/>
                <a:prstDash val="solid"/>
                <a:round/>
              </a:ln>
            </p:spPr>
          </p:sp>
          <p:sp>
            <p:nvSpPr>
              <p:cNvPr name="TextBox 35" id="35"/>
              <p:cNvSpPr txBox="true"/>
              <p:nvPr/>
            </p:nvSpPr>
            <p:spPr>
              <a:xfrm>
                <a:off x="0" y="-57150"/>
                <a:ext cx="963105" cy="416519"/>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443828" y="-228600"/>
              <a:ext cx="4219773" cy="2666912"/>
            </a:xfrm>
            <a:prstGeom prst="rect">
              <a:avLst/>
            </a:prstGeom>
          </p:spPr>
          <p:txBody>
            <a:bodyPr anchor="t" rtlCol="false" tIns="0" lIns="0" bIns="0" rIns="0">
              <a:spAutoFit/>
            </a:bodyPr>
            <a:lstStyle/>
            <a:p>
              <a:pPr algn="ctr" marL="0" indent="0" lvl="0">
                <a:lnSpc>
                  <a:spcPts val="16800"/>
                </a:lnSpc>
                <a:spcBef>
                  <a:spcPct val="0"/>
                </a:spcBef>
              </a:pPr>
              <a:r>
                <a:rPr lang="en-US" b="true" sz="12000">
                  <a:solidFill>
                    <a:srgbClr val="FDF6F2"/>
                  </a:solidFill>
                  <a:latin typeface="Ojuju Bold"/>
                  <a:ea typeface="Ojuju Bold"/>
                  <a:cs typeface="Ojuju Bold"/>
                  <a:sym typeface="Ojuju Bold"/>
                </a:rPr>
                <a:t>W</a:t>
              </a:r>
            </a:p>
          </p:txBody>
        </p:sp>
        <p:sp>
          <p:nvSpPr>
            <p:cNvPr name="TextBox 37" id="37"/>
            <p:cNvSpPr txBox="true"/>
            <p:nvPr/>
          </p:nvSpPr>
          <p:spPr>
            <a:xfrm rot="0">
              <a:off x="300069" y="2494590"/>
              <a:ext cx="4815249" cy="1292560"/>
            </a:xfrm>
            <a:prstGeom prst="rect">
              <a:avLst/>
            </a:prstGeom>
          </p:spPr>
          <p:txBody>
            <a:bodyPr anchor="t" rtlCol="false" tIns="0" lIns="0" bIns="0" rIns="0">
              <a:spAutoFit/>
            </a:bodyPr>
            <a:lstStyle/>
            <a:p>
              <a:pPr algn="ctr" marL="0" indent="0" lvl="0">
                <a:lnSpc>
                  <a:spcPts val="3919"/>
                </a:lnSpc>
                <a:spcBef>
                  <a:spcPct val="0"/>
                </a:spcBef>
              </a:pPr>
              <a:r>
                <a:rPr lang="en-US" sz="2799">
                  <a:solidFill>
                    <a:srgbClr val="50212A"/>
                  </a:solidFill>
                  <a:latin typeface="Work Sans"/>
                  <a:ea typeface="Work Sans"/>
                  <a:cs typeface="Work Sans"/>
                  <a:sym typeface="Work Sans"/>
                </a:rPr>
                <a:t>Website hỗ trợ tư vấn </a:t>
              </a:r>
            </a:p>
          </p:txBody>
        </p:sp>
      </p:grpSp>
      <p:grpSp>
        <p:nvGrpSpPr>
          <p:cNvPr name="Group 38" id="38"/>
          <p:cNvGrpSpPr/>
          <p:nvPr/>
        </p:nvGrpSpPr>
        <p:grpSpPr>
          <a:xfrm rot="0">
            <a:off x="480736" y="490255"/>
            <a:ext cx="8686712" cy="888116"/>
            <a:chOff x="0" y="0"/>
            <a:chExt cx="11582283" cy="1184154"/>
          </a:xfrm>
        </p:grpSpPr>
        <p:grpSp>
          <p:nvGrpSpPr>
            <p:cNvPr name="Group 39" id="39"/>
            <p:cNvGrpSpPr/>
            <p:nvPr/>
          </p:nvGrpSpPr>
          <p:grpSpPr>
            <a:xfrm rot="0">
              <a:off x="0" y="0"/>
              <a:ext cx="8781958" cy="1184154"/>
              <a:chOff x="0" y="0"/>
              <a:chExt cx="1734708" cy="233907"/>
            </a:xfrm>
          </p:grpSpPr>
          <p:sp>
            <p:nvSpPr>
              <p:cNvPr name="Freeform 40" id="40"/>
              <p:cNvSpPr/>
              <p:nvPr/>
            </p:nvSpPr>
            <p:spPr>
              <a:xfrm flipH="false" flipV="false" rot="0">
                <a:off x="0" y="0"/>
                <a:ext cx="1734708" cy="233907"/>
              </a:xfrm>
              <a:custGeom>
                <a:avLst/>
                <a:gdLst/>
                <a:ahLst/>
                <a:cxnLst/>
                <a:rect r="r" b="b" t="t" l="l"/>
                <a:pathLst>
                  <a:path h="233907" w="1734708">
                    <a:moveTo>
                      <a:pt x="116954" y="0"/>
                    </a:moveTo>
                    <a:lnTo>
                      <a:pt x="1617754" y="0"/>
                    </a:lnTo>
                    <a:cubicBezTo>
                      <a:pt x="1648772" y="0"/>
                      <a:pt x="1678520" y="12322"/>
                      <a:pt x="1700453" y="34255"/>
                    </a:cubicBezTo>
                    <a:cubicBezTo>
                      <a:pt x="1722386" y="56188"/>
                      <a:pt x="1734708" y="85936"/>
                      <a:pt x="1734708" y="116954"/>
                    </a:cubicBezTo>
                    <a:lnTo>
                      <a:pt x="1734708" y="116954"/>
                    </a:lnTo>
                    <a:cubicBezTo>
                      <a:pt x="1734708" y="147972"/>
                      <a:pt x="1722386" y="177719"/>
                      <a:pt x="1700453" y="199652"/>
                    </a:cubicBezTo>
                    <a:cubicBezTo>
                      <a:pt x="1678520" y="221585"/>
                      <a:pt x="1648772" y="233907"/>
                      <a:pt x="1617754"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41" id="41"/>
              <p:cNvSpPr txBox="true"/>
              <p:nvPr/>
            </p:nvSpPr>
            <p:spPr>
              <a:xfrm>
                <a:off x="0" y="-57150"/>
                <a:ext cx="1734708" cy="291057"/>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357186" y="141884"/>
              <a:ext cx="11225098"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1. Tổng kết kết quả dự án</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976158" y="3756332"/>
            <a:ext cx="4272136" cy="6657875"/>
          </a:xfrm>
          <a:custGeom>
            <a:avLst/>
            <a:gdLst/>
            <a:ahLst/>
            <a:cxnLst/>
            <a:rect r="r" b="b" t="t" l="l"/>
            <a:pathLst>
              <a:path h="6657875" w="4272136">
                <a:moveTo>
                  <a:pt x="0" y="0"/>
                </a:moveTo>
                <a:lnTo>
                  <a:pt x="4272136" y="0"/>
                </a:lnTo>
                <a:lnTo>
                  <a:pt x="4272136" y="6657874"/>
                </a:lnTo>
                <a:lnTo>
                  <a:pt x="0" y="66578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480736" y="490255"/>
            <a:ext cx="2538719" cy="888116"/>
            <a:chOff x="0" y="0"/>
            <a:chExt cx="3384958" cy="1184154"/>
          </a:xfrm>
        </p:grpSpPr>
        <p:grpSp>
          <p:nvGrpSpPr>
            <p:cNvPr name="Group 11" id="11"/>
            <p:cNvGrpSpPr/>
            <p:nvPr/>
          </p:nvGrpSpPr>
          <p:grpSpPr>
            <a:xfrm rot="0">
              <a:off x="0" y="0"/>
              <a:ext cx="3384958" cy="1184154"/>
              <a:chOff x="0" y="0"/>
              <a:chExt cx="668634" cy="233907"/>
            </a:xfrm>
          </p:grpSpPr>
          <p:sp>
            <p:nvSpPr>
              <p:cNvPr name="Freeform 12" id="12"/>
              <p:cNvSpPr/>
              <p:nvPr/>
            </p:nvSpPr>
            <p:spPr>
              <a:xfrm flipH="false" flipV="false" rot="0">
                <a:off x="0" y="0"/>
                <a:ext cx="668634" cy="233907"/>
              </a:xfrm>
              <a:custGeom>
                <a:avLst/>
                <a:gdLst/>
                <a:ahLst/>
                <a:cxnLst/>
                <a:rect r="r" b="b" t="t" l="l"/>
                <a:pathLst>
                  <a:path h="233907" w="668634">
                    <a:moveTo>
                      <a:pt x="116954" y="0"/>
                    </a:moveTo>
                    <a:lnTo>
                      <a:pt x="551680" y="0"/>
                    </a:lnTo>
                    <a:cubicBezTo>
                      <a:pt x="582698" y="0"/>
                      <a:pt x="612446" y="12322"/>
                      <a:pt x="634379" y="34255"/>
                    </a:cubicBezTo>
                    <a:cubicBezTo>
                      <a:pt x="656312" y="56188"/>
                      <a:pt x="668634" y="85936"/>
                      <a:pt x="668634" y="116954"/>
                    </a:cubicBezTo>
                    <a:lnTo>
                      <a:pt x="668634" y="116954"/>
                    </a:lnTo>
                    <a:cubicBezTo>
                      <a:pt x="668634" y="181545"/>
                      <a:pt x="616272" y="233907"/>
                      <a:pt x="551680"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3" id="13"/>
              <p:cNvSpPr txBox="true"/>
              <p:nvPr/>
            </p:nvSpPr>
            <p:spPr>
              <a:xfrm>
                <a:off x="0" y="-57150"/>
                <a:ext cx="668634" cy="291057"/>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357186" y="141884"/>
              <a:ext cx="3027772"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Kết quả</a:t>
              </a:r>
            </a:p>
          </p:txBody>
        </p:sp>
      </p:grpSp>
      <p:sp>
        <p:nvSpPr>
          <p:cNvPr name="Freeform 15" id="15"/>
          <p:cNvSpPr/>
          <p:nvPr/>
        </p:nvSpPr>
        <p:spPr>
          <a:xfrm flipH="false" flipV="false" rot="0">
            <a:off x="480736" y="2071002"/>
            <a:ext cx="8234348" cy="2683962"/>
          </a:xfrm>
          <a:custGeom>
            <a:avLst/>
            <a:gdLst/>
            <a:ahLst/>
            <a:cxnLst/>
            <a:rect r="r" b="b" t="t" l="l"/>
            <a:pathLst>
              <a:path h="2683962" w="8234348">
                <a:moveTo>
                  <a:pt x="0" y="0"/>
                </a:moveTo>
                <a:lnTo>
                  <a:pt x="8234348" y="0"/>
                </a:lnTo>
                <a:lnTo>
                  <a:pt x="8234348" y="2683962"/>
                </a:lnTo>
                <a:lnTo>
                  <a:pt x="0" y="2683962"/>
                </a:lnTo>
                <a:lnTo>
                  <a:pt x="0" y="0"/>
                </a:lnTo>
                <a:close/>
              </a:path>
            </a:pathLst>
          </a:custGeom>
          <a:blipFill>
            <a:blip r:embed="rId6"/>
            <a:stretch>
              <a:fillRect l="0" t="-47598" r="0" b="-2670"/>
            </a:stretch>
          </a:blipFill>
        </p:spPr>
      </p:sp>
      <p:sp>
        <p:nvSpPr>
          <p:cNvPr name="Freeform 16" id="16"/>
          <p:cNvSpPr/>
          <p:nvPr/>
        </p:nvSpPr>
        <p:spPr>
          <a:xfrm flipH="false" flipV="false" rot="0">
            <a:off x="480736" y="4896458"/>
            <a:ext cx="10323494" cy="4898712"/>
          </a:xfrm>
          <a:custGeom>
            <a:avLst/>
            <a:gdLst/>
            <a:ahLst/>
            <a:cxnLst/>
            <a:rect r="r" b="b" t="t" l="l"/>
            <a:pathLst>
              <a:path h="4898712" w="10323494">
                <a:moveTo>
                  <a:pt x="0" y="0"/>
                </a:moveTo>
                <a:lnTo>
                  <a:pt x="10323494" y="0"/>
                </a:lnTo>
                <a:lnTo>
                  <a:pt x="10323494" y="4898711"/>
                </a:lnTo>
                <a:lnTo>
                  <a:pt x="0" y="4898711"/>
                </a:lnTo>
                <a:lnTo>
                  <a:pt x="0" y="0"/>
                </a:lnTo>
                <a:close/>
              </a:path>
            </a:pathLst>
          </a:custGeom>
          <a:blipFill>
            <a:blip r:embed="rId7"/>
            <a:stretch>
              <a:fillRect l="0" t="0" r="-2322" b="0"/>
            </a:stretch>
          </a:blipFill>
        </p:spPr>
      </p:sp>
      <p:sp>
        <p:nvSpPr>
          <p:cNvPr name="TextBox 17" id="17"/>
          <p:cNvSpPr txBox="true"/>
          <p:nvPr/>
        </p:nvSpPr>
        <p:spPr>
          <a:xfrm rot="0">
            <a:off x="11384634" y="1884858"/>
            <a:ext cx="5455184" cy="1270950"/>
          </a:xfrm>
          <a:prstGeom prst="rect">
            <a:avLst/>
          </a:prstGeom>
        </p:spPr>
        <p:txBody>
          <a:bodyPr anchor="t" rtlCol="false" tIns="0" lIns="0" bIns="0" rIns="0">
            <a:spAutoFit/>
          </a:bodyPr>
          <a:lstStyle/>
          <a:p>
            <a:pPr algn="ctr" marL="0" indent="0" lvl="0">
              <a:lnSpc>
                <a:spcPts val="5082"/>
              </a:lnSpc>
            </a:pPr>
            <a:r>
              <a:rPr lang="en-US" b="true" sz="4200" spc="-126">
                <a:solidFill>
                  <a:srgbClr val="50212A"/>
                </a:solidFill>
                <a:latin typeface="Ojuju Bold"/>
                <a:ea typeface="Ojuju Bold"/>
                <a:cs typeface="Ojuju Bold"/>
                <a:sym typeface="Ojuju Bold"/>
              </a:rPr>
              <a:t>16 lượt đăng ký trong Tháng 6</a:t>
            </a:r>
            <a:r>
              <a:rPr lang="en-US" b="true" sz="4200" spc="-126">
                <a:solidFill>
                  <a:srgbClr val="50212A"/>
                </a:solidFill>
                <a:latin typeface="Ojuju Bold"/>
                <a:ea typeface="Ojuju Bold"/>
                <a:cs typeface="Ojuju Bold"/>
                <a:sym typeface="Ojuju Bold"/>
              </a:rPr>
              <a:t>/2026</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244216" y="3437000"/>
            <a:ext cx="39453324" cy="9218090"/>
            <a:chOff x="0" y="0"/>
            <a:chExt cx="52604431" cy="12290787"/>
          </a:xfrm>
        </p:grpSpPr>
        <p:grpSp>
          <p:nvGrpSpPr>
            <p:cNvPr name="Group 10" id="10"/>
            <p:cNvGrpSpPr/>
            <p:nvPr/>
          </p:nvGrpSpPr>
          <p:grpSpPr>
            <a:xfrm rot="0">
              <a:off x="0" y="3384854"/>
              <a:ext cx="52604431" cy="8905934"/>
              <a:chOff x="0" y="0"/>
              <a:chExt cx="10425838" cy="1765095"/>
            </a:xfrm>
          </p:grpSpPr>
          <p:sp>
            <p:nvSpPr>
              <p:cNvPr name="Freeform 11" id="11"/>
              <p:cNvSpPr/>
              <p:nvPr/>
            </p:nvSpPr>
            <p:spPr>
              <a:xfrm flipH="false" flipV="false" rot="0">
                <a:off x="0" y="0"/>
                <a:ext cx="10425838" cy="1765095"/>
              </a:xfrm>
              <a:custGeom>
                <a:avLst/>
                <a:gdLst/>
                <a:ahLst/>
                <a:cxnLst/>
                <a:rect r="r" b="b" t="t" l="l"/>
                <a:pathLst>
                  <a:path h="1765095" w="10425838">
                    <a:moveTo>
                      <a:pt x="35933" y="0"/>
                    </a:moveTo>
                    <a:lnTo>
                      <a:pt x="10389905" y="0"/>
                    </a:lnTo>
                    <a:cubicBezTo>
                      <a:pt x="10409751" y="0"/>
                      <a:pt x="10425838" y="16088"/>
                      <a:pt x="10425838" y="35933"/>
                    </a:cubicBezTo>
                    <a:lnTo>
                      <a:pt x="10425838" y="1729162"/>
                    </a:lnTo>
                    <a:cubicBezTo>
                      <a:pt x="10425838" y="1749007"/>
                      <a:pt x="10409751" y="1765095"/>
                      <a:pt x="10389905" y="1765095"/>
                    </a:cubicBezTo>
                    <a:lnTo>
                      <a:pt x="35933" y="1765095"/>
                    </a:lnTo>
                    <a:cubicBezTo>
                      <a:pt x="16088" y="1765095"/>
                      <a:pt x="0" y="1749007"/>
                      <a:pt x="0" y="1729162"/>
                    </a:cubicBezTo>
                    <a:lnTo>
                      <a:pt x="0" y="35933"/>
                    </a:lnTo>
                    <a:cubicBezTo>
                      <a:pt x="0" y="16088"/>
                      <a:pt x="16088" y="0"/>
                      <a:pt x="35933" y="0"/>
                    </a:cubicBezTo>
                    <a:close/>
                  </a:path>
                </a:pathLst>
              </a:custGeom>
              <a:solidFill>
                <a:srgbClr val="50212A"/>
              </a:solidFill>
            </p:spPr>
          </p:sp>
          <p:sp>
            <p:nvSpPr>
              <p:cNvPr name="TextBox 12" id="12"/>
              <p:cNvSpPr txBox="true"/>
              <p:nvPr/>
            </p:nvSpPr>
            <p:spPr>
              <a:xfrm>
                <a:off x="0" y="-57150"/>
                <a:ext cx="10425838" cy="1822245"/>
              </a:xfrm>
              <a:prstGeom prst="rect">
                <a:avLst/>
              </a:prstGeom>
            </p:spPr>
            <p:txBody>
              <a:bodyPr anchor="ctr" rtlCol="false" tIns="61202" lIns="61202" bIns="61202" rIns="61202"/>
              <a:lstStyle/>
              <a:p>
                <a:pPr algn="ctr">
                  <a:lnSpc>
                    <a:spcPts val="2659"/>
                  </a:lnSpc>
                </a:pPr>
              </a:p>
            </p:txBody>
          </p:sp>
        </p:grpSp>
        <p:grpSp>
          <p:nvGrpSpPr>
            <p:cNvPr name="Group 13" id="13"/>
            <p:cNvGrpSpPr/>
            <p:nvPr/>
          </p:nvGrpSpPr>
          <p:grpSpPr>
            <a:xfrm rot="0">
              <a:off x="9765025" y="212904"/>
              <a:ext cx="6763089" cy="7113726"/>
              <a:chOff x="0" y="0"/>
              <a:chExt cx="1340398" cy="1409892"/>
            </a:xfrm>
          </p:grpSpPr>
          <p:sp>
            <p:nvSpPr>
              <p:cNvPr name="Freeform 14" id="1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solidFill>
              <a:ln cap="rnd">
                <a:noFill/>
                <a:prstDash val="solid"/>
                <a:round/>
              </a:ln>
            </p:spPr>
          </p:sp>
          <p:sp>
            <p:nvSpPr>
              <p:cNvPr name="TextBox 15" id="15"/>
              <p:cNvSpPr txBox="true"/>
              <p:nvPr/>
            </p:nvSpPr>
            <p:spPr>
              <a:xfrm>
                <a:off x="0" y="-57150"/>
                <a:ext cx="1340398" cy="1467042"/>
              </a:xfrm>
              <a:prstGeom prst="rect">
                <a:avLst/>
              </a:prstGeom>
            </p:spPr>
            <p:txBody>
              <a:bodyPr anchor="ctr" rtlCol="false" tIns="27649" lIns="27649" bIns="27649" rIns="27649"/>
              <a:lstStyle/>
              <a:p>
                <a:pPr algn="ctr">
                  <a:lnSpc>
                    <a:spcPts val="2660"/>
                  </a:lnSpc>
                </a:pPr>
              </a:p>
            </p:txBody>
          </p:sp>
        </p:grpSp>
        <p:grpSp>
          <p:nvGrpSpPr>
            <p:cNvPr name="Group 16" id="16"/>
            <p:cNvGrpSpPr/>
            <p:nvPr/>
          </p:nvGrpSpPr>
          <p:grpSpPr>
            <a:xfrm rot="0">
              <a:off x="9527380" y="0"/>
              <a:ext cx="6768466" cy="7084151"/>
              <a:chOff x="0" y="0"/>
              <a:chExt cx="1128642" cy="1181282"/>
            </a:xfrm>
          </p:grpSpPr>
          <p:sp>
            <p:nvSpPr>
              <p:cNvPr name="Freeform 17" id="1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18" id="18"/>
              <p:cNvSpPr txBox="true"/>
              <p:nvPr/>
            </p:nvSpPr>
            <p:spPr>
              <a:xfrm>
                <a:off x="0" y="-57150"/>
                <a:ext cx="1128642" cy="1238432"/>
              </a:xfrm>
              <a:prstGeom prst="rect">
                <a:avLst/>
              </a:prstGeom>
            </p:spPr>
            <p:txBody>
              <a:bodyPr anchor="ctr" rtlCol="false" tIns="27649" lIns="27649" bIns="27649" rIns="27649"/>
              <a:lstStyle/>
              <a:p>
                <a:pPr algn="ctr">
                  <a:lnSpc>
                    <a:spcPts val="2660"/>
                  </a:lnSpc>
                </a:pPr>
              </a:p>
            </p:txBody>
          </p:sp>
        </p:grpSp>
        <p:sp>
          <p:nvSpPr>
            <p:cNvPr name="TextBox 19" id="19"/>
            <p:cNvSpPr txBox="true"/>
            <p:nvPr/>
          </p:nvSpPr>
          <p:spPr>
            <a:xfrm rot="0">
              <a:off x="9885278"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solidFill>
                  <a:latin typeface="Ojuju Bold"/>
                  <a:ea typeface="Ojuju Bold"/>
                  <a:cs typeface="Ojuju Bold"/>
                  <a:sym typeface="Ojuju Bold"/>
                </a:rPr>
                <a:t>1</a:t>
              </a:r>
            </a:p>
          </p:txBody>
        </p:sp>
        <p:sp>
          <p:nvSpPr>
            <p:cNvPr name="TextBox 20" id="20"/>
            <p:cNvSpPr txBox="true"/>
            <p:nvPr/>
          </p:nvSpPr>
          <p:spPr>
            <a:xfrm rot="0">
              <a:off x="10587248"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solidFill>
                  <a:latin typeface="Ojuju Bold"/>
                  <a:ea typeface="Ojuju Bold"/>
                  <a:cs typeface="Ojuju Bold"/>
                  <a:sym typeface="Ojuju Bold"/>
                </a:rPr>
                <a:t>Quản trị nhân sự và cơ chế phối hợp linh hoạt</a:t>
              </a:r>
            </a:p>
          </p:txBody>
        </p:sp>
        <p:sp>
          <p:nvSpPr>
            <p:cNvPr name="TextBox 21" id="21"/>
            <p:cNvSpPr txBox="true"/>
            <p:nvPr/>
          </p:nvSpPr>
          <p:spPr>
            <a:xfrm rot="0">
              <a:off x="10595589"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solidFill>
                  <a:latin typeface="Work Sans"/>
                  <a:ea typeface="Work Sans"/>
                  <a:cs typeface="Work Sans"/>
                  <a:sym typeface="Work Sans"/>
                </a:rPr>
                <a:t>Điể</a:t>
              </a:r>
              <a:r>
                <a:rPr lang="en-US" sz="1793" strike="noStrike" u="none">
                  <a:solidFill>
                    <a:srgbClr val="000000"/>
                  </a:solidFill>
                  <a:latin typeface="Work Sans"/>
                  <a:ea typeface="Work Sans"/>
                  <a:cs typeface="Work Sans"/>
                  <a:sym typeface="Work Sans"/>
                </a:rPr>
                <a:t>m nổi bật trong công tác quản trị là xây </a:t>
              </a:r>
              <a:r>
                <a:rPr lang="en-US" sz="1793" strike="noStrike" u="none">
                  <a:solidFill>
                    <a:srgbClr val="000000"/>
                  </a:solidFill>
                  <a:latin typeface="Work Sans"/>
                  <a:ea typeface="Work Sans"/>
                  <a:cs typeface="Work Sans"/>
                  <a:sym typeface="Work Sans"/>
                </a:rPr>
                <a:t>dựng</a:t>
              </a:r>
              <a:r>
                <a:rPr lang="en-US" sz="1793" strike="noStrike" u="none">
                  <a:solidFill>
                    <a:srgbClr val="000000"/>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22" id="22"/>
            <p:cNvSpPr/>
            <p:nvPr/>
          </p:nvSpPr>
          <p:spPr>
            <a:xfrm flipH="false" flipV="false" rot="0">
              <a:off x="14739462" y="5732435"/>
              <a:ext cx="4728990" cy="4210772"/>
            </a:xfrm>
            <a:custGeom>
              <a:avLst/>
              <a:gdLst/>
              <a:ahLst/>
              <a:cxnLst/>
              <a:rect r="r" b="b" t="t" l="l"/>
              <a:pathLst>
                <a:path h="4210772" w="4728990">
                  <a:moveTo>
                    <a:pt x="0" y="0"/>
                  </a:moveTo>
                  <a:lnTo>
                    <a:pt x="4728990" y="0"/>
                  </a:lnTo>
                  <a:lnTo>
                    <a:pt x="4728990" y="4210771"/>
                  </a:lnTo>
                  <a:lnTo>
                    <a:pt x="0" y="4210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1243634" y="212904"/>
              <a:ext cx="6763089" cy="7113726"/>
              <a:chOff x="0" y="0"/>
              <a:chExt cx="1340398" cy="1409892"/>
            </a:xfrm>
          </p:grpSpPr>
          <p:sp>
            <p:nvSpPr>
              <p:cNvPr name="Freeform 24" id="2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25" id="25"/>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26" id="26"/>
            <p:cNvGrpSpPr/>
            <p:nvPr/>
          </p:nvGrpSpPr>
          <p:grpSpPr>
            <a:xfrm rot="0">
              <a:off x="1005989" y="0"/>
              <a:ext cx="6768466" cy="7084151"/>
              <a:chOff x="0" y="0"/>
              <a:chExt cx="1128642" cy="1181282"/>
            </a:xfrm>
          </p:grpSpPr>
          <p:sp>
            <p:nvSpPr>
              <p:cNvPr name="Freeform 27" id="2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28" id="28"/>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29" id="29"/>
            <p:cNvSpPr txBox="true"/>
            <p:nvPr/>
          </p:nvSpPr>
          <p:spPr>
            <a:xfrm rot="0">
              <a:off x="1363887"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4</a:t>
              </a:r>
            </a:p>
          </p:txBody>
        </p:sp>
        <p:sp>
          <p:nvSpPr>
            <p:cNvPr name="TextBox 30" id="30"/>
            <p:cNvSpPr txBox="true"/>
            <p:nvPr/>
          </p:nvSpPr>
          <p:spPr>
            <a:xfrm rot="0">
              <a:off x="2065857" y="608214"/>
              <a:ext cx="5420003" cy="2498726"/>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Tư duy định hướng dữ liệu trong tối ưu hóa chuyển đổi</a:t>
              </a:r>
            </a:p>
          </p:txBody>
        </p:sp>
        <p:sp>
          <p:nvSpPr>
            <p:cNvPr name="TextBox 31" id="31"/>
            <p:cNvSpPr txBox="true"/>
            <p:nvPr/>
          </p:nvSpPr>
          <p:spPr>
            <a:xfrm rot="0">
              <a:off x="2074198"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Điể</a:t>
              </a:r>
              <a:r>
                <a:rPr lang="en-US" sz="1793" strike="noStrike" u="none">
                  <a:solidFill>
                    <a:srgbClr val="000000">
                      <a:alpha val="36863"/>
                    </a:srgbClr>
                  </a:solidFill>
                  <a:latin typeface="Work Sans"/>
                  <a:ea typeface="Work Sans"/>
                  <a:cs typeface="Work Sans"/>
                  <a:sym typeface="Work Sans"/>
                </a:rPr>
                <a:t>m nổi bật trong công tác quản trị là xây </a:t>
              </a:r>
              <a:r>
                <a:rPr lang="en-US" sz="1793" strike="noStrike" u="none">
                  <a:solidFill>
                    <a:srgbClr val="000000">
                      <a:alpha val="36863"/>
                    </a:srgbClr>
                  </a:solidFill>
                  <a:latin typeface="Work Sans"/>
                  <a:ea typeface="Work Sans"/>
                  <a:cs typeface="Work Sans"/>
                  <a:sym typeface="Work Sans"/>
                </a:rPr>
                <a:t>dựng</a:t>
              </a:r>
              <a:r>
                <a:rPr lang="en-US" sz="1793" strike="noStrike" u="none">
                  <a:solidFill>
                    <a:srgbClr val="000000">
                      <a:alpha val="36863"/>
                    </a:srgbClr>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32" id="32"/>
            <p:cNvSpPr/>
            <p:nvPr/>
          </p:nvSpPr>
          <p:spPr>
            <a:xfrm flipH="false" flipV="false" rot="0">
              <a:off x="5947194" y="4710055"/>
              <a:ext cx="4611715" cy="5233152"/>
            </a:xfrm>
            <a:custGeom>
              <a:avLst/>
              <a:gdLst/>
              <a:ahLst/>
              <a:cxnLst/>
              <a:rect r="r" b="b" t="t" l="l"/>
              <a:pathLst>
                <a:path h="5233152" w="4611715">
                  <a:moveTo>
                    <a:pt x="0" y="0"/>
                  </a:moveTo>
                  <a:lnTo>
                    <a:pt x="4611714" y="0"/>
                  </a:lnTo>
                  <a:lnTo>
                    <a:pt x="4611714" y="5233151"/>
                  </a:lnTo>
                  <a:lnTo>
                    <a:pt x="0" y="5233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3" id="33"/>
            <p:cNvGrpSpPr/>
            <p:nvPr/>
          </p:nvGrpSpPr>
          <p:grpSpPr>
            <a:xfrm rot="0">
              <a:off x="18286416" y="212904"/>
              <a:ext cx="6763089" cy="7113726"/>
              <a:chOff x="0" y="0"/>
              <a:chExt cx="1340398" cy="1409892"/>
            </a:xfrm>
          </p:grpSpPr>
          <p:sp>
            <p:nvSpPr>
              <p:cNvPr name="Freeform 34" id="3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35" id="35"/>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36" id="36"/>
            <p:cNvGrpSpPr/>
            <p:nvPr/>
          </p:nvGrpSpPr>
          <p:grpSpPr>
            <a:xfrm rot="0">
              <a:off x="18048771" y="0"/>
              <a:ext cx="6768466" cy="7084151"/>
              <a:chOff x="0" y="0"/>
              <a:chExt cx="1128642" cy="1181282"/>
            </a:xfrm>
          </p:grpSpPr>
          <p:sp>
            <p:nvSpPr>
              <p:cNvPr name="Freeform 37" id="3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38" id="38"/>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39" id="39"/>
            <p:cNvSpPr txBox="true"/>
            <p:nvPr/>
          </p:nvSpPr>
          <p:spPr>
            <a:xfrm rot="0">
              <a:off x="18406669" y="185323"/>
              <a:ext cx="1403940" cy="1236467"/>
            </a:xfrm>
            <a:prstGeom prst="rect">
              <a:avLst/>
            </a:prstGeom>
          </p:spPr>
          <p:txBody>
            <a:bodyPr anchor="t" rtlCol="false" tIns="0" lIns="0" bIns="0" rIns="0">
              <a:spAutoFit/>
            </a:bodyPr>
            <a:lstStyle/>
            <a:p>
              <a:pPr algn="l" marL="0" indent="0" lvl="0">
                <a:lnSpc>
                  <a:spcPts val="7813"/>
                </a:lnSpc>
              </a:pPr>
              <a:r>
                <a:rPr lang="en-US" b="true" sz="5581">
                  <a:solidFill>
                    <a:srgbClr val="50212A">
                      <a:alpha val="36863"/>
                    </a:srgbClr>
                  </a:solidFill>
                  <a:latin typeface="Ojuju Bold"/>
                  <a:ea typeface="Ojuju Bold"/>
                  <a:cs typeface="Ojuju Bold"/>
                  <a:sym typeface="Ojuju Bold"/>
                </a:rPr>
                <a:t>2</a:t>
              </a:r>
            </a:p>
          </p:txBody>
        </p:sp>
        <p:sp>
          <p:nvSpPr>
            <p:cNvPr name="TextBox 40" id="40"/>
            <p:cNvSpPr txBox="true"/>
            <p:nvPr/>
          </p:nvSpPr>
          <p:spPr>
            <a:xfrm rot="0">
              <a:off x="19108639"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Tính đồng bộ truyền thông và hiệu quả hạ tầng công nghệ</a:t>
              </a:r>
            </a:p>
          </p:txBody>
        </p:sp>
        <p:sp>
          <p:nvSpPr>
            <p:cNvPr name="TextBox 41" id="41"/>
            <p:cNvSpPr txBox="true"/>
            <p:nvPr/>
          </p:nvSpPr>
          <p:spPr>
            <a:xfrm rot="0">
              <a:off x="19116980" y="4056396"/>
              <a:ext cx="4701352" cy="2493330"/>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Thiết</a:t>
              </a:r>
              <a:r>
                <a:rPr lang="en-US" sz="1793" strike="noStrike" u="none">
                  <a:solidFill>
                    <a:srgbClr val="000000">
                      <a:alpha val="36863"/>
                    </a:srgbClr>
                  </a:solidFill>
                  <a:latin typeface="Work Sans"/>
                  <a:ea typeface="Work Sans"/>
                  <a:cs typeface="Work Sans"/>
                  <a:sym typeface="Work Sans"/>
                </a:rPr>
                <a:t> kế hệ sinh thái tích hợp đa nền tản với hệ thống nhận diện thương hiệu đồng bộ trên Facebook, TikTok và Website và tích hợp AI nâng cao uy tín và tính chuyên nghiệp </a:t>
              </a:r>
            </a:p>
          </p:txBody>
        </p:sp>
        <p:grpSp>
          <p:nvGrpSpPr>
            <p:cNvPr name="Group 42" id="42"/>
            <p:cNvGrpSpPr/>
            <p:nvPr/>
          </p:nvGrpSpPr>
          <p:grpSpPr>
            <a:xfrm rot="0">
              <a:off x="26803861" y="212904"/>
              <a:ext cx="6907980" cy="7113726"/>
              <a:chOff x="0" y="0"/>
              <a:chExt cx="1369114" cy="1409892"/>
            </a:xfrm>
          </p:grpSpPr>
          <p:sp>
            <p:nvSpPr>
              <p:cNvPr name="Freeform 43" id="43"/>
              <p:cNvSpPr/>
              <p:nvPr/>
            </p:nvSpPr>
            <p:spPr>
              <a:xfrm flipH="false" flipV="false" rot="0">
                <a:off x="0" y="0"/>
                <a:ext cx="1369114" cy="1409892"/>
              </a:xfrm>
              <a:custGeom>
                <a:avLst/>
                <a:gdLst/>
                <a:ahLst/>
                <a:cxnLst/>
                <a:rect r="r" b="b" t="t" l="l"/>
                <a:pathLst>
                  <a:path h="1409892" w="1369114">
                    <a:moveTo>
                      <a:pt x="273629" y="0"/>
                    </a:moveTo>
                    <a:lnTo>
                      <a:pt x="1095486" y="0"/>
                    </a:lnTo>
                    <a:cubicBezTo>
                      <a:pt x="1246607" y="0"/>
                      <a:pt x="1369114" y="122508"/>
                      <a:pt x="1369114" y="273629"/>
                    </a:cubicBezTo>
                    <a:lnTo>
                      <a:pt x="1369114" y="1136263"/>
                    </a:lnTo>
                    <a:cubicBezTo>
                      <a:pt x="1369114" y="1287384"/>
                      <a:pt x="1246607" y="1409892"/>
                      <a:pt x="1095486" y="1409892"/>
                    </a:cubicBezTo>
                    <a:lnTo>
                      <a:pt x="273629" y="1409892"/>
                    </a:lnTo>
                    <a:cubicBezTo>
                      <a:pt x="201058" y="1409892"/>
                      <a:pt x="131459" y="1381063"/>
                      <a:pt x="80144" y="1329748"/>
                    </a:cubicBezTo>
                    <a:cubicBezTo>
                      <a:pt x="28829" y="1278432"/>
                      <a:pt x="0" y="1208834"/>
                      <a:pt x="0" y="1136263"/>
                    </a:cubicBezTo>
                    <a:lnTo>
                      <a:pt x="0" y="273629"/>
                    </a:lnTo>
                    <a:cubicBezTo>
                      <a:pt x="0" y="122508"/>
                      <a:pt x="122508" y="0"/>
                      <a:pt x="273629" y="0"/>
                    </a:cubicBezTo>
                    <a:close/>
                  </a:path>
                </a:pathLst>
              </a:custGeom>
              <a:solidFill>
                <a:srgbClr val="50212A"/>
              </a:solidFill>
              <a:ln cap="rnd">
                <a:noFill/>
                <a:prstDash val="solid"/>
                <a:round/>
              </a:ln>
            </p:spPr>
          </p:sp>
          <p:sp>
            <p:nvSpPr>
              <p:cNvPr name="TextBox 44" id="44"/>
              <p:cNvSpPr txBox="true"/>
              <p:nvPr/>
            </p:nvSpPr>
            <p:spPr>
              <a:xfrm>
                <a:off x="0" y="-57150"/>
                <a:ext cx="1369114" cy="1467042"/>
              </a:xfrm>
              <a:prstGeom prst="rect">
                <a:avLst/>
              </a:prstGeom>
            </p:spPr>
            <p:txBody>
              <a:bodyPr anchor="ctr" rtlCol="false" tIns="27649" lIns="27649" bIns="27649" rIns="27649"/>
              <a:lstStyle/>
              <a:p>
                <a:pPr algn="ctr">
                  <a:lnSpc>
                    <a:spcPts val="2659"/>
                  </a:lnSpc>
                </a:pPr>
              </a:p>
            </p:txBody>
          </p:sp>
        </p:grpSp>
        <p:grpSp>
          <p:nvGrpSpPr>
            <p:cNvPr name="Group 45" id="45"/>
            <p:cNvGrpSpPr/>
            <p:nvPr/>
          </p:nvGrpSpPr>
          <p:grpSpPr>
            <a:xfrm rot="0">
              <a:off x="26561124" y="0"/>
              <a:ext cx="6913473" cy="7084151"/>
              <a:chOff x="0" y="0"/>
              <a:chExt cx="1152822" cy="1181282"/>
            </a:xfrm>
          </p:grpSpPr>
          <p:sp>
            <p:nvSpPr>
              <p:cNvPr name="Freeform 46" id="46"/>
              <p:cNvSpPr/>
              <p:nvPr/>
            </p:nvSpPr>
            <p:spPr>
              <a:xfrm flipH="false" flipV="false" rot="0">
                <a:off x="0" y="0"/>
                <a:ext cx="1152822" cy="1181282"/>
              </a:xfrm>
              <a:custGeom>
                <a:avLst/>
                <a:gdLst/>
                <a:ahLst/>
                <a:cxnLst/>
                <a:rect r="r" b="b" t="t" l="l"/>
                <a:pathLst>
                  <a:path h="1181282" w="1152822">
                    <a:moveTo>
                      <a:pt x="273411" y="0"/>
                    </a:moveTo>
                    <a:lnTo>
                      <a:pt x="879411" y="0"/>
                    </a:lnTo>
                    <a:cubicBezTo>
                      <a:pt x="1030412" y="0"/>
                      <a:pt x="1152822" y="122410"/>
                      <a:pt x="1152822" y="273411"/>
                    </a:cubicBezTo>
                    <a:lnTo>
                      <a:pt x="1152822" y="907871"/>
                    </a:lnTo>
                    <a:cubicBezTo>
                      <a:pt x="1152822" y="980384"/>
                      <a:pt x="1124016" y="1049928"/>
                      <a:pt x="1072742" y="1101202"/>
                    </a:cubicBezTo>
                    <a:cubicBezTo>
                      <a:pt x="1021467" y="1152477"/>
                      <a:pt x="951924" y="1181282"/>
                      <a:pt x="879411" y="1181282"/>
                    </a:cubicBezTo>
                    <a:lnTo>
                      <a:pt x="273411" y="1181282"/>
                    </a:lnTo>
                    <a:cubicBezTo>
                      <a:pt x="122410" y="1181282"/>
                      <a:pt x="0" y="1058872"/>
                      <a:pt x="0" y="907871"/>
                    </a:cubicBezTo>
                    <a:lnTo>
                      <a:pt x="0" y="273411"/>
                    </a:lnTo>
                    <a:cubicBezTo>
                      <a:pt x="0" y="122410"/>
                      <a:pt x="122410" y="0"/>
                      <a:pt x="273411" y="0"/>
                    </a:cubicBezTo>
                    <a:close/>
                  </a:path>
                </a:pathLst>
              </a:custGeom>
              <a:solidFill>
                <a:srgbClr val="FFFFFF"/>
              </a:solidFill>
              <a:ln cap="rnd">
                <a:noFill/>
                <a:prstDash val="solid"/>
                <a:round/>
              </a:ln>
            </p:spPr>
          </p:sp>
          <p:sp>
            <p:nvSpPr>
              <p:cNvPr name="TextBox 47" id="47"/>
              <p:cNvSpPr txBox="true"/>
              <p:nvPr/>
            </p:nvSpPr>
            <p:spPr>
              <a:xfrm>
                <a:off x="0" y="-57150"/>
                <a:ext cx="1152822" cy="1238432"/>
              </a:xfrm>
              <a:prstGeom prst="rect">
                <a:avLst/>
              </a:prstGeom>
            </p:spPr>
            <p:txBody>
              <a:bodyPr anchor="ctr" rtlCol="false" tIns="27649" lIns="27649" bIns="27649" rIns="27649"/>
              <a:lstStyle/>
              <a:p>
                <a:pPr algn="ctr">
                  <a:lnSpc>
                    <a:spcPts val="2659"/>
                  </a:lnSpc>
                </a:pPr>
              </a:p>
            </p:txBody>
          </p:sp>
        </p:grpSp>
        <p:sp>
          <p:nvSpPr>
            <p:cNvPr name="TextBox 48" id="48"/>
            <p:cNvSpPr txBox="true"/>
            <p:nvPr/>
          </p:nvSpPr>
          <p:spPr>
            <a:xfrm rot="0">
              <a:off x="26926691" y="185323"/>
              <a:ext cx="1434017"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solidFill>
                  <a:latin typeface="Ojuju Bold"/>
                  <a:ea typeface="Ojuju Bold"/>
                  <a:cs typeface="Ojuju Bold"/>
                  <a:sym typeface="Ojuju Bold"/>
                </a:rPr>
                <a:t>3</a:t>
              </a:r>
            </a:p>
          </p:txBody>
        </p:sp>
        <p:sp>
          <p:nvSpPr>
            <p:cNvPr name="TextBox 49" id="49"/>
            <p:cNvSpPr txBox="true"/>
            <p:nvPr/>
          </p:nvSpPr>
          <p:spPr>
            <a:xfrm rot="0">
              <a:off x="27643699" y="608214"/>
              <a:ext cx="5536120"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solidFill>
                  <a:latin typeface="Ojuju Bold"/>
                  <a:ea typeface="Ojuju Bold"/>
                  <a:cs typeface="Ojuju Bold"/>
                  <a:sym typeface="Ojuju Bold"/>
                </a:rPr>
                <a:t>Khả năng chủ động quản trị và kiểm soát rủi ro hệ thống</a:t>
              </a:r>
            </a:p>
          </p:txBody>
        </p:sp>
        <p:sp>
          <p:nvSpPr>
            <p:cNvPr name="TextBox 50" id="50"/>
            <p:cNvSpPr txBox="true"/>
            <p:nvPr/>
          </p:nvSpPr>
          <p:spPr>
            <a:xfrm rot="0">
              <a:off x="27652219" y="4056396"/>
              <a:ext cx="4802073"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solidFill>
                  <a:latin typeface="Work Sans"/>
                  <a:ea typeface="Work Sans"/>
                  <a:cs typeface="Work Sans"/>
                  <a:sym typeface="Work Sans"/>
                </a:rPr>
                <a:t>Hệ thống</a:t>
              </a:r>
              <a:r>
                <a:rPr lang="en-US" sz="1793" strike="noStrike" u="none">
                  <a:solidFill>
                    <a:srgbClr val="000000"/>
                  </a:solidFill>
                  <a:latin typeface="Work Sans"/>
                  <a:ea typeface="Work Sans"/>
                  <a:cs typeface="Work Sans"/>
                  <a:sym typeface="Work Sans"/>
                </a:rPr>
                <a:t> kiểm soát rủi ro chủ động nhờ xây dựng ma trận nhận diện nguy cơ ngay từ đầu, giúp nhóm ứng phó kịp thời với các sự cố.</a:t>
              </a:r>
            </a:p>
          </p:txBody>
        </p:sp>
        <p:sp>
          <p:nvSpPr>
            <p:cNvPr name="Freeform 51" id="51"/>
            <p:cNvSpPr/>
            <p:nvPr/>
          </p:nvSpPr>
          <p:spPr>
            <a:xfrm flipH="false" flipV="false" rot="0">
              <a:off x="23259128" y="6109662"/>
              <a:ext cx="4329296" cy="4192202"/>
            </a:xfrm>
            <a:custGeom>
              <a:avLst/>
              <a:gdLst/>
              <a:ahLst/>
              <a:cxnLst/>
              <a:rect r="r" b="b" t="t" l="l"/>
              <a:pathLst>
                <a:path h="4192202" w="4329296">
                  <a:moveTo>
                    <a:pt x="0" y="0"/>
                  </a:moveTo>
                  <a:lnTo>
                    <a:pt x="4329297" y="0"/>
                  </a:lnTo>
                  <a:lnTo>
                    <a:pt x="4329297" y="4192202"/>
                  </a:lnTo>
                  <a:lnTo>
                    <a:pt x="0" y="41922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52" id="52"/>
            <p:cNvGrpSpPr/>
            <p:nvPr/>
          </p:nvGrpSpPr>
          <p:grpSpPr>
            <a:xfrm rot="0">
              <a:off x="35461106" y="212904"/>
              <a:ext cx="6763089" cy="7113726"/>
              <a:chOff x="0" y="0"/>
              <a:chExt cx="1340398" cy="1409892"/>
            </a:xfrm>
          </p:grpSpPr>
          <p:sp>
            <p:nvSpPr>
              <p:cNvPr name="Freeform 53" id="53"/>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solidFill>
              <a:ln cap="rnd">
                <a:noFill/>
                <a:prstDash val="solid"/>
                <a:round/>
              </a:ln>
            </p:spPr>
          </p:sp>
          <p:sp>
            <p:nvSpPr>
              <p:cNvPr name="TextBox 54" id="54"/>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55" id="55"/>
            <p:cNvGrpSpPr/>
            <p:nvPr/>
          </p:nvGrpSpPr>
          <p:grpSpPr>
            <a:xfrm rot="0">
              <a:off x="35223461" y="0"/>
              <a:ext cx="6768466" cy="7084151"/>
              <a:chOff x="0" y="0"/>
              <a:chExt cx="1128642" cy="1181282"/>
            </a:xfrm>
          </p:grpSpPr>
          <p:sp>
            <p:nvSpPr>
              <p:cNvPr name="Freeform 56" id="56"/>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57" id="57"/>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58" id="58"/>
            <p:cNvSpPr txBox="true"/>
            <p:nvPr/>
          </p:nvSpPr>
          <p:spPr>
            <a:xfrm rot="0">
              <a:off x="35581360"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solidFill>
                  <a:latin typeface="Ojuju Bold"/>
                  <a:ea typeface="Ojuju Bold"/>
                  <a:cs typeface="Ojuju Bold"/>
                  <a:sym typeface="Ojuju Bold"/>
                </a:rPr>
                <a:t>4</a:t>
              </a:r>
            </a:p>
          </p:txBody>
        </p:sp>
        <p:sp>
          <p:nvSpPr>
            <p:cNvPr name="TextBox 59" id="59"/>
            <p:cNvSpPr txBox="true"/>
            <p:nvPr/>
          </p:nvSpPr>
          <p:spPr>
            <a:xfrm rot="0">
              <a:off x="36283329" y="608214"/>
              <a:ext cx="5420003" cy="2498726"/>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solidFill>
                  <a:latin typeface="Ojuju Bold"/>
                  <a:ea typeface="Ojuju Bold"/>
                  <a:cs typeface="Ojuju Bold"/>
                  <a:sym typeface="Ojuju Bold"/>
                </a:rPr>
                <a:t>Tư duy định hướng dữ liệu trong tối ưu hóa chuyển đổi</a:t>
              </a:r>
            </a:p>
          </p:txBody>
        </p:sp>
        <p:sp>
          <p:nvSpPr>
            <p:cNvPr name="TextBox 60" id="60"/>
            <p:cNvSpPr txBox="true"/>
            <p:nvPr/>
          </p:nvSpPr>
          <p:spPr>
            <a:xfrm rot="0">
              <a:off x="36291670" y="4056396"/>
              <a:ext cx="4973074" cy="2493330"/>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solidFill>
                  <a:latin typeface="Work Sans"/>
                  <a:ea typeface="Work Sans"/>
                  <a:cs typeface="Work Sans"/>
                  <a:sym typeface="Work Sans"/>
                </a:rPr>
                <a:t>Chiế</a:t>
              </a:r>
              <a:r>
                <a:rPr lang="en-US" sz="1793" strike="noStrike" u="none">
                  <a:solidFill>
                    <a:srgbClr val="000000"/>
                  </a:solidFill>
                  <a:latin typeface="Work Sans"/>
                  <a:ea typeface="Work Sans"/>
                  <a:cs typeface="Work Sans"/>
                  <a:sym typeface="Work Sans"/>
                </a:rPr>
                <a:t>n dịch vận hành theo tư duy data-driven, liên tục tối ưu nội d</a:t>
              </a:r>
              <a:r>
                <a:rPr lang="en-US" sz="1793" strike="noStrike" u="none">
                  <a:solidFill>
                    <a:srgbClr val="000000"/>
                  </a:solidFill>
                  <a:latin typeface="Work Sans"/>
                  <a:ea typeface="Work Sans"/>
                  <a:cs typeface="Work Sans"/>
                  <a:sym typeface="Work Sans"/>
                </a:rPr>
                <a:t>u</a:t>
              </a:r>
              <a:r>
                <a:rPr lang="en-US" sz="1793" strike="noStrike" u="none">
                  <a:solidFill>
                    <a:srgbClr val="000000"/>
                  </a:solidFill>
                  <a:latin typeface="Work Sans"/>
                  <a:ea typeface="Work Sans"/>
                  <a:cs typeface="Work Sans"/>
                  <a:sym typeface="Work Sans"/>
                </a:rPr>
                <a:t>ng và quảng cáo dựa trên phân tích dữ liệu, qua đó đạt 285 đơn đăng ký chất lượng cao cho OpenDay.</a:t>
              </a:r>
            </a:p>
          </p:txBody>
        </p:sp>
        <p:grpSp>
          <p:nvGrpSpPr>
            <p:cNvPr name="Group 61" id="61"/>
            <p:cNvGrpSpPr/>
            <p:nvPr/>
          </p:nvGrpSpPr>
          <p:grpSpPr>
            <a:xfrm rot="0">
              <a:off x="43973460" y="212904"/>
              <a:ext cx="6763089" cy="7113726"/>
              <a:chOff x="0" y="0"/>
              <a:chExt cx="1340398" cy="1409892"/>
            </a:xfrm>
          </p:grpSpPr>
          <p:sp>
            <p:nvSpPr>
              <p:cNvPr name="Freeform 62" id="62"/>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solidFill>
              <a:ln cap="rnd">
                <a:noFill/>
                <a:prstDash val="solid"/>
                <a:round/>
              </a:ln>
            </p:spPr>
          </p:sp>
          <p:sp>
            <p:nvSpPr>
              <p:cNvPr name="TextBox 63" id="63"/>
              <p:cNvSpPr txBox="true"/>
              <p:nvPr/>
            </p:nvSpPr>
            <p:spPr>
              <a:xfrm>
                <a:off x="0" y="-57150"/>
                <a:ext cx="1340398" cy="1467042"/>
              </a:xfrm>
              <a:prstGeom prst="rect">
                <a:avLst/>
              </a:prstGeom>
            </p:spPr>
            <p:txBody>
              <a:bodyPr anchor="ctr" rtlCol="false" tIns="27649" lIns="27649" bIns="27649" rIns="27649"/>
              <a:lstStyle/>
              <a:p>
                <a:pPr algn="ctr">
                  <a:lnSpc>
                    <a:spcPts val="2660"/>
                  </a:lnSpc>
                </a:pPr>
              </a:p>
            </p:txBody>
          </p:sp>
        </p:grpSp>
        <p:grpSp>
          <p:nvGrpSpPr>
            <p:cNvPr name="Group 64" id="64"/>
            <p:cNvGrpSpPr/>
            <p:nvPr/>
          </p:nvGrpSpPr>
          <p:grpSpPr>
            <a:xfrm rot="0">
              <a:off x="43735815" y="0"/>
              <a:ext cx="6768466" cy="7084151"/>
              <a:chOff x="0" y="0"/>
              <a:chExt cx="1128642" cy="1181282"/>
            </a:xfrm>
          </p:grpSpPr>
          <p:sp>
            <p:nvSpPr>
              <p:cNvPr name="Freeform 65" id="65"/>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66" id="66"/>
              <p:cNvSpPr txBox="true"/>
              <p:nvPr/>
            </p:nvSpPr>
            <p:spPr>
              <a:xfrm>
                <a:off x="0" y="-57150"/>
                <a:ext cx="1128642" cy="1238432"/>
              </a:xfrm>
              <a:prstGeom prst="rect">
                <a:avLst/>
              </a:prstGeom>
            </p:spPr>
            <p:txBody>
              <a:bodyPr anchor="ctr" rtlCol="false" tIns="27649" lIns="27649" bIns="27649" rIns="27649"/>
              <a:lstStyle/>
              <a:p>
                <a:pPr algn="ctr">
                  <a:lnSpc>
                    <a:spcPts val="2660"/>
                  </a:lnSpc>
                </a:pPr>
              </a:p>
            </p:txBody>
          </p:sp>
        </p:grpSp>
        <p:sp>
          <p:nvSpPr>
            <p:cNvPr name="TextBox 67" id="67"/>
            <p:cNvSpPr txBox="true"/>
            <p:nvPr/>
          </p:nvSpPr>
          <p:spPr>
            <a:xfrm rot="0">
              <a:off x="44093713"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solidFill>
                  <a:latin typeface="Ojuju Bold"/>
                  <a:ea typeface="Ojuju Bold"/>
                  <a:cs typeface="Ojuju Bold"/>
                  <a:sym typeface="Ojuju Bold"/>
                </a:rPr>
                <a:t>1</a:t>
              </a:r>
            </a:p>
          </p:txBody>
        </p:sp>
        <p:sp>
          <p:nvSpPr>
            <p:cNvPr name="TextBox 68" id="68"/>
            <p:cNvSpPr txBox="true"/>
            <p:nvPr/>
          </p:nvSpPr>
          <p:spPr>
            <a:xfrm rot="0">
              <a:off x="44795683"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solidFill>
                  <a:latin typeface="Ojuju Bold"/>
                  <a:ea typeface="Ojuju Bold"/>
                  <a:cs typeface="Ojuju Bold"/>
                  <a:sym typeface="Ojuju Bold"/>
                </a:rPr>
                <a:t>Quản trị nhân sự và cơ chế phối hợp linh hoạt</a:t>
              </a:r>
            </a:p>
          </p:txBody>
        </p:sp>
        <p:sp>
          <p:nvSpPr>
            <p:cNvPr name="TextBox 69" id="69"/>
            <p:cNvSpPr txBox="true"/>
            <p:nvPr/>
          </p:nvSpPr>
          <p:spPr>
            <a:xfrm rot="0">
              <a:off x="44804024"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solidFill>
                  <a:latin typeface="Work Sans"/>
                  <a:ea typeface="Work Sans"/>
                  <a:cs typeface="Work Sans"/>
                  <a:sym typeface="Work Sans"/>
                </a:rPr>
                <a:t>Điể</a:t>
              </a:r>
              <a:r>
                <a:rPr lang="en-US" sz="1793" strike="noStrike" u="none">
                  <a:solidFill>
                    <a:srgbClr val="000000"/>
                  </a:solidFill>
                  <a:latin typeface="Work Sans"/>
                  <a:ea typeface="Work Sans"/>
                  <a:cs typeface="Work Sans"/>
                  <a:sym typeface="Work Sans"/>
                </a:rPr>
                <a:t>m nổi bật trong công tác quản trị là xây </a:t>
              </a:r>
              <a:r>
                <a:rPr lang="en-US" sz="1793" strike="noStrike" u="none">
                  <a:solidFill>
                    <a:srgbClr val="000000"/>
                  </a:solidFill>
                  <a:latin typeface="Work Sans"/>
                  <a:ea typeface="Work Sans"/>
                  <a:cs typeface="Work Sans"/>
                  <a:sym typeface="Work Sans"/>
                </a:rPr>
                <a:t>dựng</a:t>
              </a:r>
              <a:r>
                <a:rPr lang="en-US" sz="1793" strike="noStrike" u="none">
                  <a:solidFill>
                    <a:srgbClr val="000000"/>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70" id="70"/>
            <p:cNvSpPr/>
            <p:nvPr/>
          </p:nvSpPr>
          <p:spPr>
            <a:xfrm flipH="false" flipV="false" rot="0">
              <a:off x="40256245" y="5393494"/>
              <a:ext cx="4611715" cy="5233152"/>
            </a:xfrm>
            <a:custGeom>
              <a:avLst/>
              <a:gdLst/>
              <a:ahLst/>
              <a:cxnLst/>
              <a:rect r="r" b="b" t="t" l="l"/>
              <a:pathLst>
                <a:path h="5233152" w="4611715">
                  <a:moveTo>
                    <a:pt x="0" y="0"/>
                  </a:moveTo>
                  <a:lnTo>
                    <a:pt x="4611715" y="0"/>
                  </a:lnTo>
                  <a:lnTo>
                    <a:pt x="4611715" y="5233151"/>
                  </a:lnTo>
                  <a:lnTo>
                    <a:pt x="0" y="5233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1" id="71"/>
            <p:cNvSpPr/>
            <p:nvPr/>
          </p:nvSpPr>
          <p:spPr>
            <a:xfrm flipH="false" flipV="false" rot="0">
              <a:off x="31317587" y="6109662"/>
              <a:ext cx="4788509" cy="4930254"/>
            </a:xfrm>
            <a:custGeom>
              <a:avLst/>
              <a:gdLst/>
              <a:ahLst/>
              <a:cxnLst/>
              <a:rect r="r" b="b" t="t" l="l"/>
              <a:pathLst>
                <a:path h="4930254" w="4788509">
                  <a:moveTo>
                    <a:pt x="0" y="0"/>
                  </a:moveTo>
                  <a:lnTo>
                    <a:pt x="4788509" y="0"/>
                  </a:lnTo>
                  <a:lnTo>
                    <a:pt x="4788509" y="4930254"/>
                  </a:lnTo>
                  <a:lnTo>
                    <a:pt x="0" y="493025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72" id="72"/>
          <p:cNvGrpSpPr/>
          <p:nvPr/>
        </p:nvGrpSpPr>
        <p:grpSpPr>
          <a:xfrm rot="0">
            <a:off x="480736" y="490255"/>
            <a:ext cx="6672526" cy="888116"/>
            <a:chOff x="0" y="0"/>
            <a:chExt cx="8896702" cy="1184154"/>
          </a:xfrm>
        </p:grpSpPr>
        <p:grpSp>
          <p:nvGrpSpPr>
            <p:cNvPr name="Group 73" id="73"/>
            <p:cNvGrpSpPr/>
            <p:nvPr/>
          </p:nvGrpSpPr>
          <p:grpSpPr>
            <a:xfrm rot="0">
              <a:off x="0" y="0"/>
              <a:ext cx="7724001" cy="1184154"/>
              <a:chOff x="0" y="0"/>
              <a:chExt cx="1525729" cy="233907"/>
            </a:xfrm>
          </p:grpSpPr>
          <p:sp>
            <p:nvSpPr>
              <p:cNvPr name="Freeform 74" id="74"/>
              <p:cNvSpPr/>
              <p:nvPr/>
            </p:nvSpPr>
            <p:spPr>
              <a:xfrm flipH="false" flipV="false" rot="0">
                <a:off x="0" y="0"/>
                <a:ext cx="1525729" cy="233907"/>
              </a:xfrm>
              <a:custGeom>
                <a:avLst/>
                <a:gdLst/>
                <a:ahLst/>
                <a:cxnLst/>
                <a:rect r="r" b="b" t="t" l="l"/>
                <a:pathLst>
                  <a:path h="233907" w="1525729">
                    <a:moveTo>
                      <a:pt x="116954" y="0"/>
                    </a:moveTo>
                    <a:lnTo>
                      <a:pt x="1408775" y="0"/>
                    </a:lnTo>
                    <a:cubicBezTo>
                      <a:pt x="1439793" y="0"/>
                      <a:pt x="1469541" y="12322"/>
                      <a:pt x="1491474" y="34255"/>
                    </a:cubicBezTo>
                    <a:cubicBezTo>
                      <a:pt x="1513407" y="56188"/>
                      <a:pt x="1525729" y="85936"/>
                      <a:pt x="1525729" y="116954"/>
                    </a:cubicBezTo>
                    <a:lnTo>
                      <a:pt x="1525729" y="116954"/>
                    </a:lnTo>
                    <a:cubicBezTo>
                      <a:pt x="1525729" y="181545"/>
                      <a:pt x="1473367" y="233907"/>
                      <a:pt x="140877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5" id="75"/>
              <p:cNvSpPr txBox="true"/>
              <p:nvPr/>
            </p:nvSpPr>
            <p:spPr>
              <a:xfrm>
                <a:off x="0" y="-57150"/>
                <a:ext cx="1525729" cy="291057"/>
              </a:xfrm>
              <a:prstGeom prst="rect">
                <a:avLst/>
              </a:prstGeom>
            </p:spPr>
            <p:txBody>
              <a:bodyPr anchor="ctr" rtlCol="false" tIns="50800" lIns="50800" bIns="50800" rIns="50800"/>
              <a:lstStyle/>
              <a:p>
                <a:pPr algn="ctr">
                  <a:lnSpc>
                    <a:spcPts val="2659"/>
                  </a:lnSpc>
                </a:pPr>
              </a:p>
            </p:txBody>
          </p:sp>
        </p:grpSp>
        <p:sp>
          <p:nvSpPr>
            <p:cNvPr name="TextBox 76" id="76"/>
            <p:cNvSpPr txBox="true"/>
            <p:nvPr/>
          </p:nvSpPr>
          <p:spPr>
            <a:xfrm rot="0">
              <a:off x="357186" y="141884"/>
              <a:ext cx="85395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2. Điểm thực hiện tốt</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6991673" y="3437000"/>
            <a:ext cx="39453324" cy="9218090"/>
            <a:chOff x="0" y="0"/>
            <a:chExt cx="52604431" cy="12290787"/>
          </a:xfrm>
        </p:grpSpPr>
        <p:grpSp>
          <p:nvGrpSpPr>
            <p:cNvPr name="Group 10" id="10"/>
            <p:cNvGrpSpPr/>
            <p:nvPr/>
          </p:nvGrpSpPr>
          <p:grpSpPr>
            <a:xfrm rot="0">
              <a:off x="0" y="3384854"/>
              <a:ext cx="52604431" cy="8905934"/>
              <a:chOff x="0" y="0"/>
              <a:chExt cx="10425838" cy="1765095"/>
            </a:xfrm>
          </p:grpSpPr>
          <p:sp>
            <p:nvSpPr>
              <p:cNvPr name="Freeform 11" id="11"/>
              <p:cNvSpPr/>
              <p:nvPr/>
            </p:nvSpPr>
            <p:spPr>
              <a:xfrm flipH="false" flipV="false" rot="0">
                <a:off x="0" y="0"/>
                <a:ext cx="10425838" cy="1765095"/>
              </a:xfrm>
              <a:custGeom>
                <a:avLst/>
                <a:gdLst/>
                <a:ahLst/>
                <a:cxnLst/>
                <a:rect r="r" b="b" t="t" l="l"/>
                <a:pathLst>
                  <a:path h="1765095" w="10425838">
                    <a:moveTo>
                      <a:pt x="35933" y="0"/>
                    </a:moveTo>
                    <a:lnTo>
                      <a:pt x="10389905" y="0"/>
                    </a:lnTo>
                    <a:cubicBezTo>
                      <a:pt x="10409751" y="0"/>
                      <a:pt x="10425838" y="16088"/>
                      <a:pt x="10425838" y="35933"/>
                    </a:cubicBezTo>
                    <a:lnTo>
                      <a:pt x="10425838" y="1729162"/>
                    </a:lnTo>
                    <a:cubicBezTo>
                      <a:pt x="10425838" y="1749007"/>
                      <a:pt x="10409751" y="1765095"/>
                      <a:pt x="10389905" y="1765095"/>
                    </a:cubicBezTo>
                    <a:lnTo>
                      <a:pt x="35933" y="1765095"/>
                    </a:lnTo>
                    <a:cubicBezTo>
                      <a:pt x="16088" y="1765095"/>
                      <a:pt x="0" y="1749007"/>
                      <a:pt x="0" y="1729162"/>
                    </a:cubicBezTo>
                    <a:lnTo>
                      <a:pt x="0" y="35933"/>
                    </a:lnTo>
                    <a:cubicBezTo>
                      <a:pt x="0" y="16088"/>
                      <a:pt x="16088" y="0"/>
                      <a:pt x="35933" y="0"/>
                    </a:cubicBezTo>
                    <a:close/>
                  </a:path>
                </a:pathLst>
              </a:custGeom>
              <a:solidFill>
                <a:srgbClr val="50212A"/>
              </a:solidFill>
            </p:spPr>
          </p:sp>
          <p:sp>
            <p:nvSpPr>
              <p:cNvPr name="TextBox 12" id="12"/>
              <p:cNvSpPr txBox="true"/>
              <p:nvPr/>
            </p:nvSpPr>
            <p:spPr>
              <a:xfrm>
                <a:off x="0" y="-57150"/>
                <a:ext cx="10425838" cy="1822245"/>
              </a:xfrm>
              <a:prstGeom prst="rect">
                <a:avLst/>
              </a:prstGeom>
            </p:spPr>
            <p:txBody>
              <a:bodyPr anchor="ctr" rtlCol="false" tIns="61202" lIns="61202" bIns="61202" rIns="61202"/>
              <a:lstStyle/>
              <a:p>
                <a:pPr algn="ctr">
                  <a:lnSpc>
                    <a:spcPts val="2659"/>
                  </a:lnSpc>
                </a:pPr>
              </a:p>
            </p:txBody>
          </p:sp>
        </p:grpSp>
        <p:grpSp>
          <p:nvGrpSpPr>
            <p:cNvPr name="Group 13" id="13"/>
            <p:cNvGrpSpPr/>
            <p:nvPr/>
          </p:nvGrpSpPr>
          <p:grpSpPr>
            <a:xfrm rot="0">
              <a:off x="9765025" y="212904"/>
              <a:ext cx="6763089" cy="7113726"/>
              <a:chOff x="0" y="0"/>
              <a:chExt cx="1340398" cy="1409892"/>
            </a:xfrm>
          </p:grpSpPr>
          <p:sp>
            <p:nvSpPr>
              <p:cNvPr name="Freeform 14" id="1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15" id="15"/>
              <p:cNvSpPr txBox="true"/>
              <p:nvPr/>
            </p:nvSpPr>
            <p:spPr>
              <a:xfrm>
                <a:off x="0" y="-57150"/>
                <a:ext cx="1340398" cy="1467042"/>
              </a:xfrm>
              <a:prstGeom prst="rect">
                <a:avLst/>
              </a:prstGeom>
            </p:spPr>
            <p:txBody>
              <a:bodyPr anchor="ctr" rtlCol="false" tIns="27649" lIns="27649" bIns="27649" rIns="27649"/>
              <a:lstStyle/>
              <a:p>
                <a:pPr algn="ctr">
                  <a:lnSpc>
                    <a:spcPts val="2660"/>
                  </a:lnSpc>
                </a:pPr>
              </a:p>
            </p:txBody>
          </p:sp>
        </p:grpSp>
        <p:grpSp>
          <p:nvGrpSpPr>
            <p:cNvPr name="Group 16" id="16"/>
            <p:cNvGrpSpPr/>
            <p:nvPr/>
          </p:nvGrpSpPr>
          <p:grpSpPr>
            <a:xfrm rot="0">
              <a:off x="9527380" y="0"/>
              <a:ext cx="6768466" cy="7084151"/>
              <a:chOff x="0" y="0"/>
              <a:chExt cx="1128642" cy="1181282"/>
            </a:xfrm>
          </p:grpSpPr>
          <p:sp>
            <p:nvSpPr>
              <p:cNvPr name="Freeform 17" id="1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18" id="18"/>
              <p:cNvSpPr txBox="true"/>
              <p:nvPr/>
            </p:nvSpPr>
            <p:spPr>
              <a:xfrm>
                <a:off x="0" y="-57150"/>
                <a:ext cx="1128642" cy="1238432"/>
              </a:xfrm>
              <a:prstGeom prst="rect">
                <a:avLst/>
              </a:prstGeom>
            </p:spPr>
            <p:txBody>
              <a:bodyPr anchor="ctr" rtlCol="false" tIns="27649" lIns="27649" bIns="27649" rIns="27649"/>
              <a:lstStyle/>
              <a:p>
                <a:pPr algn="ctr">
                  <a:lnSpc>
                    <a:spcPts val="2660"/>
                  </a:lnSpc>
                </a:pPr>
              </a:p>
            </p:txBody>
          </p:sp>
        </p:grpSp>
        <p:sp>
          <p:nvSpPr>
            <p:cNvPr name="TextBox 19" id="19"/>
            <p:cNvSpPr txBox="true"/>
            <p:nvPr/>
          </p:nvSpPr>
          <p:spPr>
            <a:xfrm rot="0">
              <a:off x="9885278"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1</a:t>
              </a:r>
            </a:p>
          </p:txBody>
        </p:sp>
        <p:sp>
          <p:nvSpPr>
            <p:cNvPr name="TextBox 20" id="20"/>
            <p:cNvSpPr txBox="true"/>
            <p:nvPr/>
          </p:nvSpPr>
          <p:spPr>
            <a:xfrm rot="0">
              <a:off x="10587248"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Quản trị nhân sự và cơ chế phối hợp linh hoạt</a:t>
              </a:r>
            </a:p>
          </p:txBody>
        </p:sp>
        <p:sp>
          <p:nvSpPr>
            <p:cNvPr name="TextBox 21" id="21"/>
            <p:cNvSpPr txBox="true"/>
            <p:nvPr/>
          </p:nvSpPr>
          <p:spPr>
            <a:xfrm rot="0">
              <a:off x="10595589"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Điể</a:t>
              </a:r>
              <a:r>
                <a:rPr lang="en-US" sz="1793" strike="noStrike" u="none">
                  <a:solidFill>
                    <a:srgbClr val="000000">
                      <a:alpha val="36863"/>
                    </a:srgbClr>
                  </a:solidFill>
                  <a:latin typeface="Work Sans"/>
                  <a:ea typeface="Work Sans"/>
                  <a:cs typeface="Work Sans"/>
                  <a:sym typeface="Work Sans"/>
                </a:rPr>
                <a:t>m nổi bật trong công tác quản trị là xây </a:t>
              </a:r>
              <a:r>
                <a:rPr lang="en-US" sz="1793" strike="noStrike" u="none">
                  <a:solidFill>
                    <a:srgbClr val="000000">
                      <a:alpha val="36863"/>
                    </a:srgbClr>
                  </a:solidFill>
                  <a:latin typeface="Work Sans"/>
                  <a:ea typeface="Work Sans"/>
                  <a:cs typeface="Work Sans"/>
                  <a:sym typeface="Work Sans"/>
                </a:rPr>
                <a:t>dựng</a:t>
              </a:r>
              <a:r>
                <a:rPr lang="en-US" sz="1793" strike="noStrike" u="none">
                  <a:solidFill>
                    <a:srgbClr val="000000">
                      <a:alpha val="36863"/>
                    </a:srgbClr>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22" id="22"/>
            <p:cNvSpPr/>
            <p:nvPr/>
          </p:nvSpPr>
          <p:spPr>
            <a:xfrm flipH="false" flipV="false" rot="0">
              <a:off x="14739462" y="5732435"/>
              <a:ext cx="4728990" cy="4210772"/>
            </a:xfrm>
            <a:custGeom>
              <a:avLst/>
              <a:gdLst/>
              <a:ahLst/>
              <a:cxnLst/>
              <a:rect r="r" b="b" t="t" l="l"/>
              <a:pathLst>
                <a:path h="4210772" w="4728990">
                  <a:moveTo>
                    <a:pt x="0" y="0"/>
                  </a:moveTo>
                  <a:lnTo>
                    <a:pt x="4728990" y="0"/>
                  </a:lnTo>
                  <a:lnTo>
                    <a:pt x="4728990" y="4210771"/>
                  </a:lnTo>
                  <a:lnTo>
                    <a:pt x="0" y="4210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1243634" y="212904"/>
              <a:ext cx="6763089" cy="7113726"/>
              <a:chOff x="0" y="0"/>
              <a:chExt cx="1340398" cy="1409892"/>
            </a:xfrm>
          </p:grpSpPr>
          <p:sp>
            <p:nvSpPr>
              <p:cNvPr name="Freeform 24" id="2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25" id="25"/>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26" id="26"/>
            <p:cNvGrpSpPr/>
            <p:nvPr/>
          </p:nvGrpSpPr>
          <p:grpSpPr>
            <a:xfrm rot="0">
              <a:off x="1005989" y="0"/>
              <a:ext cx="6768466" cy="7084151"/>
              <a:chOff x="0" y="0"/>
              <a:chExt cx="1128642" cy="1181282"/>
            </a:xfrm>
          </p:grpSpPr>
          <p:sp>
            <p:nvSpPr>
              <p:cNvPr name="Freeform 27" id="2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28" id="28"/>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29" id="29"/>
            <p:cNvSpPr txBox="true"/>
            <p:nvPr/>
          </p:nvSpPr>
          <p:spPr>
            <a:xfrm rot="0">
              <a:off x="1363887"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4</a:t>
              </a:r>
            </a:p>
          </p:txBody>
        </p:sp>
        <p:sp>
          <p:nvSpPr>
            <p:cNvPr name="TextBox 30" id="30"/>
            <p:cNvSpPr txBox="true"/>
            <p:nvPr/>
          </p:nvSpPr>
          <p:spPr>
            <a:xfrm rot="0">
              <a:off x="2065857" y="608214"/>
              <a:ext cx="5420003" cy="2498726"/>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Tư duy định hướng dữ liệu trong tối ưu hóa chuyển đổi</a:t>
              </a:r>
            </a:p>
          </p:txBody>
        </p:sp>
        <p:sp>
          <p:nvSpPr>
            <p:cNvPr name="TextBox 31" id="31"/>
            <p:cNvSpPr txBox="true"/>
            <p:nvPr/>
          </p:nvSpPr>
          <p:spPr>
            <a:xfrm rot="0">
              <a:off x="2074198"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Điể</a:t>
              </a:r>
              <a:r>
                <a:rPr lang="en-US" sz="1793" strike="noStrike" u="none">
                  <a:solidFill>
                    <a:srgbClr val="000000">
                      <a:alpha val="36863"/>
                    </a:srgbClr>
                  </a:solidFill>
                  <a:latin typeface="Work Sans"/>
                  <a:ea typeface="Work Sans"/>
                  <a:cs typeface="Work Sans"/>
                  <a:sym typeface="Work Sans"/>
                </a:rPr>
                <a:t>m nổi bật trong công tác quản trị là xây </a:t>
              </a:r>
              <a:r>
                <a:rPr lang="en-US" sz="1793" strike="noStrike" u="none">
                  <a:solidFill>
                    <a:srgbClr val="000000">
                      <a:alpha val="36863"/>
                    </a:srgbClr>
                  </a:solidFill>
                  <a:latin typeface="Work Sans"/>
                  <a:ea typeface="Work Sans"/>
                  <a:cs typeface="Work Sans"/>
                  <a:sym typeface="Work Sans"/>
                </a:rPr>
                <a:t>dựng</a:t>
              </a:r>
              <a:r>
                <a:rPr lang="en-US" sz="1793" strike="noStrike" u="none">
                  <a:solidFill>
                    <a:srgbClr val="000000">
                      <a:alpha val="36863"/>
                    </a:srgbClr>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32" id="32"/>
            <p:cNvSpPr/>
            <p:nvPr/>
          </p:nvSpPr>
          <p:spPr>
            <a:xfrm flipH="false" flipV="false" rot="0">
              <a:off x="5947194" y="4710055"/>
              <a:ext cx="4611715" cy="5233152"/>
            </a:xfrm>
            <a:custGeom>
              <a:avLst/>
              <a:gdLst/>
              <a:ahLst/>
              <a:cxnLst/>
              <a:rect r="r" b="b" t="t" l="l"/>
              <a:pathLst>
                <a:path h="5233152" w="4611715">
                  <a:moveTo>
                    <a:pt x="0" y="0"/>
                  </a:moveTo>
                  <a:lnTo>
                    <a:pt x="4611714" y="0"/>
                  </a:lnTo>
                  <a:lnTo>
                    <a:pt x="4611714" y="5233151"/>
                  </a:lnTo>
                  <a:lnTo>
                    <a:pt x="0" y="5233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3" id="33"/>
            <p:cNvGrpSpPr/>
            <p:nvPr/>
          </p:nvGrpSpPr>
          <p:grpSpPr>
            <a:xfrm rot="0">
              <a:off x="18286416" y="212904"/>
              <a:ext cx="6763089" cy="7113726"/>
              <a:chOff x="0" y="0"/>
              <a:chExt cx="1340398" cy="1409892"/>
            </a:xfrm>
          </p:grpSpPr>
          <p:sp>
            <p:nvSpPr>
              <p:cNvPr name="Freeform 34" id="3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solidFill>
              <a:ln cap="rnd">
                <a:noFill/>
                <a:prstDash val="solid"/>
                <a:round/>
              </a:ln>
            </p:spPr>
          </p:sp>
          <p:sp>
            <p:nvSpPr>
              <p:cNvPr name="TextBox 35" id="35"/>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36" id="36"/>
            <p:cNvGrpSpPr/>
            <p:nvPr/>
          </p:nvGrpSpPr>
          <p:grpSpPr>
            <a:xfrm rot="0">
              <a:off x="18048771" y="0"/>
              <a:ext cx="6768466" cy="7084151"/>
              <a:chOff x="0" y="0"/>
              <a:chExt cx="1128642" cy="1181282"/>
            </a:xfrm>
          </p:grpSpPr>
          <p:sp>
            <p:nvSpPr>
              <p:cNvPr name="Freeform 37" id="3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38" id="38"/>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39" id="39"/>
            <p:cNvSpPr txBox="true"/>
            <p:nvPr/>
          </p:nvSpPr>
          <p:spPr>
            <a:xfrm rot="0">
              <a:off x="18406669" y="185323"/>
              <a:ext cx="1403940" cy="1236467"/>
            </a:xfrm>
            <a:prstGeom prst="rect">
              <a:avLst/>
            </a:prstGeom>
          </p:spPr>
          <p:txBody>
            <a:bodyPr anchor="t" rtlCol="false" tIns="0" lIns="0" bIns="0" rIns="0">
              <a:spAutoFit/>
            </a:bodyPr>
            <a:lstStyle/>
            <a:p>
              <a:pPr algn="l" marL="0" indent="0" lvl="0">
                <a:lnSpc>
                  <a:spcPts val="7813"/>
                </a:lnSpc>
              </a:pPr>
              <a:r>
                <a:rPr lang="en-US" b="true" sz="5581">
                  <a:solidFill>
                    <a:srgbClr val="50212A"/>
                  </a:solidFill>
                  <a:latin typeface="Ojuju Bold"/>
                  <a:ea typeface="Ojuju Bold"/>
                  <a:cs typeface="Ojuju Bold"/>
                  <a:sym typeface="Ojuju Bold"/>
                </a:rPr>
                <a:t>2</a:t>
              </a:r>
            </a:p>
          </p:txBody>
        </p:sp>
        <p:sp>
          <p:nvSpPr>
            <p:cNvPr name="TextBox 40" id="40"/>
            <p:cNvSpPr txBox="true"/>
            <p:nvPr/>
          </p:nvSpPr>
          <p:spPr>
            <a:xfrm rot="0">
              <a:off x="19108639"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solidFill>
                  <a:latin typeface="Ojuju Bold"/>
                  <a:ea typeface="Ojuju Bold"/>
                  <a:cs typeface="Ojuju Bold"/>
                  <a:sym typeface="Ojuju Bold"/>
                </a:rPr>
                <a:t>Tính đồng bộ truyền thông và hiệu quả hạ tầng công nghệ</a:t>
              </a:r>
            </a:p>
          </p:txBody>
        </p:sp>
        <p:sp>
          <p:nvSpPr>
            <p:cNvPr name="TextBox 41" id="41"/>
            <p:cNvSpPr txBox="true"/>
            <p:nvPr/>
          </p:nvSpPr>
          <p:spPr>
            <a:xfrm rot="0">
              <a:off x="19116980" y="4056396"/>
              <a:ext cx="4701352" cy="2493330"/>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solidFill>
                  <a:latin typeface="Work Sans"/>
                  <a:ea typeface="Work Sans"/>
                  <a:cs typeface="Work Sans"/>
                  <a:sym typeface="Work Sans"/>
                </a:rPr>
                <a:t>Thiết</a:t>
              </a:r>
              <a:r>
                <a:rPr lang="en-US" sz="1793" strike="noStrike" u="none">
                  <a:solidFill>
                    <a:srgbClr val="000000"/>
                  </a:solidFill>
                  <a:latin typeface="Work Sans"/>
                  <a:ea typeface="Work Sans"/>
                  <a:cs typeface="Work Sans"/>
                  <a:sym typeface="Work Sans"/>
                </a:rPr>
                <a:t> kế hệ sinh thái tích hợp đa nền tản với hệ thống nhận diện thương hiệu đồng bộ trên Facebook, TikTok và Website và tích hợp AI nâng cao uy tín và tính chuyên nghiệp </a:t>
              </a:r>
            </a:p>
          </p:txBody>
        </p:sp>
        <p:grpSp>
          <p:nvGrpSpPr>
            <p:cNvPr name="Group 42" id="42"/>
            <p:cNvGrpSpPr/>
            <p:nvPr/>
          </p:nvGrpSpPr>
          <p:grpSpPr>
            <a:xfrm rot="0">
              <a:off x="26803861" y="212904"/>
              <a:ext cx="6907980" cy="7113726"/>
              <a:chOff x="0" y="0"/>
              <a:chExt cx="1369114" cy="1409892"/>
            </a:xfrm>
          </p:grpSpPr>
          <p:sp>
            <p:nvSpPr>
              <p:cNvPr name="Freeform 43" id="43"/>
              <p:cNvSpPr/>
              <p:nvPr/>
            </p:nvSpPr>
            <p:spPr>
              <a:xfrm flipH="false" flipV="false" rot="0">
                <a:off x="0" y="0"/>
                <a:ext cx="1369114" cy="1409892"/>
              </a:xfrm>
              <a:custGeom>
                <a:avLst/>
                <a:gdLst/>
                <a:ahLst/>
                <a:cxnLst/>
                <a:rect r="r" b="b" t="t" l="l"/>
                <a:pathLst>
                  <a:path h="1409892" w="1369114">
                    <a:moveTo>
                      <a:pt x="273629" y="0"/>
                    </a:moveTo>
                    <a:lnTo>
                      <a:pt x="1095486" y="0"/>
                    </a:lnTo>
                    <a:cubicBezTo>
                      <a:pt x="1246607" y="0"/>
                      <a:pt x="1369114" y="122508"/>
                      <a:pt x="1369114" y="273629"/>
                    </a:cubicBezTo>
                    <a:lnTo>
                      <a:pt x="1369114" y="1136263"/>
                    </a:lnTo>
                    <a:cubicBezTo>
                      <a:pt x="1369114" y="1287384"/>
                      <a:pt x="1246607" y="1409892"/>
                      <a:pt x="1095486" y="1409892"/>
                    </a:cubicBezTo>
                    <a:lnTo>
                      <a:pt x="273629" y="1409892"/>
                    </a:lnTo>
                    <a:cubicBezTo>
                      <a:pt x="201058" y="1409892"/>
                      <a:pt x="131459" y="1381063"/>
                      <a:pt x="80144" y="1329748"/>
                    </a:cubicBezTo>
                    <a:cubicBezTo>
                      <a:pt x="28829" y="1278432"/>
                      <a:pt x="0" y="1208834"/>
                      <a:pt x="0" y="1136263"/>
                    </a:cubicBezTo>
                    <a:lnTo>
                      <a:pt x="0" y="273629"/>
                    </a:lnTo>
                    <a:cubicBezTo>
                      <a:pt x="0" y="122508"/>
                      <a:pt x="122508" y="0"/>
                      <a:pt x="273629" y="0"/>
                    </a:cubicBezTo>
                    <a:close/>
                  </a:path>
                </a:pathLst>
              </a:custGeom>
              <a:solidFill>
                <a:srgbClr val="50212A">
                  <a:alpha val="36863"/>
                </a:srgbClr>
              </a:solidFill>
              <a:ln cap="rnd">
                <a:noFill/>
                <a:prstDash val="solid"/>
                <a:round/>
              </a:ln>
            </p:spPr>
          </p:sp>
          <p:sp>
            <p:nvSpPr>
              <p:cNvPr name="TextBox 44" id="44"/>
              <p:cNvSpPr txBox="true"/>
              <p:nvPr/>
            </p:nvSpPr>
            <p:spPr>
              <a:xfrm>
                <a:off x="0" y="-57150"/>
                <a:ext cx="1369114" cy="1467042"/>
              </a:xfrm>
              <a:prstGeom prst="rect">
                <a:avLst/>
              </a:prstGeom>
            </p:spPr>
            <p:txBody>
              <a:bodyPr anchor="ctr" rtlCol="false" tIns="27649" lIns="27649" bIns="27649" rIns="27649"/>
              <a:lstStyle/>
              <a:p>
                <a:pPr algn="ctr">
                  <a:lnSpc>
                    <a:spcPts val="2659"/>
                  </a:lnSpc>
                </a:pPr>
              </a:p>
            </p:txBody>
          </p:sp>
        </p:grpSp>
        <p:grpSp>
          <p:nvGrpSpPr>
            <p:cNvPr name="Group 45" id="45"/>
            <p:cNvGrpSpPr/>
            <p:nvPr/>
          </p:nvGrpSpPr>
          <p:grpSpPr>
            <a:xfrm rot="0">
              <a:off x="26561124" y="0"/>
              <a:ext cx="6913473" cy="7084151"/>
              <a:chOff x="0" y="0"/>
              <a:chExt cx="1152822" cy="1181282"/>
            </a:xfrm>
          </p:grpSpPr>
          <p:sp>
            <p:nvSpPr>
              <p:cNvPr name="Freeform 46" id="46"/>
              <p:cNvSpPr/>
              <p:nvPr/>
            </p:nvSpPr>
            <p:spPr>
              <a:xfrm flipH="false" flipV="false" rot="0">
                <a:off x="0" y="0"/>
                <a:ext cx="1152822" cy="1181282"/>
              </a:xfrm>
              <a:custGeom>
                <a:avLst/>
                <a:gdLst/>
                <a:ahLst/>
                <a:cxnLst/>
                <a:rect r="r" b="b" t="t" l="l"/>
                <a:pathLst>
                  <a:path h="1181282" w="1152822">
                    <a:moveTo>
                      <a:pt x="273411" y="0"/>
                    </a:moveTo>
                    <a:lnTo>
                      <a:pt x="879411" y="0"/>
                    </a:lnTo>
                    <a:cubicBezTo>
                      <a:pt x="1030412" y="0"/>
                      <a:pt x="1152822" y="122410"/>
                      <a:pt x="1152822" y="273411"/>
                    </a:cubicBezTo>
                    <a:lnTo>
                      <a:pt x="1152822" y="907871"/>
                    </a:lnTo>
                    <a:cubicBezTo>
                      <a:pt x="1152822" y="980384"/>
                      <a:pt x="1124016" y="1049928"/>
                      <a:pt x="1072742" y="1101202"/>
                    </a:cubicBezTo>
                    <a:cubicBezTo>
                      <a:pt x="1021467" y="1152477"/>
                      <a:pt x="951924" y="1181282"/>
                      <a:pt x="879411" y="1181282"/>
                    </a:cubicBezTo>
                    <a:lnTo>
                      <a:pt x="273411" y="1181282"/>
                    </a:lnTo>
                    <a:cubicBezTo>
                      <a:pt x="122410" y="1181282"/>
                      <a:pt x="0" y="1058872"/>
                      <a:pt x="0" y="907871"/>
                    </a:cubicBezTo>
                    <a:lnTo>
                      <a:pt x="0" y="273411"/>
                    </a:lnTo>
                    <a:cubicBezTo>
                      <a:pt x="0" y="122410"/>
                      <a:pt x="122410" y="0"/>
                      <a:pt x="273411" y="0"/>
                    </a:cubicBezTo>
                    <a:close/>
                  </a:path>
                </a:pathLst>
              </a:custGeom>
              <a:solidFill>
                <a:srgbClr val="FFFFFF"/>
              </a:solidFill>
              <a:ln cap="rnd">
                <a:noFill/>
                <a:prstDash val="solid"/>
                <a:round/>
              </a:ln>
            </p:spPr>
          </p:sp>
          <p:sp>
            <p:nvSpPr>
              <p:cNvPr name="TextBox 47" id="47"/>
              <p:cNvSpPr txBox="true"/>
              <p:nvPr/>
            </p:nvSpPr>
            <p:spPr>
              <a:xfrm>
                <a:off x="0" y="-57150"/>
                <a:ext cx="1152822" cy="1238432"/>
              </a:xfrm>
              <a:prstGeom prst="rect">
                <a:avLst/>
              </a:prstGeom>
            </p:spPr>
            <p:txBody>
              <a:bodyPr anchor="ctr" rtlCol="false" tIns="27649" lIns="27649" bIns="27649" rIns="27649"/>
              <a:lstStyle/>
              <a:p>
                <a:pPr algn="ctr">
                  <a:lnSpc>
                    <a:spcPts val="2659"/>
                  </a:lnSpc>
                </a:pPr>
              </a:p>
            </p:txBody>
          </p:sp>
        </p:grpSp>
        <p:sp>
          <p:nvSpPr>
            <p:cNvPr name="TextBox 48" id="48"/>
            <p:cNvSpPr txBox="true"/>
            <p:nvPr/>
          </p:nvSpPr>
          <p:spPr>
            <a:xfrm rot="0">
              <a:off x="26926691" y="185323"/>
              <a:ext cx="1434017"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3</a:t>
              </a:r>
            </a:p>
          </p:txBody>
        </p:sp>
        <p:sp>
          <p:nvSpPr>
            <p:cNvPr name="TextBox 49" id="49"/>
            <p:cNvSpPr txBox="true"/>
            <p:nvPr/>
          </p:nvSpPr>
          <p:spPr>
            <a:xfrm rot="0">
              <a:off x="27643699" y="608214"/>
              <a:ext cx="5536120"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Khả năng chủ động quản trị và kiểm soát rủi ro hệ thống</a:t>
              </a:r>
            </a:p>
          </p:txBody>
        </p:sp>
        <p:sp>
          <p:nvSpPr>
            <p:cNvPr name="TextBox 50" id="50"/>
            <p:cNvSpPr txBox="true"/>
            <p:nvPr/>
          </p:nvSpPr>
          <p:spPr>
            <a:xfrm rot="0">
              <a:off x="27652219" y="4056396"/>
              <a:ext cx="4802073"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Hệ thống</a:t>
              </a:r>
              <a:r>
                <a:rPr lang="en-US" sz="1793" strike="noStrike" u="none">
                  <a:solidFill>
                    <a:srgbClr val="000000">
                      <a:alpha val="36863"/>
                    </a:srgbClr>
                  </a:solidFill>
                  <a:latin typeface="Work Sans"/>
                  <a:ea typeface="Work Sans"/>
                  <a:cs typeface="Work Sans"/>
                  <a:sym typeface="Work Sans"/>
                </a:rPr>
                <a:t> kiểm soát rủi ro chủ động nhờ xây dựng ma trận nhận diện nguy cơ ngay từ đầu, giúp nhóm ứng phó kịp thời với các sự cố.</a:t>
              </a:r>
            </a:p>
          </p:txBody>
        </p:sp>
        <p:sp>
          <p:nvSpPr>
            <p:cNvPr name="Freeform 51" id="51"/>
            <p:cNvSpPr/>
            <p:nvPr/>
          </p:nvSpPr>
          <p:spPr>
            <a:xfrm flipH="false" flipV="false" rot="0">
              <a:off x="23259128" y="6109662"/>
              <a:ext cx="4329296" cy="4192202"/>
            </a:xfrm>
            <a:custGeom>
              <a:avLst/>
              <a:gdLst/>
              <a:ahLst/>
              <a:cxnLst/>
              <a:rect r="r" b="b" t="t" l="l"/>
              <a:pathLst>
                <a:path h="4192202" w="4329296">
                  <a:moveTo>
                    <a:pt x="0" y="0"/>
                  </a:moveTo>
                  <a:lnTo>
                    <a:pt x="4329297" y="0"/>
                  </a:lnTo>
                  <a:lnTo>
                    <a:pt x="4329297" y="4192202"/>
                  </a:lnTo>
                  <a:lnTo>
                    <a:pt x="0" y="41922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52" id="52"/>
            <p:cNvGrpSpPr/>
            <p:nvPr/>
          </p:nvGrpSpPr>
          <p:grpSpPr>
            <a:xfrm rot="0">
              <a:off x="35461106" y="212904"/>
              <a:ext cx="6763089" cy="7113726"/>
              <a:chOff x="0" y="0"/>
              <a:chExt cx="1340398" cy="1409892"/>
            </a:xfrm>
          </p:grpSpPr>
          <p:sp>
            <p:nvSpPr>
              <p:cNvPr name="Freeform 53" id="53"/>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solidFill>
              <a:ln cap="rnd">
                <a:noFill/>
                <a:prstDash val="solid"/>
                <a:round/>
              </a:ln>
            </p:spPr>
          </p:sp>
          <p:sp>
            <p:nvSpPr>
              <p:cNvPr name="TextBox 54" id="54"/>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55" id="55"/>
            <p:cNvGrpSpPr/>
            <p:nvPr/>
          </p:nvGrpSpPr>
          <p:grpSpPr>
            <a:xfrm rot="0">
              <a:off x="35223461" y="0"/>
              <a:ext cx="6768466" cy="7084151"/>
              <a:chOff x="0" y="0"/>
              <a:chExt cx="1128642" cy="1181282"/>
            </a:xfrm>
          </p:grpSpPr>
          <p:sp>
            <p:nvSpPr>
              <p:cNvPr name="Freeform 56" id="56"/>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57" id="57"/>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58" id="58"/>
            <p:cNvSpPr txBox="true"/>
            <p:nvPr/>
          </p:nvSpPr>
          <p:spPr>
            <a:xfrm rot="0">
              <a:off x="35581360"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solidFill>
                  <a:latin typeface="Ojuju Bold"/>
                  <a:ea typeface="Ojuju Bold"/>
                  <a:cs typeface="Ojuju Bold"/>
                  <a:sym typeface="Ojuju Bold"/>
                </a:rPr>
                <a:t>4</a:t>
              </a:r>
            </a:p>
          </p:txBody>
        </p:sp>
        <p:sp>
          <p:nvSpPr>
            <p:cNvPr name="TextBox 59" id="59"/>
            <p:cNvSpPr txBox="true"/>
            <p:nvPr/>
          </p:nvSpPr>
          <p:spPr>
            <a:xfrm rot="0">
              <a:off x="36283329" y="608214"/>
              <a:ext cx="5420003" cy="2498726"/>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solidFill>
                  <a:latin typeface="Ojuju Bold"/>
                  <a:ea typeface="Ojuju Bold"/>
                  <a:cs typeface="Ojuju Bold"/>
                  <a:sym typeface="Ojuju Bold"/>
                </a:rPr>
                <a:t>Tư duy định hướng dữ liệu trong tối ưu hóa chuyển đổi</a:t>
              </a:r>
            </a:p>
          </p:txBody>
        </p:sp>
        <p:sp>
          <p:nvSpPr>
            <p:cNvPr name="TextBox 60" id="60"/>
            <p:cNvSpPr txBox="true"/>
            <p:nvPr/>
          </p:nvSpPr>
          <p:spPr>
            <a:xfrm rot="0">
              <a:off x="36291670" y="4056396"/>
              <a:ext cx="4973074" cy="2493330"/>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solidFill>
                  <a:latin typeface="Work Sans"/>
                  <a:ea typeface="Work Sans"/>
                  <a:cs typeface="Work Sans"/>
                  <a:sym typeface="Work Sans"/>
                </a:rPr>
                <a:t>Chiế</a:t>
              </a:r>
              <a:r>
                <a:rPr lang="en-US" sz="1793" strike="noStrike" u="none">
                  <a:solidFill>
                    <a:srgbClr val="000000"/>
                  </a:solidFill>
                  <a:latin typeface="Work Sans"/>
                  <a:ea typeface="Work Sans"/>
                  <a:cs typeface="Work Sans"/>
                  <a:sym typeface="Work Sans"/>
                </a:rPr>
                <a:t>n dịch vận hành theo tư duy data-driven, liên tục tối ưu nội d</a:t>
              </a:r>
              <a:r>
                <a:rPr lang="en-US" sz="1793" strike="noStrike" u="none">
                  <a:solidFill>
                    <a:srgbClr val="000000"/>
                  </a:solidFill>
                  <a:latin typeface="Work Sans"/>
                  <a:ea typeface="Work Sans"/>
                  <a:cs typeface="Work Sans"/>
                  <a:sym typeface="Work Sans"/>
                </a:rPr>
                <a:t>u</a:t>
              </a:r>
              <a:r>
                <a:rPr lang="en-US" sz="1793" strike="noStrike" u="none">
                  <a:solidFill>
                    <a:srgbClr val="000000"/>
                  </a:solidFill>
                  <a:latin typeface="Work Sans"/>
                  <a:ea typeface="Work Sans"/>
                  <a:cs typeface="Work Sans"/>
                  <a:sym typeface="Work Sans"/>
                </a:rPr>
                <a:t>ng và quảng cáo dựa trên phân tích dữ liệu, qua đó đạt 285 đơn đăng ký chất lượng cao cho OpenDay.</a:t>
              </a:r>
            </a:p>
          </p:txBody>
        </p:sp>
        <p:grpSp>
          <p:nvGrpSpPr>
            <p:cNvPr name="Group 61" id="61"/>
            <p:cNvGrpSpPr/>
            <p:nvPr/>
          </p:nvGrpSpPr>
          <p:grpSpPr>
            <a:xfrm rot="0">
              <a:off x="43973460" y="212904"/>
              <a:ext cx="6763089" cy="7113726"/>
              <a:chOff x="0" y="0"/>
              <a:chExt cx="1340398" cy="1409892"/>
            </a:xfrm>
          </p:grpSpPr>
          <p:sp>
            <p:nvSpPr>
              <p:cNvPr name="Freeform 62" id="62"/>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solidFill>
              <a:ln cap="rnd">
                <a:noFill/>
                <a:prstDash val="solid"/>
                <a:round/>
              </a:ln>
            </p:spPr>
          </p:sp>
          <p:sp>
            <p:nvSpPr>
              <p:cNvPr name="TextBox 63" id="63"/>
              <p:cNvSpPr txBox="true"/>
              <p:nvPr/>
            </p:nvSpPr>
            <p:spPr>
              <a:xfrm>
                <a:off x="0" y="-57150"/>
                <a:ext cx="1340398" cy="1467042"/>
              </a:xfrm>
              <a:prstGeom prst="rect">
                <a:avLst/>
              </a:prstGeom>
            </p:spPr>
            <p:txBody>
              <a:bodyPr anchor="ctr" rtlCol="false" tIns="27649" lIns="27649" bIns="27649" rIns="27649"/>
              <a:lstStyle/>
              <a:p>
                <a:pPr algn="ctr">
                  <a:lnSpc>
                    <a:spcPts val="2660"/>
                  </a:lnSpc>
                </a:pPr>
              </a:p>
            </p:txBody>
          </p:sp>
        </p:grpSp>
        <p:grpSp>
          <p:nvGrpSpPr>
            <p:cNvPr name="Group 64" id="64"/>
            <p:cNvGrpSpPr/>
            <p:nvPr/>
          </p:nvGrpSpPr>
          <p:grpSpPr>
            <a:xfrm rot="0">
              <a:off x="43735815" y="0"/>
              <a:ext cx="6768466" cy="7084151"/>
              <a:chOff x="0" y="0"/>
              <a:chExt cx="1128642" cy="1181282"/>
            </a:xfrm>
          </p:grpSpPr>
          <p:sp>
            <p:nvSpPr>
              <p:cNvPr name="Freeform 65" id="65"/>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66" id="66"/>
              <p:cNvSpPr txBox="true"/>
              <p:nvPr/>
            </p:nvSpPr>
            <p:spPr>
              <a:xfrm>
                <a:off x="0" y="-57150"/>
                <a:ext cx="1128642" cy="1238432"/>
              </a:xfrm>
              <a:prstGeom prst="rect">
                <a:avLst/>
              </a:prstGeom>
            </p:spPr>
            <p:txBody>
              <a:bodyPr anchor="ctr" rtlCol="false" tIns="27649" lIns="27649" bIns="27649" rIns="27649"/>
              <a:lstStyle/>
              <a:p>
                <a:pPr algn="ctr">
                  <a:lnSpc>
                    <a:spcPts val="2660"/>
                  </a:lnSpc>
                </a:pPr>
              </a:p>
            </p:txBody>
          </p:sp>
        </p:grpSp>
        <p:sp>
          <p:nvSpPr>
            <p:cNvPr name="TextBox 67" id="67"/>
            <p:cNvSpPr txBox="true"/>
            <p:nvPr/>
          </p:nvSpPr>
          <p:spPr>
            <a:xfrm rot="0">
              <a:off x="44093713"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solidFill>
                  <a:latin typeface="Ojuju Bold"/>
                  <a:ea typeface="Ojuju Bold"/>
                  <a:cs typeface="Ojuju Bold"/>
                  <a:sym typeface="Ojuju Bold"/>
                </a:rPr>
                <a:t>1</a:t>
              </a:r>
            </a:p>
          </p:txBody>
        </p:sp>
        <p:sp>
          <p:nvSpPr>
            <p:cNvPr name="TextBox 68" id="68"/>
            <p:cNvSpPr txBox="true"/>
            <p:nvPr/>
          </p:nvSpPr>
          <p:spPr>
            <a:xfrm rot="0">
              <a:off x="44795683"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solidFill>
                  <a:latin typeface="Ojuju Bold"/>
                  <a:ea typeface="Ojuju Bold"/>
                  <a:cs typeface="Ojuju Bold"/>
                  <a:sym typeface="Ojuju Bold"/>
                </a:rPr>
                <a:t>Quản trị nhân sự và cơ chế phối hợp linh hoạt</a:t>
              </a:r>
            </a:p>
          </p:txBody>
        </p:sp>
        <p:sp>
          <p:nvSpPr>
            <p:cNvPr name="TextBox 69" id="69"/>
            <p:cNvSpPr txBox="true"/>
            <p:nvPr/>
          </p:nvSpPr>
          <p:spPr>
            <a:xfrm rot="0">
              <a:off x="44804024"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solidFill>
                  <a:latin typeface="Work Sans"/>
                  <a:ea typeface="Work Sans"/>
                  <a:cs typeface="Work Sans"/>
                  <a:sym typeface="Work Sans"/>
                </a:rPr>
                <a:t>Điể</a:t>
              </a:r>
              <a:r>
                <a:rPr lang="en-US" sz="1793" strike="noStrike" u="none">
                  <a:solidFill>
                    <a:srgbClr val="000000"/>
                  </a:solidFill>
                  <a:latin typeface="Work Sans"/>
                  <a:ea typeface="Work Sans"/>
                  <a:cs typeface="Work Sans"/>
                  <a:sym typeface="Work Sans"/>
                </a:rPr>
                <a:t>m nổi bật trong công tác quản trị là xây </a:t>
              </a:r>
              <a:r>
                <a:rPr lang="en-US" sz="1793" strike="noStrike" u="none">
                  <a:solidFill>
                    <a:srgbClr val="000000"/>
                  </a:solidFill>
                  <a:latin typeface="Work Sans"/>
                  <a:ea typeface="Work Sans"/>
                  <a:cs typeface="Work Sans"/>
                  <a:sym typeface="Work Sans"/>
                </a:rPr>
                <a:t>dựng</a:t>
              </a:r>
              <a:r>
                <a:rPr lang="en-US" sz="1793" strike="noStrike" u="none">
                  <a:solidFill>
                    <a:srgbClr val="000000"/>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70" id="70"/>
            <p:cNvSpPr/>
            <p:nvPr/>
          </p:nvSpPr>
          <p:spPr>
            <a:xfrm flipH="false" flipV="false" rot="0">
              <a:off x="40256245" y="5393494"/>
              <a:ext cx="4611715" cy="5233152"/>
            </a:xfrm>
            <a:custGeom>
              <a:avLst/>
              <a:gdLst/>
              <a:ahLst/>
              <a:cxnLst/>
              <a:rect r="r" b="b" t="t" l="l"/>
              <a:pathLst>
                <a:path h="5233152" w="4611715">
                  <a:moveTo>
                    <a:pt x="0" y="0"/>
                  </a:moveTo>
                  <a:lnTo>
                    <a:pt x="4611715" y="0"/>
                  </a:lnTo>
                  <a:lnTo>
                    <a:pt x="4611715" y="5233151"/>
                  </a:lnTo>
                  <a:lnTo>
                    <a:pt x="0" y="5233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1" id="71"/>
            <p:cNvSpPr/>
            <p:nvPr/>
          </p:nvSpPr>
          <p:spPr>
            <a:xfrm flipH="false" flipV="false" rot="0">
              <a:off x="31317587" y="6109662"/>
              <a:ext cx="4788509" cy="4930254"/>
            </a:xfrm>
            <a:custGeom>
              <a:avLst/>
              <a:gdLst/>
              <a:ahLst/>
              <a:cxnLst/>
              <a:rect r="r" b="b" t="t" l="l"/>
              <a:pathLst>
                <a:path h="4930254" w="4788509">
                  <a:moveTo>
                    <a:pt x="0" y="0"/>
                  </a:moveTo>
                  <a:lnTo>
                    <a:pt x="4788509" y="0"/>
                  </a:lnTo>
                  <a:lnTo>
                    <a:pt x="4788509" y="4930254"/>
                  </a:lnTo>
                  <a:lnTo>
                    <a:pt x="0" y="493025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72" id="72"/>
          <p:cNvGrpSpPr/>
          <p:nvPr/>
        </p:nvGrpSpPr>
        <p:grpSpPr>
          <a:xfrm rot="0">
            <a:off x="480736" y="490255"/>
            <a:ext cx="6672526" cy="888116"/>
            <a:chOff x="0" y="0"/>
            <a:chExt cx="8896702" cy="1184154"/>
          </a:xfrm>
        </p:grpSpPr>
        <p:grpSp>
          <p:nvGrpSpPr>
            <p:cNvPr name="Group 73" id="73"/>
            <p:cNvGrpSpPr/>
            <p:nvPr/>
          </p:nvGrpSpPr>
          <p:grpSpPr>
            <a:xfrm rot="0">
              <a:off x="0" y="0"/>
              <a:ext cx="7724001" cy="1184154"/>
              <a:chOff x="0" y="0"/>
              <a:chExt cx="1525729" cy="233907"/>
            </a:xfrm>
          </p:grpSpPr>
          <p:sp>
            <p:nvSpPr>
              <p:cNvPr name="Freeform 74" id="74"/>
              <p:cNvSpPr/>
              <p:nvPr/>
            </p:nvSpPr>
            <p:spPr>
              <a:xfrm flipH="false" flipV="false" rot="0">
                <a:off x="0" y="0"/>
                <a:ext cx="1525729" cy="233907"/>
              </a:xfrm>
              <a:custGeom>
                <a:avLst/>
                <a:gdLst/>
                <a:ahLst/>
                <a:cxnLst/>
                <a:rect r="r" b="b" t="t" l="l"/>
                <a:pathLst>
                  <a:path h="233907" w="1525729">
                    <a:moveTo>
                      <a:pt x="116954" y="0"/>
                    </a:moveTo>
                    <a:lnTo>
                      <a:pt x="1408775" y="0"/>
                    </a:lnTo>
                    <a:cubicBezTo>
                      <a:pt x="1439793" y="0"/>
                      <a:pt x="1469541" y="12322"/>
                      <a:pt x="1491474" y="34255"/>
                    </a:cubicBezTo>
                    <a:cubicBezTo>
                      <a:pt x="1513407" y="56188"/>
                      <a:pt x="1525729" y="85936"/>
                      <a:pt x="1525729" y="116954"/>
                    </a:cubicBezTo>
                    <a:lnTo>
                      <a:pt x="1525729" y="116954"/>
                    </a:lnTo>
                    <a:cubicBezTo>
                      <a:pt x="1525729" y="181545"/>
                      <a:pt x="1473367" y="233907"/>
                      <a:pt x="140877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5" id="75"/>
              <p:cNvSpPr txBox="true"/>
              <p:nvPr/>
            </p:nvSpPr>
            <p:spPr>
              <a:xfrm>
                <a:off x="0" y="-57150"/>
                <a:ext cx="1525729" cy="291057"/>
              </a:xfrm>
              <a:prstGeom prst="rect">
                <a:avLst/>
              </a:prstGeom>
            </p:spPr>
            <p:txBody>
              <a:bodyPr anchor="ctr" rtlCol="false" tIns="50800" lIns="50800" bIns="50800" rIns="50800"/>
              <a:lstStyle/>
              <a:p>
                <a:pPr algn="ctr">
                  <a:lnSpc>
                    <a:spcPts val="2659"/>
                  </a:lnSpc>
                </a:pPr>
              </a:p>
            </p:txBody>
          </p:sp>
        </p:grpSp>
        <p:sp>
          <p:nvSpPr>
            <p:cNvPr name="TextBox 76" id="76"/>
            <p:cNvSpPr txBox="true"/>
            <p:nvPr/>
          </p:nvSpPr>
          <p:spPr>
            <a:xfrm rot="0">
              <a:off x="357186" y="141884"/>
              <a:ext cx="85395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2. Điểm thực hiện tốt</a:t>
              </a:r>
            </a:p>
          </p:txBody>
        </p:sp>
      </p:grpSp>
    </p:spTree>
  </p:cSld>
  <p:clrMapOvr>
    <a:masterClrMapping/>
  </p:clrMapOvr>
  <p:transition spd="fast">
    <p:fade/>
  </p:transition>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3523551" y="3437000"/>
            <a:ext cx="39453324" cy="9218090"/>
            <a:chOff x="0" y="0"/>
            <a:chExt cx="52604431" cy="12290787"/>
          </a:xfrm>
        </p:grpSpPr>
        <p:grpSp>
          <p:nvGrpSpPr>
            <p:cNvPr name="Group 10" id="10"/>
            <p:cNvGrpSpPr/>
            <p:nvPr/>
          </p:nvGrpSpPr>
          <p:grpSpPr>
            <a:xfrm rot="0">
              <a:off x="0" y="3384854"/>
              <a:ext cx="52604431" cy="8905934"/>
              <a:chOff x="0" y="0"/>
              <a:chExt cx="10425838" cy="1765095"/>
            </a:xfrm>
          </p:grpSpPr>
          <p:sp>
            <p:nvSpPr>
              <p:cNvPr name="Freeform 11" id="11"/>
              <p:cNvSpPr/>
              <p:nvPr/>
            </p:nvSpPr>
            <p:spPr>
              <a:xfrm flipH="false" flipV="false" rot="0">
                <a:off x="0" y="0"/>
                <a:ext cx="10425838" cy="1765095"/>
              </a:xfrm>
              <a:custGeom>
                <a:avLst/>
                <a:gdLst/>
                <a:ahLst/>
                <a:cxnLst/>
                <a:rect r="r" b="b" t="t" l="l"/>
                <a:pathLst>
                  <a:path h="1765095" w="10425838">
                    <a:moveTo>
                      <a:pt x="35933" y="0"/>
                    </a:moveTo>
                    <a:lnTo>
                      <a:pt x="10389905" y="0"/>
                    </a:lnTo>
                    <a:cubicBezTo>
                      <a:pt x="10409751" y="0"/>
                      <a:pt x="10425838" y="16088"/>
                      <a:pt x="10425838" y="35933"/>
                    </a:cubicBezTo>
                    <a:lnTo>
                      <a:pt x="10425838" y="1729162"/>
                    </a:lnTo>
                    <a:cubicBezTo>
                      <a:pt x="10425838" y="1749007"/>
                      <a:pt x="10409751" y="1765095"/>
                      <a:pt x="10389905" y="1765095"/>
                    </a:cubicBezTo>
                    <a:lnTo>
                      <a:pt x="35933" y="1765095"/>
                    </a:lnTo>
                    <a:cubicBezTo>
                      <a:pt x="16088" y="1765095"/>
                      <a:pt x="0" y="1749007"/>
                      <a:pt x="0" y="1729162"/>
                    </a:cubicBezTo>
                    <a:lnTo>
                      <a:pt x="0" y="35933"/>
                    </a:lnTo>
                    <a:cubicBezTo>
                      <a:pt x="0" y="16088"/>
                      <a:pt x="16088" y="0"/>
                      <a:pt x="35933" y="0"/>
                    </a:cubicBezTo>
                    <a:close/>
                  </a:path>
                </a:pathLst>
              </a:custGeom>
              <a:solidFill>
                <a:srgbClr val="50212A"/>
              </a:solidFill>
            </p:spPr>
          </p:sp>
          <p:sp>
            <p:nvSpPr>
              <p:cNvPr name="TextBox 12" id="12"/>
              <p:cNvSpPr txBox="true"/>
              <p:nvPr/>
            </p:nvSpPr>
            <p:spPr>
              <a:xfrm>
                <a:off x="0" y="-57150"/>
                <a:ext cx="10425838" cy="1822245"/>
              </a:xfrm>
              <a:prstGeom prst="rect">
                <a:avLst/>
              </a:prstGeom>
            </p:spPr>
            <p:txBody>
              <a:bodyPr anchor="ctr" rtlCol="false" tIns="61202" lIns="61202" bIns="61202" rIns="61202"/>
              <a:lstStyle/>
              <a:p>
                <a:pPr algn="ctr">
                  <a:lnSpc>
                    <a:spcPts val="2659"/>
                  </a:lnSpc>
                </a:pPr>
              </a:p>
            </p:txBody>
          </p:sp>
        </p:grpSp>
        <p:grpSp>
          <p:nvGrpSpPr>
            <p:cNvPr name="Group 13" id="13"/>
            <p:cNvGrpSpPr/>
            <p:nvPr/>
          </p:nvGrpSpPr>
          <p:grpSpPr>
            <a:xfrm rot="0">
              <a:off x="9765025" y="212904"/>
              <a:ext cx="6763089" cy="7113726"/>
              <a:chOff x="0" y="0"/>
              <a:chExt cx="1340398" cy="1409892"/>
            </a:xfrm>
          </p:grpSpPr>
          <p:sp>
            <p:nvSpPr>
              <p:cNvPr name="Freeform 14" id="1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15" id="15"/>
              <p:cNvSpPr txBox="true"/>
              <p:nvPr/>
            </p:nvSpPr>
            <p:spPr>
              <a:xfrm>
                <a:off x="0" y="-57150"/>
                <a:ext cx="1340398" cy="1467042"/>
              </a:xfrm>
              <a:prstGeom prst="rect">
                <a:avLst/>
              </a:prstGeom>
            </p:spPr>
            <p:txBody>
              <a:bodyPr anchor="ctr" rtlCol="false" tIns="27649" lIns="27649" bIns="27649" rIns="27649"/>
              <a:lstStyle/>
              <a:p>
                <a:pPr algn="ctr">
                  <a:lnSpc>
                    <a:spcPts val="2660"/>
                  </a:lnSpc>
                </a:pPr>
              </a:p>
            </p:txBody>
          </p:sp>
        </p:grpSp>
        <p:grpSp>
          <p:nvGrpSpPr>
            <p:cNvPr name="Group 16" id="16"/>
            <p:cNvGrpSpPr/>
            <p:nvPr/>
          </p:nvGrpSpPr>
          <p:grpSpPr>
            <a:xfrm rot="0">
              <a:off x="9527380" y="0"/>
              <a:ext cx="6768466" cy="7084151"/>
              <a:chOff x="0" y="0"/>
              <a:chExt cx="1128642" cy="1181282"/>
            </a:xfrm>
          </p:grpSpPr>
          <p:sp>
            <p:nvSpPr>
              <p:cNvPr name="Freeform 17" id="1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18" id="18"/>
              <p:cNvSpPr txBox="true"/>
              <p:nvPr/>
            </p:nvSpPr>
            <p:spPr>
              <a:xfrm>
                <a:off x="0" y="-57150"/>
                <a:ext cx="1128642" cy="1238432"/>
              </a:xfrm>
              <a:prstGeom prst="rect">
                <a:avLst/>
              </a:prstGeom>
            </p:spPr>
            <p:txBody>
              <a:bodyPr anchor="ctr" rtlCol="false" tIns="27649" lIns="27649" bIns="27649" rIns="27649"/>
              <a:lstStyle/>
              <a:p>
                <a:pPr algn="ctr">
                  <a:lnSpc>
                    <a:spcPts val="2660"/>
                  </a:lnSpc>
                </a:pPr>
              </a:p>
            </p:txBody>
          </p:sp>
        </p:grpSp>
        <p:sp>
          <p:nvSpPr>
            <p:cNvPr name="TextBox 19" id="19"/>
            <p:cNvSpPr txBox="true"/>
            <p:nvPr/>
          </p:nvSpPr>
          <p:spPr>
            <a:xfrm rot="0">
              <a:off x="9885278"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1</a:t>
              </a:r>
            </a:p>
          </p:txBody>
        </p:sp>
        <p:sp>
          <p:nvSpPr>
            <p:cNvPr name="TextBox 20" id="20"/>
            <p:cNvSpPr txBox="true"/>
            <p:nvPr/>
          </p:nvSpPr>
          <p:spPr>
            <a:xfrm rot="0">
              <a:off x="10587248"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Quản trị nhân sự và cơ chế phối hợp linh hoạt</a:t>
              </a:r>
            </a:p>
          </p:txBody>
        </p:sp>
        <p:sp>
          <p:nvSpPr>
            <p:cNvPr name="TextBox 21" id="21"/>
            <p:cNvSpPr txBox="true"/>
            <p:nvPr/>
          </p:nvSpPr>
          <p:spPr>
            <a:xfrm rot="0">
              <a:off x="10595589"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Điể</a:t>
              </a:r>
              <a:r>
                <a:rPr lang="en-US" sz="1793" strike="noStrike" u="none">
                  <a:solidFill>
                    <a:srgbClr val="000000">
                      <a:alpha val="36863"/>
                    </a:srgbClr>
                  </a:solidFill>
                  <a:latin typeface="Work Sans"/>
                  <a:ea typeface="Work Sans"/>
                  <a:cs typeface="Work Sans"/>
                  <a:sym typeface="Work Sans"/>
                </a:rPr>
                <a:t>m nổi bật trong công tác quản trị là xây </a:t>
              </a:r>
              <a:r>
                <a:rPr lang="en-US" sz="1793" strike="noStrike" u="none">
                  <a:solidFill>
                    <a:srgbClr val="000000">
                      <a:alpha val="36863"/>
                    </a:srgbClr>
                  </a:solidFill>
                  <a:latin typeface="Work Sans"/>
                  <a:ea typeface="Work Sans"/>
                  <a:cs typeface="Work Sans"/>
                  <a:sym typeface="Work Sans"/>
                </a:rPr>
                <a:t>dựng</a:t>
              </a:r>
              <a:r>
                <a:rPr lang="en-US" sz="1793" strike="noStrike" u="none">
                  <a:solidFill>
                    <a:srgbClr val="000000">
                      <a:alpha val="36863"/>
                    </a:srgbClr>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22" id="22"/>
            <p:cNvSpPr/>
            <p:nvPr/>
          </p:nvSpPr>
          <p:spPr>
            <a:xfrm flipH="false" flipV="false" rot="0">
              <a:off x="14739462" y="5732435"/>
              <a:ext cx="4728990" cy="4210772"/>
            </a:xfrm>
            <a:custGeom>
              <a:avLst/>
              <a:gdLst/>
              <a:ahLst/>
              <a:cxnLst/>
              <a:rect r="r" b="b" t="t" l="l"/>
              <a:pathLst>
                <a:path h="4210772" w="4728990">
                  <a:moveTo>
                    <a:pt x="0" y="0"/>
                  </a:moveTo>
                  <a:lnTo>
                    <a:pt x="4728990" y="0"/>
                  </a:lnTo>
                  <a:lnTo>
                    <a:pt x="4728990" y="4210771"/>
                  </a:lnTo>
                  <a:lnTo>
                    <a:pt x="0" y="4210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1243634" y="212904"/>
              <a:ext cx="6763089" cy="7113726"/>
              <a:chOff x="0" y="0"/>
              <a:chExt cx="1340398" cy="1409892"/>
            </a:xfrm>
          </p:grpSpPr>
          <p:sp>
            <p:nvSpPr>
              <p:cNvPr name="Freeform 24" id="2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25" id="25"/>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26" id="26"/>
            <p:cNvGrpSpPr/>
            <p:nvPr/>
          </p:nvGrpSpPr>
          <p:grpSpPr>
            <a:xfrm rot="0">
              <a:off x="1005989" y="0"/>
              <a:ext cx="6768466" cy="7084151"/>
              <a:chOff x="0" y="0"/>
              <a:chExt cx="1128642" cy="1181282"/>
            </a:xfrm>
          </p:grpSpPr>
          <p:sp>
            <p:nvSpPr>
              <p:cNvPr name="Freeform 27" id="2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28" id="28"/>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29" id="29"/>
            <p:cNvSpPr txBox="true"/>
            <p:nvPr/>
          </p:nvSpPr>
          <p:spPr>
            <a:xfrm rot="0">
              <a:off x="1363887"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4</a:t>
              </a:r>
            </a:p>
          </p:txBody>
        </p:sp>
        <p:sp>
          <p:nvSpPr>
            <p:cNvPr name="TextBox 30" id="30"/>
            <p:cNvSpPr txBox="true"/>
            <p:nvPr/>
          </p:nvSpPr>
          <p:spPr>
            <a:xfrm rot="0">
              <a:off x="2065857" y="608214"/>
              <a:ext cx="5420003" cy="2498726"/>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Tư duy định hướng dữ liệu trong tối ưu hóa chuyển đổi</a:t>
              </a:r>
            </a:p>
          </p:txBody>
        </p:sp>
        <p:sp>
          <p:nvSpPr>
            <p:cNvPr name="TextBox 31" id="31"/>
            <p:cNvSpPr txBox="true"/>
            <p:nvPr/>
          </p:nvSpPr>
          <p:spPr>
            <a:xfrm rot="0">
              <a:off x="2074198"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Điể</a:t>
              </a:r>
              <a:r>
                <a:rPr lang="en-US" sz="1793" strike="noStrike" u="none">
                  <a:solidFill>
                    <a:srgbClr val="000000">
                      <a:alpha val="36863"/>
                    </a:srgbClr>
                  </a:solidFill>
                  <a:latin typeface="Work Sans"/>
                  <a:ea typeface="Work Sans"/>
                  <a:cs typeface="Work Sans"/>
                  <a:sym typeface="Work Sans"/>
                </a:rPr>
                <a:t>m nổi bật trong công tác quản trị là xây </a:t>
              </a:r>
              <a:r>
                <a:rPr lang="en-US" sz="1793" strike="noStrike" u="none">
                  <a:solidFill>
                    <a:srgbClr val="000000">
                      <a:alpha val="36863"/>
                    </a:srgbClr>
                  </a:solidFill>
                  <a:latin typeface="Work Sans"/>
                  <a:ea typeface="Work Sans"/>
                  <a:cs typeface="Work Sans"/>
                  <a:sym typeface="Work Sans"/>
                </a:rPr>
                <a:t>dựng</a:t>
              </a:r>
              <a:r>
                <a:rPr lang="en-US" sz="1793" strike="noStrike" u="none">
                  <a:solidFill>
                    <a:srgbClr val="000000">
                      <a:alpha val="36863"/>
                    </a:srgbClr>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32" id="32"/>
            <p:cNvSpPr/>
            <p:nvPr/>
          </p:nvSpPr>
          <p:spPr>
            <a:xfrm flipH="false" flipV="false" rot="0">
              <a:off x="5947194" y="4710055"/>
              <a:ext cx="4611715" cy="5233152"/>
            </a:xfrm>
            <a:custGeom>
              <a:avLst/>
              <a:gdLst/>
              <a:ahLst/>
              <a:cxnLst/>
              <a:rect r="r" b="b" t="t" l="l"/>
              <a:pathLst>
                <a:path h="5233152" w="4611715">
                  <a:moveTo>
                    <a:pt x="0" y="0"/>
                  </a:moveTo>
                  <a:lnTo>
                    <a:pt x="4611714" y="0"/>
                  </a:lnTo>
                  <a:lnTo>
                    <a:pt x="4611714" y="5233151"/>
                  </a:lnTo>
                  <a:lnTo>
                    <a:pt x="0" y="5233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3" id="33"/>
            <p:cNvGrpSpPr/>
            <p:nvPr/>
          </p:nvGrpSpPr>
          <p:grpSpPr>
            <a:xfrm rot="0">
              <a:off x="18286416" y="212904"/>
              <a:ext cx="6763089" cy="7113726"/>
              <a:chOff x="0" y="0"/>
              <a:chExt cx="1340398" cy="1409892"/>
            </a:xfrm>
          </p:grpSpPr>
          <p:sp>
            <p:nvSpPr>
              <p:cNvPr name="Freeform 34" id="3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35" id="35"/>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36" id="36"/>
            <p:cNvGrpSpPr/>
            <p:nvPr/>
          </p:nvGrpSpPr>
          <p:grpSpPr>
            <a:xfrm rot="0">
              <a:off x="18048771" y="0"/>
              <a:ext cx="6768466" cy="7084151"/>
              <a:chOff x="0" y="0"/>
              <a:chExt cx="1128642" cy="1181282"/>
            </a:xfrm>
          </p:grpSpPr>
          <p:sp>
            <p:nvSpPr>
              <p:cNvPr name="Freeform 37" id="3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38" id="38"/>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39" id="39"/>
            <p:cNvSpPr txBox="true"/>
            <p:nvPr/>
          </p:nvSpPr>
          <p:spPr>
            <a:xfrm rot="0">
              <a:off x="18406669" y="185323"/>
              <a:ext cx="1403940" cy="1236467"/>
            </a:xfrm>
            <a:prstGeom prst="rect">
              <a:avLst/>
            </a:prstGeom>
          </p:spPr>
          <p:txBody>
            <a:bodyPr anchor="t" rtlCol="false" tIns="0" lIns="0" bIns="0" rIns="0">
              <a:spAutoFit/>
            </a:bodyPr>
            <a:lstStyle/>
            <a:p>
              <a:pPr algn="l" marL="0" indent="0" lvl="0">
                <a:lnSpc>
                  <a:spcPts val="7813"/>
                </a:lnSpc>
              </a:pPr>
              <a:r>
                <a:rPr lang="en-US" b="true" sz="5581">
                  <a:solidFill>
                    <a:srgbClr val="50212A">
                      <a:alpha val="36863"/>
                    </a:srgbClr>
                  </a:solidFill>
                  <a:latin typeface="Ojuju Bold"/>
                  <a:ea typeface="Ojuju Bold"/>
                  <a:cs typeface="Ojuju Bold"/>
                  <a:sym typeface="Ojuju Bold"/>
                </a:rPr>
                <a:t>2</a:t>
              </a:r>
            </a:p>
          </p:txBody>
        </p:sp>
        <p:sp>
          <p:nvSpPr>
            <p:cNvPr name="TextBox 40" id="40"/>
            <p:cNvSpPr txBox="true"/>
            <p:nvPr/>
          </p:nvSpPr>
          <p:spPr>
            <a:xfrm rot="0">
              <a:off x="19108639"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Tính đồng bộ truyền thông và hiệu quả hạ tầng công nghệ</a:t>
              </a:r>
            </a:p>
          </p:txBody>
        </p:sp>
        <p:sp>
          <p:nvSpPr>
            <p:cNvPr name="TextBox 41" id="41"/>
            <p:cNvSpPr txBox="true"/>
            <p:nvPr/>
          </p:nvSpPr>
          <p:spPr>
            <a:xfrm rot="0">
              <a:off x="19116980" y="4056396"/>
              <a:ext cx="4701352" cy="2493330"/>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Thiết</a:t>
              </a:r>
              <a:r>
                <a:rPr lang="en-US" sz="1793" strike="noStrike" u="none">
                  <a:solidFill>
                    <a:srgbClr val="000000">
                      <a:alpha val="36863"/>
                    </a:srgbClr>
                  </a:solidFill>
                  <a:latin typeface="Work Sans"/>
                  <a:ea typeface="Work Sans"/>
                  <a:cs typeface="Work Sans"/>
                  <a:sym typeface="Work Sans"/>
                </a:rPr>
                <a:t> kế hệ sinh thái tích hợp đa nền tản với hệ thống nhận diện thương hiệu đồng bộ trên Facebook, TikTok và Website và tích hợp AI nâng cao uy tín và tính chuyên nghiệp </a:t>
              </a:r>
            </a:p>
          </p:txBody>
        </p:sp>
        <p:grpSp>
          <p:nvGrpSpPr>
            <p:cNvPr name="Group 42" id="42"/>
            <p:cNvGrpSpPr/>
            <p:nvPr/>
          </p:nvGrpSpPr>
          <p:grpSpPr>
            <a:xfrm rot="0">
              <a:off x="26803861" y="212904"/>
              <a:ext cx="6907980" cy="7113726"/>
              <a:chOff x="0" y="0"/>
              <a:chExt cx="1369114" cy="1409892"/>
            </a:xfrm>
          </p:grpSpPr>
          <p:sp>
            <p:nvSpPr>
              <p:cNvPr name="Freeform 43" id="43"/>
              <p:cNvSpPr/>
              <p:nvPr/>
            </p:nvSpPr>
            <p:spPr>
              <a:xfrm flipH="false" flipV="false" rot="0">
                <a:off x="0" y="0"/>
                <a:ext cx="1369114" cy="1409892"/>
              </a:xfrm>
              <a:custGeom>
                <a:avLst/>
                <a:gdLst/>
                <a:ahLst/>
                <a:cxnLst/>
                <a:rect r="r" b="b" t="t" l="l"/>
                <a:pathLst>
                  <a:path h="1409892" w="1369114">
                    <a:moveTo>
                      <a:pt x="273629" y="0"/>
                    </a:moveTo>
                    <a:lnTo>
                      <a:pt x="1095486" y="0"/>
                    </a:lnTo>
                    <a:cubicBezTo>
                      <a:pt x="1246607" y="0"/>
                      <a:pt x="1369114" y="122508"/>
                      <a:pt x="1369114" y="273629"/>
                    </a:cubicBezTo>
                    <a:lnTo>
                      <a:pt x="1369114" y="1136263"/>
                    </a:lnTo>
                    <a:cubicBezTo>
                      <a:pt x="1369114" y="1287384"/>
                      <a:pt x="1246607" y="1409892"/>
                      <a:pt x="1095486" y="1409892"/>
                    </a:cubicBezTo>
                    <a:lnTo>
                      <a:pt x="273629" y="1409892"/>
                    </a:lnTo>
                    <a:cubicBezTo>
                      <a:pt x="201058" y="1409892"/>
                      <a:pt x="131459" y="1381063"/>
                      <a:pt x="80144" y="1329748"/>
                    </a:cubicBezTo>
                    <a:cubicBezTo>
                      <a:pt x="28829" y="1278432"/>
                      <a:pt x="0" y="1208834"/>
                      <a:pt x="0" y="1136263"/>
                    </a:cubicBezTo>
                    <a:lnTo>
                      <a:pt x="0" y="273629"/>
                    </a:lnTo>
                    <a:cubicBezTo>
                      <a:pt x="0" y="122508"/>
                      <a:pt x="122508" y="0"/>
                      <a:pt x="273629" y="0"/>
                    </a:cubicBezTo>
                    <a:close/>
                  </a:path>
                </a:pathLst>
              </a:custGeom>
              <a:solidFill>
                <a:srgbClr val="50212A"/>
              </a:solidFill>
              <a:ln cap="rnd">
                <a:noFill/>
                <a:prstDash val="solid"/>
                <a:round/>
              </a:ln>
            </p:spPr>
          </p:sp>
          <p:sp>
            <p:nvSpPr>
              <p:cNvPr name="TextBox 44" id="44"/>
              <p:cNvSpPr txBox="true"/>
              <p:nvPr/>
            </p:nvSpPr>
            <p:spPr>
              <a:xfrm>
                <a:off x="0" y="-57150"/>
                <a:ext cx="1369114" cy="1467042"/>
              </a:xfrm>
              <a:prstGeom prst="rect">
                <a:avLst/>
              </a:prstGeom>
            </p:spPr>
            <p:txBody>
              <a:bodyPr anchor="ctr" rtlCol="false" tIns="27649" lIns="27649" bIns="27649" rIns="27649"/>
              <a:lstStyle/>
              <a:p>
                <a:pPr algn="ctr">
                  <a:lnSpc>
                    <a:spcPts val="2659"/>
                  </a:lnSpc>
                </a:pPr>
              </a:p>
            </p:txBody>
          </p:sp>
        </p:grpSp>
        <p:grpSp>
          <p:nvGrpSpPr>
            <p:cNvPr name="Group 45" id="45"/>
            <p:cNvGrpSpPr/>
            <p:nvPr/>
          </p:nvGrpSpPr>
          <p:grpSpPr>
            <a:xfrm rot="0">
              <a:off x="26561124" y="0"/>
              <a:ext cx="6913473" cy="7084151"/>
              <a:chOff x="0" y="0"/>
              <a:chExt cx="1152822" cy="1181282"/>
            </a:xfrm>
          </p:grpSpPr>
          <p:sp>
            <p:nvSpPr>
              <p:cNvPr name="Freeform 46" id="46"/>
              <p:cNvSpPr/>
              <p:nvPr/>
            </p:nvSpPr>
            <p:spPr>
              <a:xfrm flipH="false" flipV="false" rot="0">
                <a:off x="0" y="0"/>
                <a:ext cx="1152822" cy="1181282"/>
              </a:xfrm>
              <a:custGeom>
                <a:avLst/>
                <a:gdLst/>
                <a:ahLst/>
                <a:cxnLst/>
                <a:rect r="r" b="b" t="t" l="l"/>
                <a:pathLst>
                  <a:path h="1181282" w="1152822">
                    <a:moveTo>
                      <a:pt x="273411" y="0"/>
                    </a:moveTo>
                    <a:lnTo>
                      <a:pt x="879411" y="0"/>
                    </a:lnTo>
                    <a:cubicBezTo>
                      <a:pt x="1030412" y="0"/>
                      <a:pt x="1152822" y="122410"/>
                      <a:pt x="1152822" y="273411"/>
                    </a:cubicBezTo>
                    <a:lnTo>
                      <a:pt x="1152822" y="907871"/>
                    </a:lnTo>
                    <a:cubicBezTo>
                      <a:pt x="1152822" y="980384"/>
                      <a:pt x="1124016" y="1049928"/>
                      <a:pt x="1072742" y="1101202"/>
                    </a:cubicBezTo>
                    <a:cubicBezTo>
                      <a:pt x="1021467" y="1152477"/>
                      <a:pt x="951924" y="1181282"/>
                      <a:pt x="879411" y="1181282"/>
                    </a:cubicBezTo>
                    <a:lnTo>
                      <a:pt x="273411" y="1181282"/>
                    </a:lnTo>
                    <a:cubicBezTo>
                      <a:pt x="122410" y="1181282"/>
                      <a:pt x="0" y="1058872"/>
                      <a:pt x="0" y="907871"/>
                    </a:cubicBezTo>
                    <a:lnTo>
                      <a:pt x="0" y="273411"/>
                    </a:lnTo>
                    <a:cubicBezTo>
                      <a:pt x="0" y="122410"/>
                      <a:pt x="122410" y="0"/>
                      <a:pt x="273411" y="0"/>
                    </a:cubicBezTo>
                    <a:close/>
                  </a:path>
                </a:pathLst>
              </a:custGeom>
              <a:solidFill>
                <a:srgbClr val="FFFFFF"/>
              </a:solidFill>
              <a:ln cap="rnd">
                <a:noFill/>
                <a:prstDash val="solid"/>
                <a:round/>
              </a:ln>
            </p:spPr>
          </p:sp>
          <p:sp>
            <p:nvSpPr>
              <p:cNvPr name="TextBox 47" id="47"/>
              <p:cNvSpPr txBox="true"/>
              <p:nvPr/>
            </p:nvSpPr>
            <p:spPr>
              <a:xfrm>
                <a:off x="0" y="-57150"/>
                <a:ext cx="1152822" cy="1238432"/>
              </a:xfrm>
              <a:prstGeom prst="rect">
                <a:avLst/>
              </a:prstGeom>
            </p:spPr>
            <p:txBody>
              <a:bodyPr anchor="ctr" rtlCol="false" tIns="27649" lIns="27649" bIns="27649" rIns="27649"/>
              <a:lstStyle/>
              <a:p>
                <a:pPr algn="ctr">
                  <a:lnSpc>
                    <a:spcPts val="2659"/>
                  </a:lnSpc>
                </a:pPr>
              </a:p>
            </p:txBody>
          </p:sp>
        </p:grpSp>
        <p:sp>
          <p:nvSpPr>
            <p:cNvPr name="TextBox 48" id="48"/>
            <p:cNvSpPr txBox="true"/>
            <p:nvPr/>
          </p:nvSpPr>
          <p:spPr>
            <a:xfrm rot="0">
              <a:off x="26926691" y="185323"/>
              <a:ext cx="1434017"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solidFill>
                  <a:latin typeface="Ojuju Bold"/>
                  <a:ea typeface="Ojuju Bold"/>
                  <a:cs typeface="Ojuju Bold"/>
                  <a:sym typeface="Ojuju Bold"/>
                </a:rPr>
                <a:t>3</a:t>
              </a:r>
            </a:p>
          </p:txBody>
        </p:sp>
        <p:sp>
          <p:nvSpPr>
            <p:cNvPr name="TextBox 49" id="49"/>
            <p:cNvSpPr txBox="true"/>
            <p:nvPr/>
          </p:nvSpPr>
          <p:spPr>
            <a:xfrm rot="0">
              <a:off x="27643699" y="608214"/>
              <a:ext cx="5536120"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solidFill>
                  <a:latin typeface="Ojuju Bold"/>
                  <a:ea typeface="Ojuju Bold"/>
                  <a:cs typeface="Ojuju Bold"/>
                  <a:sym typeface="Ojuju Bold"/>
                </a:rPr>
                <a:t>Khả năng chủ động quản trị và kiểm soát rủi ro hệ thống</a:t>
              </a:r>
            </a:p>
          </p:txBody>
        </p:sp>
        <p:sp>
          <p:nvSpPr>
            <p:cNvPr name="TextBox 50" id="50"/>
            <p:cNvSpPr txBox="true"/>
            <p:nvPr/>
          </p:nvSpPr>
          <p:spPr>
            <a:xfrm rot="0">
              <a:off x="27652219" y="4056396"/>
              <a:ext cx="4802073"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solidFill>
                  <a:latin typeface="Work Sans"/>
                  <a:ea typeface="Work Sans"/>
                  <a:cs typeface="Work Sans"/>
                  <a:sym typeface="Work Sans"/>
                </a:rPr>
                <a:t>Hệ thống</a:t>
              </a:r>
              <a:r>
                <a:rPr lang="en-US" sz="1793" strike="noStrike" u="none">
                  <a:solidFill>
                    <a:srgbClr val="000000"/>
                  </a:solidFill>
                  <a:latin typeface="Work Sans"/>
                  <a:ea typeface="Work Sans"/>
                  <a:cs typeface="Work Sans"/>
                  <a:sym typeface="Work Sans"/>
                </a:rPr>
                <a:t> kiểm soát rủi ro chủ động nhờ xây dựng ma trận nhận diện nguy cơ ngay từ đầu, giúp nhóm ứng phó kịp thời với các sự cố.</a:t>
              </a:r>
            </a:p>
          </p:txBody>
        </p:sp>
        <p:sp>
          <p:nvSpPr>
            <p:cNvPr name="Freeform 51" id="51"/>
            <p:cNvSpPr/>
            <p:nvPr/>
          </p:nvSpPr>
          <p:spPr>
            <a:xfrm flipH="false" flipV="false" rot="0">
              <a:off x="23259128" y="6109662"/>
              <a:ext cx="4329296" cy="4192202"/>
            </a:xfrm>
            <a:custGeom>
              <a:avLst/>
              <a:gdLst/>
              <a:ahLst/>
              <a:cxnLst/>
              <a:rect r="r" b="b" t="t" l="l"/>
              <a:pathLst>
                <a:path h="4192202" w="4329296">
                  <a:moveTo>
                    <a:pt x="0" y="0"/>
                  </a:moveTo>
                  <a:lnTo>
                    <a:pt x="4329297" y="0"/>
                  </a:lnTo>
                  <a:lnTo>
                    <a:pt x="4329297" y="4192202"/>
                  </a:lnTo>
                  <a:lnTo>
                    <a:pt x="0" y="41922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52" id="52"/>
            <p:cNvGrpSpPr/>
            <p:nvPr/>
          </p:nvGrpSpPr>
          <p:grpSpPr>
            <a:xfrm rot="0">
              <a:off x="35461106" y="212904"/>
              <a:ext cx="6763089" cy="7113726"/>
              <a:chOff x="0" y="0"/>
              <a:chExt cx="1340398" cy="1409892"/>
            </a:xfrm>
          </p:grpSpPr>
          <p:sp>
            <p:nvSpPr>
              <p:cNvPr name="Freeform 53" id="53"/>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54" id="54"/>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55" id="55"/>
            <p:cNvGrpSpPr/>
            <p:nvPr/>
          </p:nvGrpSpPr>
          <p:grpSpPr>
            <a:xfrm rot="0">
              <a:off x="35223461" y="0"/>
              <a:ext cx="6768466" cy="7084151"/>
              <a:chOff x="0" y="0"/>
              <a:chExt cx="1128642" cy="1181282"/>
            </a:xfrm>
          </p:grpSpPr>
          <p:sp>
            <p:nvSpPr>
              <p:cNvPr name="Freeform 56" id="56"/>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57" id="57"/>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58" id="58"/>
            <p:cNvSpPr txBox="true"/>
            <p:nvPr/>
          </p:nvSpPr>
          <p:spPr>
            <a:xfrm rot="0">
              <a:off x="35581360"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4</a:t>
              </a:r>
            </a:p>
          </p:txBody>
        </p:sp>
        <p:sp>
          <p:nvSpPr>
            <p:cNvPr name="TextBox 59" id="59"/>
            <p:cNvSpPr txBox="true"/>
            <p:nvPr/>
          </p:nvSpPr>
          <p:spPr>
            <a:xfrm rot="0">
              <a:off x="36283329" y="608214"/>
              <a:ext cx="5420003" cy="2498726"/>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Tư duy định hướng dữ liệu trong tối ưu hóa chuyển đổi</a:t>
              </a:r>
            </a:p>
          </p:txBody>
        </p:sp>
        <p:sp>
          <p:nvSpPr>
            <p:cNvPr name="TextBox 60" id="60"/>
            <p:cNvSpPr txBox="true"/>
            <p:nvPr/>
          </p:nvSpPr>
          <p:spPr>
            <a:xfrm rot="0">
              <a:off x="36291670" y="4056396"/>
              <a:ext cx="4973074" cy="2493330"/>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Chiế</a:t>
              </a:r>
              <a:r>
                <a:rPr lang="en-US" sz="1793" strike="noStrike" u="none">
                  <a:solidFill>
                    <a:srgbClr val="000000">
                      <a:alpha val="36863"/>
                    </a:srgbClr>
                  </a:solidFill>
                  <a:latin typeface="Work Sans"/>
                  <a:ea typeface="Work Sans"/>
                  <a:cs typeface="Work Sans"/>
                  <a:sym typeface="Work Sans"/>
                </a:rPr>
                <a:t>n dịch vận hành theo tư duy data-driven, liên tục tối ưu nội d</a:t>
              </a:r>
              <a:r>
                <a:rPr lang="en-US" sz="1793" strike="noStrike" u="none">
                  <a:solidFill>
                    <a:srgbClr val="000000">
                      <a:alpha val="36863"/>
                    </a:srgbClr>
                  </a:solidFill>
                  <a:latin typeface="Work Sans"/>
                  <a:ea typeface="Work Sans"/>
                  <a:cs typeface="Work Sans"/>
                  <a:sym typeface="Work Sans"/>
                </a:rPr>
                <a:t>u</a:t>
              </a:r>
              <a:r>
                <a:rPr lang="en-US" sz="1793" strike="noStrike" u="none">
                  <a:solidFill>
                    <a:srgbClr val="000000">
                      <a:alpha val="36863"/>
                    </a:srgbClr>
                  </a:solidFill>
                  <a:latin typeface="Work Sans"/>
                  <a:ea typeface="Work Sans"/>
                  <a:cs typeface="Work Sans"/>
                  <a:sym typeface="Work Sans"/>
                </a:rPr>
                <a:t>ng và quảng cáo dựa trên phân tích dữ liệu, qua đó đạt 285 đơn đăng ký chất lượng cao cho OpenDay.</a:t>
              </a:r>
            </a:p>
          </p:txBody>
        </p:sp>
        <p:grpSp>
          <p:nvGrpSpPr>
            <p:cNvPr name="Group 61" id="61"/>
            <p:cNvGrpSpPr/>
            <p:nvPr/>
          </p:nvGrpSpPr>
          <p:grpSpPr>
            <a:xfrm rot="0">
              <a:off x="43973460" y="212904"/>
              <a:ext cx="6763089" cy="7113726"/>
              <a:chOff x="0" y="0"/>
              <a:chExt cx="1340398" cy="1409892"/>
            </a:xfrm>
          </p:grpSpPr>
          <p:sp>
            <p:nvSpPr>
              <p:cNvPr name="Freeform 62" id="62"/>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solidFill>
              <a:ln cap="rnd">
                <a:noFill/>
                <a:prstDash val="solid"/>
                <a:round/>
              </a:ln>
            </p:spPr>
          </p:sp>
          <p:sp>
            <p:nvSpPr>
              <p:cNvPr name="TextBox 63" id="63"/>
              <p:cNvSpPr txBox="true"/>
              <p:nvPr/>
            </p:nvSpPr>
            <p:spPr>
              <a:xfrm>
                <a:off x="0" y="-57150"/>
                <a:ext cx="1340398" cy="1467042"/>
              </a:xfrm>
              <a:prstGeom prst="rect">
                <a:avLst/>
              </a:prstGeom>
            </p:spPr>
            <p:txBody>
              <a:bodyPr anchor="ctr" rtlCol="false" tIns="27649" lIns="27649" bIns="27649" rIns="27649"/>
              <a:lstStyle/>
              <a:p>
                <a:pPr algn="ctr">
                  <a:lnSpc>
                    <a:spcPts val="2660"/>
                  </a:lnSpc>
                </a:pPr>
              </a:p>
            </p:txBody>
          </p:sp>
        </p:grpSp>
        <p:grpSp>
          <p:nvGrpSpPr>
            <p:cNvPr name="Group 64" id="64"/>
            <p:cNvGrpSpPr/>
            <p:nvPr/>
          </p:nvGrpSpPr>
          <p:grpSpPr>
            <a:xfrm rot="0">
              <a:off x="43735815" y="0"/>
              <a:ext cx="6768466" cy="7084151"/>
              <a:chOff x="0" y="0"/>
              <a:chExt cx="1128642" cy="1181282"/>
            </a:xfrm>
          </p:grpSpPr>
          <p:sp>
            <p:nvSpPr>
              <p:cNvPr name="Freeform 65" id="65"/>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66" id="66"/>
              <p:cNvSpPr txBox="true"/>
              <p:nvPr/>
            </p:nvSpPr>
            <p:spPr>
              <a:xfrm>
                <a:off x="0" y="-57150"/>
                <a:ext cx="1128642" cy="1238432"/>
              </a:xfrm>
              <a:prstGeom prst="rect">
                <a:avLst/>
              </a:prstGeom>
            </p:spPr>
            <p:txBody>
              <a:bodyPr anchor="ctr" rtlCol="false" tIns="27649" lIns="27649" bIns="27649" rIns="27649"/>
              <a:lstStyle/>
              <a:p>
                <a:pPr algn="ctr">
                  <a:lnSpc>
                    <a:spcPts val="2660"/>
                  </a:lnSpc>
                </a:pPr>
              </a:p>
            </p:txBody>
          </p:sp>
        </p:grpSp>
        <p:sp>
          <p:nvSpPr>
            <p:cNvPr name="TextBox 67" id="67"/>
            <p:cNvSpPr txBox="true"/>
            <p:nvPr/>
          </p:nvSpPr>
          <p:spPr>
            <a:xfrm rot="0">
              <a:off x="44093713"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solidFill>
                  <a:latin typeface="Ojuju Bold"/>
                  <a:ea typeface="Ojuju Bold"/>
                  <a:cs typeface="Ojuju Bold"/>
                  <a:sym typeface="Ojuju Bold"/>
                </a:rPr>
                <a:t>1</a:t>
              </a:r>
            </a:p>
          </p:txBody>
        </p:sp>
        <p:sp>
          <p:nvSpPr>
            <p:cNvPr name="TextBox 68" id="68"/>
            <p:cNvSpPr txBox="true"/>
            <p:nvPr/>
          </p:nvSpPr>
          <p:spPr>
            <a:xfrm rot="0">
              <a:off x="44795683"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solidFill>
                  <a:latin typeface="Ojuju Bold"/>
                  <a:ea typeface="Ojuju Bold"/>
                  <a:cs typeface="Ojuju Bold"/>
                  <a:sym typeface="Ojuju Bold"/>
                </a:rPr>
                <a:t>Quản trị nhân sự và cơ chế phối hợp linh hoạt</a:t>
              </a:r>
            </a:p>
          </p:txBody>
        </p:sp>
        <p:sp>
          <p:nvSpPr>
            <p:cNvPr name="TextBox 69" id="69"/>
            <p:cNvSpPr txBox="true"/>
            <p:nvPr/>
          </p:nvSpPr>
          <p:spPr>
            <a:xfrm rot="0">
              <a:off x="44804024"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solidFill>
                  <a:latin typeface="Work Sans"/>
                  <a:ea typeface="Work Sans"/>
                  <a:cs typeface="Work Sans"/>
                  <a:sym typeface="Work Sans"/>
                </a:rPr>
                <a:t>Điể</a:t>
              </a:r>
              <a:r>
                <a:rPr lang="en-US" sz="1793" strike="noStrike" u="none">
                  <a:solidFill>
                    <a:srgbClr val="000000"/>
                  </a:solidFill>
                  <a:latin typeface="Work Sans"/>
                  <a:ea typeface="Work Sans"/>
                  <a:cs typeface="Work Sans"/>
                  <a:sym typeface="Work Sans"/>
                </a:rPr>
                <a:t>m nổi bật trong công tác quản trị là xây </a:t>
              </a:r>
              <a:r>
                <a:rPr lang="en-US" sz="1793" strike="noStrike" u="none">
                  <a:solidFill>
                    <a:srgbClr val="000000"/>
                  </a:solidFill>
                  <a:latin typeface="Work Sans"/>
                  <a:ea typeface="Work Sans"/>
                  <a:cs typeface="Work Sans"/>
                  <a:sym typeface="Work Sans"/>
                </a:rPr>
                <a:t>dựng</a:t>
              </a:r>
              <a:r>
                <a:rPr lang="en-US" sz="1793" strike="noStrike" u="none">
                  <a:solidFill>
                    <a:srgbClr val="000000"/>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70" id="70"/>
            <p:cNvSpPr/>
            <p:nvPr/>
          </p:nvSpPr>
          <p:spPr>
            <a:xfrm flipH="false" flipV="false" rot="0">
              <a:off x="40256245" y="5393494"/>
              <a:ext cx="4611715" cy="5233152"/>
            </a:xfrm>
            <a:custGeom>
              <a:avLst/>
              <a:gdLst/>
              <a:ahLst/>
              <a:cxnLst/>
              <a:rect r="r" b="b" t="t" l="l"/>
              <a:pathLst>
                <a:path h="5233152" w="4611715">
                  <a:moveTo>
                    <a:pt x="0" y="0"/>
                  </a:moveTo>
                  <a:lnTo>
                    <a:pt x="4611715" y="0"/>
                  </a:lnTo>
                  <a:lnTo>
                    <a:pt x="4611715" y="5233151"/>
                  </a:lnTo>
                  <a:lnTo>
                    <a:pt x="0" y="5233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1" id="71"/>
            <p:cNvSpPr/>
            <p:nvPr/>
          </p:nvSpPr>
          <p:spPr>
            <a:xfrm flipH="false" flipV="false" rot="0">
              <a:off x="31317587" y="6109662"/>
              <a:ext cx="4788509" cy="4930254"/>
            </a:xfrm>
            <a:custGeom>
              <a:avLst/>
              <a:gdLst/>
              <a:ahLst/>
              <a:cxnLst/>
              <a:rect r="r" b="b" t="t" l="l"/>
              <a:pathLst>
                <a:path h="4930254" w="4788509">
                  <a:moveTo>
                    <a:pt x="0" y="0"/>
                  </a:moveTo>
                  <a:lnTo>
                    <a:pt x="4788509" y="0"/>
                  </a:lnTo>
                  <a:lnTo>
                    <a:pt x="4788509" y="4930254"/>
                  </a:lnTo>
                  <a:lnTo>
                    <a:pt x="0" y="493025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72" id="72"/>
          <p:cNvGrpSpPr/>
          <p:nvPr/>
        </p:nvGrpSpPr>
        <p:grpSpPr>
          <a:xfrm rot="0">
            <a:off x="480736" y="490255"/>
            <a:ext cx="6672526" cy="888116"/>
            <a:chOff x="0" y="0"/>
            <a:chExt cx="8896702" cy="1184154"/>
          </a:xfrm>
        </p:grpSpPr>
        <p:grpSp>
          <p:nvGrpSpPr>
            <p:cNvPr name="Group 73" id="73"/>
            <p:cNvGrpSpPr/>
            <p:nvPr/>
          </p:nvGrpSpPr>
          <p:grpSpPr>
            <a:xfrm rot="0">
              <a:off x="0" y="0"/>
              <a:ext cx="7724001" cy="1184154"/>
              <a:chOff x="0" y="0"/>
              <a:chExt cx="1525729" cy="233907"/>
            </a:xfrm>
          </p:grpSpPr>
          <p:sp>
            <p:nvSpPr>
              <p:cNvPr name="Freeform 74" id="74"/>
              <p:cNvSpPr/>
              <p:nvPr/>
            </p:nvSpPr>
            <p:spPr>
              <a:xfrm flipH="false" flipV="false" rot="0">
                <a:off x="0" y="0"/>
                <a:ext cx="1525729" cy="233907"/>
              </a:xfrm>
              <a:custGeom>
                <a:avLst/>
                <a:gdLst/>
                <a:ahLst/>
                <a:cxnLst/>
                <a:rect r="r" b="b" t="t" l="l"/>
                <a:pathLst>
                  <a:path h="233907" w="1525729">
                    <a:moveTo>
                      <a:pt x="116954" y="0"/>
                    </a:moveTo>
                    <a:lnTo>
                      <a:pt x="1408775" y="0"/>
                    </a:lnTo>
                    <a:cubicBezTo>
                      <a:pt x="1439793" y="0"/>
                      <a:pt x="1469541" y="12322"/>
                      <a:pt x="1491474" y="34255"/>
                    </a:cubicBezTo>
                    <a:cubicBezTo>
                      <a:pt x="1513407" y="56188"/>
                      <a:pt x="1525729" y="85936"/>
                      <a:pt x="1525729" y="116954"/>
                    </a:cubicBezTo>
                    <a:lnTo>
                      <a:pt x="1525729" y="116954"/>
                    </a:lnTo>
                    <a:cubicBezTo>
                      <a:pt x="1525729" y="181545"/>
                      <a:pt x="1473367" y="233907"/>
                      <a:pt x="140877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5" id="75"/>
              <p:cNvSpPr txBox="true"/>
              <p:nvPr/>
            </p:nvSpPr>
            <p:spPr>
              <a:xfrm>
                <a:off x="0" y="-57150"/>
                <a:ext cx="1525729" cy="291057"/>
              </a:xfrm>
              <a:prstGeom prst="rect">
                <a:avLst/>
              </a:prstGeom>
            </p:spPr>
            <p:txBody>
              <a:bodyPr anchor="ctr" rtlCol="false" tIns="50800" lIns="50800" bIns="50800" rIns="50800"/>
              <a:lstStyle/>
              <a:p>
                <a:pPr algn="ctr">
                  <a:lnSpc>
                    <a:spcPts val="2659"/>
                  </a:lnSpc>
                </a:pPr>
              </a:p>
            </p:txBody>
          </p:sp>
        </p:grpSp>
        <p:sp>
          <p:nvSpPr>
            <p:cNvPr name="TextBox 76" id="76"/>
            <p:cNvSpPr txBox="true"/>
            <p:nvPr/>
          </p:nvSpPr>
          <p:spPr>
            <a:xfrm rot="0">
              <a:off x="357186" y="141884"/>
              <a:ext cx="85395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2. Điểm thực hiện tốt</a:t>
              </a:r>
            </a:p>
          </p:txBody>
        </p:sp>
      </p:grpSp>
    </p:spTree>
  </p:cSld>
  <p:clrMapOvr>
    <a:masterClrMapping/>
  </p:clrMapOvr>
  <p:transition spd="fast">
    <p:fade/>
  </p:transition>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9726662" y="3437000"/>
            <a:ext cx="39453324" cy="9218090"/>
            <a:chOff x="0" y="0"/>
            <a:chExt cx="52604431" cy="12290787"/>
          </a:xfrm>
        </p:grpSpPr>
        <p:grpSp>
          <p:nvGrpSpPr>
            <p:cNvPr name="Group 10" id="10"/>
            <p:cNvGrpSpPr/>
            <p:nvPr/>
          </p:nvGrpSpPr>
          <p:grpSpPr>
            <a:xfrm rot="0">
              <a:off x="0" y="3384854"/>
              <a:ext cx="52604431" cy="8905934"/>
              <a:chOff x="0" y="0"/>
              <a:chExt cx="10425838" cy="1765095"/>
            </a:xfrm>
          </p:grpSpPr>
          <p:sp>
            <p:nvSpPr>
              <p:cNvPr name="Freeform 11" id="11"/>
              <p:cNvSpPr/>
              <p:nvPr/>
            </p:nvSpPr>
            <p:spPr>
              <a:xfrm flipH="false" flipV="false" rot="0">
                <a:off x="0" y="0"/>
                <a:ext cx="10425838" cy="1765095"/>
              </a:xfrm>
              <a:custGeom>
                <a:avLst/>
                <a:gdLst/>
                <a:ahLst/>
                <a:cxnLst/>
                <a:rect r="r" b="b" t="t" l="l"/>
                <a:pathLst>
                  <a:path h="1765095" w="10425838">
                    <a:moveTo>
                      <a:pt x="35933" y="0"/>
                    </a:moveTo>
                    <a:lnTo>
                      <a:pt x="10389905" y="0"/>
                    </a:lnTo>
                    <a:cubicBezTo>
                      <a:pt x="10409751" y="0"/>
                      <a:pt x="10425838" y="16088"/>
                      <a:pt x="10425838" y="35933"/>
                    </a:cubicBezTo>
                    <a:lnTo>
                      <a:pt x="10425838" y="1729162"/>
                    </a:lnTo>
                    <a:cubicBezTo>
                      <a:pt x="10425838" y="1749007"/>
                      <a:pt x="10409751" y="1765095"/>
                      <a:pt x="10389905" y="1765095"/>
                    </a:cubicBezTo>
                    <a:lnTo>
                      <a:pt x="35933" y="1765095"/>
                    </a:lnTo>
                    <a:cubicBezTo>
                      <a:pt x="16088" y="1765095"/>
                      <a:pt x="0" y="1749007"/>
                      <a:pt x="0" y="1729162"/>
                    </a:cubicBezTo>
                    <a:lnTo>
                      <a:pt x="0" y="35933"/>
                    </a:lnTo>
                    <a:cubicBezTo>
                      <a:pt x="0" y="16088"/>
                      <a:pt x="16088" y="0"/>
                      <a:pt x="35933" y="0"/>
                    </a:cubicBezTo>
                    <a:close/>
                  </a:path>
                </a:pathLst>
              </a:custGeom>
              <a:solidFill>
                <a:srgbClr val="50212A"/>
              </a:solidFill>
            </p:spPr>
          </p:sp>
          <p:sp>
            <p:nvSpPr>
              <p:cNvPr name="TextBox 12" id="12"/>
              <p:cNvSpPr txBox="true"/>
              <p:nvPr/>
            </p:nvSpPr>
            <p:spPr>
              <a:xfrm>
                <a:off x="0" y="-57150"/>
                <a:ext cx="10425838" cy="1822245"/>
              </a:xfrm>
              <a:prstGeom prst="rect">
                <a:avLst/>
              </a:prstGeom>
            </p:spPr>
            <p:txBody>
              <a:bodyPr anchor="ctr" rtlCol="false" tIns="61202" lIns="61202" bIns="61202" rIns="61202"/>
              <a:lstStyle/>
              <a:p>
                <a:pPr algn="ctr">
                  <a:lnSpc>
                    <a:spcPts val="2659"/>
                  </a:lnSpc>
                </a:pPr>
              </a:p>
            </p:txBody>
          </p:sp>
        </p:grpSp>
        <p:grpSp>
          <p:nvGrpSpPr>
            <p:cNvPr name="Group 13" id="13"/>
            <p:cNvGrpSpPr/>
            <p:nvPr/>
          </p:nvGrpSpPr>
          <p:grpSpPr>
            <a:xfrm rot="0">
              <a:off x="9765025" y="212904"/>
              <a:ext cx="6763089" cy="7113726"/>
              <a:chOff x="0" y="0"/>
              <a:chExt cx="1340398" cy="1409892"/>
            </a:xfrm>
          </p:grpSpPr>
          <p:sp>
            <p:nvSpPr>
              <p:cNvPr name="Freeform 14" id="1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15" id="15"/>
              <p:cNvSpPr txBox="true"/>
              <p:nvPr/>
            </p:nvSpPr>
            <p:spPr>
              <a:xfrm>
                <a:off x="0" y="-57150"/>
                <a:ext cx="1340398" cy="1467042"/>
              </a:xfrm>
              <a:prstGeom prst="rect">
                <a:avLst/>
              </a:prstGeom>
            </p:spPr>
            <p:txBody>
              <a:bodyPr anchor="ctr" rtlCol="false" tIns="27649" lIns="27649" bIns="27649" rIns="27649"/>
              <a:lstStyle/>
              <a:p>
                <a:pPr algn="ctr">
                  <a:lnSpc>
                    <a:spcPts val="2660"/>
                  </a:lnSpc>
                </a:pPr>
              </a:p>
            </p:txBody>
          </p:sp>
        </p:grpSp>
        <p:grpSp>
          <p:nvGrpSpPr>
            <p:cNvPr name="Group 16" id="16"/>
            <p:cNvGrpSpPr/>
            <p:nvPr/>
          </p:nvGrpSpPr>
          <p:grpSpPr>
            <a:xfrm rot="0">
              <a:off x="9527380" y="0"/>
              <a:ext cx="6768466" cy="7084151"/>
              <a:chOff x="0" y="0"/>
              <a:chExt cx="1128642" cy="1181282"/>
            </a:xfrm>
          </p:grpSpPr>
          <p:sp>
            <p:nvSpPr>
              <p:cNvPr name="Freeform 17" id="1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18" id="18"/>
              <p:cNvSpPr txBox="true"/>
              <p:nvPr/>
            </p:nvSpPr>
            <p:spPr>
              <a:xfrm>
                <a:off x="0" y="-57150"/>
                <a:ext cx="1128642" cy="1238432"/>
              </a:xfrm>
              <a:prstGeom prst="rect">
                <a:avLst/>
              </a:prstGeom>
            </p:spPr>
            <p:txBody>
              <a:bodyPr anchor="ctr" rtlCol="false" tIns="27649" lIns="27649" bIns="27649" rIns="27649"/>
              <a:lstStyle/>
              <a:p>
                <a:pPr algn="ctr">
                  <a:lnSpc>
                    <a:spcPts val="2660"/>
                  </a:lnSpc>
                </a:pPr>
              </a:p>
            </p:txBody>
          </p:sp>
        </p:grpSp>
        <p:sp>
          <p:nvSpPr>
            <p:cNvPr name="TextBox 19" id="19"/>
            <p:cNvSpPr txBox="true"/>
            <p:nvPr/>
          </p:nvSpPr>
          <p:spPr>
            <a:xfrm rot="0">
              <a:off x="9885278"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1</a:t>
              </a:r>
            </a:p>
          </p:txBody>
        </p:sp>
        <p:sp>
          <p:nvSpPr>
            <p:cNvPr name="TextBox 20" id="20"/>
            <p:cNvSpPr txBox="true"/>
            <p:nvPr/>
          </p:nvSpPr>
          <p:spPr>
            <a:xfrm rot="0">
              <a:off x="10587248"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Quản trị nhân sự và cơ chế phối hợp linh hoạt</a:t>
              </a:r>
            </a:p>
          </p:txBody>
        </p:sp>
        <p:sp>
          <p:nvSpPr>
            <p:cNvPr name="TextBox 21" id="21"/>
            <p:cNvSpPr txBox="true"/>
            <p:nvPr/>
          </p:nvSpPr>
          <p:spPr>
            <a:xfrm rot="0">
              <a:off x="10595589"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Điể</a:t>
              </a:r>
              <a:r>
                <a:rPr lang="en-US" sz="1793" strike="noStrike" u="none">
                  <a:solidFill>
                    <a:srgbClr val="000000">
                      <a:alpha val="36863"/>
                    </a:srgbClr>
                  </a:solidFill>
                  <a:latin typeface="Work Sans"/>
                  <a:ea typeface="Work Sans"/>
                  <a:cs typeface="Work Sans"/>
                  <a:sym typeface="Work Sans"/>
                </a:rPr>
                <a:t>m nổi bật trong công tác quản trị là xây </a:t>
              </a:r>
              <a:r>
                <a:rPr lang="en-US" sz="1793" strike="noStrike" u="none">
                  <a:solidFill>
                    <a:srgbClr val="000000">
                      <a:alpha val="36863"/>
                    </a:srgbClr>
                  </a:solidFill>
                  <a:latin typeface="Work Sans"/>
                  <a:ea typeface="Work Sans"/>
                  <a:cs typeface="Work Sans"/>
                  <a:sym typeface="Work Sans"/>
                </a:rPr>
                <a:t>dựng</a:t>
              </a:r>
              <a:r>
                <a:rPr lang="en-US" sz="1793" strike="noStrike" u="none">
                  <a:solidFill>
                    <a:srgbClr val="000000">
                      <a:alpha val="36863"/>
                    </a:srgbClr>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22" id="22"/>
            <p:cNvSpPr/>
            <p:nvPr/>
          </p:nvSpPr>
          <p:spPr>
            <a:xfrm flipH="false" flipV="false" rot="0">
              <a:off x="14739462" y="5732435"/>
              <a:ext cx="4728990" cy="4210772"/>
            </a:xfrm>
            <a:custGeom>
              <a:avLst/>
              <a:gdLst/>
              <a:ahLst/>
              <a:cxnLst/>
              <a:rect r="r" b="b" t="t" l="l"/>
              <a:pathLst>
                <a:path h="4210772" w="4728990">
                  <a:moveTo>
                    <a:pt x="0" y="0"/>
                  </a:moveTo>
                  <a:lnTo>
                    <a:pt x="4728990" y="0"/>
                  </a:lnTo>
                  <a:lnTo>
                    <a:pt x="4728990" y="4210771"/>
                  </a:lnTo>
                  <a:lnTo>
                    <a:pt x="0" y="4210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1243634" y="212904"/>
              <a:ext cx="6763089" cy="7113726"/>
              <a:chOff x="0" y="0"/>
              <a:chExt cx="1340398" cy="1409892"/>
            </a:xfrm>
          </p:grpSpPr>
          <p:sp>
            <p:nvSpPr>
              <p:cNvPr name="Freeform 24" id="2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25" id="25"/>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26" id="26"/>
            <p:cNvGrpSpPr/>
            <p:nvPr/>
          </p:nvGrpSpPr>
          <p:grpSpPr>
            <a:xfrm rot="0">
              <a:off x="1005989" y="0"/>
              <a:ext cx="6768466" cy="7084151"/>
              <a:chOff x="0" y="0"/>
              <a:chExt cx="1128642" cy="1181282"/>
            </a:xfrm>
          </p:grpSpPr>
          <p:sp>
            <p:nvSpPr>
              <p:cNvPr name="Freeform 27" id="2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28" id="28"/>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29" id="29"/>
            <p:cNvSpPr txBox="true"/>
            <p:nvPr/>
          </p:nvSpPr>
          <p:spPr>
            <a:xfrm rot="0">
              <a:off x="1363887"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4</a:t>
              </a:r>
            </a:p>
          </p:txBody>
        </p:sp>
        <p:sp>
          <p:nvSpPr>
            <p:cNvPr name="TextBox 30" id="30"/>
            <p:cNvSpPr txBox="true"/>
            <p:nvPr/>
          </p:nvSpPr>
          <p:spPr>
            <a:xfrm rot="0">
              <a:off x="2065857" y="608214"/>
              <a:ext cx="5420003" cy="2498726"/>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Tư duy định hướng dữ liệu trong tối ưu hóa chuyển đổi</a:t>
              </a:r>
            </a:p>
          </p:txBody>
        </p:sp>
        <p:sp>
          <p:nvSpPr>
            <p:cNvPr name="TextBox 31" id="31"/>
            <p:cNvSpPr txBox="true"/>
            <p:nvPr/>
          </p:nvSpPr>
          <p:spPr>
            <a:xfrm rot="0">
              <a:off x="2074198"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Điể</a:t>
              </a:r>
              <a:r>
                <a:rPr lang="en-US" sz="1793" strike="noStrike" u="none">
                  <a:solidFill>
                    <a:srgbClr val="000000">
                      <a:alpha val="36863"/>
                    </a:srgbClr>
                  </a:solidFill>
                  <a:latin typeface="Work Sans"/>
                  <a:ea typeface="Work Sans"/>
                  <a:cs typeface="Work Sans"/>
                  <a:sym typeface="Work Sans"/>
                </a:rPr>
                <a:t>m nổi bật trong công tác quản trị là xây </a:t>
              </a:r>
              <a:r>
                <a:rPr lang="en-US" sz="1793" strike="noStrike" u="none">
                  <a:solidFill>
                    <a:srgbClr val="000000">
                      <a:alpha val="36863"/>
                    </a:srgbClr>
                  </a:solidFill>
                  <a:latin typeface="Work Sans"/>
                  <a:ea typeface="Work Sans"/>
                  <a:cs typeface="Work Sans"/>
                  <a:sym typeface="Work Sans"/>
                </a:rPr>
                <a:t>dựng</a:t>
              </a:r>
              <a:r>
                <a:rPr lang="en-US" sz="1793" strike="noStrike" u="none">
                  <a:solidFill>
                    <a:srgbClr val="000000">
                      <a:alpha val="36863"/>
                    </a:srgbClr>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32" id="32"/>
            <p:cNvSpPr/>
            <p:nvPr/>
          </p:nvSpPr>
          <p:spPr>
            <a:xfrm flipH="false" flipV="false" rot="0">
              <a:off x="5947194" y="4710055"/>
              <a:ext cx="4611715" cy="5233152"/>
            </a:xfrm>
            <a:custGeom>
              <a:avLst/>
              <a:gdLst/>
              <a:ahLst/>
              <a:cxnLst/>
              <a:rect r="r" b="b" t="t" l="l"/>
              <a:pathLst>
                <a:path h="5233152" w="4611715">
                  <a:moveTo>
                    <a:pt x="0" y="0"/>
                  </a:moveTo>
                  <a:lnTo>
                    <a:pt x="4611714" y="0"/>
                  </a:lnTo>
                  <a:lnTo>
                    <a:pt x="4611714" y="5233151"/>
                  </a:lnTo>
                  <a:lnTo>
                    <a:pt x="0" y="5233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3" id="33"/>
            <p:cNvGrpSpPr/>
            <p:nvPr/>
          </p:nvGrpSpPr>
          <p:grpSpPr>
            <a:xfrm rot="0">
              <a:off x="18286416" y="212904"/>
              <a:ext cx="6763089" cy="7113726"/>
              <a:chOff x="0" y="0"/>
              <a:chExt cx="1340398" cy="1409892"/>
            </a:xfrm>
          </p:grpSpPr>
          <p:sp>
            <p:nvSpPr>
              <p:cNvPr name="Freeform 34" id="34"/>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35" id="35"/>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36" id="36"/>
            <p:cNvGrpSpPr/>
            <p:nvPr/>
          </p:nvGrpSpPr>
          <p:grpSpPr>
            <a:xfrm rot="0">
              <a:off x="18048771" y="0"/>
              <a:ext cx="6768466" cy="7084151"/>
              <a:chOff x="0" y="0"/>
              <a:chExt cx="1128642" cy="1181282"/>
            </a:xfrm>
          </p:grpSpPr>
          <p:sp>
            <p:nvSpPr>
              <p:cNvPr name="Freeform 37" id="37"/>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38" id="38"/>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39" id="39"/>
            <p:cNvSpPr txBox="true"/>
            <p:nvPr/>
          </p:nvSpPr>
          <p:spPr>
            <a:xfrm rot="0">
              <a:off x="18406669" y="185323"/>
              <a:ext cx="1403940" cy="1236467"/>
            </a:xfrm>
            <a:prstGeom prst="rect">
              <a:avLst/>
            </a:prstGeom>
          </p:spPr>
          <p:txBody>
            <a:bodyPr anchor="t" rtlCol="false" tIns="0" lIns="0" bIns="0" rIns="0">
              <a:spAutoFit/>
            </a:bodyPr>
            <a:lstStyle/>
            <a:p>
              <a:pPr algn="l" marL="0" indent="0" lvl="0">
                <a:lnSpc>
                  <a:spcPts val="7813"/>
                </a:lnSpc>
              </a:pPr>
              <a:r>
                <a:rPr lang="en-US" b="true" sz="5581">
                  <a:solidFill>
                    <a:srgbClr val="50212A">
                      <a:alpha val="36863"/>
                    </a:srgbClr>
                  </a:solidFill>
                  <a:latin typeface="Ojuju Bold"/>
                  <a:ea typeface="Ojuju Bold"/>
                  <a:cs typeface="Ojuju Bold"/>
                  <a:sym typeface="Ojuju Bold"/>
                </a:rPr>
                <a:t>2</a:t>
              </a:r>
            </a:p>
          </p:txBody>
        </p:sp>
        <p:sp>
          <p:nvSpPr>
            <p:cNvPr name="TextBox 40" id="40"/>
            <p:cNvSpPr txBox="true"/>
            <p:nvPr/>
          </p:nvSpPr>
          <p:spPr>
            <a:xfrm rot="0">
              <a:off x="19108639"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Tính đồng bộ truyền thông và hiệu quả hạ tầng công nghệ</a:t>
              </a:r>
            </a:p>
          </p:txBody>
        </p:sp>
        <p:sp>
          <p:nvSpPr>
            <p:cNvPr name="TextBox 41" id="41"/>
            <p:cNvSpPr txBox="true"/>
            <p:nvPr/>
          </p:nvSpPr>
          <p:spPr>
            <a:xfrm rot="0">
              <a:off x="19116980" y="4056396"/>
              <a:ext cx="4701352" cy="2493330"/>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Thiết</a:t>
              </a:r>
              <a:r>
                <a:rPr lang="en-US" sz="1793" strike="noStrike" u="none">
                  <a:solidFill>
                    <a:srgbClr val="000000">
                      <a:alpha val="36863"/>
                    </a:srgbClr>
                  </a:solidFill>
                  <a:latin typeface="Work Sans"/>
                  <a:ea typeface="Work Sans"/>
                  <a:cs typeface="Work Sans"/>
                  <a:sym typeface="Work Sans"/>
                </a:rPr>
                <a:t> kế hệ sinh thái tích hợp đa nền tản với hệ thống nhận diện thương hiệu đồng bộ trên Facebook, TikTok và Website và tích hợp AI nâng cao uy tín và tính chuyên nghiệp </a:t>
              </a:r>
            </a:p>
          </p:txBody>
        </p:sp>
        <p:grpSp>
          <p:nvGrpSpPr>
            <p:cNvPr name="Group 42" id="42"/>
            <p:cNvGrpSpPr/>
            <p:nvPr/>
          </p:nvGrpSpPr>
          <p:grpSpPr>
            <a:xfrm rot="0">
              <a:off x="26803861" y="212904"/>
              <a:ext cx="6907980" cy="7113726"/>
              <a:chOff x="0" y="0"/>
              <a:chExt cx="1369114" cy="1409892"/>
            </a:xfrm>
          </p:grpSpPr>
          <p:sp>
            <p:nvSpPr>
              <p:cNvPr name="Freeform 43" id="43"/>
              <p:cNvSpPr/>
              <p:nvPr/>
            </p:nvSpPr>
            <p:spPr>
              <a:xfrm flipH="false" flipV="false" rot="0">
                <a:off x="0" y="0"/>
                <a:ext cx="1369114" cy="1409892"/>
              </a:xfrm>
              <a:custGeom>
                <a:avLst/>
                <a:gdLst/>
                <a:ahLst/>
                <a:cxnLst/>
                <a:rect r="r" b="b" t="t" l="l"/>
                <a:pathLst>
                  <a:path h="1409892" w="1369114">
                    <a:moveTo>
                      <a:pt x="273629" y="0"/>
                    </a:moveTo>
                    <a:lnTo>
                      <a:pt x="1095486" y="0"/>
                    </a:lnTo>
                    <a:cubicBezTo>
                      <a:pt x="1246607" y="0"/>
                      <a:pt x="1369114" y="122508"/>
                      <a:pt x="1369114" y="273629"/>
                    </a:cubicBezTo>
                    <a:lnTo>
                      <a:pt x="1369114" y="1136263"/>
                    </a:lnTo>
                    <a:cubicBezTo>
                      <a:pt x="1369114" y="1287384"/>
                      <a:pt x="1246607" y="1409892"/>
                      <a:pt x="1095486" y="1409892"/>
                    </a:cubicBezTo>
                    <a:lnTo>
                      <a:pt x="273629" y="1409892"/>
                    </a:lnTo>
                    <a:cubicBezTo>
                      <a:pt x="201058" y="1409892"/>
                      <a:pt x="131459" y="1381063"/>
                      <a:pt x="80144" y="1329748"/>
                    </a:cubicBezTo>
                    <a:cubicBezTo>
                      <a:pt x="28829" y="1278432"/>
                      <a:pt x="0" y="1208834"/>
                      <a:pt x="0" y="1136263"/>
                    </a:cubicBezTo>
                    <a:lnTo>
                      <a:pt x="0" y="273629"/>
                    </a:lnTo>
                    <a:cubicBezTo>
                      <a:pt x="0" y="122508"/>
                      <a:pt x="122508" y="0"/>
                      <a:pt x="273629" y="0"/>
                    </a:cubicBezTo>
                    <a:close/>
                  </a:path>
                </a:pathLst>
              </a:custGeom>
              <a:solidFill>
                <a:srgbClr val="50212A">
                  <a:alpha val="36863"/>
                </a:srgbClr>
              </a:solidFill>
              <a:ln cap="rnd">
                <a:noFill/>
                <a:prstDash val="solid"/>
                <a:round/>
              </a:ln>
            </p:spPr>
          </p:sp>
          <p:sp>
            <p:nvSpPr>
              <p:cNvPr name="TextBox 44" id="44"/>
              <p:cNvSpPr txBox="true"/>
              <p:nvPr/>
            </p:nvSpPr>
            <p:spPr>
              <a:xfrm>
                <a:off x="0" y="-57150"/>
                <a:ext cx="1369114" cy="1467042"/>
              </a:xfrm>
              <a:prstGeom prst="rect">
                <a:avLst/>
              </a:prstGeom>
            </p:spPr>
            <p:txBody>
              <a:bodyPr anchor="ctr" rtlCol="false" tIns="27649" lIns="27649" bIns="27649" rIns="27649"/>
              <a:lstStyle/>
              <a:p>
                <a:pPr algn="ctr">
                  <a:lnSpc>
                    <a:spcPts val="2659"/>
                  </a:lnSpc>
                </a:pPr>
              </a:p>
            </p:txBody>
          </p:sp>
        </p:grpSp>
        <p:grpSp>
          <p:nvGrpSpPr>
            <p:cNvPr name="Group 45" id="45"/>
            <p:cNvGrpSpPr/>
            <p:nvPr/>
          </p:nvGrpSpPr>
          <p:grpSpPr>
            <a:xfrm rot="0">
              <a:off x="26561124" y="0"/>
              <a:ext cx="6913473" cy="7084151"/>
              <a:chOff x="0" y="0"/>
              <a:chExt cx="1152822" cy="1181282"/>
            </a:xfrm>
          </p:grpSpPr>
          <p:sp>
            <p:nvSpPr>
              <p:cNvPr name="Freeform 46" id="46"/>
              <p:cNvSpPr/>
              <p:nvPr/>
            </p:nvSpPr>
            <p:spPr>
              <a:xfrm flipH="false" flipV="false" rot="0">
                <a:off x="0" y="0"/>
                <a:ext cx="1152822" cy="1181282"/>
              </a:xfrm>
              <a:custGeom>
                <a:avLst/>
                <a:gdLst/>
                <a:ahLst/>
                <a:cxnLst/>
                <a:rect r="r" b="b" t="t" l="l"/>
                <a:pathLst>
                  <a:path h="1181282" w="1152822">
                    <a:moveTo>
                      <a:pt x="273411" y="0"/>
                    </a:moveTo>
                    <a:lnTo>
                      <a:pt x="879411" y="0"/>
                    </a:lnTo>
                    <a:cubicBezTo>
                      <a:pt x="1030412" y="0"/>
                      <a:pt x="1152822" y="122410"/>
                      <a:pt x="1152822" y="273411"/>
                    </a:cubicBezTo>
                    <a:lnTo>
                      <a:pt x="1152822" y="907871"/>
                    </a:lnTo>
                    <a:cubicBezTo>
                      <a:pt x="1152822" y="980384"/>
                      <a:pt x="1124016" y="1049928"/>
                      <a:pt x="1072742" y="1101202"/>
                    </a:cubicBezTo>
                    <a:cubicBezTo>
                      <a:pt x="1021467" y="1152477"/>
                      <a:pt x="951924" y="1181282"/>
                      <a:pt x="879411" y="1181282"/>
                    </a:cubicBezTo>
                    <a:lnTo>
                      <a:pt x="273411" y="1181282"/>
                    </a:lnTo>
                    <a:cubicBezTo>
                      <a:pt x="122410" y="1181282"/>
                      <a:pt x="0" y="1058872"/>
                      <a:pt x="0" y="907871"/>
                    </a:cubicBezTo>
                    <a:lnTo>
                      <a:pt x="0" y="273411"/>
                    </a:lnTo>
                    <a:cubicBezTo>
                      <a:pt x="0" y="122410"/>
                      <a:pt x="122410" y="0"/>
                      <a:pt x="273411" y="0"/>
                    </a:cubicBezTo>
                    <a:close/>
                  </a:path>
                </a:pathLst>
              </a:custGeom>
              <a:solidFill>
                <a:srgbClr val="FFFFFF"/>
              </a:solidFill>
              <a:ln cap="rnd">
                <a:noFill/>
                <a:prstDash val="solid"/>
                <a:round/>
              </a:ln>
            </p:spPr>
          </p:sp>
          <p:sp>
            <p:nvSpPr>
              <p:cNvPr name="TextBox 47" id="47"/>
              <p:cNvSpPr txBox="true"/>
              <p:nvPr/>
            </p:nvSpPr>
            <p:spPr>
              <a:xfrm>
                <a:off x="0" y="-57150"/>
                <a:ext cx="1152822" cy="1238432"/>
              </a:xfrm>
              <a:prstGeom prst="rect">
                <a:avLst/>
              </a:prstGeom>
            </p:spPr>
            <p:txBody>
              <a:bodyPr anchor="ctr" rtlCol="false" tIns="27649" lIns="27649" bIns="27649" rIns="27649"/>
              <a:lstStyle/>
              <a:p>
                <a:pPr algn="ctr">
                  <a:lnSpc>
                    <a:spcPts val="2659"/>
                  </a:lnSpc>
                </a:pPr>
              </a:p>
            </p:txBody>
          </p:sp>
        </p:grpSp>
        <p:sp>
          <p:nvSpPr>
            <p:cNvPr name="TextBox 48" id="48"/>
            <p:cNvSpPr txBox="true"/>
            <p:nvPr/>
          </p:nvSpPr>
          <p:spPr>
            <a:xfrm rot="0">
              <a:off x="26926691" y="185323"/>
              <a:ext cx="1434017"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3</a:t>
              </a:r>
            </a:p>
          </p:txBody>
        </p:sp>
        <p:sp>
          <p:nvSpPr>
            <p:cNvPr name="TextBox 49" id="49"/>
            <p:cNvSpPr txBox="true"/>
            <p:nvPr/>
          </p:nvSpPr>
          <p:spPr>
            <a:xfrm rot="0">
              <a:off x="27643699" y="608214"/>
              <a:ext cx="5536120"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Khả năng chủ động quản trị và kiểm soát rủi ro hệ thống</a:t>
              </a:r>
            </a:p>
          </p:txBody>
        </p:sp>
        <p:sp>
          <p:nvSpPr>
            <p:cNvPr name="TextBox 50" id="50"/>
            <p:cNvSpPr txBox="true"/>
            <p:nvPr/>
          </p:nvSpPr>
          <p:spPr>
            <a:xfrm rot="0">
              <a:off x="27652219" y="4056396"/>
              <a:ext cx="4802073"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Hệ thống</a:t>
              </a:r>
              <a:r>
                <a:rPr lang="en-US" sz="1793" strike="noStrike" u="none">
                  <a:solidFill>
                    <a:srgbClr val="000000">
                      <a:alpha val="36863"/>
                    </a:srgbClr>
                  </a:solidFill>
                  <a:latin typeface="Work Sans"/>
                  <a:ea typeface="Work Sans"/>
                  <a:cs typeface="Work Sans"/>
                  <a:sym typeface="Work Sans"/>
                </a:rPr>
                <a:t> kiểm soát rủi ro chủ động nhờ xây dựng ma trận nhận diện nguy cơ ngay từ đầu, giúp nhóm ứng phó kịp thời với các sự cố.</a:t>
              </a:r>
            </a:p>
          </p:txBody>
        </p:sp>
        <p:sp>
          <p:nvSpPr>
            <p:cNvPr name="Freeform 51" id="51"/>
            <p:cNvSpPr/>
            <p:nvPr/>
          </p:nvSpPr>
          <p:spPr>
            <a:xfrm flipH="false" flipV="false" rot="0">
              <a:off x="23259128" y="6109662"/>
              <a:ext cx="4329296" cy="4192202"/>
            </a:xfrm>
            <a:custGeom>
              <a:avLst/>
              <a:gdLst/>
              <a:ahLst/>
              <a:cxnLst/>
              <a:rect r="r" b="b" t="t" l="l"/>
              <a:pathLst>
                <a:path h="4192202" w="4329296">
                  <a:moveTo>
                    <a:pt x="0" y="0"/>
                  </a:moveTo>
                  <a:lnTo>
                    <a:pt x="4329297" y="0"/>
                  </a:lnTo>
                  <a:lnTo>
                    <a:pt x="4329297" y="4192202"/>
                  </a:lnTo>
                  <a:lnTo>
                    <a:pt x="0" y="41922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52" id="52"/>
            <p:cNvGrpSpPr/>
            <p:nvPr/>
          </p:nvGrpSpPr>
          <p:grpSpPr>
            <a:xfrm rot="0">
              <a:off x="35461106" y="212904"/>
              <a:ext cx="6763089" cy="7113726"/>
              <a:chOff x="0" y="0"/>
              <a:chExt cx="1340398" cy="1409892"/>
            </a:xfrm>
          </p:grpSpPr>
          <p:sp>
            <p:nvSpPr>
              <p:cNvPr name="Freeform 53" id="53"/>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solidFill>
              <a:ln cap="rnd">
                <a:noFill/>
                <a:prstDash val="solid"/>
                <a:round/>
              </a:ln>
            </p:spPr>
          </p:sp>
          <p:sp>
            <p:nvSpPr>
              <p:cNvPr name="TextBox 54" id="54"/>
              <p:cNvSpPr txBox="true"/>
              <p:nvPr/>
            </p:nvSpPr>
            <p:spPr>
              <a:xfrm>
                <a:off x="0" y="-57150"/>
                <a:ext cx="1340398" cy="1467042"/>
              </a:xfrm>
              <a:prstGeom prst="rect">
                <a:avLst/>
              </a:prstGeom>
            </p:spPr>
            <p:txBody>
              <a:bodyPr anchor="ctr" rtlCol="false" tIns="27649" lIns="27649" bIns="27649" rIns="27649"/>
              <a:lstStyle/>
              <a:p>
                <a:pPr algn="ctr">
                  <a:lnSpc>
                    <a:spcPts val="2659"/>
                  </a:lnSpc>
                </a:pPr>
              </a:p>
            </p:txBody>
          </p:sp>
        </p:grpSp>
        <p:grpSp>
          <p:nvGrpSpPr>
            <p:cNvPr name="Group 55" id="55"/>
            <p:cNvGrpSpPr/>
            <p:nvPr/>
          </p:nvGrpSpPr>
          <p:grpSpPr>
            <a:xfrm rot="0">
              <a:off x="35223461" y="0"/>
              <a:ext cx="6768466" cy="7084151"/>
              <a:chOff x="0" y="0"/>
              <a:chExt cx="1128642" cy="1181282"/>
            </a:xfrm>
          </p:grpSpPr>
          <p:sp>
            <p:nvSpPr>
              <p:cNvPr name="Freeform 56" id="56"/>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57" id="57"/>
              <p:cNvSpPr txBox="true"/>
              <p:nvPr/>
            </p:nvSpPr>
            <p:spPr>
              <a:xfrm>
                <a:off x="0" y="-57150"/>
                <a:ext cx="1128642" cy="1238432"/>
              </a:xfrm>
              <a:prstGeom prst="rect">
                <a:avLst/>
              </a:prstGeom>
            </p:spPr>
            <p:txBody>
              <a:bodyPr anchor="ctr" rtlCol="false" tIns="27649" lIns="27649" bIns="27649" rIns="27649"/>
              <a:lstStyle/>
              <a:p>
                <a:pPr algn="ctr">
                  <a:lnSpc>
                    <a:spcPts val="2659"/>
                  </a:lnSpc>
                </a:pPr>
              </a:p>
            </p:txBody>
          </p:sp>
        </p:grpSp>
        <p:sp>
          <p:nvSpPr>
            <p:cNvPr name="TextBox 58" id="58"/>
            <p:cNvSpPr txBox="true"/>
            <p:nvPr/>
          </p:nvSpPr>
          <p:spPr>
            <a:xfrm rot="0">
              <a:off x="35581360"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solidFill>
                  <a:latin typeface="Ojuju Bold"/>
                  <a:ea typeface="Ojuju Bold"/>
                  <a:cs typeface="Ojuju Bold"/>
                  <a:sym typeface="Ojuju Bold"/>
                </a:rPr>
                <a:t>4</a:t>
              </a:r>
            </a:p>
          </p:txBody>
        </p:sp>
        <p:sp>
          <p:nvSpPr>
            <p:cNvPr name="TextBox 59" id="59"/>
            <p:cNvSpPr txBox="true"/>
            <p:nvPr/>
          </p:nvSpPr>
          <p:spPr>
            <a:xfrm rot="0">
              <a:off x="36283329" y="608214"/>
              <a:ext cx="5420003" cy="2498726"/>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solidFill>
                  <a:latin typeface="Ojuju Bold"/>
                  <a:ea typeface="Ojuju Bold"/>
                  <a:cs typeface="Ojuju Bold"/>
                  <a:sym typeface="Ojuju Bold"/>
                </a:rPr>
                <a:t>Tư duy định hướng dữ liệu trong tối ưu hóa chuyển đổi</a:t>
              </a:r>
            </a:p>
          </p:txBody>
        </p:sp>
        <p:sp>
          <p:nvSpPr>
            <p:cNvPr name="TextBox 60" id="60"/>
            <p:cNvSpPr txBox="true"/>
            <p:nvPr/>
          </p:nvSpPr>
          <p:spPr>
            <a:xfrm rot="0">
              <a:off x="36291670" y="4056396"/>
              <a:ext cx="4973074" cy="2493330"/>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solidFill>
                  <a:latin typeface="Work Sans"/>
                  <a:ea typeface="Work Sans"/>
                  <a:cs typeface="Work Sans"/>
                  <a:sym typeface="Work Sans"/>
                </a:rPr>
                <a:t>Chiế</a:t>
              </a:r>
              <a:r>
                <a:rPr lang="en-US" sz="1793" strike="noStrike" u="none">
                  <a:solidFill>
                    <a:srgbClr val="000000"/>
                  </a:solidFill>
                  <a:latin typeface="Work Sans"/>
                  <a:ea typeface="Work Sans"/>
                  <a:cs typeface="Work Sans"/>
                  <a:sym typeface="Work Sans"/>
                </a:rPr>
                <a:t>n dịch vận hành theo tư duy data-driven, liên tục tối ưu nội d</a:t>
              </a:r>
              <a:r>
                <a:rPr lang="en-US" sz="1793" strike="noStrike" u="none">
                  <a:solidFill>
                    <a:srgbClr val="000000"/>
                  </a:solidFill>
                  <a:latin typeface="Work Sans"/>
                  <a:ea typeface="Work Sans"/>
                  <a:cs typeface="Work Sans"/>
                  <a:sym typeface="Work Sans"/>
                </a:rPr>
                <a:t>u</a:t>
              </a:r>
              <a:r>
                <a:rPr lang="en-US" sz="1793" strike="noStrike" u="none">
                  <a:solidFill>
                    <a:srgbClr val="000000"/>
                  </a:solidFill>
                  <a:latin typeface="Work Sans"/>
                  <a:ea typeface="Work Sans"/>
                  <a:cs typeface="Work Sans"/>
                  <a:sym typeface="Work Sans"/>
                </a:rPr>
                <a:t>ng và quảng cáo dựa trên phân tích dữ liệu, qua đó đạt 285 đơn đăng ký chất lượng cao cho OpenDay.</a:t>
              </a:r>
            </a:p>
          </p:txBody>
        </p:sp>
        <p:grpSp>
          <p:nvGrpSpPr>
            <p:cNvPr name="Group 61" id="61"/>
            <p:cNvGrpSpPr/>
            <p:nvPr/>
          </p:nvGrpSpPr>
          <p:grpSpPr>
            <a:xfrm rot="0">
              <a:off x="43973460" y="212904"/>
              <a:ext cx="6763089" cy="7113726"/>
              <a:chOff x="0" y="0"/>
              <a:chExt cx="1340398" cy="1409892"/>
            </a:xfrm>
          </p:grpSpPr>
          <p:sp>
            <p:nvSpPr>
              <p:cNvPr name="Freeform 62" id="62"/>
              <p:cNvSpPr/>
              <p:nvPr/>
            </p:nvSpPr>
            <p:spPr>
              <a:xfrm flipH="false" flipV="false" rot="0">
                <a:off x="0" y="0"/>
                <a:ext cx="1340398" cy="1409892"/>
              </a:xfrm>
              <a:custGeom>
                <a:avLst/>
                <a:gdLst/>
                <a:ahLst/>
                <a:cxnLst/>
                <a:rect r="r" b="b" t="t" l="l"/>
                <a:pathLst>
                  <a:path h="1409892" w="1340398">
                    <a:moveTo>
                      <a:pt x="279491" y="0"/>
                    </a:moveTo>
                    <a:lnTo>
                      <a:pt x="1060907" y="0"/>
                    </a:lnTo>
                    <a:cubicBezTo>
                      <a:pt x="1135033" y="0"/>
                      <a:pt x="1206122" y="29446"/>
                      <a:pt x="1258537" y="81861"/>
                    </a:cubicBezTo>
                    <a:cubicBezTo>
                      <a:pt x="1310952" y="134276"/>
                      <a:pt x="1340398" y="205365"/>
                      <a:pt x="1340398" y="279491"/>
                    </a:cubicBezTo>
                    <a:lnTo>
                      <a:pt x="1340398" y="1130401"/>
                    </a:lnTo>
                    <a:cubicBezTo>
                      <a:pt x="1340398" y="1284759"/>
                      <a:pt x="1215266" y="1409892"/>
                      <a:pt x="1060907" y="1409892"/>
                    </a:cubicBezTo>
                    <a:lnTo>
                      <a:pt x="279491" y="1409892"/>
                    </a:lnTo>
                    <a:cubicBezTo>
                      <a:pt x="205365" y="1409892"/>
                      <a:pt x="134276" y="1380445"/>
                      <a:pt x="81861" y="1328031"/>
                    </a:cubicBezTo>
                    <a:cubicBezTo>
                      <a:pt x="29446" y="1275616"/>
                      <a:pt x="0" y="1204526"/>
                      <a:pt x="0" y="1130401"/>
                    </a:cubicBezTo>
                    <a:lnTo>
                      <a:pt x="0" y="279491"/>
                    </a:lnTo>
                    <a:cubicBezTo>
                      <a:pt x="0" y="205365"/>
                      <a:pt x="29446" y="134276"/>
                      <a:pt x="81861" y="81861"/>
                    </a:cubicBezTo>
                    <a:cubicBezTo>
                      <a:pt x="134276" y="29446"/>
                      <a:pt x="205365" y="0"/>
                      <a:pt x="279491" y="0"/>
                    </a:cubicBezTo>
                    <a:close/>
                  </a:path>
                </a:pathLst>
              </a:custGeom>
              <a:solidFill>
                <a:srgbClr val="50212A">
                  <a:alpha val="36863"/>
                </a:srgbClr>
              </a:solidFill>
              <a:ln cap="rnd">
                <a:noFill/>
                <a:prstDash val="solid"/>
                <a:round/>
              </a:ln>
            </p:spPr>
          </p:sp>
          <p:sp>
            <p:nvSpPr>
              <p:cNvPr name="TextBox 63" id="63"/>
              <p:cNvSpPr txBox="true"/>
              <p:nvPr/>
            </p:nvSpPr>
            <p:spPr>
              <a:xfrm>
                <a:off x="0" y="-57150"/>
                <a:ext cx="1340398" cy="1467042"/>
              </a:xfrm>
              <a:prstGeom prst="rect">
                <a:avLst/>
              </a:prstGeom>
            </p:spPr>
            <p:txBody>
              <a:bodyPr anchor="ctr" rtlCol="false" tIns="27649" lIns="27649" bIns="27649" rIns="27649"/>
              <a:lstStyle/>
              <a:p>
                <a:pPr algn="ctr">
                  <a:lnSpc>
                    <a:spcPts val="2660"/>
                  </a:lnSpc>
                </a:pPr>
              </a:p>
            </p:txBody>
          </p:sp>
        </p:grpSp>
        <p:grpSp>
          <p:nvGrpSpPr>
            <p:cNvPr name="Group 64" id="64"/>
            <p:cNvGrpSpPr/>
            <p:nvPr/>
          </p:nvGrpSpPr>
          <p:grpSpPr>
            <a:xfrm rot="0">
              <a:off x="43735815" y="0"/>
              <a:ext cx="6768466" cy="7084151"/>
              <a:chOff x="0" y="0"/>
              <a:chExt cx="1128642" cy="1181282"/>
            </a:xfrm>
          </p:grpSpPr>
          <p:sp>
            <p:nvSpPr>
              <p:cNvPr name="Freeform 65" id="65"/>
              <p:cNvSpPr/>
              <p:nvPr/>
            </p:nvSpPr>
            <p:spPr>
              <a:xfrm flipH="false" flipV="false" rot="0">
                <a:off x="0" y="0"/>
                <a:ext cx="1128642" cy="1181282"/>
              </a:xfrm>
              <a:custGeom>
                <a:avLst/>
                <a:gdLst/>
                <a:ahLst/>
                <a:cxnLst/>
                <a:rect r="r" b="b" t="t" l="l"/>
                <a:pathLst>
                  <a:path h="1181282" w="1128642">
                    <a:moveTo>
                      <a:pt x="279269" y="0"/>
                    </a:moveTo>
                    <a:lnTo>
                      <a:pt x="849373" y="0"/>
                    </a:lnTo>
                    <a:cubicBezTo>
                      <a:pt x="1003609" y="0"/>
                      <a:pt x="1128642" y="125033"/>
                      <a:pt x="1128642" y="279269"/>
                    </a:cubicBezTo>
                    <a:lnTo>
                      <a:pt x="1128642" y="902014"/>
                    </a:lnTo>
                    <a:cubicBezTo>
                      <a:pt x="1128642" y="1056249"/>
                      <a:pt x="1003609" y="1181282"/>
                      <a:pt x="849373" y="1181282"/>
                    </a:cubicBezTo>
                    <a:lnTo>
                      <a:pt x="279269" y="1181282"/>
                    </a:lnTo>
                    <a:cubicBezTo>
                      <a:pt x="125033" y="1181282"/>
                      <a:pt x="0" y="1056249"/>
                      <a:pt x="0" y="902014"/>
                    </a:cubicBezTo>
                    <a:lnTo>
                      <a:pt x="0" y="279269"/>
                    </a:lnTo>
                    <a:cubicBezTo>
                      <a:pt x="0" y="125033"/>
                      <a:pt x="125033" y="0"/>
                      <a:pt x="279269" y="0"/>
                    </a:cubicBezTo>
                    <a:close/>
                  </a:path>
                </a:pathLst>
              </a:custGeom>
              <a:solidFill>
                <a:srgbClr val="FFFFFF"/>
              </a:solidFill>
              <a:ln cap="rnd">
                <a:noFill/>
                <a:prstDash val="solid"/>
                <a:round/>
              </a:ln>
            </p:spPr>
          </p:sp>
          <p:sp>
            <p:nvSpPr>
              <p:cNvPr name="TextBox 66" id="66"/>
              <p:cNvSpPr txBox="true"/>
              <p:nvPr/>
            </p:nvSpPr>
            <p:spPr>
              <a:xfrm>
                <a:off x="0" y="-57150"/>
                <a:ext cx="1128642" cy="1238432"/>
              </a:xfrm>
              <a:prstGeom prst="rect">
                <a:avLst/>
              </a:prstGeom>
            </p:spPr>
            <p:txBody>
              <a:bodyPr anchor="ctr" rtlCol="false" tIns="27649" lIns="27649" bIns="27649" rIns="27649"/>
              <a:lstStyle/>
              <a:p>
                <a:pPr algn="ctr">
                  <a:lnSpc>
                    <a:spcPts val="2660"/>
                  </a:lnSpc>
                </a:pPr>
              </a:p>
            </p:txBody>
          </p:sp>
        </p:grpSp>
        <p:sp>
          <p:nvSpPr>
            <p:cNvPr name="TextBox 67" id="67"/>
            <p:cNvSpPr txBox="true"/>
            <p:nvPr/>
          </p:nvSpPr>
          <p:spPr>
            <a:xfrm rot="0">
              <a:off x="44093713" y="185323"/>
              <a:ext cx="1403940" cy="1232054"/>
            </a:xfrm>
            <a:prstGeom prst="rect">
              <a:avLst/>
            </a:prstGeom>
          </p:spPr>
          <p:txBody>
            <a:bodyPr anchor="t" rtlCol="false" tIns="0" lIns="0" bIns="0" rIns="0">
              <a:spAutoFit/>
            </a:bodyPr>
            <a:lstStyle/>
            <a:p>
              <a:pPr algn="l" marL="0" indent="0" lvl="0">
                <a:lnSpc>
                  <a:spcPts val="7813"/>
                </a:lnSpc>
                <a:spcBef>
                  <a:spcPct val="0"/>
                </a:spcBef>
              </a:pPr>
              <a:r>
                <a:rPr lang="en-US" b="true" sz="5581">
                  <a:solidFill>
                    <a:srgbClr val="50212A">
                      <a:alpha val="36863"/>
                    </a:srgbClr>
                  </a:solidFill>
                  <a:latin typeface="Ojuju Bold"/>
                  <a:ea typeface="Ojuju Bold"/>
                  <a:cs typeface="Ojuju Bold"/>
                  <a:sym typeface="Ojuju Bold"/>
                </a:rPr>
                <a:t>1</a:t>
              </a:r>
            </a:p>
          </p:txBody>
        </p:sp>
        <p:sp>
          <p:nvSpPr>
            <p:cNvPr name="TextBox 68" id="68"/>
            <p:cNvSpPr txBox="true"/>
            <p:nvPr/>
          </p:nvSpPr>
          <p:spPr>
            <a:xfrm rot="0">
              <a:off x="44795683" y="608214"/>
              <a:ext cx="5420003" cy="2489115"/>
            </a:xfrm>
            <a:prstGeom prst="rect">
              <a:avLst/>
            </a:prstGeom>
          </p:spPr>
          <p:txBody>
            <a:bodyPr anchor="t" rtlCol="false" tIns="0" lIns="0" bIns="0" rIns="0">
              <a:spAutoFit/>
            </a:bodyPr>
            <a:lstStyle/>
            <a:p>
              <a:pPr algn="l" marL="0" indent="0" lvl="0">
                <a:lnSpc>
                  <a:spcPts val="5023"/>
                </a:lnSpc>
                <a:spcBef>
                  <a:spcPct val="0"/>
                </a:spcBef>
              </a:pPr>
              <a:r>
                <a:rPr lang="en-US" b="true" sz="3587">
                  <a:solidFill>
                    <a:srgbClr val="50212A">
                      <a:alpha val="36863"/>
                    </a:srgbClr>
                  </a:solidFill>
                  <a:latin typeface="Ojuju Bold"/>
                  <a:ea typeface="Ojuju Bold"/>
                  <a:cs typeface="Ojuju Bold"/>
                  <a:sym typeface="Ojuju Bold"/>
                </a:rPr>
                <a:t>Quản trị nhân sự và cơ chế phối hợp linh hoạt</a:t>
              </a:r>
            </a:p>
          </p:txBody>
        </p:sp>
        <p:sp>
          <p:nvSpPr>
            <p:cNvPr name="TextBox 69" id="69"/>
            <p:cNvSpPr txBox="true"/>
            <p:nvPr/>
          </p:nvSpPr>
          <p:spPr>
            <a:xfrm rot="0">
              <a:off x="44804024" y="4056396"/>
              <a:ext cx="4701352" cy="2075586"/>
            </a:xfrm>
            <a:prstGeom prst="rect">
              <a:avLst/>
            </a:prstGeom>
          </p:spPr>
          <p:txBody>
            <a:bodyPr anchor="t" rtlCol="false" tIns="0" lIns="0" bIns="0" rIns="0">
              <a:spAutoFit/>
            </a:bodyPr>
            <a:lstStyle/>
            <a:p>
              <a:pPr algn="l" marL="0" indent="0" lvl="0">
                <a:lnSpc>
                  <a:spcPts val="2511"/>
                </a:lnSpc>
                <a:spcBef>
                  <a:spcPct val="0"/>
                </a:spcBef>
              </a:pPr>
              <a:r>
                <a:rPr lang="en-US" sz="1793">
                  <a:solidFill>
                    <a:srgbClr val="000000">
                      <a:alpha val="36863"/>
                    </a:srgbClr>
                  </a:solidFill>
                  <a:latin typeface="Work Sans"/>
                  <a:ea typeface="Work Sans"/>
                  <a:cs typeface="Work Sans"/>
                  <a:sym typeface="Work Sans"/>
                </a:rPr>
                <a:t>Điể</a:t>
              </a:r>
              <a:r>
                <a:rPr lang="en-US" sz="1793" strike="noStrike" u="none">
                  <a:solidFill>
                    <a:srgbClr val="000000">
                      <a:alpha val="36863"/>
                    </a:srgbClr>
                  </a:solidFill>
                  <a:latin typeface="Work Sans"/>
                  <a:ea typeface="Work Sans"/>
                  <a:cs typeface="Work Sans"/>
                  <a:sym typeface="Work Sans"/>
                </a:rPr>
                <a:t>m nổi bật trong công tác quản trị là xây </a:t>
              </a:r>
              <a:r>
                <a:rPr lang="en-US" sz="1793" strike="noStrike" u="none">
                  <a:solidFill>
                    <a:srgbClr val="000000">
                      <a:alpha val="36863"/>
                    </a:srgbClr>
                  </a:solidFill>
                  <a:latin typeface="Work Sans"/>
                  <a:ea typeface="Work Sans"/>
                  <a:cs typeface="Work Sans"/>
                  <a:sym typeface="Work Sans"/>
                </a:rPr>
                <a:t>dựng</a:t>
              </a:r>
              <a:r>
                <a:rPr lang="en-US" sz="1793" strike="noStrike" u="none">
                  <a:solidFill>
                    <a:srgbClr val="000000">
                      <a:alpha val="36863"/>
                    </a:srgbClr>
                  </a:solidFill>
                  <a:latin typeface="Work Sans"/>
                  <a:ea typeface="Work Sans"/>
                  <a:cs typeface="Work Sans"/>
                  <a:sym typeface="Work Sans"/>
                </a:rPr>
                <a:t> sơ đồ tổ chức và phân công trách nhiệm rõ ràng ngay từ đầu, giúp tránh chồng chéo công việc.</a:t>
              </a:r>
            </a:p>
          </p:txBody>
        </p:sp>
        <p:sp>
          <p:nvSpPr>
            <p:cNvPr name="Freeform 70" id="70"/>
            <p:cNvSpPr/>
            <p:nvPr/>
          </p:nvSpPr>
          <p:spPr>
            <a:xfrm flipH="false" flipV="false" rot="0">
              <a:off x="40256245" y="5393494"/>
              <a:ext cx="4611715" cy="5233152"/>
            </a:xfrm>
            <a:custGeom>
              <a:avLst/>
              <a:gdLst/>
              <a:ahLst/>
              <a:cxnLst/>
              <a:rect r="r" b="b" t="t" l="l"/>
              <a:pathLst>
                <a:path h="5233152" w="4611715">
                  <a:moveTo>
                    <a:pt x="0" y="0"/>
                  </a:moveTo>
                  <a:lnTo>
                    <a:pt x="4611715" y="0"/>
                  </a:lnTo>
                  <a:lnTo>
                    <a:pt x="4611715" y="5233151"/>
                  </a:lnTo>
                  <a:lnTo>
                    <a:pt x="0" y="5233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1" id="71"/>
            <p:cNvSpPr/>
            <p:nvPr/>
          </p:nvSpPr>
          <p:spPr>
            <a:xfrm flipH="false" flipV="false" rot="0">
              <a:off x="31317587" y="6109662"/>
              <a:ext cx="4788509" cy="4930254"/>
            </a:xfrm>
            <a:custGeom>
              <a:avLst/>
              <a:gdLst/>
              <a:ahLst/>
              <a:cxnLst/>
              <a:rect r="r" b="b" t="t" l="l"/>
              <a:pathLst>
                <a:path h="4930254" w="4788509">
                  <a:moveTo>
                    <a:pt x="0" y="0"/>
                  </a:moveTo>
                  <a:lnTo>
                    <a:pt x="4788509" y="0"/>
                  </a:lnTo>
                  <a:lnTo>
                    <a:pt x="4788509" y="4930254"/>
                  </a:lnTo>
                  <a:lnTo>
                    <a:pt x="0" y="493025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72" id="72"/>
          <p:cNvGrpSpPr/>
          <p:nvPr/>
        </p:nvGrpSpPr>
        <p:grpSpPr>
          <a:xfrm rot="0">
            <a:off x="480736" y="490255"/>
            <a:ext cx="6672526" cy="888116"/>
            <a:chOff x="0" y="0"/>
            <a:chExt cx="8896702" cy="1184154"/>
          </a:xfrm>
        </p:grpSpPr>
        <p:grpSp>
          <p:nvGrpSpPr>
            <p:cNvPr name="Group 73" id="73"/>
            <p:cNvGrpSpPr/>
            <p:nvPr/>
          </p:nvGrpSpPr>
          <p:grpSpPr>
            <a:xfrm rot="0">
              <a:off x="0" y="0"/>
              <a:ext cx="7724001" cy="1184154"/>
              <a:chOff x="0" y="0"/>
              <a:chExt cx="1525729" cy="233907"/>
            </a:xfrm>
          </p:grpSpPr>
          <p:sp>
            <p:nvSpPr>
              <p:cNvPr name="Freeform 74" id="74"/>
              <p:cNvSpPr/>
              <p:nvPr/>
            </p:nvSpPr>
            <p:spPr>
              <a:xfrm flipH="false" flipV="false" rot="0">
                <a:off x="0" y="0"/>
                <a:ext cx="1525729" cy="233907"/>
              </a:xfrm>
              <a:custGeom>
                <a:avLst/>
                <a:gdLst/>
                <a:ahLst/>
                <a:cxnLst/>
                <a:rect r="r" b="b" t="t" l="l"/>
                <a:pathLst>
                  <a:path h="233907" w="1525729">
                    <a:moveTo>
                      <a:pt x="116954" y="0"/>
                    </a:moveTo>
                    <a:lnTo>
                      <a:pt x="1408775" y="0"/>
                    </a:lnTo>
                    <a:cubicBezTo>
                      <a:pt x="1439793" y="0"/>
                      <a:pt x="1469541" y="12322"/>
                      <a:pt x="1491474" y="34255"/>
                    </a:cubicBezTo>
                    <a:cubicBezTo>
                      <a:pt x="1513407" y="56188"/>
                      <a:pt x="1525729" y="85936"/>
                      <a:pt x="1525729" y="116954"/>
                    </a:cubicBezTo>
                    <a:lnTo>
                      <a:pt x="1525729" y="116954"/>
                    </a:lnTo>
                    <a:cubicBezTo>
                      <a:pt x="1525729" y="181545"/>
                      <a:pt x="1473367" y="233907"/>
                      <a:pt x="140877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5" id="75"/>
              <p:cNvSpPr txBox="true"/>
              <p:nvPr/>
            </p:nvSpPr>
            <p:spPr>
              <a:xfrm>
                <a:off x="0" y="-57150"/>
                <a:ext cx="1525729" cy="291057"/>
              </a:xfrm>
              <a:prstGeom prst="rect">
                <a:avLst/>
              </a:prstGeom>
            </p:spPr>
            <p:txBody>
              <a:bodyPr anchor="ctr" rtlCol="false" tIns="50800" lIns="50800" bIns="50800" rIns="50800"/>
              <a:lstStyle/>
              <a:p>
                <a:pPr algn="ctr">
                  <a:lnSpc>
                    <a:spcPts val="2659"/>
                  </a:lnSpc>
                </a:pPr>
              </a:p>
            </p:txBody>
          </p:sp>
        </p:grpSp>
        <p:sp>
          <p:nvSpPr>
            <p:cNvPr name="TextBox 76" id="76"/>
            <p:cNvSpPr txBox="true"/>
            <p:nvPr/>
          </p:nvSpPr>
          <p:spPr>
            <a:xfrm rot="0">
              <a:off x="357186" y="141884"/>
              <a:ext cx="85395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2. Điểm thực hiện tốt</a:t>
              </a:r>
            </a:p>
          </p:txBody>
        </p:sp>
      </p:grpSp>
    </p:spTree>
  </p:cSld>
  <p:clrMapOvr>
    <a:masterClrMapping/>
  </p:clrMapOvr>
  <p:transition spd="fast">
    <p:fade/>
  </p:transition>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606666" y="2147506"/>
            <a:ext cx="15635355" cy="3683753"/>
            <a:chOff x="0" y="0"/>
            <a:chExt cx="20847140" cy="4911670"/>
          </a:xfrm>
        </p:grpSpPr>
        <p:grpSp>
          <p:nvGrpSpPr>
            <p:cNvPr name="Group 10" id="10"/>
            <p:cNvGrpSpPr/>
            <p:nvPr/>
          </p:nvGrpSpPr>
          <p:grpSpPr>
            <a:xfrm rot="0">
              <a:off x="1012644" y="236369"/>
              <a:ext cx="19834496" cy="4675301"/>
              <a:chOff x="0" y="0"/>
              <a:chExt cx="4032682" cy="950566"/>
            </a:xfrm>
          </p:grpSpPr>
          <p:sp>
            <p:nvSpPr>
              <p:cNvPr name="Freeform 11" id="11"/>
              <p:cNvSpPr/>
              <p:nvPr/>
            </p:nvSpPr>
            <p:spPr>
              <a:xfrm flipH="false" flipV="false" rot="0">
                <a:off x="0" y="0"/>
                <a:ext cx="4032682" cy="950566"/>
              </a:xfrm>
              <a:custGeom>
                <a:avLst/>
                <a:gdLst/>
                <a:ahLst/>
                <a:cxnLst/>
                <a:rect r="r" b="b" t="t" l="l"/>
                <a:pathLst>
                  <a:path h="950566" w="4032682">
                    <a:moveTo>
                      <a:pt x="50562" y="0"/>
                    </a:moveTo>
                    <a:lnTo>
                      <a:pt x="3982119" y="0"/>
                    </a:lnTo>
                    <a:cubicBezTo>
                      <a:pt x="4010044" y="0"/>
                      <a:pt x="4032682" y="22638"/>
                      <a:pt x="4032682" y="50562"/>
                    </a:cubicBezTo>
                    <a:lnTo>
                      <a:pt x="4032682" y="900004"/>
                    </a:lnTo>
                    <a:cubicBezTo>
                      <a:pt x="4032682" y="927929"/>
                      <a:pt x="4010044" y="950566"/>
                      <a:pt x="3982119" y="950566"/>
                    </a:cubicBezTo>
                    <a:lnTo>
                      <a:pt x="50562" y="950566"/>
                    </a:lnTo>
                    <a:cubicBezTo>
                      <a:pt x="22638" y="950566"/>
                      <a:pt x="0" y="927929"/>
                      <a:pt x="0" y="900004"/>
                    </a:cubicBezTo>
                    <a:lnTo>
                      <a:pt x="0" y="50562"/>
                    </a:lnTo>
                    <a:cubicBezTo>
                      <a:pt x="0" y="22638"/>
                      <a:pt x="22638" y="0"/>
                      <a:pt x="50562" y="0"/>
                    </a:cubicBezTo>
                    <a:close/>
                  </a:path>
                </a:pathLst>
              </a:custGeom>
              <a:solidFill>
                <a:srgbClr val="50212A"/>
              </a:solidFill>
              <a:ln cap="rnd">
                <a:noFill/>
                <a:prstDash val="solid"/>
                <a:round/>
              </a:ln>
            </p:spPr>
          </p:sp>
          <p:sp>
            <p:nvSpPr>
              <p:cNvPr name="TextBox 12" id="12"/>
              <p:cNvSpPr txBox="true"/>
              <p:nvPr/>
            </p:nvSpPr>
            <p:spPr>
              <a:xfrm>
                <a:off x="0" y="-57150"/>
                <a:ext cx="4032682" cy="100771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20490618" cy="4539499"/>
              <a:chOff x="0" y="0"/>
              <a:chExt cx="4166082" cy="922955"/>
            </a:xfrm>
          </p:grpSpPr>
          <p:sp>
            <p:nvSpPr>
              <p:cNvPr name="Freeform 14" id="14"/>
              <p:cNvSpPr/>
              <p:nvPr/>
            </p:nvSpPr>
            <p:spPr>
              <a:xfrm flipH="false" flipV="false" rot="0">
                <a:off x="0" y="0"/>
                <a:ext cx="4166082" cy="922955"/>
              </a:xfrm>
              <a:custGeom>
                <a:avLst/>
                <a:gdLst/>
                <a:ahLst/>
                <a:cxnLst/>
                <a:rect r="r" b="b" t="t" l="l"/>
                <a:pathLst>
                  <a:path h="922955" w="4166082">
                    <a:moveTo>
                      <a:pt x="44049" y="0"/>
                    </a:moveTo>
                    <a:lnTo>
                      <a:pt x="4122033" y="0"/>
                    </a:lnTo>
                    <a:cubicBezTo>
                      <a:pt x="4133716" y="0"/>
                      <a:pt x="4144919" y="4641"/>
                      <a:pt x="4153181" y="12902"/>
                    </a:cubicBezTo>
                    <a:cubicBezTo>
                      <a:pt x="4161441" y="21162"/>
                      <a:pt x="4166082" y="32367"/>
                      <a:pt x="4166082" y="44049"/>
                    </a:cubicBezTo>
                    <a:lnTo>
                      <a:pt x="4166082" y="878906"/>
                    </a:lnTo>
                    <a:cubicBezTo>
                      <a:pt x="4166082" y="903234"/>
                      <a:pt x="4146361" y="922955"/>
                      <a:pt x="4122033" y="922955"/>
                    </a:cubicBezTo>
                    <a:lnTo>
                      <a:pt x="44049" y="922955"/>
                    </a:lnTo>
                    <a:cubicBezTo>
                      <a:pt x="19721" y="922955"/>
                      <a:pt x="0" y="903234"/>
                      <a:pt x="0" y="878906"/>
                    </a:cubicBezTo>
                    <a:lnTo>
                      <a:pt x="0" y="44049"/>
                    </a:lnTo>
                    <a:cubicBezTo>
                      <a:pt x="0" y="19721"/>
                      <a:pt x="19721" y="0"/>
                      <a:pt x="44049" y="0"/>
                    </a:cubicBezTo>
                    <a:close/>
                  </a:path>
                </a:pathLst>
              </a:custGeom>
              <a:solidFill>
                <a:srgbClr val="FDF6F2"/>
              </a:solidFill>
              <a:ln cap="rnd">
                <a:noFill/>
                <a:prstDash val="solid"/>
                <a:round/>
              </a:ln>
            </p:spPr>
          </p:sp>
          <p:sp>
            <p:nvSpPr>
              <p:cNvPr name="TextBox 15" id="15"/>
              <p:cNvSpPr txBox="true"/>
              <p:nvPr/>
            </p:nvSpPr>
            <p:spPr>
              <a:xfrm>
                <a:off x="0" y="-57150"/>
                <a:ext cx="4166082" cy="98010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591798" y="642854"/>
              <a:ext cx="18898820" cy="712991"/>
            </a:xfrm>
            <a:prstGeom prst="rect">
              <a:avLst/>
            </a:prstGeom>
          </p:spPr>
          <p:txBody>
            <a:bodyPr anchor="t" rtlCol="false" tIns="0" lIns="0" bIns="0" rIns="0">
              <a:spAutoFit/>
            </a:bodyPr>
            <a:lstStyle/>
            <a:p>
              <a:pPr algn="l" marL="0" indent="0" lvl="0">
                <a:lnSpc>
                  <a:spcPts val="4013"/>
                </a:lnSpc>
              </a:pPr>
              <a:r>
                <a:rPr lang="en-US" b="true" sz="3822">
                  <a:solidFill>
                    <a:srgbClr val="50212A"/>
                  </a:solidFill>
                  <a:latin typeface="Ojuju Bold"/>
                  <a:ea typeface="Ojuju Bold"/>
                  <a:cs typeface="Ojuju Bold"/>
                  <a:sym typeface="Ojuju Bold"/>
                </a:rPr>
                <a:t>Hạn chế về nguồn lực tài chính và rào cản công nghệ hỗ trợ</a:t>
              </a:r>
            </a:p>
          </p:txBody>
        </p:sp>
        <p:sp>
          <p:nvSpPr>
            <p:cNvPr name="TextBox 17" id="17"/>
            <p:cNvSpPr txBox="true"/>
            <p:nvPr/>
          </p:nvSpPr>
          <p:spPr>
            <a:xfrm rot="0">
              <a:off x="10897011" y="3181591"/>
              <a:ext cx="3908740" cy="249026"/>
            </a:xfrm>
            <a:prstGeom prst="rect">
              <a:avLst/>
            </a:prstGeom>
          </p:spPr>
          <p:txBody>
            <a:bodyPr anchor="t" rtlCol="false" tIns="0" lIns="0" bIns="0" rIns="0">
              <a:spAutoFit/>
            </a:bodyPr>
            <a:lstStyle/>
            <a:p>
              <a:pPr algn="ctr" marL="0" indent="0" lvl="0">
                <a:lnSpc>
                  <a:spcPts val="1453"/>
                </a:lnSpc>
              </a:pPr>
              <a:r>
                <a:rPr lang="en-US" b="true" sz="1221">
                  <a:solidFill>
                    <a:srgbClr val="FFFFFF"/>
                  </a:solidFill>
                  <a:latin typeface="Work Sans Medium"/>
                  <a:ea typeface="Work Sans Medium"/>
                  <a:cs typeface="Work Sans Medium"/>
                  <a:sym typeface="Work Sans Medium"/>
                </a:rPr>
                <a:t>Người truy cập website</a:t>
              </a:r>
            </a:p>
          </p:txBody>
        </p:sp>
        <p:sp>
          <p:nvSpPr>
            <p:cNvPr name="TextBox 18" id="18"/>
            <p:cNvSpPr txBox="true"/>
            <p:nvPr/>
          </p:nvSpPr>
          <p:spPr>
            <a:xfrm rot="0">
              <a:off x="1591798" y="1607941"/>
              <a:ext cx="10813434" cy="2340786"/>
            </a:xfrm>
            <a:prstGeom prst="rect">
              <a:avLst/>
            </a:prstGeom>
          </p:spPr>
          <p:txBody>
            <a:bodyPr anchor="t" rtlCol="false" tIns="0" lIns="0" bIns="0" rIns="0">
              <a:spAutoFit/>
            </a:bodyPr>
            <a:lstStyle/>
            <a:p>
              <a:pPr algn="l" marL="545360" indent="-272680" lvl="1">
                <a:lnSpc>
                  <a:spcPts val="3536"/>
                </a:lnSpc>
                <a:spcBef>
                  <a:spcPct val="0"/>
                </a:spcBef>
                <a:buFont typeface="Arial"/>
                <a:buChar char="•"/>
              </a:pPr>
              <a:r>
                <a:rPr lang="en-US" sz="2525">
                  <a:solidFill>
                    <a:srgbClr val="000000"/>
                  </a:solidFill>
                  <a:latin typeface="Work Sans"/>
                  <a:ea typeface="Work Sans"/>
                  <a:cs typeface="Work Sans"/>
                  <a:sym typeface="Work Sans"/>
                </a:rPr>
                <a:t>Chiến dịch bị hạn chế về quy mô do ngân sách sinh viên, đặc biệt ảnh hưởng đến quảng cáo trả phí và chất lượng phân hệ VR360 trên website.</a:t>
              </a:r>
            </a:p>
          </p:txBody>
        </p:sp>
      </p:grpSp>
      <p:grpSp>
        <p:nvGrpSpPr>
          <p:cNvPr name="Group 19" id="19"/>
          <p:cNvGrpSpPr/>
          <p:nvPr/>
        </p:nvGrpSpPr>
        <p:grpSpPr>
          <a:xfrm rot="0">
            <a:off x="480736" y="490255"/>
            <a:ext cx="7525709" cy="888116"/>
            <a:chOff x="0" y="0"/>
            <a:chExt cx="10034278" cy="1184154"/>
          </a:xfrm>
        </p:grpSpPr>
        <p:grpSp>
          <p:nvGrpSpPr>
            <p:cNvPr name="Group 20" id="20"/>
            <p:cNvGrpSpPr/>
            <p:nvPr/>
          </p:nvGrpSpPr>
          <p:grpSpPr>
            <a:xfrm rot="0">
              <a:off x="0" y="0"/>
              <a:ext cx="10034278" cy="1184154"/>
              <a:chOff x="0" y="0"/>
              <a:chExt cx="1982080" cy="233907"/>
            </a:xfrm>
          </p:grpSpPr>
          <p:sp>
            <p:nvSpPr>
              <p:cNvPr name="Freeform 21" id="21"/>
              <p:cNvSpPr/>
              <p:nvPr/>
            </p:nvSpPr>
            <p:spPr>
              <a:xfrm flipH="false" flipV="false" rot="0">
                <a:off x="0" y="0"/>
                <a:ext cx="1982080" cy="233907"/>
              </a:xfrm>
              <a:custGeom>
                <a:avLst/>
                <a:gdLst/>
                <a:ahLst/>
                <a:cxnLst/>
                <a:rect r="r" b="b" t="t" l="l"/>
                <a:pathLst>
                  <a:path h="233907" w="1982080">
                    <a:moveTo>
                      <a:pt x="102873" y="0"/>
                    </a:moveTo>
                    <a:lnTo>
                      <a:pt x="1879207" y="0"/>
                    </a:lnTo>
                    <a:cubicBezTo>
                      <a:pt x="1936022" y="0"/>
                      <a:pt x="1982080" y="46058"/>
                      <a:pt x="1982080" y="102873"/>
                    </a:cubicBezTo>
                    <a:lnTo>
                      <a:pt x="1982080" y="131034"/>
                    </a:lnTo>
                    <a:cubicBezTo>
                      <a:pt x="1982080" y="187849"/>
                      <a:pt x="1936022" y="233907"/>
                      <a:pt x="1879207" y="233907"/>
                    </a:cubicBezTo>
                    <a:lnTo>
                      <a:pt x="102873" y="233907"/>
                    </a:lnTo>
                    <a:cubicBezTo>
                      <a:pt x="75589" y="233907"/>
                      <a:pt x="49423" y="223069"/>
                      <a:pt x="30131" y="203776"/>
                    </a:cubicBezTo>
                    <a:cubicBezTo>
                      <a:pt x="10838" y="184484"/>
                      <a:pt x="0" y="158318"/>
                      <a:pt x="0" y="131034"/>
                    </a:cubicBezTo>
                    <a:lnTo>
                      <a:pt x="0" y="102873"/>
                    </a:lnTo>
                    <a:cubicBezTo>
                      <a:pt x="0" y="46058"/>
                      <a:pt x="46058" y="0"/>
                      <a:pt x="102873" y="0"/>
                    </a:cubicBezTo>
                    <a:close/>
                  </a:path>
                </a:pathLst>
              </a:custGeom>
              <a:solidFill>
                <a:srgbClr val="FFFFFF"/>
              </a:solidFill>
              <a:ln cap="rnd">
                <a:noFill/>
                <a:prstDash val="solid"/>
                <a:round/>
              </a:ln>
            </p:spPr>
          </p:sp>
          <p:sp>
            <p:nvSpPr>
              <p:cNvPr name="TextBox 22" id="22"/>
              <p:cNvSpPr txBox="true"/>
              <p:nvPr/>
            </p:nvSpPr>
            <p:spPr>
              <a:xfrm>
                <a:off x="0" y="-57150"/>
                <a:ext cx="1982080" cy="291057"/>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357186" y="141884"/>
              <a:ext cx="85395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3. Những hạn chế của dự án</a:t>
              </a:r>
            </a:p>
          </p:txBody>
        </p:sp>
      </p:grpSp>
      <p:grpSp>
        <p:nvGrpSpPr>
          <p:cNvPr name="Group 24" id="24"/>
          <p:cNvGrpSpPr/>
          <p:nvPr/>
        </p:nvGrpSpPr>
        <p:grpSpPr>
          <a:xfrm rot="0">
            <a:off x="606666" y="6047102"/>
            <a:ext cx="15635355" cy="3683753"/>
            <a:chOff x="0" y="0"/>
            <a:chExt cx="20847140" cy="4911670"/>
          </a:xfrm>
        </p:grpSpPr>
        <p:grpSp>
          <p:nvGrpSpPr>
            <p:cNvPr name="Group 25" id="25"/>
            <p:cNvGrpSpPr/>
            <p:nvPr/>
          </p:nvGrpSpPr>
          <p:grpSpPr>
            <a:xfrm rot="0">
              <a:off x="1012644" y="236369"/>
              <a:ext cx="19834496" cy="4675301"/>
              <a:chOff x="0" y="0"/>
              <a:chExt cx="4032682" cy="950566"/>
            </a:xfrm>
          </p:grpSpPr>
          <p:sp>
            <p:nvSpPr>
              <p:cNvPr name="Freeform 26" id="26"/>
              <p:cNvSpPr/>
              <p:nvPr/>
            </p:nvSpPr>
            <p:spPr>
              <a:xfrm flipH="false" flipV="false" rot="0">
                <a:off x="0" y="0"/>
                <a:ext cx="4032682" cy="950566"/>
              </a:xfrm>
              <a:custGeom>
                <a:avLst/>
                <a:gdLst/>
                <a:ahLst/>
                <a:cxnLst/>
                <a:rect r="r" b="b" t="t" l="l"/>
                <a:pathLst>
                  <a:path h="950566" w="4032682">
                    <a:moveTo>
                      <a:pt x="50562" y="0"/>
                    </a:moveTo>
                    <a:lnTo>
                      <a:pt x="3982119" y="0"/>
                    </a:lnTo>
                    <a:cubicBezTo>
                      <a:pt x="4010044" y="0"/>
                      <a:pt x="4032682" y="22638"/>
                      <a:pt x="4032682" y="50562"/>
                    </a:cubicBezTo>
                    <a:lnTo>
                      <a:pt x="4032682" y="900004"/>
                    </a:lnTo>
                    <a:cubicBezTo>
                      <a:pt x="4032682" y="927929"/>
                      <a:pt x="4010044" y="950566"/>
                      <a:pt x="3982119" y="950566"/>
                    </a:cubicBezTo>
                    <a:lnTo>
                      <a:pt x="50562" y="950566"/>
                    </a:lnTo>
                    <a:cubicBezTo>
                      <a:pt x="22638" y="950566"/>
                      <a:pt x="0" y="927929"/>
                      <a:pt x="0" y="900004"/>
                    </a:cubicBezTo>
                    <a:lnTo>
                      <a:pt x="0" y="50562"/>
                    </a:lnTo>
                    <a:cubicBezTo>
                      <a:pt x="0" y="22638"/>
                      <a:pt x="22638" y="0"/>
                      <a:pt x="50562" y="0"/>
                    </a:cubicBezTo>
                    <a:close/>
                  </a:path>
                </a:pathLst>
              </a:custGeom>
              <a:solidFill>
                <a:srgbClr val="50212A">
                  <a:alpha val="40784"/>
                </a:srgbClr>
              </a:solidFill>
              <a:ln cap="rnd">
                <a:noFill/>
                <a:prstDash val="solid"/>
                <a:round/>
              </a:ln>
            </p:spPr>
          </p:sp>
          <p:sp>
            <p:nvSpPr>
              <p:cNvPr name="TextBox 27" id="27"/>
              <p:cNvSpPr txBox="true"/>
              <p:nvPr/>
            </p:nvSpPr>
            <p:spPr>
              <a:xfrm>
                <a:off x="0" y="-57150"/>
                <a:ext cx="4032682" cy="1007716"/>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0" y="0"/>
              <a:ext cx="20490618" cy="4539499"/>
              <a:chOff x="0" y="0"/>
              <a:chExt cx="4166082" cy="922955"/>
            </a:xfrm>
          </p:grpSpPr>
          <p:sp>
            <p:nvSpPr>
              <p:cNvPr name="Freeform 29" id="29"/>
              <p:cNvSpPr/>
              <p:nvPr/>
            </p:nvSpPr>
            <p:spPr>
              <a:xfrm flipH="false" flipV="false" rot="0">
                <a:off x="0" y="0"/>
                <a:ext cx="4166082" cy="922955"/>
              </a:xfrm>
              <a:custGeom>
                <a:avLst/>
                <a:gdLst/>
                <a:ahLst/>
                <a:cxnLst/>
                <a:rect r="r" b="b" t="t" l="l"/>
                <a:pathLst>
                  <a:path h="922955" w="4166082">
                    <a:moveTo>
                      <a:pt x="44049" y="0"/>
                    </a:moveTo>
                    <a:lnTo>
                      <a:pt x="4122033" y="0"/>
                    </a:lnTo>
                    <a:cubicBezTo>
                      <a:pt x="4133716" y="0"/>
                      <a:pt x="4144919" y="4641"/>
                      <a:pt x="4153181" y="12902"/>
                    </a:cubicBezTo>
                    <a:cubicBezTo>
                      <a:pt x="4161441" y="21162"/>
                      <a:pt x="4166082" y="32367"/>
                      <a:pt x="4166082" y="44049"/>
                    </a:cubicBezTo>
                    <a:lnTo>
                      <a:pt x="4166082" y="878906"/>
                    </a:lnTo>
                    <a:cubicBezTo>
                      <a:pt x="4166082" y="903234"/>
                      <a:pt x="4146361" y="922955"/>
                      <a:pt x="4122033" y="922955"/>
                    </a:cubicBezTo>
                    <a:lnTo>
                      <a:pt x="44049" y="922955"/>
                    </a:lnTo>
                    <a:cubicBezTo>
                      <a:pt x="19721" y="922955"/>
                      <a:pt x="0" y="903234"/>
                      <a:pt x="0" y="878906"/>
                    </a:cubicBezTo>
                    <a:lnTo>
                      <a:pt x="0" y="44049"/>
                    </a:lnTo>
                    <a:cubicBezTo>
                      <a:pt x="0" y="19721"/>
                      <a:pt x="19721" y="0"/>
                      <a:pt x="44049" y="0"/>
                    </a:cubicBezTo>
                    <a:close/>
                  </a:path>
                </a:pathLst>
              </a:custGeom>
              <a:solidFill>
                <a:srgbClr val="FDF6F2">
                  <a:alpha val="40784"/>
                </a:srgbClr>
              </a:solidFill>
              <a:ln cap="rnd">
                <a:noFill/>
                <a:prstDash val="solid"/>
                <a:round/>
              </a:ln>
            </p:spPr>
          </p:sp>
          <p:sp>
            <p:nvSpPr>
              <p:cNvPr name="TextBox 30" id="30"/>
              <p:cNvSpPr txBox="true"/>
              <p:nvPr/>
            </p:nvSpPr>
            <p:spPr>
              <a:xfrm>
                <a:off x="0" y="-57150"/>
                <a:ext cx="4166082" cy="980105"/>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1591798" y="889747"/>
              <a:ext cx="18898820" cy="712991"/>
            </a:xfrm>
            <a:prstGeom prst="rect">
              <a:avLst/>
            </a:prstGeom>
          </p:spPr>
          <p:txBody>
            <a:bodyPr anchor="t" rtlCol="false" tIns="0" lIns="0" bIns="0" rIns="0">
              <a:spAutoFit/>
            </a:bodyPr>
            <a:lstStyle/>
            <a:p>
              <a:pPr algn="l" marL="0" indent="0" lvl="0">
                <a:lnSpc>
                  <a:spcPts val="4013"/>
                </a:lnSpc>
              </a:pPr>
              <a:r>
                <a:rPr lang="en-US" b="true" sz="3822">
                  <a:solidFill>
                    <a:srgbClr val="50212A">
                      <a:alpha val="40784"/>
                    </a:srgbClr>
                  </a:solidFill>
                  <a:latin typeface="Ojuju Bold"/>
                  <a:ea typeface="Ojuju Bold"/>
                  <a:cs typeface="Ojuju Bold"/>
                  <a:sym typeface="Ojuju Bold"/>
                </a:rPr>
                <a:t>Quỹ thời gian ngắn và sự thiếu hụt độ phủ đa kênh</a:t>
              </a:r>
            </a:p>
          </p:txBody>
        </p:sp>
        <p:sp>
          <p:nvSpPr>
            <p:cNvPr name="TextBox 32" id="32"/>
            <p:cNvSpPr txBox="true"/>
            <p:nvPr/>
          </p:nvSpPr>
          <p:spPr>
            <a:xfrm rot="0">
              <a:off x="10897011" y="3181591"/>
              <a:ext cx="3908740" cy="249026"/>
            </a:xfrm>
            <a:prstGeom prst="rect">
              <a:avLst/>
            </a:prstGeom>
          </p:spPr>
          <p:txBody>
            <a:bodyPr anchor="t" rtlCol="false" tIns="0" lIns="0" bIns="0" rIns="0">
              <a:spAutoFit/>
            </a:bodyPr>
            <a:lstStyle/>
            <a:p>
              <a:pPr algn="ctr" marL="0" indent="0" lvl="0">
                <a:lnSpc>
                  <a:spcPts val="1453"/>
                </a:lnSpc>
              </a:pPr>
              <a:r>
                <a:rPr lang="en-US" b="true" sz="1221">
                  <a:solidFill>
                    <a:srgbClr val="FFFFFF">
                      <a:alpha val="40784"/>
                    </a:srgbClr>
                  </a:solidFill>
                  <a:latin typeface="Work Sans Medium"/>
                  <a:ea typeface="Work Sans Medium"/>
                  <a:cs typeface="Work Sans Medium"/>
                  <a:sym typeface="Work Sans Medium"/>
                </a:rPr>
                <a:t>Người truy cập website</a:t>
              </a:r>
            </a:p>
          </p:txBody>
        </p:sp>
        <p:sp>
          <p:nvSpPr>
            <p:cNvPr name="TextBox 33" id="33"/>
            <p:cNvSpPr txBox="true"/>
            <p:nvPr/>
          </p:nvSpPr>
          <p:spPr>
            <a:xfrm rot="0">
              <a:off x="1591798" y="1992207"/>
              <a:ext cx="11764177" cy="2340786"/>
            </a:xfrm>
            <a:prstGeom prst="rect">
              <a:avLst/>
            </a:prstGeom>
          </p:spPr>
          <p:txBody>
            <a:bodyPr anchor="t" rtlCol="false" tIns="0" lIns="0" bIns="0" rIns="0">
              <a:spAutoFit/>
            </a:bodyPr>
            <a:lstStyle/>
            <a:p>
              <a:pPr algn="l" marL="545360" indent="-272680" lvl="1">
                <a:lnSpc>
                  <a:spcPts val="3536"/>
                </a:lnSpc>
                <a:spcBef>
                  <a:spcPct val="0"/>
                </a:spcBef>
                <a:buFont typeface="Arial"/>
                <a:buChar char="•"/>
              </a:pPr>
              <a:r>
                <a:rPr lang="en-US" sz="2525">
                  <a:solidFill>
                    <a:srgbClr val="000000">
                      <a:alpha val="40784"/>
                    </a:srgbClr>
                  </a:solidFill>
                  <a:latin typeface="Work Sans"/>
                  <a:ea typeface="Work Sans"/>
                  <a:cs typeface="Work Sans"/>
                  <a:sym typeface="Work Sans"/>
                </a:rPr>
                <a:t>Chiến dịch bị giới hạn 6 tuần và dự trù 1 tuần, đồng thời hạn chế về mặt nhân sự, chỉ triển khai trên Facebook và TikTok nên chưa mở rộng được sang các kênh như Instagram và YouTube.</a:t>
              </a:r>
            </a:p>
          </p:txBody>
        </p:sp>
      </p:grpSp>
      <p:sp>
        <p:nvSpPr>
          <p:cNvPr name="Freeform 34" id="34"/>
          <p:cNvSpPr/>
          <p:nvPr/>
        </p:nvSpPr>
        <p:spPr>
          <a:xfrm flipH="false" flipV="false" rot="0">
            <a:off x="12202048" y="3168703"/>
            <a:ext cx="1982417" cy="1994885"/>
          </a:xfrm>
          <a:custGeom>
            <a:avLst/>
            <a:gdLst/>
            <a:ahLst/>
            <a:cxnLst/>
            <a:rect r="r" b="b" t="t" l="l"/>
            <a:pathLst>
              <a:path h="1994885" w="1982417">
                <a:moveTo>
                  <a:pt x="0" y="0"/>
                </a:moveTo>
                <a:lnTo>
                  <a:pt x="1982417" y="0"/>
                </a:lnTo>
                <a:lnTo>
                  <a:pt x="1982417" y="1994885"/>
                </a:lnTo>
                <a:lnTo>
                  <a:pt x="0" y="19948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5" id="35"/>
          <p:cNvSpPr/>
          <p:nvPr/>
        </p:nvSpPr>
        <p:spPr>
          <a:xfrm flipH="false" flipV="false" rot="0">
            <a:off x="12202048" y="6950376"/>
            <a:ext cx="2838303" cy="2157110"/>
          </a:xfrm>
          <a:custGeom>
            <a:avLst/>
            <a:gdLst/>
            <a:ahLst/>
            <a:cxnLst/>
            <a:rect r="r" b="b" t="t" l="l"/>
            <a:pathLst>
              <a:path h="2157110" w="2838303">
                <a:moveTo>
                  <a:pt x="0" y="0"/>
                </a:moveTo>
                <a:lnTo>
                  <a:pt x="2838303" y="0"/>
                </a:lnTo>
                <a:lnTo>
                  <a:pt x="2838303" y="2157110"/>
                </a:lnTo>
                <a:lnTo>
                  <a:pt x="0" y="2157110"/>
                </a:lnTo>
                <a:lnTo>
                  <a:pt x="0" y="0"/>
                </a:lnTo>
                <a:close/>
              </a:path>
            </a:pathLst>
          </a:custGeom>
          <a:blipFill>
            <a:blip r:embed="rId6">
              <a:alphaModFix amt="41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606666" y="2147506"/>
            <a:ext cx="15635355" cy="3683753"/>
            <a:chOff x="0" y="0"/>
            <a:chExt cx="20847140" cy="4911670"/>
          </a:xfrm>
        </p:grpSpPr>
        <p:grpSp>
          <p:nvGrpSpPr>
            <p:cNvPr name="Group 10" id="10"/>
            <p:cNvGrpSpPr/>
            <p:nvPr/>
          </p:nvGrpSpPr>
          <p:grpSpPr>
            <a:xfrm rot="0">
              <a:off x="1012644" y="236369"/>
              <a:ext cx="19834496" cy="4675301"/>
              <a:chOff x="0" y="0"/>
              <a:chExt cx="4032682" cy="950566"/>
            </a:xfrm>
          </p:grpSpPr>
          <p:sp>
            <p:nvSpPr>
              <p:cNvPr name="Freeform 11" id="11"/>
              <p:cNvSpPr/>
              <p:nvPr/>
            </p:nvSpPr>
            <p:spPr>
              <a:xfrm flipH="false" flipV="false" rot="0">
                <a:off x="0" y="0"/>
                <a:ext cx="4032682" cy="950566"/>
              </a:xfrm>
              <a:custGeom>
                <a:avLst/>
                <a:gdLst/>
                <a:ahLst/>
                <a:cxnLst/>
                <a:rect r="r" b="b" t="t" l="l"/>
                <a:pathLst>
                  <a:path h="950566" w="4032682">
                    <a:moveTo>
                      <a:pt x="50562" y="0"/>
                    </a:moveTo>
                    <a:lnTo>
                      <a:pt x="3982119" y="0"/>
                    </a:lnTo>
                    <a:cubicBezTo>
                      <a:pt x="4010044" y="0"/>
                      <a:pt x="4032682" y="22638"/>
                      <a:pt x="4032682" y="50562"/>
                    </a:cubicBezTo>
                    <a:lnTo>
                      <a:pt x="4032682" y="900004"/>
                    </a:lnTo>
                    <a:cubicBezTo>
                      <a:pt x="4032682" y="927929"/>
                      <a:pt x="4010044" y="950566"/>
                      <a:pt x="3982119" y="950566"/>
                    </a:cubicBezTo>
                    <a:lnTo>
                      <a:pt x="50562" y="950566"/>
                    </a:lnTo>
                    <a:cubicBezTo>
                      <a:pt x="22638" y="950566"/>
                      <a:pt x="0" y="927929"/>
                      <a:pt x="0" y="900004"/>
                    </a:cubicBezTo>
                    <a:lnTo>
                      <a:pt x="0" y="50562"/>
                    </a:lnTo>
                    <a:cubicBezTo>
                      <a:pt x="0" y="22638"/>
                      <a:pt x="22638" y="0"/>
                      <a:pt x="50562" y="0"/>
                    </a:cubicBezTo>
                    <a:close/>
                  </a:path>
                </a:pathLst>
              </a:custGeom>
              <a:solidFill>
                <a:srgbClr val="50212A">
                  <a:alpha val="40784"/>
                </a:srgbClr>
              </a:solidFill>
              <a:ln cap="rnd">
                <a:noFill/>
                <a:prstDash val="solid"/>
                <a:round/>
              </a:ln>
            </p:spPr>
          </p:sp>
          <p:sp>
            <p:nvSpPr>
              <p:cNvPr name="TextBox 12" id="12"/>
              <p:cNvSpPr txBox="true"/>
              <p:nvPr/>
            </p:nvSpPr>
            <p:spPr>
              <a:xfrm>
                <a:off x="0" y="-57150"/>
                <a:ext cx="4032682" cy="100771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20490618" cy="4539499"/>
              <a:chOff x="0" y="0"/>
              <a:chExt cx="4166082" cy="922955"/>
            </a:xfrm>
          </p:grpSpPr>
          <p:sp>
            <p:nvSpPr>
              <p:cNvPr name="Freeform 14" id="14"/>
              <p:cNvSpPr/>
              <p:nvPr/>
            </p:nvSpPr>
            <p:spPr>
              <a:xfrm flipH="false" flipV="false" rot="0">
                <a:off x="0" y="0"/>
                <a:ext cx="4166082" cy="922955"/>
              </a:xfrm>
              <a:custGeom>
                <a:avLst/>
                <a:gdLst/>
                <a:ahLst/>
                <a:cxnLst/>
                <a:rect r="r" b="b" t="t" l="l"/>
                <a:pathLst>
                  <a:path h="922955" w="4166082">
                    <a:moveTo>
                      <a:pt x="44049" y="0"/>
                    </a:moveTo>
                    <a:lnTo>
                      <a:pt x="4122033" y="0"/>
                    </a:lnTo>
                    <a:cubicBezTo>
                      <a:pt x="4133716" y="0"/>
                      <a:pt x="4144919" y="4641"/>
                      <a:pt x="4153181" y="12902"/>
                    </a:cubicBezTo>
                    <a:cubicBezTo>
                      <a:pt x="4161441" y="21162"/>
                      <a:pt x="4166082" y="32367"/>
                      <a:pt x="4166082" y="44049"/>
                    </a:cubicBezTo>
                    <a:lnTo>
                      <a:pt x="4166082" y="878906"/>
                    </a:lnTo>
                    <a:cubicBezTo>
                      <a:pt x="4166082" y="903234"/>
                      <a:pt x="4146361" y="922955"/>
                      <a:pt x="4122033" y="922955"/>
                    </a:cubicBezTo>
                    <a:lnTo>
                      <a:pt x="44049" y="922955"/>
                    </a:lnTo>
                    <a:cubicBezTo>
                      <a:pt x="19721" y="922955"/>
                      <a:pt x="0" y="903234"/>
                      <a:pt x="0" y="878906"/>
                    </a:cubicBezTo>
                    <a:lnTo>
                      <a:pt x="0" y="44049"/>
                    </a:lnTo>
                    <a:cubicBezTo>
                      <a:pt x="0" y="19721"/>
                      <a:pt x="19721" y="0"/>
                      <a:pt x="44049" y="0"/>
                    </a:cubicBezTo>
                    <a:close/>
                  </a:path>
                </a:pathLst>
              </a:custGeom>
              <a:solidFill>
                <a:srgbClr val="FDF6F2">
                  <a:alpha val="40784"/>
                </a:srgbClr>
              </a:solidFill>
              <a:ln cap="rnd">
                <a:noFill/>
                <a:prstDash val="solid"/>
                <a:round/>
              </a:ln>
            </p:spPr>
          </p:sp>
          <p:sp>
            <p:nvSpPr>
              <p:cNvPr name="TextBox 15" id="15"/>
              <p:cNvSpPr txBox="true"/>
              <p:nvPr/>
            </p:nvSpPr>
            <p:spPr>
              <a:xfrm>
                <a:off x="0" y="-57150"/>
                <a:ext cx="4166082" cy="98010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591798" y="642854"/>
              <a:ext cx="18898820" cy="712991"/>
            </a:xfrm>
            <a:prstGeom prst="rect">
              <a:avLst/>
            </a:prstGeom>
          </p:spPr>
          <p:txBody>
            <a:bodyPr anchor="t" rtlCol="false" tIns="0" lIns="0" bIns="0" rIns="0">
              <a:spAutoFit/>
            </a:bodyPr>
            <a:lstStyle/>
            <a:p>
              <a:pPr algn="l" marL="0" indent="0" lvl="0">
                <a:lnSpc>
                  <a:spcPts val="4013"/>
                </a:lnSpc>
              </a:pPr>
              <a:r>
                <a:rPr lang="en-US" b="true" sz="3822">
                  <a:solidFill>
                    <a:srgbClr val="50212A">
                      <a:alpha val="40784"/>
                    </a:srgbClr>
                  </a:solidFill>
                  <a:latin typeface="Ojuju Bold"/>
                  <a:ea typeface="Ojuju Bold"/>
                  <a:cs typeface="Ojuju Bold"/>
                  <a:sym typeface="Ojuju Bold"/>
                </a:rPr>
                <a:t>Hạn chế về nguồn lực tài chính và rào cản công nghệ hỗ trợ</a:t>
              </a:r>
            </a:p>
          </p:txBody>
        </p:sp>
        <p:sp>
          <p:nvSpPr>
            <p:cNvPr name="TextBox 17" id="17"/>
            <p:cNvSpPr txBox="true"/>
            <p:nvPr/>
          </p:nvSpPr>
          <p:spPr>
            <a:xfrm rot="0">
              <a:off x="10897011" y="3181591"/>
              <a:ext cx="3908740" cy="249026"/>
            </a:xfrm>
            <a:prstGeom prst="rect">
              <a:avLst/>
            </a:prstGeom>
          </p:spPr>
          <p:txBody>
            <a:bodyPr anchor="t" rtlCol="false" tIns="0" lIns="0" bIns="0" rIns="0">
              <a:spAutoFit/>
            </a:bodyPr>
            <a:lstStyle/>
            <a:p>
              <a:pPr algn="ctr" marL="0" indent="0" lvl="0">
                <a:lnSpc>
                  <a:spcPts val="1453"/>
                </a:lnSpc>
              </a:pPr>
              <a:r>
                <a:rPr lang="en-US" b="true" sz="1221">
                  <a:solidFill>
                    <a:srgbClr val="FFFFFF">
                      <a:alpha val="40784"/>
                    </a:srgbClr>
                  </a:solidFill>
                  <a:latin typeface="Work Sans Medium"/>
                  <a:ea typeface="Work Sans Medium"/>
                  <a:cs typeface="Work Sans Medium"/>
                  <a:sym typeface="Work Sans Medium"/>
                </a:rPr>
                <a:t>Người truy cập website</a:t>
              </a:r>
            </a:p>
          </p:txBody>
        </p:sp>
        <p:sp>
          <p:nvSpPr>
            <p:cNvPr name="TextBox 18" id="18"/>
            <p:cNvSpPr txBox="true"/>
            <p:nvPr/>
          </p:nvSpPr>
          <p:spPr>
            <a:xfrm rot="0">
              <a:off x="1591798" y="1607941"/>
              <a:ext cx="10813434" cy="2340786"/>
            </a:xfrm>
            <a:prstGeom prst="rect">
              <a:avLst/>
            </a:prstGeom>
          </p:spPr>
          <p:txBody>
            <a:bodyPr anchor="t" rtlCol="false" tIns="0" lIns="0" bIns="0" rIns="0">
              <a:spAutoFit/>
            </a:bodyPr>
            <a:lstStyle/>
            <a:p>
              <a:pPr algn="l" marL="545360" indent="-272680" lvl="1">
                <a:lnSpc>
                  <a:spcPts val="3536"/>
                </a:lnSpc>
                <a:spcBef>
                  <a:spcPct val="0"/>
                </a:spcBef>
                <a:buFont typeface="Arial"/>
                <a:buChar char="•"/>
              </a:pPr>
              <a:r>
                <a:rPr lang="en-US" sz="2525">
                  <a:solidFill>
                    <a:srgbClr val="000000">
                      <a:alpha val="40784"/>
                    </a:srgbClr>
                  </a:solidFill>
                  <a:latin typeface="Work Sans"/>
                  <a:ea typeface="Work Sans"/>
                  <a:cs typeface="Work Sans"/>
                  <a:sym typeface="Work Sans"/>
                </a:rPr>
                <a:t>Chiến dịch bị hạn chế về quy mô do ngân sách sinh viên, đặc biệt ảnh hưởng đến quảng cáo trả phí và chất lượng phân hệ VR360 trên website.</a:t>
              </a:r>
            </a:p>
          </p:txBody>
        </p:sp>
      </p:grpSp>
      <p:grpSp>
        <p:nvGrpSpPr>
          <p:cNvPr name="Group 19" id="19"/>
          <p:cNvGrpSpPr/>
          <p:nvPr/>
        </p:nvGrpSpPr>
        <p:grpSpPr>
          <a:xfrm rot="0">
            <a:off x="480736" y="490255"/>
            <a:ext cx="7525709" cy="888116"/>
            <a:chOff x="0" y="0"/>
            <a:chExt cx="10034278" cy="1184154"/>
          </a:xfrm>
        </p:grpSpPr>
        <p:grpSp>
          <p:nvGrpSpPr>
            <p:cNvPr name="Group 20" id="20"/>
            <p:cNvGrpSpPr/>
            <p:nvPr/>
          </p:nvGrpSpPr>
          <p:grpSpPr>
            <a:xfrm rot="0">
              <a:off x="0" y="0"/>
              <a:ext cx="10034278" cy="1184154"/>
              <a:chOff x="0" y="0"/>
              <a:chExt cx="1982080" cy="233907"/>
            </a:xfrm>
          </p:grpSpPr>
          <p:sp>
            <p:nvSpPr>
              <p:cNvPr name="Freeform 21" id="21"/>
              <p:cNvSpPr/>
              <p:nvPr/>
            </p:nvSpPr>
            <p:spPr>
              <a:xfrm flipH="false" flipV="false" rot="0">
                <a:off x="0" y="0"/>
                <a:ext cx="1982080" cy="233907"/>
              </a:xfrm>
              <a:custGeom>
                <a:avLst/>
                <a:gdLst/>
                <a:ahLst/>
                <a:cxnLst/>
                <a:rect r="r" b="b" t="t" l="l"/>
                <a:pathLst>
                  <a:path h="233907" w="1982080">
                    <a:moveTo>
                      <a:pt x="102873" y="0"/>
                    </a:moveTo>
                    <a:lnTo>
                      <a:pt x="1879207" y="0"/>
                    </a:lnTo>
                    <a:cubicBezTo>
                      <a:pt x="1936022" y="0"/>
                      <a:pt x="1982080" y="46058"/>
                      <a:pt x="1982080" y="102873"/>
                    </a:cubicBezTo>
                    <a:lnTo>
                      <a:pt x="1982080" y="131034"/>
                    </a:lnTo>
                    <a:cubicBezTo>
                      <a:pt x="1982080" y="187849"/>
                      <a:pt x="1936022" y="233907"/>
                      <a:pt x="1879207" y="233907"/>
                    </a:cubicBezTo>
                    <a:lnTo>
                      <a:pt x="102873" y="233907"/>
                    </a:lnTo>
                    <a:cubicBezTo>
                      <a:pt x="75589" y="233907"/>
                      <a:pt x="49423" y="223069"/>
                      <a:pt x="30131" y="203776"/>
                    </a:cubicBezTo>
                    <a:cubicBezTo>
                      <a:pt x="10838" y="184484"/>
                      <a:pt x="0" y="158318"/>
                      <a:pt x="0" y="131034"/>
                    </a:cubicBezTo>
                    <a:lnTo>
                      <a:pt x="0" y="102873"/>
                    </a:lnTo>
                    <a:cubicBezTo>
                      <a:pt x="0" y="46058"/>
                      <a:pt x="46058" y="0"/>
                      <a:pt x="102873" y="0"/>
                    </a:cubicBezTo>
                    <a:close/>
                  </a:path>
                </a:pathLst>
              </a:custGeom>
              <a:solidFill>
                <a:srgbClr val="FFFFFF"/>
              </a:solidFill>
              <a:ln cap="rnd">
                <a:noFill/>
                <a:prstDash val="solid"/>
                <a:round/>
              </a:ln>
            </p:spPr>
          </p:sp>
          <p:sp>
            <p:nvSpPr>
              <p:cNvPr name="TextBox 22" id="22"/>
              <p:cNvSpPr txBox="true"/>
              <p:nvPr/>
            </p:nvSpPr>
            <p:spPr>
              <a:xfrm>
                <a:off x="0" y="-57150"/>
                <a:ext cx="1982080" cy="291057"/>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357186" y="141884"/>
              <a:ext cx="8539516"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3. Những hạn chế của dự án</a:t>
              </a:r>
            </a:p>
          </p:txBody>
        </p:sp>
      </p:grpSp>
      <p:grpSp>
        <p:nvGrpSpPr>
          <p:cNvPr name="Group 24" id="24"/>
          <p:cNvGrpSpPr/>
          <p:nvPr/>
        </p:nvGrpSpPr>
        <p:grpSpPr>
          <a:xfrm rot="0">
            <a:off x="606666" y="6047102"/>
            <a:ext cx="15635355" cy="3683753"/>
            <a:chOff x="0" y="0"/>
            <a:chExt cx="20847140" cy="4911670"/>
          </a:xfrm>
        </p:grpSpPr>
        <p:grpSp>
          <p:nvGrpSpPr>
            <p:cNvPr name="Group 25" id="25"/>
            <p:cNvGrpSpPr/>
            <p:nvPr/>
          </p:nvGrpSpPr>
          <p:grpSpPr>
            <a:xfrm rot="0">
              <a:off x="1012644" y="236369"/>
              <a:ext cx="19834496" cy="4675301"/>
              <a:chOff x="0" y="0"/>
              <a:chExt cx="4032682" cy="950566"/>
            </a:xfrm>
          </p:grpSpPr>
          <p:sp>
            <p:nvSpPr>
              <p:cNvPr name="Freeform 26" id="26"/>
              <p:cNvSpPr/>
              <p:nvPr/>
            </p:nvSpPr>
            <p:spPr>
              <a:xfrm flipH="false" flipV="false" rot="0">
                <a:off x="0" y="0"/>
                <a:ext cx="4032682" cy="950566"/>
              </a:xfrm>
              <a:custGeom>
                <a:avLst/>
                <a:gdLst/>
                <a:ahLst/>
                <a:cxnLst/>
                <a:rect r="r" b="b" t="t" l="l"/>
                <a:pathLst>
                  <a:path h="950566" w="4032682">
                    <a:moveTo>
                      <a:pt x="50562" y="0"/>
                    </a:moveTo>
                    <a:lnTo>
                      <a:pt x="3982119" y="0"/>
                    </a:lnTo>
                    <a:cubicBezTo>
                      <a:pt x="4010044" y="0"/>
                      <a:pt x="4032682" y="22638"/>
                      <a:pt x="4032682" y="50562"/>
                    </a:cubicBezTo>
                    <a:lnTo>
                      <a:pt x="4032682" y="900004"/>
                    </a:lnTo>
                    <a:cubicBezTo>
                      <a:pt x="4032682" y="927929"/>
                      <a:pt x="4010044" y="950566"/>
                      <a:pt x="3982119" y="950566"/>
                    </a:cubicBezTo>
                    <a:lnTo>
                      <a:pt x="50562" y="950566"/>
                    </a:lnTo>
                    <a:cubicBezTo>
                      <a:pt x="22638" y="950566"/>
                      <a:pt x="0" y="927929"/>
                      <a:pt x="0" y="900004"/>
                    </a:cubicBezTo>
                    <a:lnTo>
                      <a:pt x="0" y="50562"/>
                    </a:lnTo>
                    <a:cubicBezTo>
                      <a:pt x="0" y="22638"/>
                      <a:pt x="22638" y="0"/>
                      <a:pt x="50562" y="0"/>
                    </a:cubicBezTo>
                    <a:close/>
                  </a:path>
                </a:pathLst>
              </a:custGeom>
              <a:solidFill>
                <a:srgbClr val="50212A"/>
              </a:solidFill>
              <a:ln cap="rnd">
                <a:noFill/>
                <a:prstDash val="solid"/>
                <a:round/>
              </a:ln>
            </p:spPr>
          </p:sp>
          <p:sp>
            <p:nvSpPr>
              <p:cNvPr name="TextBox 27" id="27"/>
              <p:cNvSpPr txBox="true"/>
              <p:nvPr/>
            </p:nvSpPr>
            <p:spPr>
              <a:xfrm>
                <a:off x="0" y="-57150"/>
                <a:ext cx="4032682" cy="1007716"/>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0" y="0"/>
              <a:ext cx="20490618" cy="4539499"/>
              <a:chOff x="0" y="0"/>
              <a:chExt cx="4166082" cy="922955"/>
            </a:xfrm>
          </p:grpSpPr>
          <p:sp>
            <p:nvSpPr>
              <p:cNvPr name="Freeform 29" id="29"/>
              <p:cNvSpPr/>
              <p:nvPr/>
            </p:nvSpPr>
            <p:spPr>
              <a:xfrm flipH="false" flipV="false" rot="0">
                <a:off x="0" y="0"/>
                <a:ext cx="4166082" cy="922955"/>
              </a:xfrm>
              <a:custGeom>
                <a:avLst/>
                <a:gdLst/>
                <a:ahLst/>
                <a:cxnLst/>
                <a:rect r="r" b="b" t="t" l="l"/>
                <a:pathLst>
                  <a:path h="922955" w="4166082">
                    <a:moveTo>
                      <a:pt x="44049" y="0"/>
                    </a:moveTo>
                    <a:lnTo>
                      <a:pt x="4122033" y="0"/>
                    </a:lnTo>
                    <a:cubicBezTo>
                      <a:pt x="4133716" y="0"/>
                      <a:pt x="4144919" y="4641"/>
                      <a:pt x="4153181" y="12902"/>
                    </a:cubicBezTo>
                    <a:cubicBezTo>
                      <a:pt x="4161441" y="21162"/>
                      <a:pt x="4166082" y="32367"/>
                      <a:pt x="4166082" y="44049"/>
                    </a:cubicBezTo>
                    <a:lnTo>
                      <a:pt x="4166082" y="878906"/>
                    </a:lnTo>
                    <a:cubicBezTo>
                      <a:pt x="4166082" y="903234"/>
                      <a:pt x="4146361" y="922955"/>
                      <a:pt x="4122033" y="922955"/>
                    </a:cubicBezTo>
                    <a:lnTo>
                      <a:pt x="44049" y="922955"/>
                    </a:lnTo>
                    <a:cubicBezTo>
                      <a:pt x="19721" y="922955"/>
                      <a:pt x="0" y="903234"/>
                      <a:pt x="0" y="878906"/>
                    </a:cubicBezTo>
                    <a:lnTo>
                      <a:pt x="0" y="44049"/>
                    </a:lnTo>
                    <a:cubicBezTo>
                      <a:pt x="0" y="19721"/>
                      <a:pt x="19721" y="0"/>
                      <a:pt x="44049" y="0"/>
                    </a:cubicBezTo>
                    <a:close/>
                  </a:path>
                </a:pathLst>
              </a:custGeom>
              <a:solidFill>
                <a:srgbClr val="FDF6F2"/>
              </a:solidFill>
              <a:ln cap="rnd">
                <a:noFill/>
                <a:prstDash val="solid"/>
                <a:round/>
              </a:ln>
            </p:spPr>
          </p:sp>
          <p:sp>
            <p:nvSpPr>
              <p:cNvPr name="TextBox 30" id="30"/>
              <p:cNvSpPr txBox="true"/>
              <p:nvPr/>
            </p:nvSpPr>
            <p:spPr>
              <a:xfrm>
                <a:off x="0" y="-57150"/>
                <a:ext cx="4166082" cy="980105"/>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1591798" y="889747"/>
              <a:ext cx="18898820" cy="712991"/>
            </a:xfrm>
            <a:prstGeom prst="rect">
              <a:avLst/>
            </a:prstGeom>
          </p:spPr>
          <p:txBody>
            <a:bodyPr anchor="t" rtlCol="false" tIns="0" lIns="0" bIns="0" rIns="0">
              <a:spAutoFit/>
            </a:bodyPr>
            <a:lstStyle/>
            <a:p>
              <a:pPr algn="l" marL="0" indent="0" lvl="0">
                <a:lnSpc>
                  <a:spcPts val="4013"/>
                </a:lnSpc>
              </a:pPr>
              <a:r>
                <a:rPr lang="en-US" b="true" sz="3822">
                  <a:solidFill>
                    <a:srgbClr val="50212A"/>
                  </a:solidFill>
                  <a:latin typeface="Ojuju Bold"/>
                  <a:ea typeface="Ojuju Bold"/>
                  <a:cs typeface="Ojuju Bold"/>
                  <a:sym typeface="Ojuju Bold"/>
                </a:rPr>
                <a:t>Quỹ thời gian ngắn và sự thiếu hụt độ phủ đa kênh</a:t>
              </a:r>
            </a:p>
          </p:txBody>
        </p:sp>
        <p:sp>
          <p:nvSpPr>
            <p:cNvPr name="TextBox 32" id="32"/>
            <p:cNvSpPr txBox="true"/>
            <p:nvPr/>
          </p:nvSpPr>
          <p:spPr>
            <a:xfrm rot="0">
              <a:off x="10897011" y="3181591"/>
              <a:ext cx="3908740" cy="249026"/>
            </a:xfrm>
            <a:prstGeom prst="rect">
              <a:avLst/>
            </a:prstGeom>
          </p:spPr>
          <p:txBody>
            <a:bodyPr anchor="t" rtlCol="false" tIns="0" lIns="0" bIns="0" rIns="0">
              <a:spAutoFit/>
            </a:bodyPr>
            <a:lstStyle/>
            <a:p>
              <a:pPr algn="ctr" marL="0" indent="0" lvl="0">
                <a:lnSpc>
                  <a:spcPts val="1453"/>
                </a:lnSpc>
              </a:pPr>
              <a:r>
                <a:rPr lang="en-US" b="true" sz="1221">
                  <a:solidFill>
                    <a:srgbClr val="FFFFFF"/>
                  </a:solidFill>
                  <a:latin typeface="Work Sans Medium"/>
                  <a:ea typeface="Work Sans Medium"/>
                  <a:cs typeface="Work Sans Medium"/>
                  <a:sym typeface="Work Sans Medium"/>
                </a:rPr>
                <a:t>Người truy cập website</a:t>
              </a:r>
            </a:p>
          </p:txBody>
        </p:sp>
        <p:sp>
          <p:nvSpPr>
            <p:cNvPr name="TextBox 33" id="33"/>
            <p:cNvSpPr txBox="true"/>
            <p:nvPr/>
          </p:nvSpPr>
          <p:spPr>
            <a:xfrm rot="0">
              <a:off x="1591798" y="1992207"/>
              <a:ext cx="11764177" cy="2340786"/>
            </a:xfrm>
            <a:prstGeom prst="rect">
              <a:avLst/>
            </a:prstGeom>
          </p:spPr>
          <p:txBody>
            <a:bodyPr anchor="t" rtlCol="false" tIns="0" lIns="0" bIns="0" rIns="0">
              <a:spAutoFit/>
            </a:bodyPr>
            <a:lstStyle/>
            <a:p>
              <a:pPr algn="l" marL="545360" indent="-272680" lvl="1">
                <a:lnSpc>
                  <a:spcPts val="3536"/>
                </a:lnSpc>
                <a:spcBef>
                  <a:spcPct val="0"/>
                </a:spcBef>
                <a:buFont typeface="Arial"/>
                <a:buChar char="•"/>
              </a:pPr>
              <a:r>
                <a:rPr lang="en-US" sz="2525">
                  <a:solidFill>
                    <a:srgbClr val="000000"/>
                  </a:solidFill>
                  <a:latin typeface="Work Sans"/>
                  <a:ea typeface="Work Sans"/>
                  <a:cs typeface="Work Sans"/>
                  <a:sym typeface="Work Sans"/>
                </a:rPr>
                <a:t>Chiến dịch bị giới hạn 6 tuần và dự trù 1 tuần, đồng thời hạn chế về mặt nhân sự, chỉ triển khai trên Facebook và TikTok nên chưa mở rộng được sang các kênh như Instagram và YouTube.</a:t>
              </a:r>
            </a:p>
          </p:txBody>
        </p:sp>
      </p:grpSp>
      <p:sp>
        <p:nvSpPr>
          <p:cNvPr name="Freeform 34" id="34"/>
          <p:cNvSpPr/>
          <p:nvPr/>
        </p:nvSpPr>
        <p:spPr>
          <a:xfrm flipH="false" flipV="false" rot="0">
            <a:off x="12202048" y="3168703"/>
            <a:ext cx="1982417" cy="1994885"/>
          </a:xfrm>
          <a:custGeom>
            <a:avLst/>
            <a:gdLst/>
            <a:ahLst/>
            <a:cxnLst/>
            <a:rect r="r" b="b" t="t" l="l"/>
            <a:pathLst>
              <a:path h="1994885" w="1982417">
                <a:moveTo>
                  <a:pt x="0" y="0"/>
                </a:moveTo>
                <a:lnTo>
                  <a:pt x="1982417" y="0"/>
                </a:lnTo>
                <a:lnTo>
                  <a:pt x="1982417" y="1994885"/>
                </a:lnTo>
                <a:lnTo>
                  <a:pt x="0" y="1994885"/>
                </a:lnTo>
                <a:lnTo>
                  <a:pt x="0" y="0"/>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Freeform 35" id="35"/>
          <p:cNvSpPr/>
          <p:nvPr/>
        </p:nvSpPr>
        <p:spPr>
          <a:xfrm flipH="false" flipV="false" rot="0">
            <a:off x="12202048" y="6950376"/>
            <a:ext cx="2838303" cy="2157110"/>
          </a:xfrm>
          <a:custGeom>
            <a:avLst/>
            <a:gdLst/>
            <a:ahLst/>
            <a:cxnLst/>
            <a:rect r="r" b="b" t="t" l="l"/>
            <a:pathLst>
              <a:path h="2157110" w="2838303">
                <a:moveTo>
                  <a:pt x="0" y="0"/>
                </a:moveTo>
                <a:lnTo>
                  <a:pt x="2838303" y="0"/>
                </a:lnTo>
                <a:lnTo>
                  <a:pt x="2838303" y="2157110"/>
                </a:lnTo>
                <a:lnTo>
                  <a:pt x="0" y="21571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0" y="5367200"/>
            <a:ext cx="18288000" cy="6701845"/>
            <a:chOff x="0" y="0"/>
            <a:chExt cx="4816593" cy="1765095"/>
          </a:xfrm>
        </p:grpSpPr>
        <p:sp>
          <p:nvSpPr>
            <p:cNvPr name="Freeform 10" id="10"/>
            <p:cNvSpPr/>
            <p:nvPr/>
          </p:nvSpPr>
          <p:spPr>
            <a:xfrm flipH="false" flipV="false" rot="0">
              <a:off x="0" y="0"/>
              <a:ext cx="4816592" cy="1765095"/>
            </a:xfrm>
            <a:custGeom>
              <a:avLst/>
              <a:gdLst/>
              <a:ahLst/>
              <a:cxnLst/>
              <a:rect r="r" b="b" t="t" l="l"/>
              <a:pathLst>
                <a:path h="1765095" w="4816592">
                  <a:moveTo>
                    <a:pt x="42333" y="0"/>
                  </a:moveTo>
                  <a:lnTo>
                    <a:pt x="4774259" y="0"/>
                  </a:lnTo>
                  <a:cubicBezTo>
                    <a:pt x="4785487" y="0"/>
                    <a:pt x="4796254" y="4460"/>
                    <a:pt x="4804193" y="12399"/>
                  </a:cubicBezTo>
                  <a:cubicBezTo>
                    <a:pt x="4812132" y="20338"/>
                    <a:pt x="4816592" y="31106"/>
                    <a:pt x="4816592" y="42333"/>
                  </a:cubicBezTo>
                  <a:lnTo>
                    <a:pt x="4816592" y="1722762"/>
                  </a:lnTo>
                  <a:cubicBezTo>
                    <a:pt x="4816592" y="1733989"/>
                    <a:pt x="4812132" y="1744757"/>
                    <a:pt x="4804193" y="1752696"/>
                  </a:cubicBezTo>
                  <a:cubicBezTo>
                    <a:pt x="4796254" y="1760635"/>
                    <a:pt x="4785487" y="1765095"/>
                    <a:pt x="4774259" y="1765095"/>
                  </a:cubicBezTo>
                  <a:lnTo>
                    <a:pt x="42333" y="1765095"/>
                  </a:lnTo>
                  <a:cubicBezTo>
                    <a:pt x="31106" y="1765095"/>
                    <a:pt x="20338" y="1760635"/>
                    <a:pt x="12399" y="1752696"/>
                  </a:cubicBezTo>
                  <a:cubicBezTo>
                    <a:pt x="4460" y="1744757"/>
                    <a:pt x="0" y="1733989"/>
                    <a:pt x="0" y="1722762"/>
                  </a:cubicBezTo>
                  <a:lnTo>
                    <a:pt x="0" y="42333"/>
                  </a:lnTo>
                  <a:cubicBezTo>
                    <a:pt x="0" y="31106"/>
                    <a:pt x="4460" y="20338"/>
                    <a:pt x="12399" y="12399"/>
                  </a:cubicBezTo>
                  <a:cubicBezTo>
                    <a:pt x="20338" y="4460"/>
                    <a:pt x="31106" y="0"/>
                    <a:pt x="42333" y="0"/>
                  </a:cubicBezTo>
                  <a:close/>
                </a:path>
              </a:pathLst>
            </a:custGeom>
            <a:solidFill>
              <a:srgbClr val="50212A"/>
            </a:solidFill>
          </p:spPr>
        </p:sp>
        <p:sp>
          <p:nvSpPr>
            <p:cNvPr name="TextBox 11" id="11"/>
            <p:cNvSpPr txBox="true"/>
            <p:nvPr/>
          </p:nvSpPr>
          <p:spPr>
            <a:xfrm>
              <a:off x="0" y="-57150"/>
              <a:ext cx="4816593" cy="182224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79377" y="2924232"/>
            <a:ext cx="3813685" cy="4540144"/>
            <a:chOff x="0" y="0"/>
            <a:chExt cx="5084913" cy="6053525"/>
          </a:xfrm>
        </p:grpSpPr>
        <p:grpSp>
          <p:nvGrpSpPr>
            <p:cNvPr name="Group 13" id="13"/>
            <p:cNvGrpSpPr/>
            <p:nvPr/>
          </p:nvGrpSpPr>
          <p:grpSpPr>
            <a:xfrm rot="0">
              <a:off x="259683" y="236647"/>
              <a:ext cx="4825230" cy="5816879"/>
              <a:chOff x="0" y="0"/>
              <a:chExt cx="979900" cy="1181282"/>
            </a:xfrm>
          </p:grpSpPr>
          <p:sp>
            <p:nvSpPr>
              <p:cNvPr name="Freeform 14" id="14"/>
              <p:cNvSpPr/>
              <p:nvPr/>
            </p:nvSpPr>
            <p:spPr>
              <a:xfrm flipH="false" flipV="false" rot="0">
                <a:off x="0" y="0"/>
                <a:ext cx="979900" cy="1181282"/>
              </a:xfrm>
              <a:custGeom>
                <a:avLst/>
                <a:gdLst/>
                <a:ahLst/>
                <a:cxnLst/>
                <a:rect r="r" b="b" t="t" l="l"/>
                <a:pathLst>
                  <a:path h="1181282" w="979900">
                    <a:moveTo>
                      <a:pt x="208085" y="0"/>
                    </a:moveTo>
                    <a:lnTo>
                      <a:pt x="771815" y="0"/>
                    </a:lnTo>
                    <a:cubicBezTo>
                      <a:pt x="827003" y="0"/>
                      <a:pt x="879930" y="21923"/>
                      <a:pt x="918953" y="60947"/>
                    </a:cubicBezTo>
                    <a:cubicBezTo>
                      <a:pt x="957977" y="99970"/>
                      <a:pt x="979900" y="152897"/>
                      <a:pt x="979900" y="208085"/>
                    </a:cubicBezTo>
                    <a:lnTo>
                      <a:pt x="979900" y="973198"/>
                    </a:lnTo>
                    <a:cubicBezTo>
                      <a:pt x="979900" y="1028385"/>
                      <a:pt x="957977" y="1081312"/>
                      <a:pt x="918953" y="1120336"/>
                    </a:cubicBezTo>
                    <a:cubicBezTo>
                      <a:pt x="879930" y="1159359"/>
                      <a:pt x="827003" y="1181282"/>
                      <a:pt x="771815" y="1181282"/>
                    </a:cubicBezTo>
                    <a:lnTo>
                      <a:pt x="208085" y="1181282"/>
                    </a:lnTo>
                    <a:cubicBezTo>
                      <a:pt x="152897" y="1181282"/>
                      <a:pt x="99970" y="1159359"/>
                      <a:pt x="60947" y="1120336"/>
                    </a:cubicBezTo>
                    <a:cubicBezTo>
                      <a:pt x="21923" y="1081312"/>
                      <a:pt x="0" y="1028385"/>
                      <a:pt x="0" y="973198"/>
                    </a:cubicBezTo>
                    <a:lnTo>
                      <a:pt x="0" y="208085"/>
                    </a:lnTo>
                    <a:cubicBezTo>
                      <a:pt x="0" y="152897"/>
                      <a:pt x="21923" y="99970"/>
                      <a:pt x="60947" y="60947"/>
                    </a:cubicBezTo>
                    <a:cubicBezTo>
                      <a:pt x="99970" y="21923"/>
                      <a:pt x="152897" y="0"/>
                      <a:pt x="208085" y="0"/>
                    </a:cubicBezTo>
                    <a:close/>
                  </a:path>
                </a:pathLst>
              </a:custGeom>
              <a:solidFill>
                <a:srgbClr val="50212A"/>
              </a:solidFill>
              <a:ln cap="rnd">
                <a:noFill/>
                <a:prstDash val="solid"/>
                <a:round/>
              </a:ln>
            </p:spPr>
          </p:sp>
          <p:sp>
            <p:nvSpPr>
              <p:cNvPr name="TextBox 15" id="15"/>
              <p:cNvSpPr txBox="true"/>
              <p:nvPr/>
            </p:nvSpPr>
            <p:spPr>
              <a:xfrm>
                <a:off x="0" y="-57150"/>
                <a:ext cx="979900" cy="123843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0"/>
              <a:ext cx="4884823" cy="5816879"/>
              <a:chOff x="0" y="0"/>
              <a:chExt cx="992002" cy="1181282"/>
            </a:xfrm>
          </p:grpSpPr>
          <p:sp>
            <p:nvSpPr>
              <p:cNvPr name="Freeform 17" id="17"/>
              <p:cNvSpPr/>
              <p:nvPr/>
            </p:nvSpPr>
            <p:spPr>
              <a:xfrm flipH="false" flipV="false" rot="0">
                <a:off x="0" y="0"/>
                <a:ext cx="992002" cy="1181282"/>
              </a:xfrm>
              <a:custGeom>
                <a:avLst/>
                <a:gdLst/>
                <a:ahLst/>
                <a:cxnLst/>
                <a:rect r="r" b="b" t="t" l="l"/>
                <a:pathLst>
                  <a:path h="1181282" w="992002">
                    <a:moveTo>
                      <a:pt x="184992" y="0"/>
                    </a:moveTo>
                    <a:lnTo>
                      <a:pt x="807010" y="0"/>
                    </a:lnTo>
                    <a:cubicBezTo>
                      <a:pt x="856073" y="0"/>
                      <a:pt x="903127" y="19490"/>
                      <a:pt x="937819" y="54183"/>
                    </a:cubicBezTo>
                    <a:cubicBezTo>
                      <a:pt x="972512" y="88876"/>
                      <a:pt x="992002" y="135929"/>
                      <a:pt x="992002" y="184992"/>
                    </a:cubicBezTo>
                    <a:lnTo>
                      <a:pt x="992002" y="996291"/>
                    </a:lnTo>
                    <a:cubicBezTo>
                      <a:pt x="992002" y="1098459"/>
                      <a:pt x="909178" y="1181282"/>
                      <a:pt x="807010" y="1181282"/>
                    </a:cubicBezTo>
                    <a:lnTo>
                      <a:pt x="184992" y="1181282"/>
                    </a:lnTo>
                    <a:cubicBezTo>
                      <a:pt x="82824" y="1181282"/>
                      <a:pt x="0" y="1098459"/>
                      <a:pt x="0" y="996291"/>
                    </a:cubicBezTo>
                    <a:lnTo>
                      <a:pt x="0" y="184992"/>
                    </a:lnTo>
                    <a:cubicBezTo>
                      <a:pt x="0" y="82824"/>
                      <a:pt x="82824" y="0"/>
                      <a:pt x="184992" y="0"/>
                    </a:cubicBezTo>
                    <a:close/>
                  </a:path>
                </a:pathLst>
              </a:custGeom>
              <a:solidFill>
                <a:srgbClr val="FDF6F2"/>
              </a:solidFill>
              <a:ln cap="rnd">
                <a:noFill/>
                <a:prstDash val="solid"/>
                <a:round/>
              </a:ln>
            </p:spPr>
          </p:sp>
          <p:sp>
            <p:nvSpPr>
              <p:cNvPr name="TextBox 18" id="18"/>
              <p:cNvSpPr txBox="true"/>
              <p:nvPr/>
            </p:nvSpPr>
            <p:spPr>
              <a:xfrm>
                <a:off x="0" y="-57150"/>
                <a:ext cx="992002" cy="1238432"/>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726583" y="499876"/>
              <a:ext cx="1173465" cy="1204936"/>
            </a:xfrm>
            <a:prstGeom prst="rect">
              <a:avLst/>
            </a:prstGeom>
          </p:spPr>
          <p:txBody>
            <a:bodyPr anchor="t" rtlCol="false" tIns="0" lIns="0" bIns="0" rIns="0">
              <a:spAutoFit/>
            </a:bodyPr>
            <a:lstStyle/>
            <a:p>
              <a:pPr algn="l" marL="0" indent="0" lvl="0">
                <a:lnSpc>
                  <a:spcPts val="7625"/>
                </a:lnSpc>
                <a:spcBef>
                  <a:spcPct val="0"/>
                </a:spcBef>
              </a:pPr>
              <a:r>
                <a:rPr lang="en-US" b="true" sz="5447">
                  <a:solidFill>
                    <a:srgbClr val="50212A"/>
                  </a:solidFill>
                  <a:latin typeface="Ojuju Bold"/>
                  <a:ea typeface="Ojuju Bold"/>
                  <a:cs typeface="Ojuju Bold"/>
                  <a:sym typeface="Ojuju Bold"/>
                </a:rPr>
                <a:t>1</a:t>
              </a:r>
            </a:p>
          </p:txBody>
        </p:sp>
        <p:sp>
          <p:nvSpPr>
            <p:cNvPr name="TextBox 20" id="20"/>
            <p:cNvSpPr txBox="true"/>
            <p:nvPr/>
          </p:nvSpPr>
          <p:spPr>
            <a:xfrm rot="0">
              <a:off x="726583" y="1660394"/>
              <a:ext cx="3420874" cy="3268062"/>
            </a:xfrm>
            <a:prstGeom prst="rect">
              <a:avLst/>
            </a:prstGeom>
          </p:spPr>
          <p:txBody>
            <a:bodyPr anchor="t" rtlCol="false" tIns="0" lIns="0" bIns="0" rIns="0">
              <a:spAutoFit/>
            </a:bodyPr>
            <a:lstStyle/>
            <a:p>
              <a:pPr algn="l" marL="0" indent="0" lvl="0">
                <a:lnSpc>
                  <a:spcPts val="4902"/>
                </a:lnSpc>
                <a:spcBef>
                  <a:spcPct val="0"/>
                </a:spcBef>
              </a:pPr>
              <a:r>
                <a:rPr lang="en-US" b="true" sz="3501">
                  <a:solidFill>
                    <a:srgbClr val="50212A"/>
                  </a:solidFill>
                  <a:latin typeface="Ojuju Bold"/>
                  <a:ea typeface="Ojuju Bold"/>
                  <a:cs typeface="Ojuju Bold"/>
                  <a:sym typeface="Ojuju Bold"/>
                </a:rPr>
                <a:t>Bài học về công tác lập kế hoạch và dự trù rủi ro</a:t>
              </a:r>
            </a:p>
          </p:txBody>
        </p:sp>
      </p:grpSp>
      <p:grpSp>
        <p:nvGrpSpPr>
          <p:cNvPr name="Group 21" id="21"/>
          <p:cNvGrpSpPr/>
          <p:nvPr/>
        </p:nvGrpSpPr>
        <p:grpSpPr>
          <a:xfrm rot="0">
            <a:off x="480736" y="490255"/>
            <a:ext cx="6489419" cy="888116"/>
            <a:chOff x="0" y="0"/>
            <a:chExt cx="8652558" cy="1184154"/>
          </a:xfrm>
        </p:grpSpPr>
        <p:grpSp>
          <p:nvGrpSpPr>
            <p:cNvPr name="Group 22" id="22"/>
            <p:cNvGrpSpPr/>
            <p:nvPr/>
          </p:nvGrpSpPr>
          <p:grpSpPr>
            <a:xfrm rot="0">
              <a:off x="0" y="0"/>
              <a:ext cx="8652558" cy="1184154"/>
              <a:chOff x="0" y="0"/>
              <a:chExt cx="1709147" cy="233907"/>
            </a:xfrm>
          </p:grpSpPr>
          <p:sp>
            <p:nvSpPr>
              <p:cNvPr name="Freeform 23" id="23"/>
              <p:cNvSpPr/>
              <p:nvPr/>
            </p:nvSpPr>
            <p:spPr>
              <a:xfrm flipH="false" flipV="false" rot="0">
                <a:off x="0" y="0"/>
                <a:ext cx="1709147" cy="233907"/>
              </a:xfrm>
              <a:custGeom>
                <a:avLst/>
                <a:gdLst/>
                <a:ahLst/>
                <a:cxnLst/>
                <a:rect r="r" b="b" t="t" l="l"/>
                <a:pathLst>
                  <a:path h="233907" w="1709147">
                    <a:moveTo>
                      <a:pt x="116954" y="0"/>
                    </a:moveTo>
                    <a:lnTo>
                      <a:pt x="1592194" y="0"/>
                    </a:lnTo>
                    <a:cubicBezTo>
                      <a:pt x="1623212" y="0"/>
                      <a:pt x="1652959" y="12322"/>
                      <a:pt x="1674892" y="34255"/>
                    </a:cubicBezTo>
                    <a:cubicBezTo>
                      <a:pt x="1696825" y="56188"/>
                      <a:pt x="1709147" y="85936"/>
                      <a:pt x="1709147" y="116954"/>
                    </a:cubicBezTo>
                    <a:lnTo>
                      <a:pt x="1709147" y="116954"/>
                    </a:lnTo>
                    <a:cubicBezTo>
                      <a:pt x="1709147" y="181545"/>
                      <a:pt x="1656785" y="233907"/>
                      <a:pt x="1592194"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24" id="24"/>
              <p:cNvSpPr txBox="true"/>
              <p:nvPr/>
            </p:nvSpPr>
            <p:spPr>
              <a:xfrm>
                <a:off x="0" y="-57150"/>
                <a:ext cx="1709147" cy="291057"/>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57186" y="141884"/>
              <a:ext cx="8295373"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4. Bài học kinh nghiệm</a:t>
              </a:r>
            </a:p>
          </p:txBody>
        </p:sp>
      </p:grpSp>
      <p:grpSp>
        <p:nvGrpSpPr>
          <p:cNvPr name="Group 26" id="26"/>
          <p:cNvGrpSpPr/>
          <p:nvPr/>
        </p:nvGrpSpPr>
        <p:grpSpPr>
          <a:xfrm rot="0">
            <a:off x="4885831" y="2924232"/>
            <a:ext cx="3813685" cy="4540144"/>
            <a:chOff x="0" y="0"/>
            <a:chExt cx="5084913" cy="6053525"/>
          </a:xfrm>
        </p:grpSpPr>
        <p:grpSp>
          <p:nvGrpSpPr>
            <p:cNvPr name="Group 27" id="27"/>
            <p:cNvGrpSpPr/>
            <p:nvPr/>
          </p:nvGrpSpPr>
          <p:grpSpPr>
            <a:xfrm rot="0">
              <a:off x="259683" y="236647"/>
              <a:ext cx="4825230" cy="5816879"/>
              <a:chOff x="0" y="0"/>
              <a:chExt cx="979900" cy="1181282"/>
            </a:xfrm>
          </p:grpSpPr>
          <p:sp>
            <p:nvSpPr>
              <p:cNvPr name="Freeform 28" id="28"/>
              <p:cNvSpPr/>
              <p:nvPr/>
            </p:nvSpPr>
            <p:spPr>
              <a:xfrm flipH="false" flipV="false" rot="0">
                <a:off x="0" y="0"/>
                <a:ext cx="979900" cy="1181282"/>
              </a:xfrm>
              <a:custGeom>
                <a:avLst/>
                <a:gdLst/>
                <a:ahLst/>
                <a:cxnLst/>
                <a:rect r="r" b="b" t="t" l="l"/>
                <a:pathLst>
                  <a:path h="1181282" w="979900">
                    <a:moveTo>
                      <a:pt x="208085" y="0"/>
                    </a:moveTo>
                    <a:lnTo>
                      <a:pt x="771815" y="0"/>
                    </a:lnTo>
                    <a:cubicBezTo>
                      <a:pt x="827003" y="0"/>
                      <a:pt x="879930" y="21923"/>
                      <a:pt x="918953" y="60947"/>
                    </a:cubicBezTo>
                    <a:cubicBezTo>
                      <a:pt x="957977" y="99970"/>
                      <a:pt x="979900" y="152897"/>
                      <a:pt x="979900" y="208085"/>
                    </a:cubicBezTo>
                    <a:lnTo>
                      <a:pt x="979900" y="973198"/>
                    </a:lnTo>
                    <a:cubicBezTo>
                      <a:pt x="979900" y="1028385"/>
                      <a:pt x="957977" y="1081312"/>
                      <a:pt x="918953" y="1120336"/>
                    </a:cubicBezTo>
                    <a:cubicBezTo>
                      <a:pt x="879930" y="1159359"/>
                      <a:pt x="827003" y="1181282"/>
                      <a:pt x="771815" y="1181282"/>
                    </a:cubicBezTo>
                    <a:lnTo>
                      <a:pt x="208085" y="1181282"/>
                    </a:lnTo>
                    <a:cubicBezTo>
                      <a:pt x="152897" y="1181282"/>
                      <a:pt x="99970" y="1159359"/>
                      <a:pt x="60947" y="1120336"/>
                    </a:cubicBezTo>
                    <a:cubicBezTo>
                      <a:pt x="21923" y="1081312"/>
                      <a:pt x="0" y="1028385"/>
                      <a:pt x="0" y="973198"/>
                    </a:cubicBezTo>
                    <a:lnTo>
                      <a:pt x="0" y="208085"/>
                    </a:lnTo>
                    <a:cubicBezTo>
                      <a:pt x="0" y="152897"/>
                      <a:pt x="21923" y="99970"/>
                      <a:pt x="60947" y="60947"/>
                    </a:cubicBezTo>
                    <a:cubicBezTo>
                      <a:pt x="99970" y="21923"/>
                      <a:pt x="152897" y="0"/>
                      <a:pt x="208085" y="0"/>
                    </a:cubicBezTo>
                    <a:close/>
                  </a:path>
                </a:pathLst>
              </a:custGeom>
              <a:solidFill>
                <a:srgbClr val="50212A"/>
              </a:solidFill>
              <a:ln cap="rnd">
                <a:noFill/>
                <a:prstDash val="solid"/>
                <a:round/>
              </a:ln>
            </p:spPr>
          </p:sp>
          <p:sp>
            <p:nvSpPr>
              <p:cNvPr name="TextBox 29" id="29"/>
              <p:cNvSpPr txBox="true"/>
              <p:nvPr/>
            </p:nvSpPr>
            <p:spPr>
              <a:xfrm>
                <a:off x="0" y="-57150"/>
                <a:ext cx="979900" cy="1238432"/>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0" y="0"/>
              <a:ext cx="4884823" cy="5816879"/>
              <a:chOff x="0" y="0"/>
              <a:chExt cx="992002" cy="1181282"/>
            </a:xfrm>
          </p:grpSpPr>
          <p:sp>
            <p:nvSpPr>
              <p:cNvPr name="Freeform 31" id="31"/>
              <p:cNvSpPr/>
              <p:nvPr/>
            </p:nvSpPr>
            <p:spPr>
              <a:xfrm flipH="false" flipV="false" rot="0">
                <a:off x="0" y="0"/>
                <a:ext cx="992002" cy="1181282"/>
              </a:xfrm>
              <a:custGeom>
                <a:avLst/>
                <a:gdLst/>
                <a:ahLst/>
                <a:cxnLst/>
                <a:rect r="r" b="b" t="t" l="l"/>
                <a:pathLst>
                  <a:path h="1181282" w="992002">
                    <a:moveTo>
                      <a:pt x="184992" y="0"/>
                    </a:moveTo>
                    <a:lnTo>
                      <a:pt x="807010" y="0"/>
                    </a:lnTo>
                    <a:cubicBezTo>
                      <a:pt x="856073" y="0"/>
                      <a:pt x="903127" y="19490"/>
                      <a:pt x="937819" y="54183"/>
                    </a:cubicBezTo>
                    <a:cubicBezTo>
                      <a:pt x="972512" y="88876"/>
                      <a:pt x="992002" y="135929"/>
                      <a:pt x="992002" y="184992"/>
                    </a:cubicBezTo>
                    <a:lnTo>
                      <a:pt x="992002" y="996291"/>
                    </a:lnTo>
                    <a:cubicBezTo>
                      <a:pt x="992002" y="1098459"/>
                      <a:pt x="909178" y="1181282"/>
                      <a:pt x="807010" y="1181282"/>
                    </a:cubicBezTo>
                    <a:lnTo>
                      <a:pt x="184992" y="1181282"/>
                    </a:lnTo>
                    <a:cubicBezTo>
                      <a:pt x="82824" y="1181282"/>
                      <a:pt x="0" y="1098459"/>
                      <a:pt x="0" y="996291"/>
                    </a:cubicBezTo>
                    <a:lnTo>
                      <a:pt x="0" y="184992"/>
                    </a:lnTo>
                    <a:cubicBezTo>
                      <a:pt x="0" y="82824"/>
                      <a:pt x="82824" y="0"/>
                      <a:pt x="184992" y="0"/>
                    </a:cubicBezTo>
                    <a:close/>
                  </a:path>
                </a:pathLst>
              </a:custGeom>
              <a:solidFill>
                <a:srgbClr val="FDF6F2"/>
              </a:solidFill>
              <a:ln cap="rnd">
                <a:noFill/>
                <a:prstDash val="solid"/>
                <a:round/>
              </a:ln>
            </p:spPr>
          </p:sp>
          <p:sp>
            <p:nvSpPr>
              <p:cNvPr name="TextBox 32" id="32"/>
              <p:cNvSpPr txBox="true"/>
              <p:nvPr/>
            </p:nvSpPr>
            <p:spPr>
              <a:xfrm>
                <a:off x="0" y="-57150"/>
                <a:ext cx="992002" cy="1238432"/>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726583" y="499876"/>
              <a:ext cx="1173465" cy="1204936"/>
            </a:xfrm>
            <a:prstGeom prst="rect">
              <a:avLst/>
            </a:prstGeom>
          </p:spPr>
          <p:txBody>
            <a:bodyPr anchor="t" rtlCol="false" tIns="0" lIns="0" bIns="0" rIns="0">
              <a:spAutoFit/>
            </a:bodyPr>
            <a:lstStyle/>
            <a:p>
              <a:pPr algn="l" marL="0" indent="0" lvl="0">
                <a:lnSpc>
                  <a:spcPts val="7625"/>
                </a:lnSpc>
                <a:spcBef>
                  <a:spcPct val="0"/>
                </a:spcBef>
              </a:pPr>
              <a:r>
                <a:rPr lang="en-US" b="true" sz="5447">
                  <a:solidFill>
                    <a:srgbClr val="50212A"/>
                  </a:solidFill>
                  <a:latin typeface="Ojuju Bold"/>
                  <a:ea typeface="Ojuju Bold"/>
                  <a:cs typeface="Ojuju Bold"/>
                  <a:sym typeface="Ojuju Bold"/>
                </a:rPr>
                <a:t>2</a:t>
              </a:r>
            </a:p>
          </p:txBody>
        </p:sp>
        <p:sp>
          <p:nvSpPr>
            <p:cNvPr name="TextBox 34" id="34"/>
            <p:cNvSpPr txBox="true"/>
            <p:nvPr/>
          </p:nvSpPr>
          <p:spPr>
            <a:xfrm rot="0">
              <a:off x="726583" y="1660394"/>
              <a:ext cx="3895823" cy="3268062"/>
            </a:xfrm>
            <a:prstGeom prst="rect">
              <a:avLst/>
            </a:prstGeom>
          </p:spPr>
          <p:txBody>
            <a:bodyPr anchor="t" rtlCol="false" tIns="0" lIns="0" bIns="0" rIns="0">
              <a:spAutoFit/>
            </a:bodyPr>
            <a:lstStyle/>
            <a:p>
              <a:pPr algn="l" marL="0" indent="0" lvl="0">
                <a:lnSpc>
                  <a:spcPts val="4902"/>
                </a:lnSpc>
                <a:spcBef>
                  <a:spcPct val="0"/>
                </a:spcBef>
              </a:pPr>
              <a:r>
                <a:rPr lang="en-US" b="true" sz="3501">
                  <a:solidFill>
                    <a:srgbClr val="50212A"/>
                  </a:solidFill>
                  <a:latin typeface="Ojuju Bold"/>
                  <a:ea typeface="Ojuju Bold"/>
                  <a:cs typeface="Ojuju Bold"/>
                  <a:sym typeface="Ojuju Bold"/>
                </a:rPr>
                <a:t>Bài học về quản lý nhóm và điều phối nguồn lực</a:t>
              </a:r>
            </a:p>
          </p:txBody>
        </p:sp>
      </p:grpSp>
      <p:sp>
        <p:nvSpPr>
          <p:cNvPr name="Freeform 35" id="35"/>
          <p:cNvSpPr/>
          <p:nvPr/>
        </p:nvSpPr>
        <p:spPr>
          <a:xfrm flipH="false" flipV="false" rot="0">
            <a:off x="2758689" y="6172200"/>
            <a:ext cx="3626167" cy="4114800"/>
          </a:xfrm>
          <a:custGeom>
            <a:avLst/>
            <a:gdLst/>
            <a:ahLst/>
            <a:cxnLst/>
            <a:rect r="r" b="b" t="t" l="l"/>
            <a:pathLst>
              <a:path h="4114800" w="3626167">
                <a:moveTo>
                  <a:pt x="0" y="0"/>
                </a:moveTo>
                <a:lnTo>
                  <a:pt x="3626167" y="0"/>
                </a:lnTo>
                <a:lnTo>
                  <a:pt x="362616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6" id="36"/>
          <p:cNvGrpSpPr/>
          <p:nvPr/>
        </p:nvGrpSpPr>
        <p:grpSpPr>
          <a:xfrm rot="0">
            <a:off x="13993284" y="2778023"/>
            <a:ext cx="3813685" cy="4540144"/>
            <a:chOff x="0" y="0"/>
            <a:chExt cx="5084913" cy="6053525"/>
          </a:xfrm>
        </p:grpSpPr>
        <p:grpSp>
          <p:nvGrpSpPr>
            <p:cNvPr name="Group 37" id="37"/>
            <p:cNvGrpSpPr/>
            <p:nvPr/>
          </p:nvGrpSpPr>
          <p:grpSpPr>
            <a:xfrm rot="0">
              <a:off x="259683" y="236647"/>
              <a:ext cx="4825230" cy="5816879"/>
              <a:chOff x="0" y="0"/>
              <a:chExt cx="979900" cy="1181282"/>
            </a:xfrm>
          </p:grpSpPr>
          <p:sp>
            <p:nvSpPr>
              <p:cNvPr name="Freeform 38" id="38"/>
              <p:cNvSpPr/>
              <p:nvPr/>
            </p:nvSpPr>
            <p:spPr>
              <a:xfrm flipH="false" flipV="false" rot="0">
                <a:off x="0" y="0"/>
                <a:ext cx="979900" cy="1181282"/>
              </a:xfrm>
              <a:custGeom>
                <a:avLst/>
                <a:gdLst/>
                <a:ahLst/>
                <a:cxnLst/>
                <a:rect r="r" b="b" t="t" l="l"/>
                <a:pathLst>
                  <a:path h="1181282" w="979900">
                    <a:moveTo>
                      <a:pt x="208085" y="0"/>
                    </a:moveTo>
                    <a:lnTo>
                      <a:pt x="771815" y="0"/>
                    </a:lnTo>
                    <a:cubicBezTo>
                      <a:pt x="827003" y="0"/>
                      <a:pt x="879930" y="21923"/>
                      <a:pt x="918953" y="60947"/>
                    </a:cubicBezTo>
                    <a:cubicBezTo>
                      <a:pt x="957977" y="99970"/>
                      <a:pt x="979900" y="152897"/>
                      <a:pt x="979900" y="208085"/>
                    </a:cubicBezTo>
                    <a:lnTo>
                      <a:pt x="979900" y="973198"/>
                    </a:lnTo>
                    <a:cubicBezTo>
                      <a:pt x="979900" y="1028385"/>
                      <a:pt x="957977" y="1081312"/>
                      <a:pt x="918953" y="1120336"/>
                    </a:cubicBezTo>
                    <a:cubicBezTo>
                      <a:pt x="879930" y="1159359"/>
                      <a:pt x="827003" y="1181282"/>
                      <a:pt x="771815" y="1181282"/>
                    </a:cubicBezTo>
                    <a:lnTo>
                      <a:pt x="208085" y="1181282"/>
                    </a:lnTo>
                    <a:cubicBezTo>
                      <a:pt x="152897" y="1181282"/>
                      <a:pt x="99970" y="1159359"/>
                      <a:pt x="60947" y="1120336"/>
                    </a:cubicBezTo>
                    <a:cubicBezTo>
                      <a:pt x="21923" y="1081312"/>
                      <a:pt x="0" y="1028385"/>
                      <a:pt x="0" y="973198"/>
                    </a:cubicBezTo>
                    <a:lnTo>
                      <a:pt x="0" y="208085"/>
                    </a:lnTo>
                    <a:cubicBezTo>
                      <a:pt x="0" y="152897"/>
                      <a:pt x="21923" y="99970"/>
                      <a:pt x="60947" y="60947"/>
                    </a:cubicBezTo>
                    <a:cubicBezTo>
                      <a:pt x="99970" y="21923"/>
                      <a:pt x="152897" y="0"/>
                      <a:pt x="208085" y="0"/>
                    </a:cubicBezTo>
                    <a:close/>
                  </a:path>
                </a:pathLst>
              </a:custGeom>
              <a:solidFill>
                <a:srgbClr val="50212A"/>
              </a:solidFill>
              <a:ln cap="rnd">
                <a:noFill/>
                <a:prstDash val="solid"/>
                <a:round/>
              </a:ln>
            </p:spPr>
          </p:sp>
          <p:sp>
            <p:nvSpPr>
              <p:cNvPr name="TextBox 39" id="39"/>
              <p:cNvSpPr txBox="true"/>
              <p:nvPr/>
            </p:nvSpPr>
            <p:spPr>
              <a:xfrm>
                <a:off x="0" y="-57150"/>
                <a:ext cx="979900" cy="1238432"/>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0" y="0"/>
              <a:ext cx="4884823" cy="5816879"/>
              <a:chOff x="0" y="0"/>
              <a:chExt cx="992002" cy="1181282"/>
            </a:xfrm>
          </p:grpSpPr>
          <p:sp>
            <p:nvSpPr>
              <p:cNvPr name="Freeform 41" id="41"/>
              <p:cNvSpPr/>
              <p:nvPr/>
            </p:nvSpPr>
            <p:spPr>
              <a:xfrm flipH="false" flipV="false" rot="0">
                <a:off x="0" y="0"/>
                <a:ext cx="992002" cy="1181282"/>
              </a:xfrm>
              <a:custGeom>
                <a:avLst/>
                <a:gdLst/>
                <a:ahLst/>
                <a:cxnLst/>
                <a:rect r="r" b="b" t="t" l="l"/>
                <a:pathLst>
                  <a:path h="1181282" w="992002">
                    <a:moveTo>
                      <a:pt x="184992" y="0"/>
                    </a:moveTo>
                    <a:lnTo>
                      <a:pt x="807010" y="0"/>
                    </a:lnTo>
                    <a:cubicBezTo>
                      <a:pt x="856073" y="0"/>
                      <a:pt x="903127" y="19490"/>
                      <a:pt x="937819" y="54183"/>
                    </a:cubicBezTo>
                    <a:cubicBezTo>
                      <a:pt x="972512" y="88876"/>
                      <a:pt x="992002" y="135929"/>
                      <a:pt x="992002" y="184992"/>
                    </a:cubicBezTo>
                    <a:lnTo>
                      <a:pt x="992002" y="996291"/>
                    </a:lnTo>
                    <a:cubicBezTo>
                      <a:pt x="992002" y="1098459"/>
                      <a:pt x="909178" y="1181282"/>
                      <a:pt x="807010" y="1181282"/>
                    </a:cubicBezTo>
                    <a:lnTo>
                      <a:pt x="184992" y="1181282"/>
                    </a:lnTo>
                    <a:cubicBezTo>
                      <a:pt x="82824" y="1181282"/>
                      <a:pt x="0" y="1098459"/>
                      <a:pt x="0" y="996291"/>
                    </a:cubicBezTo>
                    <a:lnTo>
                      <a:pt x="0" y="184992"/>
                    </a:lnTo>
                    <a:cubicBezTo>
                      <a:pt x="0" y="82824"/>
                      <a:pt x="82824" y="0"/>
                      <a:pt x="184992" y="0"/>
                    </a:cubicBezTo>
                    <a:close/>
                  </a:path>
                </a:pathLst>
              </a:custGeom>
              <a:solidFill>
                <a:srgbClr val="FDF6F2"/>
              </a:solidFill>
              <a:ln cap="rnd">
                <a:noFill/>
                <a:prstDash val="solid"/>
                <a:round/>
              </a:ln>
            </p:spPr>
          </p:sp>
          <p:sp>
            <p:nvSpPr>
              <p:cNvPr name="TextBox 42" id="42"/>
              <p:cNvSpPr txBox="true"/>
              <p:nvPr/>
            </p:nvSpPr>
            <p:spPr>
              <a:xfrm>
                <a:off x="0" y="-57150"/>
                <a:ext cx="992002" cy="1238432"/>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726583" y="499876"/>
              <a:ext cx="1173465" cy="1204936"/>
            </a:xfrm>
            <a:prstGeom prst="rect">
              <a:avLst/>
            </a:prstGeom>
          </p:spPr>
          <p:txBody>
            <a:bodyPr anchor="t" rtlCol="false" tIns="0" lIns="0" bIns="0" rIns="0">
              <a:spAutoFit/>
            </a:bodyPr>
            <a:lstStyle/>
            <a:p>
              <a:pPr algn="l" marL="0" indent="0" lvl="0">
                <a:lnSpc>
                  <a:spcPts val="7625"/>
                </a:lnSpc>
                <a:spcBef>
                  <a:spcPct val="0"/>
                </a:spcBef>
              </a:pPr>
              <a:r>
                <a:rPr lang="en-US" b="true" sz="5447">
                  <a:solidFill>
                    <a:srgbClr val="50212A"/>
                  </a:solidFill>
                  <a:latin typeface="Ojuju Bold"/>
                  <a:ea typeface="Ojuju Bold"/>
                  <a:cs typeface="Ojuju Bold"/>
                  <a:sym typeface="Ojuju Bold"/>
                </a:rPr>
                <a:t>4</a:t>
              </a:r>
            </a:p>
          </p:txBody>
        </p:sp>
        <p:sp>
          <p:nvSpPr>
            <p:cNvPr name="TextBox 44" id="44"/>
            <p:cNvSpPr txBox="true"/>
            <p:nvPr/>
          </p:nvSpPr>
          <p:spPr>
            <a:xfrm rot="0">
              <a:off x="726583" y="1660394"/>
              <a:ext cx="3895823" cy="3268062"/>
            </a:xfrm>
            <a:prstGeom prst="rect">
              <a:avLst/>
            </a:prstGeom>
          </p:spPr>
          <p:txBody>
            <a:bodyPr anchor="t" rtlCol="false" tIns="0" lIns="0" bIns="0" rIns="0">
              <a:spAutoFit/>
            </a:bodyPr>
            <a:lstStyle/>
            <a:p>
              <a:pPr algn="l" marL="0" indent="0" lvl="0">
                <a:lnSpc>
                  <a:spcPts val="4902"/>
                </a:lnSpc>
                <a:spcBef>
                  <a:spcPct val="0"/>
                </a:spcBef>
              </a:pPr>
              <a:r>
                <a:rPr lang="en-US" b="true" sz="3501">
                  <a:solidFill>
                    <a:srgbClr val="50212A"/>
                  </a:solidFill>
                  <a:latin typeface="Ojuju Bold"/>
                  <a:ea typeface="Ojuju Bold"/>
                  <a:cs typeface="Ojuju Bold"/>
                  <a:sym typeface="Ojuju Bold"/>
                </a:rPr>
                <a:t>Bài học về ứng dụng công nghệ tự động hóa</a:t>
              </a:r>
            </a:p>
          </p:txBody>
        </p:sp>
      </p:grpSp>
      <p:grpSp>
        <p:nvGrpSpPr>
          <p:cNvPr name="Group 45" id="45"/>
          <p:cNvGrpSpPr/>
          <p:nvPr/>
        </p:nvGrpSpPr>
        <p:grpSpPr>
          <a:xfrm rot="0">
            <a:off x="9486806" y="2778023"/>
            <a:ext cx="3813685" cy="4540144"/>
            <a:chOff x="0" y="0"/>
            <a:chExt cx="5084913" cy="6053525"/>
          </a:xfrm>
        </p:grpSpPr>
        <p:grpSp>
          <p:nvGrpSpPr>
            <p:cNvPr name="Group 46" id="46"/>
            <p:cNvGrpSpPr/>
            <p:nvPr/>
          </p:nvGrpSpPr>
          <p:grpSpPr>
            <a:xfrm rot="0">
              <a:off x="259683" y="236647"/>
              <a:ext cx="4825230" cy="5816879"/>
              <a:chOff x="0" y="0"/>
              <a:chExt cx="979900" cy="1181282"/>
            </a:xfrm>
          </p:grpSpPr>
          <p:sp>
            <p:nvSpPr>
              <p:cNvPr name="Freeform 47" id="47"/>
              <p:cNvSpPr/>
              <p:nvPr/>
            </p:nvSpPr>
            <p:spPr>
              <a:xfrm flipH="false" flipV="false" rot="0">
                <a:off x="0" y="0"/>
                <a:ext cx="979900" cy="1181282"/>
              </a:xfrm>
              <a:custGeom>
                <a:avLst/>
                <a:gdLst/>
                <a:ahLst/>
                <a:cxnLst/>
                <a:rect r="r" b="b" t="t" l="l"/>
                <a:pathLst>
                  <a:path h="1181282" w="979900">
                    <a:moveTo>
                      <a:pt x="208085" y="0"/>
                    </a:moveTo>
                    <a:lnTo>
                      <a:pt x="771815" y="0"/>
                    </a:lnTo>
                    <a:cubicBezTo>
                      <a:pt x="827003" y="0"/>
                      <a:pt x="879930" y="21923"/>
                      <a:pt x="918953" y="60947"/>
                    </a:cubicBezTo>
                    <a:cubicBezTo>
                      <a:pt x="957977" y="99970"/>
                      <a:pt x="979900" y="152897"/>
                      <a:pt x="979900" y="208085"/>
                    </a:cubicBezTo>
                    <a:lnTo>
                      <a:pt x="979900" y="973198"/>
                    </a:lnTo>
                    <a:cubicBezTo>
                      <a:pt x="979900" y="1028385"/>
                      <a:pt x="957977" y="1081312"/>
                      <a:pt x="918953" y="1120336"/>
                    </a:cubicBezTo>
                    <a:cubicBezTo>
                      <a:pt x="879930" y="1159359"/>
                      <a:pt x="827003" y="1181282"/>
                      <a:pt x="771815" y="1181282"/>
                    </a:cubicBezTo>
                    <a:lnTo>
                      <a:pt x="208085" y="1181282"/>
                    </a:lnTo>
                    <a:cubicBezTo>
                      <a:pt x="152897" y="1181282"/>
                      <a:pt x="99970" y="1159359"/>
                      <a:pt x="60947" y="1120336"/>
                    </a:cubicBezTo>
                    <a:cubicBezTo>
                      <a:pt x="21923" y="1081312"/>
                      <a:pt x="0" y="1028385"/>
                      <a:pt x="0" y="973198"/>
                    </a:cubicBezTo>
                    <a:lnTo>
                      <a:pt x="0" y="208085"/>
                    </a:lnTo>
                    <a:cubicBezTo>
                      <a:pt x="0" y="152897"/>
                      <a:pt x="21923" y="99970"/>
                      <a:pt x="60947" y="60947"/>
                    </a:cubicBezTo>
                    <a:cubicBezTo>
                      <a:pt x="99970" y="21923"/>
                      <a:pt x="152897" y="0"/>
                      <a:pt x="208085" y="0"/>
                    </a:cubicBezTo>
                    <a:close/>
                  </a:path>
                </a:pathLst>
              </a:custGeom>
              <a:solidFill>
                <a:srgbClr val="50212A"/>
              </a:solidFill>
              <a:ln cap="rnd">
                <a:noFill/>
                <a:prstDash val="solid"/>
                <a:round/>
              </a:ln>
            </p:spPr>
          </p:sp>
          <p:sp>
            <p:nvSpPr>
              <p:cNvPr name="TextBox 48" id="48"/>
              <p:cNvSpPr txBox="true"/>
              <p:nvPr/>
            </p:nvSpPr>
            <p:spPr>
              <a:xfrm>
                <a:off x="0" y="-57150"/>
                <a:ext cx="979900" cy="1238432"/>
              </a:xfrm>
              <a:prstGeom prst="rect">
                <a:avLst/>
              </a:prstGeom>
            </p:spPr>
            <p:txBody>
              <a:bodyPr anchor="ctr" rtlCol="false" tIns="50800" lIns="50800" bIns="50800" rIns="50800"/>
              <a:lstStyle/>
              <a:p>
                <a:pPr algn="ctr">
                  <a:lnSpc>
                    <a:spcPts val="2659"/>
                  </a:lnSpc>
                </a:pPr>
              </a:p>
            </p:txBody>
          </p:sp>
        </p:grpSp>
        <p:grpSp>
          <p:nvGrpSpPr>
            <p:cNvPr name="Group 49" id="49"/>
            <p:cNvGrpSpPr/>
            <p:nvPr/>
          </p:nvGrpSpPr>
          <p:grpSpPr>
            <a:xfrm rot="0">
              <a:off x="0" y="0"/>
              <a:ext cx="4884823" cy="5816879"/>
              <a:chOff x="0" y="0"/>
              <a:chExt cx="992002" cy="1181282"/>
            </a:xfrm>
          </p:grpSpPr>
          <p:sp>
            <p:nvSpPr>
              <p:cNvPr name="Freeform 50" id="50"/>
              <p:cNvSpPr/>
              <p:nvPr/>
            </p:nvSpPr>
            <p:spPr>
              <a:xfrm flipH="false" flipV="false" rot="0">
                <a:off x="0" y="0"/>
                <a:ext cx="992002" cy="1181282"/>
              </a:xfrm>
              <a:custGeom>
                <a:avLst/>
                <a:gdLst/>
                <a:ahLst/>
                <a:cxnLst/>
                <a:rect r="r" b="b" t="t" l="l"/>
                <a:pathLst>
                  <a:path h="1181282" w="992002">
                    <a:moveTo>
                      <a:pt x="184992" y="0"/>
                    </a:moveTo>
                    <a:lnTo>
                      <a:pt x="807010" y="0"/>
                    </a:lnTo>
                    <a:cubicBezTo>
                      <a:pt x="856073" y="0"/>
                      <a:pt x="903127" y="19490"/>
                      <a:pt x="937819" y="54183"/>
                    </a:cubicBezTo>
                    <a:cubicBezTo>
                      <a:pt x="972512" y="88876"/>
                      <a:pt x="992002" y="135929"/>
                      <a:pt x="992002" y="184992"/>
                    </a:cubicBezTo>
                    <a:lnTo>
                      <a:pt x="992002" y="996291"/>
                    </a:lnTo>
                    <a:cubicBezTo>
                      <a:pt x="992002" y="1098459"/>
                      <a:pt x="909178" y="1181282"/>
                      <a:pt x="807010" y="1181282"/>
                    </a:cubicBezTo>
                    <a:lnTo>
                      <a:pt x="184992" y="1181282"/>
                    </a:lnTo>
                    <a:cubicBezTo>
                      <a:pt x="82824" y="1181282"/>
                      <a:pt x="0" y="1098459"/>
                      <a:pt x="0" y="996291"/>
                    </a:cubicBezTo>
                    <a:lnTo>
                      <a:pt x="0" y="184992"/>
                    </a:lnTo>
                    <a:cubicBezTo>
                      <a:pt x="0" y="82824"/>
                      <a:pt x="82824" y="0"/>
                      <a:pt x="184992" y="0"/>
                    </a:cubicBezTo>
                    <a:close/>
                  </a:path>
                </a:pathLst>
              </a:custGeom>
              <a:solidFill>
                <a:srgbClr val="FDF6F2"/>
              </a:solidFill>
              <a:ln cap="rnd">
                <a:noFill/>
                <a:prstDash val="solid"/>
                <a:round/>
              </a:ln>
            </p:spPr>
          </p:sp>
          <p:sp>
            <p:nvSpPr>
              <p:cNvPr name="TextBox 51" id="51"/>
              <p:cNvSpPr txBox="true"/>
              <p:nvPr/>
            </p:nvSpPr>
            <p:spPr>
              <a:xfrm>
                <a:off x="0" y="-57150"/>
                <a:ext cx="992002" cy="1238432"/>
              </a:xfrm>
              <a:prstGeom prst="rect">
                <a:avLst/>
              </a:prstGeom>
            </p:spPr>
            <p:txBody>
              <a:bodyPr anchor="ctr" rtlCol="false" tIns="50800" lIns="50800" bIns="50800" rIns="50800"/>
              <a:lstStyle/>
              <a:p>
                <a:pPr algn="ctr">
                  <a:lnSpc>
                    <a:spcPts val="2659"/>
                  </a:lnSpc>
                </a:pPr>
              </a:p>
            </p:txBody>
          </p:sp>
        </p:grpSp>
        <p:sp>
          <p:nvSpPr>
            <p:cNvPr name="TextBox 52" id="52"/>
            <p:cNvSpPr txBox="true"/>
            <p:nvPr/>
          </p:nvSpPr>
          <p:spPr>
            <a:xfrm rot="0">
              <a:off x="726583" y="499876"/>
              <a:ext cx="1173465" cy="1204936"/>
            </a:xfrm>
            <a:prstGeom prst="rect">
              <a:avLst/>
            </a:prstGeom>
          </p:spPr>
          <p:txBody>
            <a:bodyPr anchor="t" rtlCol="false" tIns="0" lIns="0" bIns="0" rIns="0">
              <a:spAutoFit/>
            </a:bodyPr>
            <a:lstStyle/>
            <a:p>
              <a:pPr algn="l" marL="0" indent="0" lvl="0">
                <a:lnSpc>
                  <a:spcPts val="7625"/>
                </a:lnSpc>
                <a:spcBef>
                  <a:spcPct val="0"/>
                </a:spcBef>
              </a:pPr>
              <a:r>
                <a:rPr lang="en-US" b="true" sz="5447">
                  <a:solidFill>
                    <a:srgbClr val="50212A"/>
                  </a:solidFill>
                  <a:latin typeface="Ojuju Bold"/>
                  <a:ea typeface="Ojuju Bold"/>
                  <a:cs typeface="Ojuju Bold"/>
                  <a:sym typeface="Ojuju Bold"/>
                </a:rPr>
                <a:t>2</a:t>
              </a:r>
            </a:p>
          </p:txBody>
        </p:sp>
        <p:sp>
          <p:nvSpPr>
            <p:cNvPr name="TextBox 53" id="53"/>
            <p:cNvSpPr txBox="true"/>
            <p:nvPr/>
          </p:nvSpPr>
          <p:spPr>
            <a:xfrm rot="0">
              <a:off x="726583" y="1660394"/>
              <a:ext cx="3895823" cy="3268062"/>
            </a:xfrm>
            <a:prstGeom prst="rect">
              <a:avLst/>
            </a:prstGeom>
          </p:spPr>
          <p:txBody>
            <a:bodyPr anchor="t" rtlCol="false" tIns="0" lIns="0" bIns="0" rIns="0">
              <a:spAutoFit/>
            </a:bodyPr>
            <a:lstStyle/>
            <a:p>
              <a:pPr algn="l" marL="0" indent="0" lvl="0">
                <a:lnSpc>
                  <a:spcPts val="4902"/>
                </a:lnSpc>
                <a:spcBef>
                  <a:spcPct val="0"/>
                </a:spcBef>
              </a:pPr>
              <a:r>
                <a:rPr lang="en-US" b="true" sz="3501">
                  <a:solidFill>
                    <a:srgbClr val="50212A"/>
                  </a:solidFill>
                  <a:latin typeface="Ojuju Bold"/>
                  <a:ea typeface="Ojuju Bold"/>
                  <a:cs typeface="Ojuju Bold"/>
                  <a:sym typeface="Ojuju Bold"/>
                </a:rPr>
                <a:t>Bài học về tư duy truyền thông tích hợp và điều hướng</a:t>
              </a:r>
            </a:p>
          </p:txBody>
        </p:sp>
      </p:grpSp>
      <p:sp>
        <p:nvSpPr>
          <p:cNvPr name="Freeform 54" id="54"/>
          <p:cNvSpPr/>
          <p:nvPr/>
        </p:nvSpPr>
        <p:spPr>
          <a:xfrm flipH="false" flipV="false" rot="0">
            <a:off x="11654218" y="6888062"/>
            <a:ext cx="3817244" cy="3398938"/>
          </a:xfrm>
          <a:custGeom>
            <a:avLst/>
            <a:gdLst/>
            <a:ahLst/>
            <a:cxnLst/>
            <a:rect r="r" b="b" t="t" l="l"/>
            <a:pathLst>
              <a:path h="3398938" w="3817244">
                <a:moveTo>
                  <a:pt x="0" y="0"/>
                </a:moveTo>
                <a:lnTo>
                  <a:pt x="3817244" y="0"/>
                </a:lnTo>
                <a:lnTo>
                  <a:pt x="3817244" y="3398938"/>
                </a:lnTo>
                <a:lnTo>
                  <a:pt x="0" y="33989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DF6F2"/>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50212A"/>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88530" y="490255"/>
            <a:ext cx="1118439" cy="888116"/>
            <a:chOff x="0" y="0"/>
            <a:chExt cx="294568" cy="233907"/>
          </a:xfrm>
        </p:grpSpPr>
        <p:sp>
          <p:nvSpPr>
            <p:cNvPr name="Freeform 6" id="6"/>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7" id="7"/>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892139" y="3694608"/>
            <a:ext cx="6786335" cy="8784642"/>
            <a:chOff x="0" y="0"/>
            <a:chExt cx="1787347" cy="2313651"/>
          </a:xfrm>
        </p:grpSpPr>
        <p:sp>
          <p:nvSpPr>
            <p:cNvPr name="Freeform 10" id="10"/>
            <p:cNvSpPr/>
            <p:nvPr/>
          </p:nvSpPr>
          <p:spPr>
            <a:xfrm flipH="false" flipV="false" rot="0">
              <a:off x="0" y="0"/>
              <a:ext cx="1787347" cy="2313651"/>
            </a:xfrm>
            <a:custGeom>
              <a:avLst/>
              <a:gdLst/>
              <a:ahLst/>
              <a:cxnLst/>
              <a:rect r="r" b="b" t="t" l="l"/>
              <a:pathLst>
                <a:path h="2313651" w="1787347">
                  <a:moveTo>
                    <a:pt x="102673" y="0"/>
                  </a:moveTo>
                  <a:lnTo>
                    <a:pt x="1684674" y="0"/>
                  </a:lnTo>
                  <a:cubicBezTo>
                    <a:pt x="1741379" y="0"/>
                    <a:pt x="1787347" y="45968"/>
                    <a:pt x="1787347" y="102673"/>
                  </a:cubicBezTo>
                  <a:lnTo>
                    <a:pt x="1787347" y="2210978"/>
                  </a:lnTo>
                  <a:cubicBezTo>
                    <a:pt x="1787347" y="2238208"/>
                    <a:pt x="1776530" y="2264324"/>
                    <a:pt x="1757275" y="2283578"/>
                  </a:cubicBezTo>
                  <a:cubicBezTo>
                    <a:pt x="1738020" y="2302833"/>
                    <a:pt x="1711905" y="2313651"/>
                    <a:pt x="1684674" y="2313651"/>
                  </a:cubicBezTo>
                  <a:lnTo>
                    <a:pt x="102673" y="2313651"/>
                  </a:lnTo>
                  <a:cubicBezTo>
                    <a:pt x="45968" y="2313651"/>
                    <a:pt x="0" y="2267682"/>
                    <a:pt x="0" y="2210978"/>
                  </a:cubicBezTo>
                  <a:lnTo>
                    <a:pt x="0" y="102673"/>
                  </a:lnTo>
                  <a:cubicBezTo>
                    <a:pt x="0" y="45968"/>
                    <a:pt x="45968" y="0"/>
                    <a:pt x="102673" y="0"/>
                  </a:cubicBezTo>
                  <a:close/>
                </a:path>
              </a:pathLst>
            </a:custGeom>
            <a:solidFill>
              <a:srgbClr val="50212A"/>
            </a:solidFill>
            <a:ln cap="rnd">
              <a:noFill/>
              <a:prstDash val="solid"/>
              <a:round/>
            </a:ln>
          </p:spPr>
        </p:sp>
        <p:sp>
          <p:nvSpPr>
            <p:cNvPr name="TextBox 11" id="11"/>
            <p:cNvSpPr txBox="true"/>
            <p:nvPr/>
          </p:nvSpPr>
          <p:spPr>
            <a:xfrm>
              <a:off x="0" y="-57150"/>
              <a:ext cx="1787347" cy="237080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315510" y="2281211"/>
            <a:ext cx="6786335" cy="8784642"/>
            <a:chOff x="0" y="0"/>
            <a:chExt cx="1787347" cy="2313651"/>
          </a:xfrm>
        </p:grpSpPr>
        <p:sp>
          <p:nvSpPr>
            <p:cNvPr name="Freeform 13" id="13"/>
            <p:cNvSpPr/>
            <p:nvPr/>
          </p:nvSpPr>
          <p:spPr>
            <a:xfrm flipH="false" flipV="false" rot="0">
              <a:off x="0" y="0"/>
              <a:ext cx="1787347" cy="2313651"/>
            </a:xfrm>
            <a:custGeom>
              <a:avLst/>
              <a:gdLst/>
              <a:ahLst/>
              <a:cxnLst/>
              <a:rect r="r" b="b" t="t" l="l"/>
              <a:pathLst>
                <a:path h="2313651" w="1787347">
                  <a:moveTo>
                    <a:pt x="102673" y="0"/>
                  </a:moveTo>
                  <a:lnTo>
                    <a:pt x="1684674" y="0"/>
                  </a:lnTo>
                  <a:cubicBezTo>
                    <a:pt x="1741379" y="0"/>
                    <a:pt x="1787347" y="45968"/>
                    <a:pt x="1787347" y="102673"/>
                  </a:cubicBezTo>
                  <a:lnTo>
                    <a:pt x="1787347" y="2210978"/>
                  </a:lnTo>
                  <a:cubicBezTo>
                    <a:pt x="1787347" y="2238208"/>
                    <a:pt x="1776530" y="2264324"/>
                    <a:pt x="1757275" y="2283578"/>
                  </a:cubicBezTo>
                  <a:cubicBezTo>
                    <a:pt x="1738020" y="2302833"/>
                    <a:pt x="1711905" y="2313651"/>
                    <a:pt x="1684674" y="2313651"/>
                  </a:cubicBezTo>
                  <a:lnTo>
                    <a:pt x="102673" y="2313651"/>
                  </a:lnTo>
                  <a:cubicBezTo>
                    <a:pt x="45968" y="2313651"/>
                    <a:pt x="0" y="2267682"/>
                    <a:pt x="0" y="2210978"/>
                  </a:cubicBezTo>
                  <a:lnTo>
                    <a:pt x="0" y="102673"/>
                  </a:lnTo>
                  <a:cubicBezTo>
                    <a:pt x="0" y="45968"/>
                    <a:pt x="45968" y="0"/>
                    <a:pt x="102673" y="0"/>
                  </a:cubicBezTo>
                  <a:close/>
                </a:path>
              </a:pathLst>
            </a:custGeom>
            <a:solidFill>
              <a:srgbClr val="50212A"/>
            </a:solidFill>
            <a:ln cap="rnd">
              <a:noFill/>
              <a:prstDash val="solid"/>
              <a:round/>
            </a:ln>
          </p:spPr>
        </p:sp>
        <p:sp>
          <p:nvSpPr>
            <p:cNvPr name="TextBox 14" id="14"/>
            <p:cNvSpPr txBox="true"/>
            <p:nvPr/>
          </p:nvSpPr>
          <p:spPr>
            <a:xfrm>
              <a:off x="0" y="-57150"/>
              <a:ext cx="1787347" cy="237080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26497" y="5939721"/>
            <a:ext cx="6212858" cy="8046192"/>
            <a:chOff x="0" y="0"/>
            <a:chExt cx="1636308" cy="2119162"/>
          </a:xfrm>
        </p:grpSpPr>
        <p:sp>
          <p:nvSpPr>
            <p:cNvPr name="Freeform 16" id="16"/>
            <p:cNvSpPr/>
            <p:nvPr/>
          </p:nvSpPr>
          <p:spPr>
            <a:xfrm flipH="false" flipV="false" rot="0">
              <a:off x="0" y="0"/>
              <a:ext cx="1636308" cy="2119162"/>
            </a:xfrm>
            <a:custGeom>
              <a:avLst/>
              <a:gdLst/>
              <a:ahLst/>
              <a:cxnLst/>
              <a:rect r="r" b="b" t="t" l="l"/>
              <a:pathLst>
                <a:path h="2119162" w="1636308">
                  <a:moveTo>
                    <a:pt x="87228" y="0"/>
                  </a:moveTo>
                  <a:lnTo>
                    <a:pt x="1549080" y="0"/>
                  </a:lnTo>
                  <a:cubicBezTo>
                    <a:pt x="1572215" y="0"/>
                    <a:pt x="1594401" y="9190"/>
                    <a:pt x="1610760" y="25548"/>
                  </a:cubicBezTo>
                  <a:cubicBezTo>
                    <a:pt x="1627118" y="41907"/>
                    <a:pt x="1636308" y="64094"/>
                    <a:pt x="1636308" y="87228"/>
                  </a:cubicBezTo>
                  <a:lnTo>
                    <a:pt x="1636308" y="2031934"/>
                  </a:lnTo>
                  <a:cubicBezTo>
                    <a:pt x="1636308" y="2055068"/>
                    <a:pt x="1627118" y="2077255"/>
                    <a:pt x="1610760" y="2093613"/>
                  </a:cubicBezTo>
                  <a:cubicBezTo>
                    <a:pt x="1594401" y="2109972"/>
                    <a:pt x="1572215" y="2119162"/>
                    <a:pt x="1549080" y="2119162"/>
                  </a:cubicBezTo>
                  <a:lnTo>
                    <a:pt x="87228" y="2119162"/>
                  </a:lnTo>
                  <a:cubicBezTo>
                    <a:pt x="64094" y="2119162"/>
                    <a:pt x="41907" y="2109972"/>
                    <a:pt x="25548" y="2093613"/>
                  </a:cubicBezTo>
                  <a:cubicBezTo>
                    <a:pt x="9190" y="2077255"/>
                    <a:pt x="0" y="2055068"/>
                    <a:pt x="0" y="2031934"/>
                  </a:cubicBezTo>
                  <a:lnTo>
                    <a:pt x="0" y="87228"/>
                  </a:lnTo>
                  <a:cubicBezTo>
                    <a:pt x="0" y="64094"/>
                    <a:pt x="9190" y="41907"/>
                    <a:pt x="25548" y="25548"/>
                  </a:cubicBezTo>
                  <a:cubicBezTo>
                    <a:pt x="41907" y="9190"/>
                    <a:pt x="64094" y="0"/>
                    <a:pt x="87228" y="0"/>
                  </a:cubicBezTo>
                  <a:close/>
                </a:path>
              </a:pathLst>
            </a:custGeom>
            <a:solidFill>
              <a:srgbClr val="FFFFFF"/>
            </a:solidFill>
            <a:ln cap="rnd">
              <a:noFill/>
              <a:prstDash val="solid"/>
              <a:round/>
            </a:ln>
          </p:spPr>
        </p:sp>
        <p:sp>
          <p:nvSpPr>
            <p:cNvPr name="TextBox 17" id="17"/>
            <p:cNvSpPr txBox="true"/>
            <p:nvPr/>
          </p:nvSpPr>
          <p:spPr>
            <a:xfrm>
              <a:off x="0" y="-57150"/>
              <a:ext cx="1636308" cy="217631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445067" y="4221525"/>
            <a:ext cx="6212858" cy="8046192"/>
            <a:chOff x="0" y="0"/>
            <a:chExt cx="1636308" cy="2119162"/>
          </a:xfrm>
        </p:grpSpPr>
        <p:sp>
          <p:nvSpPr>
            <p:cNvPr name="Freeform 19" id="19"/>
            <p:cNvSpPr/>
            <p:nvPr/>
          </p:nvSpPr>
          <p:spPr>
            <a:xfrm flipH="false" flipV="false" rot="0">
              <a:off x="0" y="0"/>
              <a:ext cx="1636308" cy="2119162"/>
            </a:xfrm>
            <a:custGeom>
              <a:avLst/>
              <a:gdLst/>
              <a:ahLst/>
              <a:cxnLst/>
              <a:rect r="r" b="b" t="t" l="l"/>
              <a:pathLst>
                <a:path h="2119162" w="1636308">
                  <a:moveTo>
                    <a:pt x="87228" y="0"/>
                  </a:moveTo>
                  <a:lnTo>
                    <a:pt x="1549080" y="0"/>
                  </a:lnTo>
                  <a:cubicBezTo>
                    <a:pt x="1572215" y="0"/>
                    <a:pt x="1594401" y="9190"/>
                    <a:pt x="1610760" y="25548"/>
                  </a:cubicBezTo>
                  <a:cubicBezTo>
                    <a:pt x="1627118" y="41907"/>
                    <a:pt x="1636308" y="64094"/>
                    <a:pt x="1636308" y="87228"/>
                  </a:cubicBezTo>
                  <a:lnTo>
                    <a:pt x="1636308" y="2031934"/>
                  </a:lnTo>
                  <a:cubicBezTo>
                    <a:pt x="1636308" y="2055068"/>
                    <a:pt x="1627118" y="2077255"/>
                    <a:pt x="1610760" y="2093613"/>
                  </a:cubicBezTo>
                  <a:cubicBezTo>
                    <a:pt x="1594401" y="2109972"/>
                    <a:pt x="1572215" y="2119162"/>
                    <a:pt x="1549080" y="2119162"/>
                  </a:cubicBezTo>
                  <a:lnTo>
                    <a:pt x="87228" y="2119162"/>
                  </a:lnTo>
                  <a:cubicBezTo>
                    <a:pt x="64094" y="2119162"/>
                    <a:pt x="41907" y="2109972"/>
                    <a:pt x="25548" y="2093613"/>
                  </a:cubicBezTo>
                  <a:cubicBezTo>
                    <a:pt x="9190" y="2077255"/>
                    <a:pt x="0" y="2055068"/>
                    <a:pt x="0" y="2031934"/>
                  </a:cubicBezTo>
                  <a:lnTo>
                    <a:pt x="0" y="87228"/>
                  </a:lnTo>
                  <a:cubicBezTo>
                    <a:pt x="0" y="64094"/>
                    <a:pt x="9190" y="41907"/>
                    <a:pt x="25548" y="25548"/>
                  </a:cubicBezTo>
                  <a:cubicBezTo>
                    <a:pt x="41907" y="9190"/>
                    <a:pt x="64094" y="0"/>
                    <a:pt x="87228" y="0"/>
                  </a:cubicBezTo>
                  <a:close/>
                </a:path>
              </a:pathLst>
            </a:custGeom>
            <a:solidFill>
              <a:srgbClr val="FFFFFF"/>
            </a:solidFill>
            <a:ln cap="rnd">
              <a:noFill/>
              <a:prstDash val="solid"/>
              <a:round/>
            </a:ln>
          </p:spPr>
        </p:sp>
        <p:sp>
          <p:nvSpPr>
            <p:cNvPr name="TextBox 20" id="20"/>
            <p:cNvSpPr txBox="true"/>
            <p:nvPr/>
          </p:nvSpPr>
          <p:spPr>
            <a:xfrm>
              <a:off x="0" y="-57150"/>
              <a:ext cx="1636308" cy="2176312"/>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6008016" y="3861712"/>
            <a:ext cx="6562368" cy="6595345"/>
          </a:xfrm>
          <a:custGeom>
            <a:avLst/>
            <a:gdLst/>
            <a:ahLst/>
            <a:cxnLst/>
            <a:rect r="r" b="b" t="t" l="l"/>
            <a:pathLst>
              <a:path h="6595345" w="6562368">
                <a:moveTo>
                  <a:pt x="0" y="0"/>
                </a:moveTo>
                <a:lnTo>
                  <a:pt x="6562368" y="0"/>
                </a:lnTo>
                <a:lnTo>
                  <a:pt x="6562368" y="6595345"/>
                </a:lnTo>
                <a:lnTo>
                  <a:pt x="0" y="65953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049582" y="3972394"/>
            <a:ext cx="6471449" cy="1250949"/>
          </a:xfrm>
          <a:prstGeom prst="rect">
            <a:avLst/>
          </a:prstGeom>
        </p:spPr>
        <p:txBody>
          <a:bodyPr anchor="t" rtlCol="false" tIns="0" lIns="0" bIns="0" rIns="0">
            <a:spAutoFit/>
          </a:bodyPr>
          <a:lstStyle/>
          <a:p>
            <a:pPr algn="ctr">
              <a:lnSpc>
                <a:spcPts val="11000"/>
              </a:lnSpc>
            </a:pPr>
            <a:r>
              <a:rPr lang="en-US" b="true" sz="5500">
                <a:solidFill>
                  <a:srgbClr val="FDF6F2"/>
                </a:solidFill>
                <a:latin typeface="Ojuju Bold"/>
                <a:ea typeface="Ojuju Bold"/>
                <a:cs typeface="Ojuju Bold"/>
                <a:sym typeface="Ojuju Bold"/>
              </a:rPr>
              <a:t>ĐỊNH HƯỚNG 1</a:t>
            </a:r>
          </a:p>
        </p:txBody>
      </p:sp>
      <p:sp>
        <p:nvSpPr>
          <p:cNvPr name="TextBox 23" id="23"/>
          <p:cNvSpPr txBox="true"/>
          <p:nvPr/>
        </p:nvSpPr>
        <p:spPr>
          <a:xfrm rot="0">
            <a:off x="10854084" y="2454896"/>
            <a:ext cx="5709185" cy="1250949"/>
          </a:xfrm>
          <a:prstGeom prst="rect">
            <a:avLst/>
          </a:prstGeom>
        </p:spPr>
        <p:txBody>
          <a:bodyPr anchor="t" rtlCol="false" tIns="0" lIns="0" bIns="0" rIns="0">
            <a:spAutoFit/>
          </a:bodyPr>
          <a:lstStyle/>
          <a:p>
            <a:pPr algn="ctr">
              <a:lnSpc>
                <a:spcPts val="11000"/>
              </a:lnSpc>
            </a:pPr>
            <a:r>
              <a:rPr lang="en-US" b="true" sz="5500">
                <a:solidFill>
                  <a:srgbClr val="FDF6F2"/>
                </a:solidFill>
                <a:latin typeface="Ojuju Bold"/>
                <a:ea typeface="Ojuju Bold"/>
                <a:cs typeface="Ojuju Bold"/>
                <a:sym typeface="Ojuju Bold"/>
              </a:rPr>
              <a:t>ĐỊNH HƯỚNG 2</a:t>
            </a:r>
          </a:p>
        </p:txBody>
      </p:sp>
      <p:sp>
        <p:nvSpPr>
          <p:cNvPr name="TextBox 24" id="24"/>
          <p:cNvSpPr txBox="true"/>
          <p:nvPr/>
        </p:nvSpPr>
        <p:spPr>
          <a:xfrm rot="0">
            <a:off x="2076785" y="6165952"/>
            <a:ext cx="3931230" cy="1108512"/>
          </a:xfrm>
          <a:prstGeom prst="rect">
            <a:avLst/>
          </a:prstGeom>
        </p:spPr>
        <p:txBody>
          <a:bodyPr anchor="t" rtlCol="false" tIns="0" lIns="0" bIns="0" rIns="0">
            <a:spAutoFit/>
          </a:bodyPr>
          <a:lstStyle/>
          <a:p>
            <a:pPr algn="l" marL="0" indent="0" lvl="0">
              <a:lnSpc>
                <a:spcPts val="2939"/>
              </a:lnSpc>
              <a:spcBef>
                <a:spcPct val="0"/>
              </a:spcBef>
            </a:pPr>
            <a:r>
              <a:rPr lang="en-US" b="true" sz="2099">
                <a:solidFill>
                  <a:srgbClr val="50212A"/>
                </a:solidFill>
                <a:latin typeface="Work Sans Bold"/>
                <a:ea typeface="Work Sans Bold"/>
                <a:cs typeface="Work Sans Bold"/>
                <a:sym typeface="Work Sans Bold"/>
              </a:rPr>
              <a:t>Kế</a:t>
            </a:r>
            <a:r>
              <a:rPr lang="en-US" b="true" sz="2099" strike="noStrike" u="none">
                <a:solidFill>
                  <a:srgbClr val="50212A"/>
                </a:solidFill>
                <a:latin typeface="Work Sans Bold"/>
                <a:ea typeface="Work Sans Bold"/>
                <a:cs typeface="Work Sans Bold"/>
                <a:sym typeface="Work Sans Bold"/>
              </a:rPr>
              <a:t> thừa hạ tầng và nâng cấp công nghệ trí tuệ nhân tạo (AI Chatbot)</a:t>
            </a:r>
          </a:p>
        </p:txBody>
      </p:sp>
      <p:sp>
        <p:nvSpPr>
          <p:cNvPr name="TextBox 25" id="25"/>
          <p:cNvSpPr txBox="true"/>
          <p:nvPr/>
        </p:nvSpPr>
        <p:spPr>
          <a:xfrm rot="0">
            <a:off x="12208019" y="4567962"/>
            <a:ext cx="3722700" cy="1108512"/>
          </a:xfrm>
          <a:prstGeom prst="rect">
            <a:avLst/>
          </a:prstGeom>
        </p:spPr>
        <p:txBody>
          <a:bodyPr anchor="t" rtlCol="false" tIns="0" lIns="0" bIns="0" rIns="0">
            <a:spAutoFit/>
          </a:bodyPr>
          <a:lstStyle/>
          <a:p>
            <a:pPr algn="r" marL="0" indent="0" lvl="0">
              <a:lnSpc>
                <a:spcPts val="2939"/>
              </a:lnSpc>
              <a:spcBef>
                <a:spcPct val="0"/>
              </a:spcBef>
            </a:pPr>
            <a:r>
              <a:rPr lang="en-US" b="true" sz="2099">
                <a:solidFill>
                  <a:srgbClr val="50212A"/>
                </a:solidFill>
                <a:latin typeface="Work Sans Bold"/>
                <a:ea typeface="Work Sans Bold"/>
                <a:cs typeface="Work Sans Bold"/>
                <a:sym typeface="Work Sans Bold"/>
              </a:rPr>
              <a:t>Đầ</a:t>
            </a:r>
            <a:r>
              <a:rPr lang="en-US" b="true" sz="2099" strike="noStrike" u="none">
                <a:solidFill>
                  <a:srgbClr val="50212A"/>
                </a:solidFill>
                <a:latin typeface="Work Sans Bold"/>
                <a:ea typeface="Work Sans Bold"/>
                <a:cs typeface="Work Sans Bold"/>
                <a:sym typeface="Work Sans Bold"/>
              </a:rPr>
              <a:t>u tư chuyên sâu phân hệ VR360 và mở rộng hệ sinh thái đa kênh</a:t>
            </a:r>
          </a:p>
        </p:txBody>
      </p:sp>
      <p:grpSp>
        <p:nvGrpSpPr>
          <p:cNvPr name="Group 26" id="26"/>
          <p:cNvGrpSpPr/>
          <p:nvPr/>
        </p:nvGrpSpPr>
        <p:grpSpPr>
          <a:xfrm rot="0">
            <a:off x="480736" y="490255"/>
            <a:ext cx="4048274" cy="888116"/>
            <a:chOff x="0" y="0"/>
            <a:chExt cx="5397699" cy="1184154"/>
          </a:xfrm>
        </p:grpSpPr>
        <p:grpSp>
          <p:nvGrpSpPr>
            <p:cNvPr name="Group 27" id="27"/>
            <p:cNvGrpSpPr/>
            <p:nvPr/>
          </p:nvGrpSpPr>
          <p:grpSpPr>
            <a:xfrm rot="0">
              <a:off x="0" y="0"/>
              <a:ext cx="5397699" cy="1184154"/>
              <a:chOff x="0" y="0"/>
              <a:chExt cx="1066212" cy="233907"/>
            </a:xfrm>
          </p:grpSpPr>
          <p:sp>
            <p:nvSpPr>
              <p:cNvPr name="Freeform 28" id="28"/>
              <p:cNvSpPr/>
              <p:nvPr/>
            </p:nvSpPr>
            <p:spPr>
              <a:xfrm flipH="false" flipV="false" rot="0">
                <a:off x="0" y="0"/>
                <a:ext cx="1066212" cy="233907"/>
              </a:xfrm>
              <a:custGeom>
                <a:avLst/>
                <a:gdLst/>
                <a:ahLst/>
                <a:cxnLst/>
                <a:rect r="r" b="b" t="t" l="l"/>
                <a:pathLst>
                  <a:path h="233907" w="1066212">
                    <a:moveTo>
                      <a:pt x="116954" y="0"/>
                    </a:moveTo>
                    <a:lnTo>
                      <a:pt x="949259" y="0"/>
                    </a:lnTo>
                    <a:cubicBezTo>
                      <a:pt x="1013850" y="0"/>
                      <a:pt x="1066212" y="52362"/>
                      <a:pt x="1066212" y="116954"/>
                    </a:cubicBezTo>
                    <a:lnTo>
                      <a:pt x="1066212" y="116954"/>
                    </a:lnTo>
                    <a:cubicBezTo>
                      <a:pt x="1066212" y="147972"/>
                      <a:pt x="1053890" y="177719"/>
                      <a:pt x="1031957" y="199652"/>
                    </a:cubicBezTo>
                    <a:cubicBezTo>
                      <a:pt x="1010024" y="221585"/>
                      <a:pt x="980277" y="233907"/>
                      <a:pt x="949259"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29" id="29"/>
              <p:cNvSpPr txBox="true"/>
              <p:nvPr/>
            </p:nvSpPr>
            <p:spPr>
              <a:xfrm>
                <a:off x="0" y="-57150"/>
                <a:ext cx="1066212" cy="291057"/>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357186" y="141884"/>
              <a:ext cx="4901019" cy="814661"/>
            </a:xfrm>
            <a:prstGeom prst="rect">
              <a:avLst/>
            </a:prstGeom>
          </p:spPr>
          <p:txBody>
            <a:bodyPr anchor="t" rtlCol="false" tIns="0" lIns="0" bIns="0" rIns="0">
              <a:spAutoFit/>
            </a:bodyPr>
            <a:lstStyle/>
            <a:p>
              <a:pPr algn="l" marL="0" indent="0" lvl="0">
                <a:lnSpc>
                  <a:spcPts val="5040"/>
                </a:lnSpc>
                <a:spcBef>
                  <a:spcPct val="0"/>
                </a:spcBef>
              </a:pPr>
              <a:r>
                <a:rPr lang="en-US" b="true" sz="3600">
                  <a:solidFill>
                    <a:srgbClr val="50212A"/>
                  </a:solidFill>
                  <a:latin typeface="Work Sans Bold"/>
                  <a:ea typeface="Work Sans Bold"/>
                  <a:cs typeface="Work Sans Bold"/>
                  <a:sym typeface="Work Sans Bold"/>
                </a:rPr>
                <a:t>5. Định hướng</a:t>
              </a:r>
            </a:p>
          </p:txBody>
        </p:sp>
      </p:grpSp>
      <p:sp>
        <p:nvSpPr>
          <p:cNvPr name="TextBox 31" id="31"/>
          <p:cNvSpPr txBox="true"/>
          <p:nvPr/>
        </p:nvSpPr>
        <p:spPr>
          <a:xfrm rot="0">
            <a:off x="2076785" y="7366133"/>
            <a:ext cx="3931230" cy="2594148"/>
          </a:xfrm>
          <a:prstGeom prst="rect">
            <a:avLst/>
          </a:prstGeom>
        </p:spPr>
        <p:txBody>
          <a:bodyPr anchor="t" rtlCol="false" tIns="0" lIns="0" bIns="0" rIns="0">
            <a:spAutoFit/>
          </a:bodyPr>
          <a:lstStyle/>
          <a:p>
            <a:pPr algn="l" marL="453387" indent="-226693" lvl="1">
              <a:lnSpc>
                <a:spcPts val="2939"/>
              </a:lnSpc>
              <a:buFont typeface="Arial"/>
              <a:buChar char="•"/>
            </a:pPr>
            <a:r>
              <a:rPr lang="en-US" sz="2099">
                <a:solidFill>
                  <a:srgbClr val="50212A"/>
                </a:solidFill>
                <a:latin typeface="Work Sans"/>
                <a:ea typeface="Work Sans"/>
                <a:cs typeface="Work Sans"/>
                <a:sym typeface="Work Sans"/>
              </a:rPr>
              <a:t>Đề xuất</a:t>
            </a:r>
            <a:r>
              <a:rPr lang="en-US" sz="2099" strike="noStrike" u="none">
                <a:solidFill>
                  <a:srgbClr val="50212A"/>
                </a:solidFill>
                <a:latin typeface="Work Sans"/>
                <a:ea typeface="Work Sans"/>
                <a:cs typeface="Work Sans"/>
                <a:sym typeface="Work Sans"/>
              </a:rPr>
              <a:t> tái sử dụng mã nguồn website và nâng cấp chatbot từ FAQ cố định lên AI sử dụng mô hình ngôn ngữ lớn để cá nhân hóa tư vấn tuyển sinh.</a:t>
            </a:r>
          </a:p>
        </p:txBody>
      </p:sp>
      <p:sp>
        <p:nvSpPr>
          <p:cNvPr name="TextBox 32" id="32"/>
          <p:cNvSpPr txBox="true"/>
          <p:nvPr/>
        </p:nvSpPr>
        <p:spPr>
          <a:xfrm rot="0">
            <a:off x="12533281" y="6058216"/>
            <a:ext cx="3397439" cy="3708374"/>
          </a:xfrm>
          <a:prstGeom prst="rect">
            <a:avLst/>
          </a:prstGeom>
        </p:spPr>
        <p:txBody>
          <a:bodyPr anchor="t" rtlCol="false" tIns="0" lIns="0" bIns="0" rIns="0">
            <a:spAutoFit/>
          </a:bodyPr>
          <a:lstStyle/>
          <a:p>
            <a:pPr algn="r" marL="0" indent="0" lvl="0">
              <a:lnSpc>
                <a:spcPts val="2939"/>
              </a:lnSpc>
              <a:spcBef>
                <a:spcPct val="0"/>
              </a:spcBef>
            </a:pPr>
            <a:r>
              <a:rPr lang="en-US" sz="2099">
                <a:solidFill>
                  <a:srgbClr val="50212A"/>
                </a:solidFill>
                <a:latin typeface="Work Sans"/>
                <a:ea typeface="Work Sans"/>
                <a:cs typeface="Work Sans"/>
                <a:sym typeface="Work Sans"/>
              </a:rPr>
              <a:t>Đề xuất cung cấp ngân sách để</a:t>
            </a:r>
            <a:r>
              <a:rPr lang="en-US" sz="2099" strike="noStrike" u="none">
                <a:solidFill>
                  <a:srgbClr val="50212A"/>
                </a:solidFill>
                <a:latin typeface="Work Sans"/>
                <a:ea typeface="Work Sans"/>
                <a:cs typeface="Work Sans"/>
                <a:sym typeface="Work Sans"/>
              </a:rPr>
              <a:t> thuê các thiết bị chuyên dụng hoặc nên nền tảng thiết kế riêng VR Tour 360. Mở rộng truyền thông sang Instagram, YouTube Reels nhằm nâng cấp trải nghiệm và tối ưu chiến lược tuyển sinh dài hạn.</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50212A"/>
        </a:solidFill>
      </p:bgPr>
    </p:bg>
    <p:spTree>
      <p:nvGrpSpPr>
        <p:cNvPr id="1" name=""/>
        <p:cNvGrpSpPr/>
        <p:nvPr/>
      </p:nvGrpSpPr>
      <p:grpSpPr>
        <a:xfrm>
          <a:off x="0" y="0"/>
          <a:ext cx="0" cy="0"/>
          <a:chOff x="0" y="0"/>
          <a:chExt cx="0" cy="0"/>
        </a:xfrm>
      </p:grpSpPr>
      <p:grpSp>
        <p:nvGrpSpPr>
          <p:cNvPr name="Group 2" id="2"/>
          <p:cNvGrpSpPr/>
          <p:nvPr/>
        </p:nvGrpSpPr>
        <p:grpSpPr>
          <a:xfrm rot="0">
            <a:off x="303714" y="315711"/>
            <a:ext cx="17680571" cy="1237205"/>
            <a:chOff x="0" y="0"/>
            <a:chExt cx="4656611" cy="325848"/>
          </a:xfrm>
        </p:grpSpPr>
        <p:sp>
          <p:nvSpPr>
            <p:cNvPr name="Freeform 3" id="3"/>
            <p:cNvSpPr/>
            <p:nvPr/>
          </p:nvSpPr>
          <p:spPr>
            <a:xfrm flipH="false" flipV="false" rot="0">
              <a:off x="0" y="0"/>
              <a:ext cx="4656612" cy="325848"/>
            </a:xfrm>
            <a:custGeom>
              <a:avLst/>
              <a:gdLst/>
              <a:ahLst/>
              <a:cxnLst/>
              <a:rect r="r" b="b" t="t" l="l"/>
              <a:pathLst>
                <a:path h="325848" w="4656612">
                  <a:moveTo>
                    <a:pt x="43788" y="0"/>
                  </a:moveTo>
                  <a:lnTo>
                    <a:pt x="4612824" y="0"/>
                  </a:lnTo>
                  <a:cubicBezTo>
                    <a:pt x="4624437" y="0"/>
                    <a:pt x="4635574" y="4613"/>
                    <a:pt x="4643786" y="12825"/>
                  </a:cubicBezTo>
                  <a:cubicBezTo>
                    <a:pt x="4651998" y="21037"/>
                    <a:pt x="4656612" y="32174"/>
                    <a:pt x="4656612" y="43788"/>
                  </a:cubicBezTo>
                  <a:lnTo>
                    <a:pt x="4656612" y="282060"/>
                  </a:lnTo>
                  <a:cubicBezTo>
                    <a:pt x="4656612" y="306244"/>
                    <a:pt x="4637007" y="325848"/>
                    <a:pt x="4612824" y="325848"/>
                  </a:cubicBezTo>
                  <a:lnTo>
                    <a:pt x="43788" y="325848"/>
                  </a:lnTo>
                  <a:cubicBezTo>
                    <a:pt x="32174" y="325848"/>
                    <a:pt x="21037" y="321235"/>
                    <a:pt x="12825" y="313023"/>
                  </a:cubicBezTo>
                  <a:cubicBezTo>
                    <a:pt x="4613" y="304811"/>
                    <a:pt x="0" y="293674"/>
                    <a:pt x="0" y="282060"/>
                  </a:cubicBezTo>
                  <a:lnTo>
                    <a:pt x="0" y="43788"/>
                  </a:lnTo>
                  <a:cubicBezTo>
                    <a:pt x="0" y="32174"/>
                    <a:pt x="4613" y="21037"/>
                    <a:pt x="12825" y="12825"/>
                  </a:cubicBezTo>
                  <a:cubicBezTo>
                    <a:pt x="21037" y="4613"/>
                    <a:pt x="32174" y="0"/>
                    <a:pt x="43788" y="0"/>
                  </a:cubicBezTo>
                  <a:close/>
                </a:path>
              </a:pathLst>
            </a:custGeom>
            <a:solidFill>
              <a:srgbClr val="FDF6F2"/>
            </a:solidFill>
          </p:spPr>
        </p:sp>
        <p:sp>
          <p:nvSpPr>
            <p:cNvPr name="TextBox 4" id="4"/>
            <p:cNvSpPr txBox="true"/>
            <p:nvPr/>
          </p:nvSpPr>
          <p:spPr>
            <a:xfrm>
              <a:off x="0" y="-57150"/>
              <a:ext cx="4656611" cy="38299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80736" y="490255"/>
            <a:ext cx="4823343" cy="888116"/>
            <a:chOff x="0" y="0"/>
            <a:chExt cx="1270345" cy="233907"/>
          </a:xfrm>
        </p:grpSpPr>
        <p:sp>
          <p:nvSpPr>
            <p:cNvPr name="Freeform 6" id="6"/>
            <p:cNvSpPr/>
            <p:nvPr/>
          </p:nvSpPr>
          <p:spPr>
            <a:xfrm flipH="false" flipV="false" rot="0">
              <a:off x="0" y="0"/>
              <a:ext cx="1270345" cy="233907"/>
            </a:xfrm>
            <a:custGeom>
              <a:avLst/>
              <a:gdLst/>
              <a:ahLst/>
              <a:cxnLst/>
              <a:rect r="r" b="b" t="t" l="l"/>
              <a:pathLst>
                <a:path h="233907" w="1270345">
                  <a:moveTo>
                    <a:pt x="116954" y="0"/>
                  </a:moveTo>
                  <a:lnTo>
                    <a:pt x="1153392" y="0"/>
                  </a:lnTo>
                  <a:cubicBezTo>
                    <a:pt x="1184410" y="0"/>
                    <a:pt x="1214157" y="12322"/>
                    <a:pt x="1236090" y="34255"/>
                  </a:cubicBezTo>
                  <a:cubicBezTo>
                    <a:pt x="1258024" y="56188"/>
                    <a:pt x="1270345" y="85936"/>
                    <a:pt x="1270345" y="116954"/>
                  </a:cubicBezTo>
                  <a:lnTo>
                    <a:pt x="1270345" y="116954"/>
                  </a:lnTo>
                  <a:cubicBezTo>
                    <a:pt x="1270345" y="181545"/>
                    <a:pt x="1217983" y="233907"/>
                    <a:pt x="1153392"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50212A"/>
            </a:solidFill>
            <a:ln cap="rnd">
              <a:noFill/>
              <a:prstDash val="solid"/>
              <a:round/>
            </a:ln>
          </p:spPr>
        </p:sp>
        <p:sp>
          <p:nvSpPr>
            <p:cNvPr name="TextBox 7" id="7"/>
            <p:cNvSpPr txBox="true"/>
            <p:nvPr/>
          </p:nvSpPr>
          <p:spPr>
            <a:xfrm>
              <a:off x="0" y="-57150"/>
              <a:ext cx="1270345" cy="29105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688530" y="490255"/>
            <a:ext cx="1118439" cy="888116"/>
            <a:chOff x="0" y="0"/>
            <a:chExt cx="294568" cy="233907"/>
          </a:xfrm>
        </p:grpSpPr>
        <p:sp>
          <p:nvSpPr>
            <p:cNvPr name="Freeform 9" id="9"/>
            <p:cNvSpPr/>
            <p:nvPr/>
          </p:nvSpPr>
          <p:spPr>
            <a:xfrm flipH="false" flipV="false" rot="0">
              <a:off x="0" y="0"/>
              <a:ext cx="294568" cy="233907"/>
            </a:xfrm>
            <a:custGeom>
              <a:avLst/>
              <a:gdLst/>
              <a:ahLst/>
              <a:cxnLst/>
              <a:rect r="r" b="b" t="t" l="l"/>
              <a:pathLst>
                <a:path h="233907" w="294568">
                  <a:moveTo>
                    <a:pt x="116954" y="0"/>
                  </a:moveTo>
                  <a:lnTo>
                    <a:pt x="177615" y="0"/>
                  </a:lnTo>
                  <a:cubicBezTo>
                    <a:pt x="208633" y="0"/>
                    <a:pt x="238380" y="12322"/>
                    <a:pt x="260313" y="34255"/>
                  </a:cubicBezTo>
                  <a:cubicBezTo>
                    <a:pt x="282247" y="56188"/>
                    <a:pt x="294568" y="85936"/>
                    <a:pt x="294568" y="116954"/>
                  </a:cubicBezTo>
                  <a:lnTo>
                    <a:pt x="294568" y="116954"/>
                  </a:lnTo>
                  <a:cubicBezTo>
                    <a:pt x="294568" y="147972"/>
                    <a:pt x="282247" y="177719"/>
                    <a:pt x="260313" y="199652"/>
                  </a:cubicBezTo>
                  <a:cubicBezTo>
                    <a:pt x="238380" y="221585"/>
                    <a:pt x="208633" y="233907"/>
                    <a:pt x="177615" y="233907"/>
                  </a:cubicBezTo>
                  <a:lnTo>
                    <a:pt x="116954" y="233907"/>
                  </a:lnTo>
                  <a:cubicBezTo>
                    <a:pt x="85936" y="233907"/>
                    <a:pt x="56188" y="221585"/>
                    <a:pt x="34255" y="199652"/>
                  </a:cubicBezTo>
                  <a:cubicBezTo>
                    <a:pt x="12322" y="177719"/>
                    <a:pt x="0" y="147972"/>
                    <a:pt x="0" y="116954"/>
                  </a:cubicBezTo>
                  <a:lnTo>
                    <a:pt x="0" y="116954"/>
                  </a:lnTo>
                  <a:cubicBezTo>
                    <a:pt x="0" y="85936"/>
                    <a:pt x="12322" y="56188"/>
                    <a:pt x="34255" y="34255"/>
                  </a:cubicBezTo>
                  <a:cubicBezTo>
                    <a:pt x="56188" y="12322"/>
                    <a:pt x="85936" y="0"/>
                    <a:pt x="116954" y="0"/>
                  </a:cubicBezTo>
                  <a:close/>
                </a:path>
              </a:pathLst>
            </a:custGeom>
            <a:solidFill>
              <a:srgbClr val="FFFFFF"/>
            </a:solidFill>
            <a:ln cap="rnd">
              <a:noFill/>
              <a:prstDash val="solid"/>
              <a:round/>
            </a:ln>
          </p:spPr>
        </p:sp>
        <p:sp>
          <p:nvSpPr>
            <p:cNvPr name="TextBox 10" id="10"/>
            <p:cNvSpPr txBox="true"/>
            <p:nvPr/>
          </p:nvSpPr>
          <p:spPr>
            <a:xfrm>
              <a:off x="0" y="-57150"/>
              <a:ext cx="294568" cy="29105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7042673" y="764868"/>
            <a:ext cx="410153" cy="338889"/>
          </a:xfrm>
          <a:custGeom>
            <a:avLst/>
            <a:gdLst/>
            <a:ahLst/>
            <a:cxnLst/>
            <a:rect r="r" b="b" t="t" l="l"/>
            <a:pathLst>
              <a:path h="338889" w="410153">
                <a:moveTo>
                  <a:pt x="0" y="0"/>
                </a:moveTo>
                <a:lnTo>
                  <a:pt x="410153" y="0"/>
                </a:lnTo>
                <a:lnTo>
                  <a:pt x="410153" y="338889"/>
                </a:lnTo>
                <a:lnTo>
                  <a:pt x="0" y="33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835174" y="1887652"/>
            <a:ext cx="16617652" cy="2645936"/>
          </a:xfrm>
          <a:prstGeom prst="rect">
            <a:avLst/>
          </a:prstGeom>
        </p:spPr>
        <p:txBody>
          <a:bodyPr anchor="t" rtlCol="false" tIns="0" lIns="0" bIns="0" rIns="0">
            <a:spAutoFit/>
          </a:bodyPr>
          <a:lstStyle/>
          <a:p>
            <a:pPr algn="ctr">
              <a:lnSpc>
                <a:spcPts val="21635"/>
              </a:lnSpc>
            </a:pPr>
            <a:r>
              <a:rPr lang="en-US" sz="15454" b="true">
                <a:solidFill>
                  <a:srgbClr val="FDF6F2"/>
                </a:solidFill>
                <a:latin typeface="Ojuju Semi-Bold"/>
                <a:ea typeface="Ojuju Semi-Bold"/>
                <a:cs typeface="Ojuju Semi-Bold"/>
                <a:sym typeface="Ojuju Semi-Bold"/>
              </a:rPr>
              <a:t>Cám ơn đã theo dõi</a:t>
            </a:r>
          </a:p>
        </p:txBody>
      </p:sp>
      <p:grpSp>
        <p:nvGrpSpPr>
          <p:cNvPr name="Group 13" id="13"/>
          <p:cNvGrpSpPr/>
          <p:nvPr/>
        </p:nvGrpSpPr>
        <p:grpSpPr>
          <a:xfrm rot="0">
            <a:off x="6552946" y="3905640"/>
            <a:ext cx="5182107" cy="1818314"/>
            <a:chOff x="0" y="0"/>
            <a:chExt cx="6909476" cy="2424419"/>
          </a:xfrm>
        </p:grpSpPr>
        <p:grpSp>
          <p:nvGrpSpPr>
            <p:cNvPr name="Group 14" id="14"/>
            <p:cNvGrpSpPr/>
            <p:nvPr/>
          </p:nvGrpSpPr>
          <p:grpSpPr>
            <a:xfrm rot="-348285">
              <a:off x="71093" y="337734"/>
              <a:ext cx="6767290" cy="1748950"/>
              <a:chOff x="0" y="0"/>
              <a:chExt cx="789483" cy="204036"/>
            </a:xfrm>
          </p:grpSpPr>
          <p:sp>
            <p:nvSpPr>
              <p:cNvPr name="Freeform 15" id="15"/>
              <p:cNvSpPr/>
              <p:nvPr/>
            </p:nvSpPr>
            <p:spPr>
              <a:xfrm flipH="false" flipV="false" rot="0">
                <a:off x="0" y="0"/>
                <a:ext cx="789483" cy="204036"/>
              </a:xfrm>
              <a:custGeom>
                <a:avLst/>
                <a:gdLst/>
                <a:ahLst/>
                <a:cxnLst/>
                <a:rect r="r" b="b" t="t" l="l"/>
                <a:pathLst>
                  <a:path h="204036" w="789483">
                    <a:moveTo>
                      <a:pt x="102018" y="0"/>
                    </a:moveTo>
                    <a:lnTo>
                      <a:pt x="687466" y="0"/>
                    </a:lnTo>
                    <a:cubicBezTo>
                      <a:pt x="714522" y="0"/>
                      <a:pt x="740471" y="10748"/>
                      <a:pt x="759603" y="29880"/>
                    </a:cubicBezTo>
                    <a:cubicBezTo>
                      <a:pt x="778735" y="49012"/>
                      <a:pt x="789483" y="74961"/>
                      <a:pt x="789483" y="102018"/>
                    </a:cubicBezTo>
                    <a:lnTo>
                      <a:pt x="789483" y="102018"/>
                    </a:lnTo>
                    <a:cubicBezTo>
                      <a:pt x="789483" y="129075"/>
                      <a:pt x="778735" y="155023"/>
                      <a:pt x="759603" y="174155"/>
                    </a:cubicBezTo>
                    <a:cubicBezTo>
                      <a:pt x="740471" y="193287"/>
                      <a:pt x="714522" y="204036"/>
                      <a:pt x="687466" y="204036"/>
                    </a:cubicBezTo>
                    <a:lnTo>
                      <a:pt x="102018" y="204036"/>
                    </a:lnTo>
                    <a:cubicBezTo>
                      <a:pt x="74961" y="204036"/>
                      <a:pt x="49012" y="193287"/>
                      <a:pt x="29880" y="174155"/>
                    </a:cubicBezTo>
                    <a:cubicBezTo>
                      <a:pt x="10748" y="155023"/>
                      <a:pt x="0" y="129075"/>
                      <a:pt x="0" y="102018"/>
                    </a:cubicBezTo>
                    <a:lnTo>
                      <a:pt x="0" y="102018"/>
                    </a:lnTo>
                    <a:cubicBezTo>
                      <a:pt x="0" y="74961"/>
                      <a:pt x="10748" y="49012"/>
                      <a:pt x="29880" y="29880"/>
                    </a:cubicBezTo>
                    <a:cubicBezTo>
                      <a:pt x="49012" y="10748"/>
                      <a:pt x="74961" y="0"/>
                      <a:pt x="102018" y="0"/>
                    </a:cubicBezTo>
                    <a:close/>
                  </a:path>
                </a:pathLst>
              </a:custGeom>
              <a:solidFill>
                <a:srgbClr val="FFFFFF"/>
              </a:solidFill>
              <a:ln w="19050" cap="rnd">
                <a:solidFill>
                  <a:srgbClr val="000000"/>
                </a:solidFill>
                <a:prstDash val="solid"/>
                <a:round/>
              </a:ln>
            </p:spPr>
          </p:sp>
          <p:sp>
            <p:nvSpPr>
              <p:cNvPr name="TextBox 16" id="16"/>
              <p:cNvSpPr txBox="true"/>
              <p:nvPr/>
            </p:nvSpPr>
            <p:spPr>
              <a:xfrm>
                <a:off x="0" y="-57150"/>
                <a:ext cx="789483" cy="261186"/>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348285">
              <a:off x="311430" y="676988"/>
              <a:ext cx="6283341" cy="987425"/>
            </a:xfrm>
            <a:prstGeom prst="rect">
              <a:avLst/>
            </a:prstGeom>
          </p:spPr>
          <p:txBody>
            <a:bodyPr anchor="t" rtlCol="false" tIns="0" lIns="0" bIns="0" rIns="0">
              <a:spAutoFit/>
            </a:bodyPr>
            <a:lstStyle/>
            <a:p>
              <a:pPr algn="ctr">
                <a:lnSpc>
                  <a:spcPts val="6299"/>
                </a:lnSpc>
                <a:spcBef>
                  <a:spcPct val="0"/>
                </a:spcBef>
              </a:pPr>
              <a:r>
                <a:rPr lang="en-US" b="true" sz="4499">
                  <a:solidFill>
                    <a:srgbClr val="50212A"/>
                  </a:solidFill>
                  <a:latin typeface="Ojuju Bold"/>
                  <a:ea typeface="Ojuju Bold"/>
                  <a:cs typeface="Ojuju Bold"/>
                  <a:sym typeface="Ojuju Bold"/>
                </a:rPr>
                <a:t>TỔNG KẾT DỰ ÁN</a:t>
              </a:r>
            </a:p>
          </p:txBody>
        </p:sp>
      </p:grpSp>
      <p:sp>
        <p:nvSpPr>
          <p:cNvPr name="Freeform 18" id="18"/>
          <p:cNvSpPr/>
          <p:nvPr/>
        </p:nvSpPr>
        <p:spPr>
          <a:xfrm flipH="false" flipV="false" rot="0">
            <a:off x="4458235" y="5162238"/>
            <a:ext cx="10078872" cy="10167841"/>
          </a:xfrm>
          <a:custGeom>
            <a:avLst/>
            <a:gdLst/>
            <a:ahLst/>
            <a:cxnLst/>
            <a:rect r="r" b="b" t="t" l="l"/>
            <a:pathLst>
              <a:path h="10167841" w="10078872">
                <a:moveTo>
                  <a:pt x="0" y="0"/>
                </a:moveTo>
                <a:lnTo>
                  <a:pt x="10078872" y="0"/>
                </a:lnTo>
                <a:lnTo>
                  <a:pt x="10078872" y="10167841"/>
                </a:lnTo>
                <a:lnTo>
                  <a:pt x="0" y="101678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664640" y="575237"/>
            <a:ext cx="4455535" cy="632427"/>
          </a:xfrm>
          <a:prstGeom prst="rect">
            <a:avLst/>
          </a:prstGeom>
        </p:spPr>
        <p:txBody>
          <a:bodyPr anchor="t" rtlCol="false" tIns="0" lIns="0" bIns="0" rIns="0">
            <a:spAutoFit/>
          </a:bodyPr>
          <a:lstStyle/>
          <a:p>
            <a:pPr algn="l">
              <a:lnSpc>
                <a:spcPts val="5040"/>
              </a:lnSpc>
              <a:spcBef>
                <a:spcPct val="0"/>
              </a:spcBef>
            </a:pPr>
            <a:r>
              <a:rPr lang="en-US" b="true" sz="3600">
                <a:solidFill>
                  <a:srgbClr val="FDF6F2"/>
                </a:solidFill>
                <a:latin typeface="Work Sans Medium"/>
                <a:ea typeface="Work Sans Medium"/>
                <a:cs typeface="Work Sans Medium"/>
                <a:sym typeface="Work Sans Medium"/>
              </a:rPr>
              <a:t>Quản trị dự 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DAHYtCDL83I</dc:identifier>
  <dcterms:modified xsi:type="dcterms:W3CDTF">2011-08-01T06:04:30Z</dcterms:modified>
  <cp:revision>1</cp:revision>
  <dc:title>Truyền thông openday</dc:title>
</cp:coreProperties>
</file>