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Heading Now 31-38 Bold" charset="1" panose="00000000000000000000"/>
      <p:regular r:id="rId22"/>
    </p:embeddedFont>
    <p:embeddedFont>
      <p:font typeface="Inter Bold" charset="1" panose="020B0802030000000004"/>
      <p:regular r:id="rId23"/>
    </p:embeddedFont>
    <p:embeddedFont>
      <p:font typeface="Inter" charset="1" panose="020B0502030000000004"/>
      <p:regular r:id="rId24"/>
    </p:embeddedFont>
    <p:embeddedFont>
      <p:font typeface="Heading Now 31-38"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13" Target="../media/image28.png" Type="http://schemas.openxmlformats.org/officeDocument/2006/relationships/image"/><Relationship Id="rId14" Target="../media/image29.svg" Type="http://schemas.openxmlformats.org/officeDocument/2006/relationships/image"/><Relationship Id="rId15" Target="../media/image30.png" Type="http://schemas.openxmlformats.org/officeDocument/2006/relationships/image"/><Relationship Id="rId16" Target="../media/image31.svg" Type="http://schemas.openxmlformats.org/officeDocument/2006/relationships/image"/><Relationship Id="rId17" Target="../media/image32.png" Type="http://schemas.openxmlformats.org/officeDocument/2006/relationships/image"/><Relationship Id="rId18" Target="../media/image33.svg" Type="http://schemas.openxmlformats.org/officeDocument/2006/relationships/image"/><Relationship Id="rId19" Target="../media/image34.png" Type="http://schemas.openxmlformats.org/officeDocument/2006/relationships/image"/><Relationship Id="rId2" Target="../media/image1.png" Type="http://schemas.openxmlformats.org/officeDocument/2006/relationships/image"/><Relationship Id="rId20" Target="../media/image35.sv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png" Type="http://schemas.openxmlformats.org/officeDocument/2006/relationships/image"/><Relationship Id="rId8" Target="../media/image42.png" Type="http://schemas.openxmlformats.org/officeDocument/2006/relationships/image"/><Relationship Id="rId9" Target="../media/image4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4.png" Type="http://schemas.openxmlformats.org/officeDocument/2006/relationships/image"/><Relationship Id="rId7" Target="../media/image45.png" Type="http://schemas.openxmlformats.org/officeDocument/2006/relationships/image"/><Relationship Id="rId8" Target="../media/image46.jpeg" Type="http://schemas.openxmlformats.org/officeDocument/2006/relationships/image"/><Relationship Id="rId9" Target="../media/image4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Freeform 3" id="3"/>
          <p:cNvSpPr/>
          <p:nvPr/>
        </p:nvSpPr>
        <p:spPr>
          <a:xfrm flipH="true" flipV="true" rot="-5400000">
            <a:off x="-96484" y="6645323"/>
            <a:ext cx="2424285" cy="1212143"/>
          </a:xfrm>
          <a:custGeom>
            <a:avLst/>
            <a:gdLst/>
            <a:ahLst/>
            <a:cxnLst/>
            <a:rect r="r" b="b" t="t" l="l"/>
            <a:pathLst>
              <a:path h="1212143" w="2424285">
                <a:moveTo>
                  <a:pt x="2424285" y="1212143"/>
                </a:moveTo>
                <a:lnTo>
                  <a:pt x="0" y="1212143"/>
                </a:lnTo>
                <a:lnTo>
                  <a:pt x="0" y="0"/>
                </a:lnTo>
                <a:lnTo>
                  <a:pt x="2424285" y="0"/>
                </a:lnTo>
                <a:lnTo>
                  <a:pt x="2424285" y="121214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TextBox 5" id="5"/>
          <p:cNvSpPr txBox="true"/>
          <p:nvPr/>
        </p:nvSpPr>
        <p:spPr>
          <a:xfrm rot="0">
            <a:off x="2420515" y="1714581"/>
            <a:ext cx="6159558" cy="3084144"/>
          </a:xfrm>
          <a:prstGeom prst="rect">
            <a:avLst/>
          </a:prstGeom>
        </p:spPr>
        <p:txBody>
          <a:bodyPr anchor="t" rtlCol="false" tIns="0" lIns="0" bIns="0" rIns="0">
            <a:spAutoFit/>
          </a:bodyPr>
          <a:lstStyle/>
          <a:p>
            <a:pPr algn="l" marL="0" indent="0" lvl="0">
              <a:lnSpc>
                <a:spcPts val="18009"/>
              </a:lnSpc>
              <a:spcBef>
                <a:spcPct val="0"/>
              </a:spcBef>
            </a:pPr>
            <a:r>
              <a:rPr lang="en-US" b="true" sz="21698">
                <a:solidFill>
                  <a:srgbClr val="9D0618"/>
                </a:solidFill>
                <a:latin typeface="Heading Now 31-38 Bold"/>
                <a:ea typeface="Heading Now 31-38 Bold"/>
                <a:cs typeface="Heading Now 31-38 Bold"/>
                <a:sym typeface="Heading Now 31-38 Bold"/>
              </a:rPr>
              <a:t>TÌM HIỂU</a:t>
            </a:r>
          </a:p>
        </p:txBody>
      </p:sp>
      <p:sp>
        <p:nvSpPr>
          <p:cNvPr name="AutoShape 6" id="6"/>
          <p:cNvSpPr/>
          <p:nvPr/>
        </p:nvSpPr>
        <p:spPr>
          <a:xfrm flipV="true">
            <a:off x="1028700" y="1041346"/>
            <a:ext cx="19050" cy="3757380"/>
          </a:xfrm>
          <a:prstGeom prst="line">
            <a:avLst/>
          </a:prstGeom>
          <a:ln cap="flat" w="38100">
            <a:solidFill>
              <a:srgbClr val="9D0618"/>
            </a:solidFill>
            <a:prstDash val="solid"/>
            <a:headEnd type="none" len="sm" w="sm"/>
            <a:tailEnd type="none" len="sm" w="sm"/>
          </a:ln>
        </p:spPr>
      </p:sp>
      <p:sp>
        <p:nvSpPr>
          <p:cNvPr name="AutoShape 7" id="7"/>
          <p:cNvSpPr/>
          <p:nvPr/>
        </p:nvSpPr>
        <p:spPr>
          <a:xfrm>
            <a:off x="1028700" y="4798725"/>
            <a:ext cx="13263873" cy="0"/>
          </a:xfrm>
          <a:prstGeom prst="line">
            <a:avLst/>
          </a:prstGeom>
          <a:ln cap="flat" w="38100">
            <a:solidFill>
              <a:srgbClr val="9D0618"/>
            </a:solidFill>
            <a:prstDash val="solid"/>
            <a:headEnd type="none" len="sm" w="sm"/>
            <a:tailEnd type="none" len="sm" w="sm"/>
          </a:ln>
        </p:spPr>
      </p:sp>
      <p:grpSp>
        <p:nvGrpSpPr>
          <p:cNvPr name="Group 8" id="8"/>
          <p:cNvGrpSpPr/>
          <p:nvPr/>
        </p:nvGrpSpPr>
        <p:grpSpPr>
          <a:xfrm rot="0">
            <a:off x="2260119" y="5398800"/>
            <a:ext cx="326649" cy="3521054"/>
            <a:chOff x="0" y="0"/>
            <a:chExt cx="76918" cy="829128"/>
          </a:xfrm>
        </p:grpSpPr>
        <p:sp>
          <p:nvSpPr>
            <p:cNvPr name="Freeform 9" id="9"/>
            <p:cNvSpPr/>
            <p:nvPr/>
          </p:nvSpPr>
          <p:spPr>
            <a:xfrm flipH="false" flipV="false" rot="0">
              <a:off x="0" y="0"/>
              <a:ext cx="76918" cy="829128"/>
            </a:xfrm>
            <a:custGeom>
              <a:avLst/>
              <a:gdLst/>
              <a:ahLst/>
              <a:cxnLst/>
              <a:rect r="r" b="b" t="t" l="l"/>
              <a:pathLst>
                <a:path h="829128" w="76918">
                  <a:moveTo>
                    <a:pt x="0" y="0"/>
                  </a:moveTo>
                  <a:lnTo>
                    <a:pt x="76918" y="0"/>
                  </a:lnTo>
                  <a:lnTo>
                    <a:pt x="76918" y="829128"/>
                  </a:lnTo>
                  <a:lnTo>
                    <a:pt x="0" y="829128"/>
                  </a:lnTo>
                  <a:close/>
                </a:path>
              </a:pathLst>
            </a:custGeom>
            <a:solidFill>
              <a:srgbClr val="21352E"/>
            </a:solidFill>
          </p:spPr>
        </p:sp>
        <p:sp>
          <p:nvSpPr>
            <p:cNvPr name="TextBox 10" id="10"/>
            <p:cNvSpPr txBox="true"/>
            <p:nvPr/>
          </p:nvSpPr>
          <p:spPr>
            <a:xfrm>
              <a:off x="0" y="-47625"/>
              <a:ext cx="76918" cy="876753"/>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9196563" y="3531752"/>
            <a:ext cx="3384386" cy="691661"/>
            <a:chOff x="0" y="0"/>
            <a:chExt cx="891361" cy="182166"/>
          </a:xfrm>
        </p:grpSpPr>
        <p:sp>
          <p:nvSpPr>
            <p:cNvPr name="Freeform 12" id="12"/>
            <p:cNvSpPr/>
            <p:nvPr/>
          </p:nvSpPr>
          <p:spPr>
            <a:xfrm flipH="false" flipV="false" rot="0">
              <a:off x="0" y="0"/>
              <a:ext cx="891361" cy="182166"/>
            </a:xfrm>
            <a:custGeom>
              <a:avLst/>
              <a:gdLst/>
              <a:ahLst/>
              <a:cxnLst/>
              <a:rect r="r" b="b" t="t" l="l"/>
              <a:pathLst>
                <a:path h="182166" w="891361">
                  <a:moveTo>
                    <a:pt x="0" y="0"/>
                  </a:moveTo>
                  <a:lnTo>
                    <a:pt x="891361" y="0"/>
                  </a:lnTo>
                  <a:lnTo>
                    <a:pt x="891361" y="182166"/>
                  </a:lnTo>
                  <a:lnTo>
                    <a:pt x="0" y="182166"/>
                  </a:lnTo>
                  <a:close/>
                </a:path>
              </a:pathLst>
            </a:custGeom>
            <a:solidFill>
              <a:srgbClr val="21352E"/>
            </a:solidFill>
          </p:spPr>
        </p:sp>
        <p:sp>
          <p:nvSpPr>
            <p:cNvPr name="TextBox 13" id="13"/>
            <p:cNvSpPr txBox="true"/>
            <p:nvPr/>
          </p:nvSpPr>
          <p:spPr>
            <a:xfrm>
              <a:off x="0" y="-47625"/>
              <a:ext cx="891361" cy="229791"/>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5400000">
            <a:off x="14793542" y="4185105"/>
            <a:ext cx="5207098" cy="2603549"/>
          </a:xfrm>
          <a:custGeom>
            <a:avLst/>
            <a:gdLst/>
            <a:ahLst/>
            <a:cxnLst/>
            <a:rect r="r" b="b" t="t" l="l"/>
            <a:pathLst>
              <a:path h="2603549" w="5207098">
                <a:moveTo>
                  <a:pt x="0" y="0"/>
                </a:moveTo>
                <a:lnTo>
                  <a:pt x="5207098" y="0"/>
                </a:lnTo>
                <a:lnTo>
                  <a:pt x="5207098" y="2603549"/>
                </a:lnTo>
                <a:lnTo>
                  <a:pt x="0" y="2603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648492" y="2140256"/>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2866579" y="5341650"/>
            <a:ext cx="5837474" cy="513118"/>
          </a:xfrm>
          <a:prstGeom prst="rect">
            <a:avLst/>
          </a:prstGeom>
        </p:spPr>
        <p:txBody>
          <a:bodyPr anchor="t" rtlCol="false" tIns="0" lIns="0" bIns="0" rIns="0">
            <a:spAutoFit/>
          </a:bodyPr>
          <a:lstStyle/>
          <a:p>
            <a:pPr algn="l">
              <a:lnSpc>
                <a:spcPts val="4227"/>
              </a:lnSpc>
            </a:pPr>
            <a:r>
              <a:rPr lang="en-US" b="true" sz="3019" spc="-90">
                <a:solidFill>
                  <a:srgbClr val="161616"/>
                </a:solidFill>
                <a:latin typeface="Inter Bold"/>
                <a:ea typeface="Inter Bold"/>
                <a:cs typeface="Inter Bold"/>
                <a:sym typeface="Inter Bold"/>
              </a:rPr>
              <a:t>MÔN CÔNG NGHỆ DẠY HỌC </a:t>
            </a:r>
          </a:p>
        </p:txBody>
      </p:sp>
      <p:sp>
        <p:nvSpPr>
          <p:cNvPr name="TextBox 17" id="17"/>
          <p:cNvSpPr txBox="true"/>
          <p:nvPr/>
        </p:nvSpPr>
        <p:spPr>
          <a:xfrm rot="0">
            <a:off x="2866579" y="5788093"/>
            <a:ext cx="3001015" cy="567387"/>
          </a:xfrm>
          <a:prstGeom prst="rect">
            <a:avLst/>
          </a:prstGeom>
        </p:spPr>
        <p:txBody>
          <a:bodyPr anchor="t" rtlCol="false" tIns="0" lIns="0" bIns="0" rIns="0">
            <a:spAutoFit/>
          </a:bodyPr>
          <a:lstStyle/>
          <a:p>
            <a:pPr algn="l">
              <a:lnSpc>
                <a:spcPts val="4697"/>
              </a:lnSpc>
            </a:pPr>
            <a:r>
              <a:rPr lang="en-US" b="true" sz="3355" spc="-100">
                <a:solidFill>
                  <a:srgbClr val="9D0618"/>
                </a:solidFill>
                <a:latin typeface="Inter Bold"/>
                <a:ea typeface="Inter Bold"/>
                <a:cs typeface="Inter Bold"/>
                <a:sym typeface="Inter Bold"/>
              </a:rPr>
              <a:t>NHÓM 2</a:t>
            </a:r>
          </a:p>
        </p:txBody>
      </p:sp>
      <p:sp>
        <p:nvSpPr>
          <p:cNvPr name="TextBox 18" id="18"/>
          <p:cNvSpPr txBox="true"/>
          <p:nvPr/>
        </p:nvSpPr>
        <p:spPr>
          <a:xfrm rot="0">
            <a:off x="2857446" y="6402608"/>
            <a:ext cx="4350287" cy="2490334"/>
          </a:xfrm>
          <a:prstGeom prst="rect">
            <a:avLst/>
          </a:prstGeom>
        </p:spPr>
        <p:txBody>
          <a:bodyPr anchor="t" rtlCol="false" tIns="0" lIns="0" bIns="0" rIns="0">
            <a:spAutoFit/>
          </a:bodyPr>
          <a:lstStyle/>
          <a:p>
            <a:pPr algn="l">
              <a:lnSpc>
                <a:spcPts val="2241"/>
              </a:lnSpc>
            </a:pPr>
            <a:r>
              <a:rPr lang="en-US" sz="1601" spc="-48">
                <a:solidFill>
                  <a:srgbClr val="161616"/>
                </a:solidFill>
                <a:latin typeface="Inter"/>
                <a:ea typeface="Inter"/>
                <a:cs typeface="Inter"/>
                <a:sym typeface="Inter"/>
              </a:rPr>
              <a:t>Phạm Thu Uyên - 20231648</a:t>
            </a:r>
          </a:p>
          <a:p>
            <a:pPr algn="l">
              <a:lnSpc>
                <a:spcPts val="2241"/>
              </a:lnSpc>
            </a:pPr>
            <a:r>
              <a:rPr lang="en-US" sz="1601" spc="-48">
                <a:solidFill>
                  <a:srgbClr val="161616"/>
                </a:solidFill>
                <a:latin typeface="Inter"/>
                <a:ea typeface="Inter"/>
                <a:cs typeface="Inter"/>
                <a:sym typeface="Inter"/>
              </a:rPr>
              <a:t>Nguyễn Thị Mỹ Duyên - 20231587</a:t>
            </a:r>
          </a:p>
          <a:p>
            <a:pPr algn="l">
              <a:lnSpc>
                <a:spcPts val="2241"/>
              </a:lnSpc>
            </a:pPr>
            <a:r>
              <a:rPr lang="en-US" sz="1601" spc="-48">
                <a:solidFill>
                  <a:srgbClr val="161616"/>
                </a:solidFill>
                <a:latin typeface="Inter"/>
                <a:ea typeface="Inter"/>
                <a:cs typeface="Inter"/>
                <a:sym typeface="Inter"/>
              </a:rPr>
              <a:t>Nguyễn Thị Khánh Đoan - 2031574</a:t>
            </a:r>
          </a:p>
          <a:p>
            <a:pPr algn="l">
              <a:lnSpc>
                <a:spcPts val="2241"/>
              </a:lnSpc>
            </a:pPr>
            <a:r>
              <a:rPr lang="en-US" sz="1601" spc="-48">
                <a:solidFill>
                  <a:srgbClr val="161616"/>
                </a:solidFill>
                <a:latin typeface="Inter"/>
                <a:ea typeface="Inter"/>
                <a:cs typeface="Inter"/>
                <a:sym typeface="Inter"/>
              </a:rPr>
              <a:t>Trịnh Thị Hồng - 20231592</a:t>
            </a:r>
          </a:p>
          <a:p>
            <a:pPr algn="l">
              <a:lnSpc>
                <a:spcPts val="2241"/>
              </a:lnSpc>
            </a:pPr>
            <a:r>
              <a:rPr lang="en-US" sz="1601" spc="-48">
                <a:solidFill>
                  <a:srgbClr val="161616"/>
                </a:solidFill>
                <a:latin typeface="Inter"/>
                <a:ea typeface="Inter"/>
                <a:cs typeface="Inter"/>
                <a:sym typeface="Inter"/>
              </a:rPr>
              <a:t>Nguyễn Linh Chi - 20231562</a:t>
            </a:r>
          </a:p>
          <a:p>
            <a:pPr algn="l">
              <a:lnSpc>
                <a:spcPts val="2241"/>
              </a:lnSpc>
            </a:pPr>
            <a:r>
              <a:rPr lang="en-US" sz="1601" spc="-48">
                <a:solidFill>
                  <a:srgbClr val="161616"/>
                </a:solidFill>
                <a:latin typeface="Inter"/>
                <a:ea typeface="Inter"/>
                <a:cs typeface="Inter"/>
                <a:sym typeface="Inter"/>
              </a:rPr>
              <a:t>Lê Hiền Trang - 20231639</a:t>
            </a:r>
          </a:p>
          <a:p>
            <a:pPr algn="l">
              <a:lnSpc>
                <a:spcPts val="2241"/>
              </a:lnSpc>
            </a:pPr>
            <a:r>
              <a:rPr lang="en-US" sz="1601" spc="-48">
                <a:solidFill>
                  <a:srgbClr val="161616"/>
                </a:solidFill>
                <a:latin typeface="Inter"/>
                <a:ea typeface="Inter"/>
                <a:cs typeface="Inter"/>
                <a:sym typeface="Inter"/>
              </a:rPr>
              <a:t>Nguyễn Ngọc Anh - 20231555</a:t>
            </a:r>
          </a:p>
          <a:p>
            <a:pPr algn="l">
              <a:lnSpc>
                <a:spcPts val="2241"/>
              </a:lnSpc>
            </a:pPr>
            <a:r>
              <a:rPr lang="en-US" sz="1601" spc="-48">
                <a:solidFill>
                  <a:srgbClr val="161616"/>
                </a:solidFill>
                <a:latin typeface="Inter"/>
                <a:ea typeface="Inter"/>
                <a:cs typeface="Inter"/>
                <a:sym typeface="Inter"/>
              </a:rPr>
              <a:t>Hoàng Thị Thảo - 20231630</a:t>
            </a:r>
          </a:p>
          <a:p>
            <a:pPr algn="l" marL="0" indent="0" lvl="0">
              <a:lnSpc>
                <a:spcPts val="2241"/>
              </a:lnSpc>
              <a:spcBef>
                <a:spcPct val="0"/>
              </a:spcBef>
            </a:pPr>
            <a:r>
              <a:rPr lang="en-US" sz="1601" spc="-48">
                <a:solidFill>
                  <a:srgbClr val="161616"/>
                </a:solidFill>
                <a:latin typeface="Inter"/>
                <a:ea typeface="Inter"/>
                <a:cs typeface="Inter"/>
                <a:sym typeface="Inter"/>
              </a:rPr>
              <a:t>Nguyễn Thị Ngọc Lan - 20231601</a:t>
            </a:r>
          </a:p>
        </p:txBody>
      </p:sp>
      <p:sp>
        <p:nvSpPr>
          <p:cNvPr name="Freeform 19" id="19"/>
          <p:cNvSpPr/>
          <p:nvPr/>
        </p:nvSpPr>
        <p:spPr>
          <a:xfrm flipH="false" flipV="false" rot="0">
            <a:off x="8704053" y="9434942"/>
            <a:ext cx="879894" cy="240871"/>
          </a:xfrm>
          <a:custGeom>
            <a:avLst/>
            <a:gdLst/>
            <a:ahLst/>
            <a:cxnLst/>
            <a:rect r="r" b="b" t="t" l="l"/>
            <a:pathLst>
              <a:path h="240871" w="879894">
                <a:moveTo>
                  <a:pt x="0" y="0"/>
                </a:moveTo>
                <a:lnTo>
                  <a:pt x="879894" y="0"/>
                </a:lnTo>
                <a:lnTo>
                  <a:pt x="879894" y="240870"/>
                </a:lnTo>
                <a:lnTo>
                  <a:pt x="0" y="240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8350733" y="4893975"/>
            <a:ext cx="7879268" cy="4025879"/>
            <a:chOff x="0" y="0"/>
            <a:chExt cx="10505691" cy="5367838"/>
          </a:xfrm>
        </p:grpSpPr>
        <p:sp>
          <p:nvSpPr>
            <p:cNvPr name="TextBox 21" id="21"/>
            <p:cNvSpPr txBox="true"/>
            <p:nvPr/>
          </p:nvSpPr>
          <p:spPr>
            <a:xfrm rot="0">
              <a:off x="0" y="152400"/>
              <a:ext cx="10505691" cy="2708150"/>
            </a:xfrm>
            <a:prstGeom prst="rect">
              <a:avLst/>
            </a:prstGeom>
          </p:spPr>
          <p:txBody>
            <a:bodyPr anchor="t" rtlCol="false" tIns="0" lIns="0" bIns="0" rIns="0">
              <a:spAutoFit/>
            </a:bodyPr>
            <a:lstStyle/>
            <a:p>
              <a:pPr algn="l" marL="0" indent="0" lvl="0">
                <a:lnSpc>
                  <a:spcPts val="11738"/>
                </a:lnSpc>
                <a:spcBef>
                  <a:spcPct val="0"/>
                </a:spcBef>
              </a:pPr>
              <a:r>
                <a:rPr lang="en-US" b="true" sz="14143">
                  <a:solidFill>
                    <a:srgbClr val="161616"/>
                  </a:solidFill>
                  <a:latin typeface="Heading Now 31-38 Bold"/>
                  <a:ea typeface="Heading Now 31-38 Bold"/>
                  <a:cs typeface="Heading Now 31-38 Bold"/>
                  <a:sym typeface="Heading Now 31-38 Bold"/>
                </a:rPr>
                <a:t>TÀI NGHUYÊN </a:t>
              </a:r>
            </a:p>
          </p:txBody>
        </p:sp>
        <p:sp>
          <p:nvSpPr>
            <p:cNvPr name="TextBox 22" id="22"/>
            <p:cNvSpPr txBox="true"/>
            <p:nvPr/>
          </p:nvSpPr>
          <p:spPr>
            <a:xfrm rot="0">
              <a:off x="0" y="2659688"/>
              <a:ext cx="10505691" cy="2708150"/>
            </a:xfrm>
            <a:prstGeom prst="rect">
              <a:avLst/>
            </a:prstGeom>
          </p:spPr>
          <p:txBody>
            <a:bodyPr anchor="t" rtlCol="false" tIns="0" lIns="0" bIns="0" rIns="0">
              <a:spAutoFit/>
            </a:bodyPr>
            <a:lstStyle/>
            <a:p>
              <a:pPr algn="l" marL="0" indent="0" lvl="0">
                <a:lnSpc>
                  <a:spcPts val="11738"/>
                </a:lnSpc>
                <a:spcBef>
                  <a:spcPct val="0"/>
                </a:spcBef>
              </a:pPr>
              <a:r>
                <a:rPr lang="en-US" b="true" sz="14143">
                  <a:solidFill>
                    <a:srgbClr val="161616"/>
                  </a:solidFill>
                  <a:latin typeface="Heading Now 31-38 Bold"/>
                  <a:ea typeface="Heading Now 31-38 Bold"/>
                  <a:cs typeface="Heading Now 31-38 Bold"/>
                  <a:sym typeface="Heading Now 31-38 Bold"/>
                </a:rPr>
                <a:t>GIÁO DỤC MỞ</a:t>
              </a:r>
            </a:p>
          </p:txBody>
        </p:sp>
      </p:grpSp>
      <p:sp>
        <p:nvSpPr>
          <p:cNvPr name="TextBox 23" id="23"/>
          <p:cNvSpPr txBox="true"/>
          <p:nvPr/>
        </p:nvSpPr>
        <p:spPr>
          <a:xfrm rot="0">
            <a:off x="9196563" y="1939249"/>
            <a:ext cx="1551027" cy="1749136"/>
          </a:xfrm>
          <a:prstGeom prst="rect">
            <a:avLst/>
          </a:prstGeom>
        </p:spPr>
        <p:txBody>
          <a:bodyPr anchor="t" rtlCol="false" tIns="0" lIns="0" bIns="0" rIns="0">
            <a:spAutoFit/>
          </a:bodyPr>
          <a:lstStyle/>
          <a:p>
            <a:pPr algn="l" marL="0" indent="0" lvl="0">
              <a:lnSpc>
                <a:spcPts val="10295"/>
              </a:lnSpc>
              <a:spcBef>
                <a:spcPct val="0"/>
              </a:spcBef>
            </a:pPr>
            <a:r>
              <a:rPr lang="en-US" b="true" sz="12403">
                <a:solidFill>
                  <a:srgbClr val="9D0618"/>
                </a:solidFill>
                <a:latin typeface="Heading Now 31-38 Bold"/>
                <a:ea typeface="Heading Now 31-38 Bold"/>
                <a:cs typeface="Heading Now 31-38 Bold"/>
                <a:sym typeface="Heading Now 31-38 Bold"/>
              </a:rPr>
              <a:t>OER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AutoShape 3" id="3"/>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grpSp>
        <p:nvGrpSpPr>
          <p:cNvPr name="Group 4" id="4"/>
          <p:cNvGrpSpPr/>
          <p:nvPr/>
        </p:nvGrpSpPr>
        <p:grpSpPr>
          <a:xfrm rot="0">
            <a:off x="9182177" y="5938629"/>
            <a:ext cx="9658350" cy="2614449"/>
            <a:chOff x="0" y="0"/>
            <a:chExt cx="2543763" cy="688579"/>
          </a:xfrm>
        </p:grpSpPr>
        <p:sp>
          <p:nvSpPr>
            <p:cNvPr name="Freeform 5" id="5"/>
            <p:cNvSpPr/>
            <p:nvPr/>
          </p:nvSpPr>
          <p:spPr>
            <a:xfrm flipH="false" flipV="false" rot="0">
              <a:off x="0" y="0"/>
              <a:ext cx="2543763" cy="688579"/>
            </a:xfrm>
            <a:custGeom>
              <a:avLst/>
              <a:gdLst/>
              <a:ahLst/>
              <a:cxnLst/>
              <a:rect r="r" b="b" t="t" l="l"/>
              <a:pathLst>
                <a:path h="688579" w="2543763">
                  <a:moveTo>
                    <a:pt x="0" y="0"/>
                  </a:moveTo>
                  <a:lnTo>
                    <a:pt x="2543763" y="0"/>
                  </a:lnTo>
                  <a:lnTo>
                    <a:pt x="2543763" y="688579"/>
                  </a:lnTo>
                  <a:lnTo>
                    <a:pt x="0" y="688579"/>
                  </a:lnTo>
                  <a:close/>
                </a:path>
              </a:pathLst>
            </a:custGeom>
            <a:solidFill>
              <a:srgbClr val="9D0618"/>
            </a:solidFill>
          </p:spPr>
        </p:sp>
        <p:sp>
          <p:nvSpPr>
            <p:cNvPr name="TextBox 6" id="6"/>
            <p:cNvSpPr txBox="true"/>
            <p:nvPr/>
          </p:nvSpPr>
          <p:spPr>
            <a:xfrm>
              <a:off x="0" y="-47625"/>
              <a:ext cx="2543763" cy="736204"/>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5400000">
            <a:off x="14793542" y="4185105"/>
            <a:ext cx="5207098" cy="2603549"/>
          </a:xfrm>
          <a:custGeom>
            <a:avLst/>
            <a:gdLst/>
            <a:ahLst/>
            <a:cxnLst/>
            <a:rect r="r" b="b" t="t" l="l"/>
            <a:pathLst>
              <a:path h="2603549" w="5207098">
                <a:moveTo>
                  <a:pt x="0" y="0"/>
                </a:moveTo>
                <a:lnTo>
                  <a:pt x="5207098" y="0"/>
                </a:lnTo>
                <a:lnTo>
                  <a:pt x="5207098" y="2603549"/>
                </a:lnTo>
                <a:lnTo>
                  <a:pt x="0" y="2603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61701" y="8737257"/>
            <a:ext cx="3384386" cy="691661"/>
            <a:chOff x="0" y="0"/>
            <a:chExt cx="891361" cy="182166"/>
          </a:xfrm>
        </p:grpSpPr>
        <p:sp>
          <p:nvSpPr>
            <p:cNvPr name="Freeform 9" id="9"/>
            <p:cNvSpPr/>
            <p:nvPr/>
          </p:nvSpPr>
          <p:spPr>
            <a:xfrm flipH="false" flipV="false" rot="0">
              <a:off x="0" y="0"/>
              <a:ext cx="891361" cy="182166"/>
            </a:xfrm>
            <a:custGeom>
              <a:avLst/>
              <a:gdLst/>
              <a:ahLst/>
              <a:cxnLst/>
              <a:rect r="r" b="b" t="t" l="l"/>
              <a:pathLst>
                <a:path h="182166" w="891361">
                  <a:moveTo>
                    <a:pt x="0" y="0"/>
                  </a:moveTo>
                  <a:lnTo>
                    <a:pt x="891361" y="0"/>
                  </a:lnTo>
                  <a:lnTo>
                    <a:pt x="891361" y="182166"/>
                  </a:lnTo>
                  <a:lnTo>
                    <a:pt x="0" y="182166"/>
                  </a:lnTo>
                  <a:close/>
                </a:path>
              </a:pathLst>
            </a:custGeom>
            <a:solidFill>
              <a:srgbClr val="21352E"/>
            </a:solidFill>
          </p:spPr>
        </p:sp>
        <p:sp>
          <p:nvSpPr>
            <p:cNvPr name="TextBox 10" id="10"/>
            <p:cNvSpPr txBox="true"/>
            <p:nvPr/>
          </p:nvSpPr>
          <p:spPr>
            <a:xfrm>
              <a:off x="0" y="-47625"/>
              <a:ext cx="891361" cy="229791"/>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9746450" y="2883331"/>
            <a:ext cx="7904948" cy="5669746"/>
            <a:chOff x="0" y="0"/>
            <a:chExt cx="2026920" cy="1453789"/>
          </a:xfrm>
        </p:grpSpPr>
        <p:sp>
          <p:nvSpPr>
            <p:cNvPr name="Freeform 12" id="12"/>
            <p:cNvSpPr/>
            <p:nvPr/>
          </p:nvSpPr>
          <p:spPr>
            <a:xfrm flipH="false" flipV="false" rot="0">
              <a:off x="0" y="0"/>
              <a:ext cx="2026920" cy="1453789"/>
            </a:xfrm>
            <a:custGeom>
              <a:avLst/>
              <a:gdLst/>
              <a:ahLst/>
              <a:cxnLst/>
              <a:rect r="r" b="b" t="t" l="l"/>
              <a:pathLst>
                <a:path h="1453789" w="2026920">
                  <a:moveTo>
                    <a:pt x="0" y="0"/>
                  </a:moveTo>
                  <a:lnTo>
                    <a:pt x="2026920" y="0"/>
                  </a:lnTo>
                  <a:lnTo>
                    <a:pt x="2026920" y="1453789"/>
                  </a:lnTo>
                  <a:lnTo>
                    <a:pt x="0" y="1453789"/>
                  </a:lnTo>
                  <a:close/>
                </a:path>
              </a:pathLst>
            </a:custGeom>
            <a:blipFill>
              <a:blip r:embed="rId4"/>
              <a:stretch>
                <a:fillRect l="0" t="-1165" r="-71186" b="-1165"/>
              </a:stretch>
            </a:blipFill>
          </p:spPr>
        </p:sp>
      </p:grpSp>
      <p:sp>
        <p:nvSpPr>
          <p:cNvPr name="TextBox 13" id="13"/>
          <p:cNvSpPr txBox="true"/>
          <p:nvPr/>
        </p:nvSpPr>
        <p:spPr>
          <a:xfrm rot="0">
            <a:off x="1061701" y="1422346"/>
            <a:ext cx="8260449" cy="1953831"/>
          </a:xfrm>
          <a:prstGeom prst="rect">
            <a:avLst/>
          </a:prstGeom>
        </p:spPr>
        <p:txBody>
          <a:bodyPr anchor="t" rtlCol="false" tIns="0" lIns="0" bIns="0" rIns="0">
            <a:spAutoFit/>
          </a:bodyPr>
          <a:lstStyle/>
          <a:p>
            <a:pPr algn="l" marL="0" indent="0" lvl="0">
              <a:lnSpc>
                <a:spcPts val="11461"/>
              </a:lnSpc>
              <a:spcBef>
                <a:spcPct val="0"/>
              </a:spcBef>
            </a:pPr>
            <a:r>
              <a:rPr lang="en-US" b="true" sz="13809">
                <a:solidFill>
                  <a:srgbClr val="161616"/>
                </a:solidFill>
                <a:latin typeface="Heading Now 31-38 Bold"/>
                <a:ea typeface="Heading Now 31-38 Bold"/>
                <a:cs typeface="Heading Now 31-38 Bold"/>
                <a:sym typeface="Heading Now 31-38 Bold"/>
              </a:rPr>
              <a:t>NỘI DUNG</a:t>
            </a:r>
          </a:p>
        </p:txBody>
      </p:sp>
      <p:sp>
        <p:nvSpPr>
          <p:cNvPr name="Freeform 14" id="14"/>
          <p:cNvSpPr/>
          <p:nvPr/>
        </p:nvSpPr>
        <p:spPr>
          <a:xfrm flipH="true" flipV="true" rot="-10800000">
            <a:off x="7646086" y="8898908"/>
            <a:ext cx="3286125" cy="1643062"/>
          </a:xfrm>
          <a:custGeom>
            <a:avLst/>
            <a:gdLst/>
            <a:ahLst/>
            <a:cxnLst/>
            <a:rect r="r" b="b" t="t" l="l"/>
            <a:pathLst>
              <a:path h="1643062" w="3286125">
                <a:moveTo>
                  <a:pt x="3286125" y="1643062"/>
                </a:moveTo>
                <a:lnTo>
                  <a:pt x="0" y="1643062"/>
                </a:lnTo>
                <a:lnTo>
                  <a:pt x="0" y="0"/>
                </a:lnTo>
                <a:lnTo>
                  <a:pt x="3286125" y="0"/>
                </a:lnTo>
                <a:lnTo>
                  <a:pt x="3286125" y="16430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7904961" y="2327824"/>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3972420" y="8962652"/>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7" id="17"/>
          <p:cNvGrpSpPr/>
          <p:nvPr/>
        </p:nvGrpSpPr>
        <p:grpSpPr>
          <a:xfrm rot="0">
            <a:off x="1061701" y="3800578"/>
            <a:ext cx="7283207" cy="3586026"/>
            <a:chOff x="0" y="0"/>
            <a:chExt cx="9710943" cy="4781368"/>
          </a:xfrm>
        </p:grpSpPr>
        <p:sp>
          <p:nvSpPr>
            <p:cNvPr name="TextBox 18" id="18"/>
            <p:cNvSpPr txBox="true"/>
            <p:nvPr/>
          </p:nvSpPr>
          <p:spPr>
            <a:xfrm rot="0">
              <a:off x="0" y="-66675"/>
              <a:ext cx="9038659" cy="718451"/>
            </a:xfrm>
            <a:prstGeom prst="rect">
              <a:avLst/>
            </a:prstGeom>
          </p:spPr>
          <p:txBody>
            <a:bodyPr anchor="t" rtlCol="false" tIns="0" lIns="0" bIns="0" rIns="0">
              <a:spAutoFit/>
            </a:bodyPr>
            <a:lstStyle/>
            <a:p>
              <a:pPr algn="l">
                <a:lnSpc>
                  <a:spcPts val="4566"/>
                </a:lnSpc>
              </a:pPr>
              <a:r>
                <a:rPr lang="en-US" b="true" sz="3261" spc="-97">
                  <a:solidFill>
                    <a:srgbClr val="161616"/>
                  </a:solidFill>
                  <a:latin typeface="Inter Bold"/>
                  <a:ea typeface="Inter Bold"/>
                  <a:cs typeface="Inter Bold"/>
                  <a:sym typeface="Inter Bold"/>
                </a:rPr>
                <a:t>I. CÁC KHÁI NIỆM CỦA OER </a:t>
              </a:r>
            </a:p>
          </p:txBody>
        </p:sp>
        <p:sp>
          <p:nvSpPr>
            <p:cNvPr name="TextBox 19" id="19"/>
            <p:cNvSpPr txBox="true"/>
            <p:nvPr/>
          </p:nvSpPr>
          <p:spPr>
            <a:xfrm rot="0">
              <a:off x="0" y="964220"/>
              <a:ext cx="9710943" cy="718451"/>
            </a:xfrm>
            <a:prstGeom prst="rect">
              <a:avLst/>
            </a:prstGeom>
          </p:spPr>
          <p:txBody>
            <a:bodyPr anchor="t" rtlCol="false" tIns="0" lIns="0" bIns="0" rIns="0">
              <a:spAutoFit/>
            </a:bodyPr>
            <a:lstStyle/>
            <a:p>
              <a:pPr algn="l">
                <a:lnSpc>
                  <a:spcPts val="4566"/>
                </a:lnSpc>
              </a:pPr>
              <a:r>
                <a:rPr lang="en-US" b="true" sz="3261" spc="-97">
                  <a:solidFill>
                    <a:srgbClr val="161616"/>
                  </a:solidFill>
                  <a:latin typeface="Inter Bold"/>
                  <a:ea typeface="Inter Bold"/>
                  <a:cs typeface="Inter Bold"/>
                  <a:sym typeface="Inter Bold"/>
                </a:rPr>
                <a:t>II. CÁC DẠ</a:t>
              </a:r>
              <a:r>
                <a:rPr lang="en-US" b="true" sz="3261" spc="-97">
                  <a:solidFill>
                    <a:srgbClr val="161616"/>
                  </a:solidFill>
                  <a:latin typeface="Inter Bold"/>
                  <a:ea typeface="Inter Bold"/>
                  <a:cs typeface="Inter Bold"/>
                  <a:sym typeface="Inter Bold"/>
                </a:rPr>
                <a:t>NG GIẤY PHÉP CỦA OER </a:t>
              </a:r>
            </a:p>
          </p:txBody>
        </p:sp>
        <p:sp>
          <p:nvSpPr>
            <p:cNvPr name="TextBox 20" id="20"/>
            <p:cNvSpPr txBox="true"/>
            <p:nvPr/>
          </p:nvSpPr>
          <p:spPr>
            <a:xfrm rot="0">
              <a:off x="0" y="1997119"/>
              <a:ext cx="8486150" cy="718451"/>
            </a:xfrm>
            <a:prstGeom prst="rect">
              <a:avLst/>
            </a:prstGeom>
          </p:spPr>
          <p:txBody>
            <a:bodyPr anchor="t" rtlCol="false" tIns="0" lIns="0" bIns="0" rIns="0">
              <a:spAutoFit/>
            </a:bodyPr>
            <a:lstStyle/>
            <a:p>
              <a:pPr algn="l">
                <a:lnSpc>
                  <a:spcPts val="4566"/>
                </a:lnSpc>
              </a:pPr>
              <a:r>
                <a:rPr lang="en-US" b="true" sz="3261" spc="-97">
                  <a:solidFill>
                    <a:srgbClr val="161616"/>
                  </a:solidFill>
                  <a:latin typeface="Inter Bold"/>
                  <a:ea typeface="Inter Bold"/>
                  <a:cs typeface="Inter Bold"/>
                  <a:sym typeface="Inter Bold"/>
                </a:rPr>
                <a:t>III. Ư</a:t>
              </a:r>
              <a:r>
                <a:rPr lang="en-US" b="true" sz="3261" spc="-97">
                  <a:solidFill>
                    <a:srgbClr val="161616"/>
                  </a:solidFill>
                  <a:latin typeface="Inter Bold"/>
                  <a:ea typeface="Inter Bold"/>
                  <a:cs typeface="Inter Bold"/>
                  <a:sym typeface="Inter Bold"/>
                </a:rPr>
                <a:t>U ĐIỂM VÀ THÁCH THỨC</a:t>
              </a:r>
            </a:p>
          </p:txBody>
        </p:sp>
        <p:sp>
          <p:nvSpPr>
            <p:cNvPr name="TextBox 21" id="21"/>
            <p:cNvSpPr txBox="true"/>
            <p:nvPr/>
          </p:nvSpPr>
          <p:spPr>
            <a:xfrm rot="0">
              <a:off x="0" y="3030018"/>
              <a:ext cx="8486150" cy="718451"/>
            </a:xfrm>
            <a:prstGeom prst="rect">
              <a:avLst/>
            </a:prstGeom>
          </p:spPr>
          <p:txBody>
            <a:bodyPr anchor="t" rtlCol="false" tIns="0" lIns="0" bIns="0" rIns="0">
              <a:spAutoFit/>
            </a:bodyPr>
            <a:lstStyle/>
            <a:p>
              <a:pPr algn="l">
                <a:lnSpc>
                  <a:spcPts val="4566"/>
                </a:lnSpc>
              </a:pPr>
              <a:r>
                <a:rPr lang="en-US" b="true" sz="3261" spc="-97">
                  <a:solidFill>
                    <a:srgbClr val="161616"/>
                  </a:solidFill>
                  <a:latin typeface="Inter Bold"/>
                  <a:ea typeface="Inter Bold"/>
                  <a:cs typeface="Inter Bold"/>
                  <a:sym typeface="Inter Bold"/>
                </a:rPr>
                <a:t>IV. </a:t>
              </a:r>
              <a:r>
                <a:rPr lang="en-US" b="true" sz="3261" spc="-97">
                  <a:solidFill>
                    <a:srgbClr val="161616"/>
                  </a:solidFill>
                  <a:latin typeface="Inter Bold"/>
                  <a:ea typeface="Inter Bold"/>
                  <a:cs typeface="Inter Bold"/>
                  <a:sym typeface="Inter Bold"/>
                </a:rPr>
                <a:t>CÁC NGHIÊN CỨU VỀ OER </a:t>
              </a:r>
            </a:p>
          </p:txBody>
        </p:sp>
        <p:sp>
          <p:nvSpPr>
            <p:cNvPr name="TextBox 22" id="22"/>
            <p:cNvSpPr txBox="true"/>
            <p:nvPr/>
          </p:nvSpPr>
          <p:spPr>
            <a:xfrm rot="0">
              <a:off x="0" y="4062917"/>
              <a:ext cx="8154739" cy="718451"/>
            </a:xfrm>
            <a:prstGeom prst="rect">
              <a:avLst/>
            </a:prstGeom>
          </p:spPr>
          <p:txBody>
            <a:bodyPr anchor="t" rtlCol="false" tIns="0" lIns="0" bIns="0" rIns="0">
              <a:spAutoFit/>
            </a:bodyPr>
            <a:lstStyle/>
            <a:p>
              <a:pPr algn="l">
                <a:lnSpc>
                  <a:spcPts val="4566"/>
                </a:lnSpc>
              </a:pPr>
              <a:r>
                <a:rPr lang="en-US" b="true" sz="3261" spc="-97">
                  <a:solidFill>
                    <a:srgbClr val="161616"/>
                  </a:solidFill>
                  <a:latin typeface="Inter Bold"/>
                  <a:ea typeface="Inter Bold"/>
                  <a:cs typeface="Inter Bold"/>
                  <a:sym typeface="Inter Bold"/>
                </a:rPr>
                <a:t>V. </a:t>
              </a:r>
              <a:r>
                <a:rPr lang="en-US" b="true" sz="3261" spc="-97">
                  <a:solidFill>
                    <a:srgbClr val="161616"/>
                  </a:solidFill>
                  <a:latin typeface="Inter Bold"/>
                  <a:ea typeface="Inter Bold"/>
                  <a:cs typeface="Inter Bold"/>
                  <a:sym typeface="Inter Bold"/>
                </a:rPr>
                <a:t>CÁC KHO TÀI NGUYÊN MỞ</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flipV="true">
            <a:off x="1028700" y="1028700"/>
            <a:ext cx="16230600" cy="31696"/>
          </a:xfrm>
          <a:prstGeom prst="line">
            <a:avLst/>
          </a:prstGeom>
          <a:ln cap="flat" w="38100">
            <a:solidFill>
              <a:srgbClr val="9D0618"/>
            </a:solidFill>
            <a:prstDash val="solid"/>
            <a:headEnd type="none" len="sm" w="sm"/>
            <a:tailEnd type="none" len="sm" w="sm"/>
          </a:ln>
        </p:spPr>
      </p:sp>
      <p:sp>
        <p:nvSpPr>
          <p:cNvPr name="AutoShape 3" id="3"/>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4" id="4"/>
          <p:cNvSpPr/>
          <p:nvPr/>
        </p:nvSpPr>
        <p:spPr>
          <a:xfrm flipH="false" flipV="false" rot="-5400000">
            <a:off x="16180589" y="2778633"/>
            <a:ext cx="3402923" cy="1701462"/>
          </a:xfrm>
          <a:custGeom>
            <a:avLst/>
            <a:gdLst/>
            <a:ahLst/>
            <a:cxnLst/>
            <a:rect r="r" b="b" t="t" l="l"/>
            <a:pathLst>
              <a:path h="1701462" w="3402923">
                <a:moveTo>
                  <a:pt x="0" y="0"/>
                </a:moveTo>
                <a:lnTo>
                  <a:pt x="3402924" y="0"/>
                </a:lnTo>
                <a:lnTo>
                  <a:pt x="3402924" y="1701461"/>
                </a:lnTo>
                <a:lnTo>
                  <a:pt x="0" y="17014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9144000" y="5251144"/>
            <a:ext cx="204915" cy="2392807"/>
            <a:chOff x="0" y="0"/>
            <a:chExt cx="53969" cy="630204"/>
          </a:xfrm>
        </p:grpSpPr>
        <p:sp>
          <p:nvSpPr>
            <p:cNvPr name="Freeform 6" id="6"/>
            <p:cNvSpPr/>
            <p:nvPr/>
          </p:nvSpPr>
          <p:spPr>
            <a:xfrm flipH="false" flipV="false" rot="0">
              <a:off x="0" y="0"/>
              <a:ext cx="53969" cy="630204"/>
            </a:xfrm>
            <a:custGeom>
              <a:avLst/>
              <a:gdLst/>
              <a:ahLst/>
              <a:cxnLst/>
              <a:rect r="r" b="b" t="t" l="l"/>
              <a:pathLst>
                <a:path h="630204" w="53969">
                  <a:moveTo>
                    <a:pt x="0" y="0"/>
                  </a:moveTo>
                  <a:lnTo>
                    <a:pt x="53969" y="0"/>
                  </a:lnTo>
                  <a:lnTo>
                    <a:pt x="53969" y="630204"/>
                  </a:lnTo>
                  <a:lnTo>
                    <a:pt x="0" y="630204"/>
                  </a:lnTo>
                  <a:close/>
                </a:path>
              </a:pathLst>
            </a:custGeom>
            <a:solidFill>
              <a:srgbClr val="9D0618"/>
            </a:solidFill>
          </p:spPr>
        </p:sp>
        <p:sp>
          <p:nvSpPr>
            <p:cNvPr name="TextBox 7" id="7"/>
            <p:cNvSpPr txBox="true"/>
            <p:nvPr/>
          </p:nvSpPr>
          <p:spPr>
            <a:xfrm>
              <a:off x="0" y="-47625"/>
              <a:ext cx="53969" cy="677829"/>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803228" y="7946269"/>
            <a:ext cx="3384386" cy="691661"/>
            <a:chOff x="0" y="0"/>
            <a:chExt cx="891361" cy="182166"/>
          </a:xfrm>
        </p:grpSpPr>
        <p:sp>
          <p:nvSpPr>
            <p:cNvPr name="Freeform 9" id="9"/>
            <p:cNvSpPr/>
            <p:nvPr/>
          </p:nvSpPr>
          <p:spPr>
            <a:xfrm flipH="false" flipV="false" rot="0">
              <a:off x="0" y="0"/>
              <a:ext cx="891361" cy="182166"/>
            </a:xfrm>
            <a:custGeom>
              <a:avLst/>
              <a:gdLst/>
              <a:ahLst/>
              <a:cxnLst/>
              <a:rect r="r" b="b" t="t" l="l"/>
              <a:pathLst>
                <a:path h="182166" w="891361">
                  <a:moveTo>
                    <a:pt x="0" y="0"/>
                  </a:moveTo>
                  <a:lnTo>
                    <a:pt x="891361" y="0"/>
                  </a:lnTo>
                  <a:lnTo>
                    <a:pt x="891361" y="182166"/>
                  </a:lnTo>
                  <a:lnTo>
                    <a:pt x="0" y="182166"/>
                  </a:lnTo>
                  <a:close/>
                </a:path>
              </a:pathLst>
            </a:custGeom>
            <a:solidFill>
              <a:srgbClr val="21352E"/>
            </a:solidFill>
          </p:spPr>
        </p:sp>
        <p:sp>
          <p:nvSpPr>
            <p:cNvPr name="TextBox 10" id="10"/>
            <p:cNvSpPr txBox="true"/>
            <p:nvPr/>
          </p:nvSpPr>
          <p:spPr>
            <a:xfrm>
              <a:off x="0" y="-47625"/>
              <a:ext cx="891361" cy="229791"/>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2013658" y="6985929"/>
            <a:ext cx="6228480" cy="1537858"/>
            <a:chOff x="0" y="0"/>
            <a:chExt cx="1451317" cy="358341"/>
          </a:xfrm>
        </p:grpSpPr>
        <p:sp>
          <p:nvSpPr>
            <p:cNvPr name="Freeform 12" id="12"/>
            <p:cNvSpPr/>
            <p:nvPr/>
          </p:nvSpPr>
          <p:spPr>
            <a:xfrm flipH="false" flipV="false" rot="0">
              <a:off x="0" y="0"/>
              <a:ext cx="1451317" cy="358341"/>
            </a:xfrm>
            <a:custGeom>
              <a:avLst/>
              <a:gdLst/>
              <a:ahLst/>
              <a:cxnLst/>
              <a:rect r="r" b="b" t="t" l="l"/>
              <a:pathLst>
                <a:path h="358341" w="1451317">
                  <a:moveTo>
                    <a:pt x="0" y="0"/>
                  </a:moveTo>
                  <a:lnTo>
                    <a:pt x="1451317" y="0"/>
                  </a:lnTo>
                  <a:lnTo>
                    <a:pt x="1451317" y="358341"/>
                  </a:lnTo>
                  <a:lnTo>
                    <a:pt x="0" y="358341"/>
                  </a:lnTo>
                  <a:close/>
                </a:path>
              </a:pathLst>
            </a:custGeom>
            <a:blipFill>
              <a:blip r:embed="rId4"/>
              <a:stretch>
                <a:fillRect l="0" t="-9485" r="0" b="-9485"/>
              </a:stretch>
            </a:blipFill>
          </p:spPr>
        </p:sp>
      </p:grpSp>
      <p:grpSp>
        <p:nvGrpSpPr>
          <p:cNvPr name="Group 13" id="13"/>
          <p:cNvGrpSpPr/>
          <p:nvPr/>
        </p:nvGrpSpPr>
        <p:grpSpPr>
          <a:xfrm rot="0">
            <a:off x="10030788" y="6556409"/>
            <a:ext cx="6207672" cy="2253127"/>
            <a:chOff x="0" y="0"/>
            <a:chExt cx="1451317" cy="526768"/>
          </a:xfrm>
        </p:grpSpPr>
        <p:sp>
          <p:nvSpPr>
            <p:cNvPr name="Freeform 14" id="14"/>
            <p:cNvSpPr/>
            <p:nvPr/>
          </p:nvSpPr>
          <p:spPr>
            <a:xfrm flipH="false" flipV="false" rot="0">
              <a:off x="0" y="0"/>
              <a:ext cx="1451317" cy="526768"/>
            </a:xfrm>
            <a:custGeom>
              <a:avLst/>
              <a:gdLst/>
              <a:ahLst/>
              <a:cxnLst/>
              <a:rect r="r" b="b" t="t" l="l"/>
              <a:pathLst>
                <a:path h="526768" w="1451317">
                  <a:moveTo>
                    <a:pt x="0" y="0"/>
                  </a:moveTo>
                  <a:lnTo>
                    <a:pt x="1451317" y="0"/>
                  </a:lnTo>
                  <a:lnTo>
                    <a:pt x="1451317" y="526768"/>
                  </a:lnTo>
                  <a:lnTo>
                    <a:pt x="0" y="526768"/>
                  </a:lnTo>
                  <a:close/>
                </a:path>
              </a:pathLst>
            </a:custGeom>
            <a:blipFill>
              <a:blip r:embed="rId5"/>
              <a:stretch>
                <a:fillRect l="-42888" t="0" r="-2294" b="0"/>
              </a:stretch>
            </a:blipFill>
          </p:spPr>
        </p:sp>
      </p:grpSp>
      <p:grpSp>
        <p:nvGrpSpPr>
          <p:cNvPr name="Group 15" id="15"/>
          <p:cNvGrpSpPr/>
          <p:nvPr/>
        </p:nvGrpSpPr>
        <p:grpSpPr>
          <a:xfrm rot="0">
            <a:off x="2013658" y="2089827"/>
            <a:ext cx="2223412" cy="233816"/>
            <a:chOff x="0" y="0"/>
            <a:chExt cx="585590" cy="61581"/>
          </a:xfrm>
        </p:grpSpPr>
        <p:sp>
          <p:nvSpPr>
            <p:cNvPr name="Freeform 16" id="16"/>
            <p:cNvSpPr/>
            <p:nvPr/>
          </p:nvSpPr>
          <p:spPr>
            <a:xfrm flipH="false" flipV="false" rot="0">
              <a:off x="0" y="0"/>
              <a:ext cx="585590" cy="61581"/>
            </a:xfrm>
            <a:custGeom>
              <a:avLst/>
              <a:gdLst/>
              <a:ahLst/>
              <a:cxnLst/>
              <a:rect r="r" b="b" t="t" l="l"/>
              <a:pathLst>
                <a:path h="61581" w="585590">
                  <a:moveTo>
                    <a:pt x="0" y="0"/>
                  </a:moveTo>
                  <a:lnTo>
                    <a:pt x="585590" y="0"/>
                  </a:lnTo>
                  <a:lnTo>
                    <a:pt x="585590" y="61581"/>
                  </a:lnTo>
                  <a:lnTo>
                    <a:pt x="0" y="61581"/>
                  </a:lnTo>
                  <a:close/>
                </a:path>
              </a:pathLst>
            </a:custGeom>
            <a:solidFill>
              <a:srgbClr val="21352E"/>
            </a:solidFill>
          </p:spPr>
        </p:sp>
        <p:sp>
          <p:nvSpPr>
            <p:cNvPr name="TextBox 17" id="17"/>
            <p:cNvSpPr txBox="true"/>
            <p:nvPr/>
          </p:nvSpPr>
          <p:spPr>
            <a:xfrm>
              <a:off x="0" y="-47625"/>
              <a:ext cx="585590" cy="109206"/>
            </a:xfrm>
            <a:prstGeom prst="rect">
              <a:avLst/>
            </a:prstGeom>
          </p:spPr>
          <p:txBody>
            <a:bodyPr anchor="ctr" rtlCol="false" tIns="50800" lIns="50800" bIns="50800" rIns="50800"/>
            <a:lstStyle/>
            <a:p>
              <a:pPr algn="ctr">
                <a:lnSpc>
                  <a:spcPts val="2800"/>
                </a:lnSpc>
              </a:pPr>
            </a:p>
          </p:txBody>
        </p:sp>
      </p:grpSp>
      <p:sp>
        <p:nvSpPr>
          <p:cNvPr name="Freeform 18" id="18"/>
          <p:cNvSpPr/>
          <p:nvPr/>
        </p:nvSpPr>
        <p:spPr>
          <a:xfrm flipH="false" flipV="false" rot="0">
            <a:off x="14412367" y="2559169"/>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8806510" y="9585754"/>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140460" y="2625844"/>
            <a:ext cx="3188018" cy="734186"/>
          </a:xfrm>
          <a:prstGeom prst="rect">
            <a:avLst/>
          </a:prstGeom>
        </p:spPr>
        <p:txBody>
          <a:bodyPr anchor="t" rtlCol="false" tIns="0" lIns="0" bIns="0" rIns="0">
            <a:spAutoFit/>
          </a:bodyPr>
          <a:lstStyle/>
          <a:p>
            <a:pPr algn="ctr" marL="1141348" indent="-570674" lvl="1">
              <a:lnSpc>
                <a:spcPts val="4387"/>
              </a:lnSpc>
              <a:spcBef>
                <a:spcPct val="0"/>
              </a:spcBef>
              <a:buAutoNum type="arabicPeriod" startAt="1"/>
            </a:pPr>
            <a:r>
              <a:rPr lang="en-US" sz="5286">
                <a:solidFill>
                  <a:srgbClr val="161616"/>
                </a:solidFill>
                <a:latin typeface="Heading Now 31-38"/>
                <a:ea typeface="Heading Now 31-38"/>
                <a:cs typeface="Heading Now 31-38"/>
                <a:sym typeface="Heading Now 31-38"/>
              </a:rPr>
              <a:t>ĐỊNH NGHĨA</a:t>
            </a:r>
          </a:p>
        </p:txBody>
      </p:sp>
      <p:sp>
        <p:nvSpPr>
          <p:cNvPr name="TextBox 21" id="21"/>
          <p:cNvSpPr txBox="true"/>
          <p:nvPr/>
        </p:nvSpPr>
        <p:spPr>
          <a:xfrm rot="0">
            <a:off x="2127255" y="4811119"/>
            <a:ext cx="6228480" cy="1323650"/>
          </a:xfrm>
          <a:prstGeom prst="rect">
            <a:avLst/>
          </a:prstGeom>
        </p:spPr>
        <p:txBody>
          <a:bodyPr anchor="t" rtlCol="false" tIns="0" lIns="0" bIns="0" rIns="0">
            <a:spAutoFit/>
          </a:bodyPr>
          <a:lstStyle/>
          <a:p>
            <a:pPr algn="just" marL="0" indent="0" lvl="0">
              <a:lnSpc>
                <a:spcPts val="2642"/>
              </a:lnSpc>
              <a:spcBef>
                <a:spcPct val="0"/>
              </a:spcBef>
            </a:pPr>
            <a:r>
              <a:rPr lang="en-US" sz="1887" spc="-56">
                <a:solidFill>
                  <a:srgbClr val="161616"/>
                </a:solidFill>
                <a:latin typeface="Inter"/>
                <a:ea typeface="Inter"/>
                <a:cs typeface="Inter"/>
                <a:sym typeface="Inter"/>
              </a:rPr>
              <a:t> OER là "các tài liệu giảng dạy, học tập và nghiên cứu ở bất kỳ phương tiện nào thuộc phạm vi công cộng hoặc đã được phát hành theo giấy phép mở cho phép người khác truy cập, sử dụng" </a:t>
            </a:r>
          </a:p>
        </p:txBody>
      </p:sp>
      <p:sp>
        <p:nvSpPr>
          <p:cNvPr name="TextBox 22" id="22"/>
          <p:cNvSpPr txBox="true"/>
          <p:nvPr/>
        </p:nvSpPr>
        <p:spPr>
          <a:xfrm rot="0">
            <a:off x="2013658" y="4159609"/>
            <a:ext cx="6455675" cy="365760"/>
          </a:xfrm>
          <a:prstGeom prst="rect">
            <a:avLst/>
          </a:prstGeom>
        </p:spPr>
        <p:txBody>
          <a:bodyPr anchor="t" rtlCol="false" tIns="0" lIns="0" bIns="0" rIns="0">
            <a:spAutoFit/>
          </a:bodyPr>
          <a:lstStyle/>
          <a:p>
            <a:pPr algn="ctr">
              <a:lnSpc>
                <a:spcPts val="2940"/>
              </a:lnSpc>
            </a:pPr>
            <a:r>
              <a:rPr lang="en-US" b="true" sz="2100" spc="-63">
                <a:solidFill>
                  <a:srgbClr val="161616"/>
                </a:solidFill>
                <a:latin typeface="Inter Bold"/>
                <a:ea typeface="Inter Bold"/>
                <a:cs typeface="Inter Bold"/>
                <a:sym typeface="Inter Bold"/>
              </a:rPr>
              <a:t>HEWLETT</a:t>
            </a:r>
            <a:r>
              <a:rPr lang="en-US" b="true" sz="2100" spc="-63">
                <a:solidFill>
                  <a:srgbClr val="161616"/>
                </a:solidFill>
                <a:latin typeface="Inter Bold"/>
                <a:ea typeface="Inter Bold"/>
                <a:cs typeface="Inter Bold"/>
                <a:sym typeface="Inter Bold"/>
              </a:rPr>
              <a:t>  FOUNDATION (2007)</a:t>
            </a:r>
          </a:p>
        </p:txBody>
      </p:sp>
      <p:sp>
        <p:nvSpPr>
          <p:cNvPr name="TextBox 23" id="23"/>
          <p:cNvSpPr txBox="true"/>
          <p:nvPr/>
        </p:nvSpPr>
        <p:spPr>
          <a:xfrm rot="0">
            <a:off x="10301738" y="4103094"/>
            <a:ext cx="5644963" cy="422275"/>
          </a:xfrm>
          <a:prstGeom prst="rect">
            <a:avLst/>
          </a:prstGeom>
        </p:spPr>
        <p:txBody>
          <a:bodyPr anchor="t" rtlCol="false" tIns="0" lIns="0" bIns="0" rIns="0">
            <a:spAutoFit/>
          </a:bodyPr>
          <a:lstStyle/>
          <a:p>
            <a:pPr algn="ctr">
              <a:lnSpc>
                <a:spcPts val="3499"/>
              </a:lnSpc>
            </a:pPr>
            <a:r>
              <a:rPr lang="en-US" b="true" sz="2499" spc="-74">
                <a:solidFill>
                  <a:srgbClr val="161616"/>
                </a:solidFill>
                <a:latin typeface="Inter Bold"/>
                <a:ea typeface="Inter Bold"/>
                <a:cs typeface="Inter Bold"/>
                <a:sym typeface="Inter Bold"/>
              </a:rPr>
              <a:t> UNESCO (2019)</a:t>
            </a:r>
          </a:p>
        </p:txBody>
      </p:sp>
      <p:sp>
        <p:nvSpPr>
          <p:cNvPr name="TextBox 24" id="24"/>
          <p:cNvSpPr txBox="true"/>
          <p:nvPr/>
        </p:nvSpPr>
        <p:spPr>
          <a:xfrm rot="0">
            <a:off x="10009980" y="4811119"/>
            <a:ext cx="6228480" cy="1249990"/>
          </a:xfrm>
          <a:prstGeom prst="rect">
            <a:avLst/>
          </a:prstGeom>
        </p:spPr>
        <p:txBody>
          <a:bodyPr anchor="t" rtlCol="false" tIns="0" lIns="0" bIns="0" rIns="0">
            <a:spAutoFit/>
          </a:bodyPr>
          <a:lstStyle/>
          <a:p>
            <a:pPr algn="just" marL="0" indent="0" lvl="0">
              <a:lnSpc>
                <a:spcPts val="2502"/>
              </a:lnSpc>
              <a:spcBef>
                <a:spcPct val="0"/>
              </a:spcBef>
            </a:pPr>
            <a:r>
              <a:rPr lang="en-US" sz="1787" spc="-53">
                <a:solidFill>
                  <a:srgbClr val="161616"/>
                </a:solidFill>
                <a:latin typeface="Inter"/>
                <a:ea typeface="Inter"/>
                <a:cs typeface="Inter"/>
                <a:sym typeface="Inter"/>
              </a:rPr>
              <a:t> M</a:t>
            </a:r>
            <a:r>
              <a:rPr lang="en-US" sz="1787" spc="-53">
                <a:solidFill>
                  <a:srgbClr val="161616"/>
                </a:solidFill>
                <a:latin typeface="Inter"/>
                <a:ea typeface="Inter"/>
                <a:cs typeface="Inter"/>
                <a:sym typeface="Inter"/>
              </a:rPr>
              <a:t>ô tả OER là "tài liệu giảng dạy, học tập và nghiên cứu sử dụng các công cụ phù hợp, chẳng hạn như cấp phép mở, để cho phép người khác tái sử dụng miễn phí, cải tiến liên tục và sử dụng lại cho mục đích giáo dục."</a:t>
            </a:r>
          </a:p>
        </p:txBody>
      </p:sp>
      <p:sp>
        <p:nvSpPr>
          <p:cNvPr name="TextBox 25" id="25"/>
          <p:cNvSpPr txBox="true"/>
          <p:nvPr/>
        </p:nvSpPr>
        <p:spPr>
          <a:xfrm rot="0">
            <a:off x="2013658" y="1268802"/>
            <a:ext cx="8083509" cy="659100"/>
          </a:xfrm>
          <a:prstGeom prst="rect">
            <a:avLst/>
          </a:prstGeom>
        </p:spPr>
        <p:txBody>
          <a:bodyPr anchor="t" rtlCol="false" tIns="0" lIns="0" bIns="0" rIns="0">
            <a:spAutoFit/>
          </a:bodyPr>
          <a:lstStyle/>
          <a:p>
            <a:pPr algn="l">
              <a:lnSpc>
                <a:spcPts val="5445"/>
              </a:lnSpc>
            </a:pPr>
            <a:r>
              <a:rPr lang="en-US" b="true" sz="3889" spc="-116">
                <a:solidFill>
                  <a:srgbClr val="161616"/>
                </a:solidFill>
                <a:latin typeface="Inter Bold"/>
                <a:ea typeface="Inter Bold"/>
                <a:cs typeface="Inter Bold"/>
                <a:sym typeface="Inter Bold"/>
              </a:rPr>
              <a:t>I. CÁC KHÁI NIỆM CỦA OER </a:t>
            </a:r>
          </a:p>
        </p:txBody>
      </p:sp>
      <p:sp>
        <p:nvSpPr>
          <p:cNvPr name="TextBox 26" id="26"/>
          <p:cNvSpPr txBox="true"/>
          <p:nvPr/>
        </p:nvSpPr>
        <p:spPr>
          <a:xfrm rot="0">
            <a:off x="4783138" y="2607378"/>
            <a:ext cx="9058322" cy="990275"/>
          </a:xfrm>
          <a:prstGeom prst="rect">
            <a:avLst/>
          </a:prstGeom>
        </p:spPr>
        <p:txBody>
          <a:bodyPr anchor="t" rtlCol="false" tIns="0" lIns="0" bIns="0" rIns="0">
            <a:spAutoFit/>
          </a:bodyPr>
          <a:lstStyle/>
          <a:p>
            <a:pPr algn="just" marL="0" indent="0" lvl="0">
              <a:lnSpc>
                <a:spcPts val="2642"/>
              </a:lnSpc>
              <a:spcBef>
                <a:spcPct val="0"/>
              </a:spcBef>
            </a:pPr>
            <a:r>
              <a:rPr lang="en-US" sz="1887" spc="-56">
                <a:solidFill>
                  <a:srgbClr val="161616"/>
                </a:solidFill>
                <a:latin typeface="Inter"/>
                <a:ea typeface="Inter"/>
                <a:cs typeface="Inter"/>
                <a:sym typeface="Inter"/>
              </a:rPr>
              <a:t>Tài nguyên giáo dục mở ( OER ) là tài liệu giảng dạy , học tập và nghiên cứu được tạo ra và cấp phép một cách có chủ ý để miễn phí cho người dùng cuối sở hữu, chia sẻ và trong hầu hết các trường hợp, sửa đổi.</a:t>
            </a:r>
            <a:r>
              <a:rPr lang="en-US" sz="1887" spc="-56">
                <a:solidFill>
                  <a:srgbClr val="161616"/>
                </a:solidFill>
                <a:latin typeface="Inter"/>
                <a:ea typeface="Inter"/>
                <a:cs typeface="Inter"/>
                <a:sym typeface="Inter"/>
              </a:rPr>
              <a: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AutoShape 3" id="3"/>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4" id="4"/>
          <p:cNvSpPr/>
          <p:nvPr/>
        </p:nvSpPr>
        <p:spPr>
          <a:xfrm flipH="false" flipV="false" rot="-5400000">
            <a:off x="16294945" y="3684638"/>
            <a:ext cx="3205227" cy="1602614"/>
          </a:xfrm>
          <a:custGeom>
            <a:avLst/>
            <a:gdLst/>
            <a:ahLst/>
            <a:cxnLst/>
            <a:rect r="r" b="b" t="t" l="l"/>
            <a:pathLst>
              <a:path h="1602614" w="3205227">
                <a:moveTo>
                  <a:pt x="0" y="0"/>
                </a:moveTo>
                <a:lnTo>
                  <a:pt x="3205227" y="0"/>
                </a:lnTo>
                <a:lnTo>
                  <a:pt x="3205227" y="1602613"/>
                </a:lnTo>
                <a:lnTo>
                  <a:pt x="0" y="1602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7559420" y="7427866"/>
            <a:ext cx="131333" cy="1362659"/>
            <a:chOff x="0" y="0"/>
            <a:chExt cx="34590" cy="358890"/>
          </a:xfrm>
        </p:grpSpPr>
        <p:sp>
          <p:nvSpPr>
            <p:cNvPr name="Freeform 6" id="6"/>
            <p:cNvSpPr/>
            <p:nvPr/>
          </p:nvSpPr>
          <p:spPr>
            <a:xfrm flipH="false" flipV="false" rot="0">
              <a:off x="0" y="0"/>
              <a:ext cx="34590" cy="358890"/>
            </a:xfrm>
            <a:custGeom>
              <a:avLst/>
              <a:gdLst/>
              <a:ahLst/>
              <a:cxnLst/>
              <a:rect r="r" b="b" t="t" l="l"/>
              <a:pathLst>
                <a:path h="358890" w="34590">
                  <a:moveTo>
                    <a:pt x="0" y="0"/>
                  </a:moveTo>
                  <a:lnTo>
                    <a:pt x="34590" y="0"/>
                  </a:lnTo>
                  <a:lnTo>
                    <a:pt x="34590" y="358890"/>
                  </a:lnTo>
                  <a:lnTo>
                    <a:pt x="0" y="358890"/>
                  </a:lnTo>
                  <a:close/>
                </a:path>
              </a:pathLst>
            </a:custGeom>
            <a:solidFill>
              <a:srgbClr val="21352E"/>
            </a:solidFill>
          </p:spPr>
        </p:sp>
        <p:sp>
          <p:nvSpPr>
            <p:cNvPr name="TextBox 7" id="7"/>
            <p:cNvSpPr txBox="true"/>
            <p:nvPr/>
          </p:nvSpPr>
          <p:spPr>
            <a:xfrm>
              <a:off x="0" y="-47625"/>
              <a:ext cx="34590" cy="406515"/>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7170564" y="2750693"/>
            <a:ext cx="175342" cy="2392807"/>
            <a:chOff x="0" y="0"/>
            <a:chExt cx="46181" cy="630204"/>
          </a:xfrm>
        </p:grpSpPr>
        <p:sp>
          <p:nvSpPr>
            <p:cNvPr name="Freeform 9" id="9"/>
            <p:cNvSpPr/>
            <p:nvPr/>
          </p:nvSpPr>
          <p:spPr>
            <a:xfrm flipH="false" flipV="false" rot="0">
              <a:off x="0" y="0"/>
              <a:ext cx="46181" cy="630204"/>
            </a:xfrm>
            <a:custGeom>
              <a:avLst/>
              <a:gdLst/>
              <a:ahLst/>
              <a:cxnLst/>
              <a:rect r="r" b="b" t="t" l="l"/>
              <a:pathLst>
                <a:path h="630204" w="46181">
                  <a:moveTo>
                    <a:pt x="0" y="0"/>
                  </a:moveTo>
                  <a:lnTo>
                    <a:pt x="46181" y="0"/>
                  </a:lnTo>
                  <a:lnTo>
                    <a:pt x="46181" y="630204"/>
                  </a:lnTo>
                  <a:lnTo>
                    <a:pt x="0" y="630204"/>
                  </a:lnTo>
                  <a:close/>
                </a:path>
              </a:pathLst>
            </a:custGeom>
            <a:solidFill>
              <a:srgbClr val="21352E"/>
            </a:solidFill>
          </p:spPr>
        </p:sp>
        <p:sp>
          <p:nvSpPr>
            <p:cNvPr name="TextBox 10" id="10"/>
            <p:cNvSpPr txBox="true"/>
            <p:nvPr/>
          </p:nvSpPr>
          <p:spPr>
            <a:xfrm>
              <a:off x="0" y="-47625"/>
              <a:ext cx="46181" cy="677829"/>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028700" y="7859306"/>
            <a:ext cx="1529257" cy="499778"/>
            <a:chOff x="0" y="0"/>
            <a:chExt cx="402767" cy="131629"/>
          </a:xfrm>
        </p:grpSpPr>
        <p:sp>
          <p:nvSpPr>
            <p:cNvPr name="Freeform 12" id="12"/>
            <p:cNvSpPr/>
            <p:nvPr/>
          </p:nvSpPr>
          <p:spPr>
            <a:xfrm flipH="false" flipV="false" rot="0">
              <a:off x="0" y="0"/>
              <a:ext cx="402767" cy="131629"/>
            </a:xfrm>
            <a:custGeom>
              <a:avLst/>
              <a:gdLst/>
              <a:ahLst/>
              <a:cxnLst/>
              <a:rect r="r" b="b" t="t" l="l"/>
              <a:pathLst>
                <a:path h="131629" w="402767">
                  <a:moveTo>
                    <a:pt x="0" y="0"/>
                  </a:moveTo>
                  <a:lnTo>
                    <a:pt x="402767" y="0"/>
                  </a:lnTo>
                  <a:lnTo>
                    <a:pt x="402767" y="131629"/>
                  </a:lnTo>
                  <a:lnTo>
                    <a:pt x="0" y="131629"/>
                  </a:lnTo>
                  <a:close/>
                </a:path>
              </a:pathLst>
            </a:custGeom>
            <a:solidFill>
              <a:srgbClr val="21352E"/>
            </a:solidFill>
          </p:spPr>
        </p:sp>
        <p:sp>
          <p:nvSpPr>
            <p:cNvPr name="TextBox 13" id="13"/>
            <p:cNvSpPr txBox="true"/>
            <p:nvPr/>
          </p:nvSpPr>
          <p:spPr>
            <a:xfrm>
              <a:off x="0" y="-47625"/>
              <a:ext cx="402767" cy="179254"/>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5910008" y="1943530"/>
            <a:ext cx="1933958" cy="656165"/>
            <a:chOff x="0" y="0"/>
            <a:chExt cx="509355" cy="172817"/>
          </a:xfrm>
        </p:grpSpPr>
        <p:sp>
          <p:nvSpPr>
            <p:cNvPr name="Freeform 15" id="15"/>
            <p:cNvSpPr/>
            <p:nvPr/>
          </p:nvSpPr>
          <p:spPr>
            <a:xfrm flipH="false" flipV="false" rot="0">
              <a:off x="0" y="0"/>
              <a:ext cx="509355" cy="172817"/>
            </a:xfrm>
            <a:custGeom>
              <a:avLst/>
              <a:gdLst/>
              <a:ahLst/>
              <a:cxnLst/>
              <a:rect r="r" b="b" t="t" l="l"/>
              <a:pathLst>
                <a:path h="172817" w="509355">
                  <a:moveTo>
                    <a:pt x="0" y="0"/>
                  </a:moveTo>
                  <a:lnTo>
                    <a:pt x="509355" y="0"/>
                  </a:lnTo>
                  <a:lnTo>
                    <a:pt x="509355" y="172817"/>
                  </a:lnTo>
                  <a:lnTo>
                    <a:pt x="0" y="172817"/>
                  </a:lnTo>
                  <a:close/>
                </a:path>
              </a:pathLst>
            </a:custGeom>
            <a:solidFill>
              <a:srgbClr val="21352E"/>
            </a:solidFill>
          </p:spPr>
        </p:sp>
        <p:sp>
          <p:nvSpPr>
            <p:cNvPr name="TextBox 16" id="16"/>
            <p:cNvSpPr txBox="true"/>
            <p:nvPr/>
          </p:nvSpPr>
          <p:spPr>
            <a:xfrm>
              <a:off x="0" y="-47625"/>
              <a:ext cx="509355" cy="220442"/>
            </a:xfrm>
            <a:prstGeom prst="rect">
              <a:avLst/>
            </a:prstGeom>
          </p:spPr>
          <p:txBody>
            <a:bodyPr anchor="ctr" rtlCol="false" tIns="50800" lIns="50800" bIns="50800" rIns="50800"/>
            <a:lstStyle/>
            <a:p>
              <a:pPr algn="ctr">
                <a:lnSpc>
                  <a:spcPts val="2800"/>
                </a:lnSpc>
              </a:pPr>
            </a:p>
          </p:txBody>
        </p:sp>
      </p:grpSp>
      <p:grpSp>
        <p:nvGrpSpPr>
          <p:cNvPr name="Group 17" id="17"/>
          <p:cNvGrpSpPr/>
          <p:nvPr/>
        </p:nvGrpSpPr>
        <p:grpSpPr>
          <a:xfrm rot="0">
            <a:off x="3038747" y="6880394"/>
            <a:ext cx="3539699" cy="1957825"/>
            <a:chOff x="0" y="0"/>
            <a:chExt cx="1000772" cy="553532"/>
          </a:xfrm>
        </p:grpSpPr>
        <p:sp>
          <p:nvSpPr>
            <p:cNvPr name="Freeform 18" id="18"/>
            <p:cNvSpPr/>
            <p:nvPr/>
          </p:nvSpPr>
          <p:spPr>
            <a:xfrm flipH="false" flipV="false" rot="0">
              <a:off x="0" y="0"/>
              <a:ext cx="1000772" cy="553532"/>
            </a:xfrm>
            <a:custGeom>
              <a:avLst/>
              <a:gdLst/>
              <a:ahLst/>
              <a:cxnLst/>
              <a:rect r="r" b="b" t="t" l="l"/>
              <a:pathLst>
                <a:path h="553532" w="1000772">
                  <a:moveTo>
                    <a:pt x="0" y="0"/>
                  </a:moveTo>
                  <a:lnTo>
                    <a:pt x="1000772" y="0"/>
                  </a:lnTo>
                  <a:lnTo>
                    <a:pt x="1000772" y="553532"/>
                  </a:lnTo>
                  <a:lnTo>
                    <a:pt x="0" y="553532"/>
                  </a:lnTo>
                  <a:close/>
                </a:path>
              </a:pathLst>
            </a:custGeom>
            <a:blipFill>
              <a:blip r:embed="rId4"/>
              <a:stretch>
                <a:fillRect l="0" t="-10228" r="0" b="-10228"/>
              </a:stretch>
            </a:blipFill>
          </p:spPr>
        </p:sp>
      </p:grpSp>
      <p:sp>
        <p:nvSpPr>
          <p:cNvPr name="Freeform 19" id="19"/>
          <p:cNvSpPr/>
          <p:nvPr/>
        </p:nvSpPr>
        <p:spPr>
          <a:xfrm flipH="true" flipV="true" rot="-10800000">
            <a:off x="9419914" y="9258300"/>
            <a:ext cx="2661787" cy="1330894"/>
          </a:xfrm>
          <a:custGeom>
            <a:avLst/>
            <a:gdLst/>
            <a:ahLst/>
            <a:cxnLst/>
            <a:rect r="r" b="b" t="t" l="l"/>
            <a:pathLst>
              <a:path h="1330894" w="2661787">
                <a:moveTo>
                  <a:pt x="2661787" y="1330894"/>
                </a:moveTo>
                <a:lnTo>
                  <a:pt x="0" y="1330894"/>
                </a:lnTo>
                <a:lnTo>
                  <a:pt x="0" y="0"/>
                </a:lnTo>
                <a:lnTo>
                  <a:pt x="2661787" y="0"/>
                </a:lnTo>
                <a:lnTo>
                  <a:pt x="2661787" y="133089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8781288" y="2058911"/>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7610661" y="3716359"/>
            <a:ext cx="9613533" cy="4392837"/>
          </a:xfrm>
          <a:custGeom>
            <a:avLst/>
            <a:gdLst/>
            <a:ahLst/>
            <a:cxnLst/>
            <a:rect r="r" b="b" t="t" l="l"/>
            <a:pathLst>
              <a:path h="4392837" w="9613533">
                <a:moveTo>
                  <a:pt x="0" y="0"/>
                </a:moveTo>
                <a:lnTo>
                  <a:pt x="9613532" y="0"/>
                </a:lnTo>
                <a:lnTo>
                  <a:pt x="9613532" y="4392836"/>
                </a:lnTo>
                <a:lnTo>
                  <a:pt x="0" y="4392836"/>
                </a:lnTo>
                <a:lnTo>
                  <a:pt x="0" y="0"/>
                </a:lnTo>
                <a:close/>
              </a:path>
            </a:pathLst>
          </a:custGeom>
          <a:blipFill>
            <a:blip r:embed="rId7"/>
            <a:stretch>
              <a:fillRect l="-2300" t="0" r="0" b="0"/>
            </a:stretch>
          </a:blipFill>
        </p:spPr>
      </p:sp>
      <p:sp>
        <p:nvSpPr>
          <p:cNvPr name="TextBox 22" id="22"/>
          <p:cNvSpPr txBox="true"/>
          <p:nvPr/>
        </p:nvSpPr>
        <p:spPr>
          <a:xfrm rot="0">
            <a:off x="1389436" y="1941365"/>
            <a:ext cx="4264767" cy="941966"/>
          </a:xfrm>
          <a:prstGeom prst="rect">
            <a:avLst/>
          </a:prstGeom>
        </p:spPr>
        <p:txBody>
          <a:bodyPr anchor="t" rtlCol="false" tIns="0" lIns="0" bIns="0" rIns="0">
            <a:spAutoFit/>
          </a:bodyPr>
          <a:lstStyle/>
          <a:p>
            <a:pPr algn="l" marL="0" indent="0" lvl="0">
              <a:lnSpc>
                <a:spcPts val="5513"/>
              </a:lnSpc>
              <a:spcBef>
                <a:spcPct val="0"/>
              </a:spcBef>
            </a:pPr>
            <a:r>
              <a:rPr lang="en-US" b="true" sz="6643">
                <a:solidFill>
                  <a:srgbClr val="161616"/>
                </a:solidFill>
                <a:latin typeface="Heading Now 31-38 Bold"/>
                <a:ea typeface="Heading Now 31-38 Bold"/>
                <a:cs typeface="Heading Now 31-38 Bold"/>
                <a:sym typeface="Heading Now 31-38 Bold"/>
              </a:rPr>
              <a:t>2. TRIẾT LÝ CỐT LÕI </a:t>
            </a:r>
          </a:p>
        </p:txBody>
      </p:sp>
      <p:sp>
        <p:nvSpPr>
          <p:cNvPr name="TextBox 23" id="23"/>
          <p:cNvSpPr txBox="true"/>
          <p:nvPr/>
        </p:nvSpPr>
        <p:spPr>
          <a:xfrm rot="0">
            <a:off x="1028700" y="3026042"/>
            <a:ext cx="5877111" cy="3510961"/>
          </a:xfrm>
          <a:prstGeom prst="rect">
            <a:avLst/>
          </a:prstGeom>
        </p:spPr>
        <p:txBody>
          <a:bodyPr anchor="t" rtlCol="false" tIns="0" lIns="0" bIns="0" rIns="0">
            <a:spAutoFit/>
          </a:bodyPr>
          <a:lstStyle/>
          <a:p>
            <a:pPr algn="l" marL="490778" indent="-245389" lvl="1">
              <a:lnSpc>
                <a:spcPts val="3182"/>
              </a:lnSpc>
              <a:buFont typeface="Arial"/>
              <a:buChar char="•"/>
            </a:pPr>
            <a:r>
              <a:rPr lang="en-US" sz="2273" spc="-68">
                <a:solidFill>
                  <a:srgbClr val="161616"/>
                </a:solidFill>
                <a:latin typeface="Inter"/>
                <a:ea typeface="Inter"/>
                <a:cs typeface="Inter"/>
                <a:sym typeface="Inter"/>
              </a:rPr>
              <a:t>T</a:t>
            </a:r>
            <a:r>
              <a:rPr lang="en-US" sz="2273" spc="-68">
                <a:solidFill>
                  <a:srgbClr val="161616"/>
                </a:solidFill>
                <a:latin typeface="Inter"/>
                <a:ea typeface="Inter"/>
                <a:cs typeface="Inter"/>
                <a:sym typeface="Inter"/>
              </a:rPr>
              <a:t>ri thức là tài sản chung của nhân loại</a:t>
            </a:r>
          </a:p>
          <a:p>
            <a:pPr algn="l" marL="490778" indent="-245389" lvl="1">
              <a:lnSpc>
                <a:spcPts val="3182"/>
              </a:lnSpc>
              <a:buFont typeface="Arial"/>
              <a:buChar char="•"/>
            </a:pPr>
            <a:r>
              <a:rPr lang="en-US" sz="2273" spc="-68">
                <a:solidFill>
                  <a:srgbClr val="161616"/>
                </a:solidFill>
                <a:latin typeface="Inter"/>
                <a:ea typeface="Inter"/>
                <a:cs typeface="Inter"/>
                <a:sym typeface="Inter"/>
              </a:rPr>
              <a:t>Chia sẻ để tạo giá trị – “Sharing is multiplying”</a:t>
            </a:r>
          </a:p>
          <a:p>
            <a:pPr algn="l" marL="490778" indent="-245389" lvl="1">
              <a:lnSpc>
                <a:spcPts val="3182"/>
              </a:lnSpc>
              <a:buFont typeface="Arial"/>
              <a:buChar char="•"/>
            </a:pPr>
            <a:r>
              <a:rPr lang="en-US" sz="2273" spc="-68">
                <a:solidFill>
                  <a:srgbClr val="161616"/>
                </a:solidFill>
                <a:latin typeface="Inter"/>
                <a:ea typeface="Inter"/>
                <a:cs typeface="Inter"/>
                <a:sym typeface="Inter"/>
              </a:rPr>
              <a:t>Quyền tự do sử dụng và sáng tạo lại tri thức </a:t>
            </a:r>
          </a:p>
          <a:p>
            <a:pPr algn="l" marL="490778" indent="-245389" lvl="1">
              <a:lnSpc>
                <a:spcPts val="3182"/>
              </a:lnSpc>
              <a:buFont typeface="Arial"/>
              <a:buChar char="•"/>
            </a:pPr>
            <a:r>
              <a:rPr lang="en-US" sz="2273" spc="-68">
                <a:solidFill>
                  <a:srgbClr val="161616"/>
                </a:solidFill>
                <a:latin typeface="Inter"/>
                <a:ea typeface="Inter"/>
                <a:cs typeface="Inter"/>
                <a:sym typeface="Inter"/>
              </a:rPr>
              <a:t>Công bằng trong tiếp cận giáo dục</a:t>
            </a:r>
          </a:p>
          <a:p>
            <a:pPr algn="l" marL="490778" indent="-245389" lvl="1">
              <a:lnSpc>
                <a:spcPts val="3182"/>
              </a:lnSpc>
              <a:buFont typeface="Arial"/>
              <a:buChar char="•"/>
            </a:pPr>
            <a:r>
              <a:rPr lang="en-US" sz="2273" spc="-68">
                <a:solidFill>
                  <a:srgbClr val="161616"/>
                </a:solidFill>
                <a:latin typeface="Inter"/>
                <a:ea typeface="Inter"/>
                <a:cs typeface="Inter"/>
                <a:sym typeface="Inter"/>
              </a:rPr>
              <a:t>Giáo dục mở dẫn tới chất lượng cao hơn</a:t>
            </a:r>
          </a:p>
          <a:p>
            <a:pPr algn="l" marL="490778" indent="-245389" lvl="1">
              <a:lnSpc>
                <a:spcPts val="3182"/>
              </a:lnSpc>
              <a:buFont typeface="Arial"/>
              <a:buChar char="•"/>
            </a:pPr>
            <a:r>
              <a:rPr lang="en-US" sz="2273" spc="-68">
                <a:solidFill>
                  <a:srgbClr val="161616"/>
                </a:solidFill>
                <a:latin typeface="Inter"/>
                <a:ea typeface="Inter"/>
                <a:cs typeface="Inter"/>
                <a:sym typeface="Inter"/>
              </a:rPr>
              <a:t>Học tập suốt đời và vì cộng đồng</a:t>
            </a:r>
          </a:p>
          <a:p>
            <a:pPr algn="just" marL="0" indent="0" lvl="0">
              <a:lnSpc>
                <a:spcPts val="2482"/>
              </a:lnSpc>
              <a:spcBef>
                <a:spcPct val="0"/>
              </a:spcBef>
            </a:pPr>
          </a:p>
        </p:txBody>
      </p:sp>
      <p:sp>
        <p:nvSpPr>
          <p:cNvPr name="TextBox 24" id="24"/>
          <p:cNvSpPr txBox="true"/>
          <p:nvPr/>
        </p:nvSpPr>
        <p:spPr>
          <a:xfrm rot="0">
            <a:off x="7876770" y="2666370"/>
            <a:ext cx="7502375" cy="941966"/>
          </a:xfrm>
          <a:prstGeom prst="rect">
            <a:avLst/>
          </a:prstGeom>
        </p:spPr>
        <p:txBody>
          <a:bodyPr anchor="t" rtlCol="false" tIns="0" lIns="0" bIns="0" rIns="0">
            <a:spAutoFit/>
          </a:bodyPr>
          <a:lstStyle/>
          <a:p>
            <a:pPr algn="l" marL="0" indent="0" lvl="0">
              <a:lnSpc>
                <a:spcPts val="5513"/>
              </a:lnSpc>
              <a:spcBef>
                <a:spcPct val="0"/>
              </a:spcBef>
            </a:pPr>
            <a:r>
              <a:rPr lang="en-US" b="true" sz="6643">
                <a:solidFill>
                  <a:srgbClr val="161616"/>
                </a:solidFill>
                <a:latin typeface="Heading Now 31-38 Bold"/>
                <a:ea typeface="Heading Now 31-38 Bold"/>
                <a:cs typeface="Heading Now 31-38 Bold"/>
                <a:sym typeface="Heading Now 31-38 Bold"/>
              </a:rPr>
              <a:t>3. CÁC THÀNH PHẦN CHÍNH CỦA OER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TextBox 2" id="2"/>
          <p:cNvSpPr txBox="true"/>
          <p:nvPr/>
        </p:nvSpPr>
        <p:spPr>
          <a:xfrm rot="0">
            <a:off x="1028700" y="1394149"/>
            <a:ext cx="7792467" cy="971931"/>
          </a:xfrm>
          <a:prstGeom prst="rect">
            <a:avLst/>
          </a:prstGeom>
        </p:spPr>
        <p:txBody>
          <a:bodyPr anchor="t" rtlCol="false" tIns="0" lIns="0" bIns="0" rIns="0">
            <a:spAutoFit/>
          </a:bodyPr>
          <a:lstStyle/>
          <a:p>
            <a:pPr algn="l" marL="0" indent="0" lvl="0">
              <a:lnSpc>
                <a:spcPts val="5727"/>
              </a:lnSpc>
              <a:spcBef>
                <a:spcPct val="0"/>
              </a:spcBef>
            </a:pPr>
            <a:r>
              <a:rPr lang="en-US" b="true" sz="6900">
                <a:solidFill>
                  <a:srgbClr val="161616"/>
                </a:solidFill>
                <a:latin typeface="Heading Now 31-38 Bold"/>
                <a:ea typeface="Heading Now 31-38 Bold"/>
                <a:cs typeface="Heading Now 31-38 Bold"/>
                <a:sym typeface="Heading Now 31-38 Bold"/>
              </a:rPr>
              <a:t>II. CÁC DẠ</a:t>
            </a:r>
            <a:r>
              <a:rPr lang="en-US" b="true" sz="6900" strike="noStrike" u="none">
                <a:solidFill>
                  <a:srgbClr val="161616"/>
                </a:solidFill>
                <a:latin typeface="Heading Now 31-38 Bold"/>
                <a:ea typeface="Heading Now 31-38 Bold"/>
                <a:cs typeface="Heading Now 31-38 Bold"/>
                <a:sym typeface="Heading Now 31-38 Bold"/>
              </a:rPr>
              <a:t>NG GIẤY PHÉP CỦA OER</a:t>
            </a:r>
            <a:r>
              <a:rPr lang="en-US" b="true" sz="6900" strike="noStrike" u="none">
                <a:solidFill>
                  <a:srgbClr val="161616"/>
                </a:solidFill>
                <a:latin typeface="Heading Now 31-38 Bold"/>
                <a:ea typeface="Heading Now 31-38 Bold"/>
                <a:cs typeface="Heading Now 31-38 Bold"/>
                <a:sym typeface="Heading Now 31-38 Bold"/>
              </a:rPr>
              <a:t> </a:t>
            </a:r>
          </a:p>
        </p:txBody>
      </p:sp>
      <p:sp>
        <p:nvSpPr>
          <p:cNvPr name="AutoShape 3" id="3"/>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AutoShape 4" id="4"/>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5" id="5"/>
          <p:cNvSpPr/>
          <p:nvPr/>
        </p:nvSpPr>
        <p:spPr>
          <a:xfrm flipH="false" flipV="false" rot="-5400000">
            <a:off x="15930850" y="2836730"/>
            <a:ext cx="3605815" cy="1802908"/>
          </a:xfrm>
          <a:custGeom>
            <a:avLst/>
            <a:gdLst/>
            <a:ahLst/>
            <a:cxnLst/>
            <a:rect r="r" b="b" t="t" l="l"/>
            <a:pathLst>
              <a:path h="1802908" w="3605815">
                <a:moveTo>
                  <a:pt x="0" y="0"/>
                </a:moveTo>
                <a:lnTo>
                  <a:pt x="3605816" y="0"/>
                </a:lnTo>
                <a:lnTo>
                  <a:pt x="3605816" y="1802907"/>
                </a:lnTo>
                <a:lnTo>
                  <a:pt x="0" y="18029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283164" y="4696954"/>
            <a:ext cx="188529" cy="3534029"/>
            <a:chOff x="0" y="0"/>
            <a:chExt cx="49654" cy="930773"/>
          </a:xfrm>
        </p:grpSpPr>
        <p:sp>
          <p:nvSpPr>
            <p:cNvPr name="Freeform 7" id="7"/>
            <p:cNvSpPr/>
            <p:nvPr/>
          </p:nvSpPr>
          <p:spPr>
            <a:xfrm flipH="false" flipV="false" rot="0">
              <a:off x="0" y="0"/>
              <a:ext cx="49654" cy="930773"/>
            </a:xfrm>
            <a:custGeom>
              <a:avLst/>
              <a:gdLst/>
              <a:ahLst/>
              <a:cxnLst/>
              <a:rect r="r" b="b" t="t" l="l"/>
              <a:pathLst>
                <a:path h="930773" w="49654">
                  <a:moveTo>
                    <a:pt x="0" y="0"/>
                  </a:moveTo>
                  <a:lnTo>
                    <a:pt x="49654" y="0"/>
                  </a:lnTo>
                  <a:lnTo>
                    <a:pt x="49654" y="930773"/>
                  </a:lnTo>
                  <a:lnTo>
                    <a:pt x="0" y="930773"/>
                  </a:lnTo>
                  <a:close/>
                </a:path>
              </a:pathLst>
            </a:custGeom>
            <a:solidFill>
              <a:srgbClr val="21352E"/>
            </a:solidFill>
          </p:spPr>
        </p:sp>
        <p:sp>
          <p:nvSpPr>
            <p:cNvPr name="TextBox 8" id="8"/>
            <p:cNvSpPr txBox="true"/>
            <p:nvPr/>
          </p:nvSpPr>
          <p:spPr>
            <a:xfrm>
              <a:off x="0" y="-47625"/>
              <a:ext cx="49654" cy="978398"/>
            </a:xfrm>
            <a:prstGeom prst="rect">
              <a:avLst/>
            </a:prstGeom>
          </p:spPr>
          <p:txBody>
            <a:bodyPr anchor="ctr" rtlCol="false" tIns="50800" lIns="50800" bIns="50800" rIns="50800"/>
            <a:lstStyle/>
            <a:p>
              <a:pPr algn="ctr">
                <a:lnSpc>
                  <a:spcPts val="2800"/>
                </a:lnSpc>
              </a:pPr>
            </a:p>
          </p:txBody>
        </p:sp>
      </p:grpSp>
      <p:sp>
        <p:nvSpPr>
          <p:cNvPr name="Freeform 9" id="9"/>
          <p:cNvSpPr/>
          <p:nvPr/>
        </p:nvSpPr>
        <p:spPr>
          <a:xfrm flipH="true" flipV="true" rot="-10800000">
            <a:off x="9638112" y="9344725"/>
            <a:ext cx="2296484" cy="1148242"/>
          </a:xfrm>
          <a:custGeom>
            <a:avLst/>
            <a:gdLst/>
            <a:ahLst/>
            <a:cxnLst/>
            <a:rect r="r" b="b" t="t" l="l"/>
            <a:pathLst>
              <a:path h="1148242" w="2296484">
                <a:moveTo>
                  <a:pt x="2296484" y="1148242"/>
                </a:moveTo>
                <a:lnTo>
                  <a:pt x="0" y="1148242"/>
                </a:lnTo>
                <a:lnTo>
                  <a:pt x="0" y="0"/>
                </a:lnTo>
                <a:lnTo>
                  <a:pt x="2296484" y="0"/>
                </a:lnTo>
                <a:lnTo>
                  <a:pt x="2296484" y="1148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9638112" y="1200731"/>
            <a:ext cx="5402314" cy="2735504"/>
          </a:xfrm>
          <a:custGeom>
            <a:avLst/>
            <a:gdLst/>
            <a:ahLst/>
            <a:cxnLst/>
            <a:rect r="r" b="b" t="t" l="l"/>
            <a:pathLst>
              <a:path h="2735504" w="5402314">
                <a:moveTo>
                  <a:pt x="0" y="0"/>
                </a:moveTo>
                <a:lnTo>
                  <a:pt x="5402315" y="0"/>
                </a:lnTo>
                <a:lnTo>
                  <a:pt x="5402315" y="2735504"/>
                </a:lnTo>
                <a:lnTo>
                  <a:pt x="0" y="2735504"/>
                </a:lnTo>
                <a:lnTo>
                  <a:pt x="0" y="0"/>
                </a:lnTo>
                <a:close/>
              </a:path>
            </a:pathLst>
          </a:custGeom>
          <a:blipFill>
            <a:blip r:embed="rId4"/>
            <a:stretch>
              <a:fillRect l="0" t="0" r="-1271" b="0"/>
            </a:stretch>
          </a:blipFill>
        </p:spPr>
      </p:sp>
      <p:sp>
        <p:nvSpPr>
          <p:cNvPr name="TextBox 11" id="11"/>
          <p:cNvSpPr txBox="true"/>
          <p:nvPr/>
        </p:nvSpPr>
        <p:spPr>
          <a:xfrm rot="0">
            <a:off x="1028700" y="2869911"/>
            <a:ext cx="7343569" cy="448310"/>
          </a:xfrm>
          <a:prstGeom prst="rect">
            <a:avLst/>
          </a:prstGeom>
        </p:spPr>
        <p:txBody>
          <a:bodyPr anchor="t" rtlCol="false" tIns="0" lIns="0" bIns="0" rIns="0">
            <a:spAutoFit/>
          </a:bodyPr>
          <a:lstStyle/>
          <a:p>
            <a:pPr algn="l">
              <a:lnSpc>
                <a:spcPts val="3639"/>
              </a:lnSpc>
            </a:pPr>
            <a:r>
              <a:rPr lang="en-US" b="true" sz="2599" spc="-77">
                <a:solidFill>
                  <a:srgbClr val="161616"/>
                </a:solidFill>
                <a:latin typeface="Inter Bold"/>
                <a:ea typeface="Inter Bold"/>
                <a:cs typeface="Inter Bold"/>
                <a:sym typeface="Inter Bold"/>
              </a:rPr>
              <a:t>1.  5 NG</a:t>
            </a:r>
            <a:r>
              <a:rPr lang="en-US" b="true" sz="2599" spc="-77">
                <a:solidFill>
                  <a:srgbClr val="161616"/>
                </a:solidFill>
                <a:latin typeface="Inter Bold"/>
                <a:ea typeface="Inter Bold"/>
                <a:cs typeface="Inter Bold"/>
                <a:sym typeface="Inter Bold"/>
              </a:rPr>
              <a:t>UYÊN TẮC CỦA OER</a:t>
            </a:r>
          </a:p>
        </p:txBody>
      </p:sp>
      <p:sp>
        <p:nvSpPr>
          <p:cNvPr name="TextBox 12" id="12"/>
          <p:cNvSpPr txBox="true"/>
          <p:nvPr/>
        </p:nvSpPr>
        <p:spPr>
          <a:xfrm rot="0">
            <a:off x="4958162" y="4226395"/>
            <a:ext cx="8753772" cy="314732"/>
          </a:xfrm>
          <a:prstGeom prst="rect">
            <a:avLst/>
          </a:prstGeom>
        </p:spPr>
        <p:txBody>
          <a:bodyPr anchor="t" rtlCol="false" tIns="0" lIns="0" bIns="0" rIns="0">
            <a:spAutoFit/>
          </a:bodyPr>
          <a:lstStyle/>
          <a:p>
            <a:pPr algn="just" marL="400790" indent="-200395" lvl="1">
              <a:lnSpc>
                <a:spcPts val="2598"/>
              </a:lnSpc>
              <a:spcBef>
                <a:spcPct val="0"/>
              </a:spcBef>
              <a:buFont typeface="Arial"/>
              <a:buChar char="•"/>
            </a:pPr>
            <a:r>
              <a:rPr lang="en-US" sz="1856" spc="-55">
                <a:solidFill>
                  <a:srgbClr val="161616"/>
                </a:solidFill>
                <a:latin typeface="Inter"/>
                <a:ea typeface="Inter"/>
                <a:cs typeface="Inter"/>
                <a:sym typeface="Inter"/>
              </a:rPr>
              <a:t>Ngườ</a:t>
            </a:r>
            <a:r>
              <a:rPr lang="en-US" sz="1856" spc="-55">
                <a:solidFill>
                  <a:srgbClr val="161616"/>
                </a:solidFill>
                <a:latin typeface="Inter"/>
                <a:ea typeface="Inter"/>
                <a:cs typeface="Inter"/>
                <a:sym typeface="Inter"/>
              </a:rPr>
              <a:t>i dùng có quyền tái tạo, sở hữu và kiểm soát các bản sao của nội dung.</a:t>
            </a:r>
          </a:p>
        </p:txBody>
      </p:sp>
      <p:grpSp>
        <p:nvGrpSpPr>
          <p:cNvPr name="Group 13" id="13"/>
          <p:cNvGrpSpPr/>
          <p:nvPr/>
        </p:nvGrpSpPr>
        <p:grpSpPr>
          <a:xfrm rot="0">
            <a:off x="1470152" y="4168509"/>
            <a:ext cx="3137190" cy="468604"/>
            <a:chOff x="0" y="0"/>
            <a:chExt cx="4182920" cy="624805"/>
          </a:xfrm>
        </p:grpSpPr>
        <p:grpSp>
          <p:nvGrpSpPr>
            <p:cNvPr name="Group 14" id="14"/>
            <p:cNvGrpSpPr/>
            <p:nvPr/>
          </p:nvGrpSpPr>
          <p:grpSpPr>
            <a:xfrm rot="0">
              <a:off x="0" y="0"/>
              <a:ext cx="4182920" cy="624805"/>
              <a:chOff x="0" y="0"/>
              <a:chExt cx="826256" cy="123418"/>
            </a:xfrm>
          </p:grpSpPr>
          <p:sp>
            <p:nvSpPr>
              <p:cNvPr name="Freeform 15" id="15"/>
              <p:cNvSpPr/>
              <p:nvPr/>
            </p:nvSpPr>
            <p:spPr>
              <a:xfrm flipH="false" flipV="false" rot="0">
                <a:off x="0" y="0"/>
                <a:ext cx="826256" cy="123418"/>
              </a:xfrm>
              <a:custGeom>
                <a:avLst/>
                <a:gdLst/>
                <a:ahLst/>
                <a:cxnLst/>
                <a:rect r="r" b="b" t="t" l="l"/>
                <a:pathLst>
                  <a:path h="123418" w="826256">
                    <a:moveTo>
                      <a:pt x="0" y="0"/>
                    </a:moveTo>
                    <a:lnTo>
                      <a:pt x="826256" y="0"/>
                    </a:lnTo>
                    <a:lnTo>
                      <a:pt x="826256" y="123418"/>
                    </a:lnTo>
                    <a:lnTo>
                      <a:pt x="0" y="123418"/>
                    </a:lnTo>
                    <a:close/>
                  </a:path>
                </a:pathLst>
              </a:custGeom>
              <a:solidFill>
                <a:srgbClr val="9D0618"/>
              </a:solidFill>
            </p:spPr>
          </p:sp>
          <p:sp>
            <p:nvSpPr>
              <p:cNvPr name="TextBox 16" id="16"/>
              <p:cNvSpPr txBox="true"/>
              <p:nvPr/>
            </p:nvSpPr>
            <p:spPr>
              <a:xfrm>
                <a:off x="0" y="-47625"/>
                <a:ext cx="826256" cy="171043"/>
              </a:xfrm>
              <a:prstGeom prst="rect">
                <a:avLst/>
              </a:prstGeom>
            </p:spPr>
            <p:txBody>
              <a:bodyPr anchor="ctr" rtlCol="false" tIns="50800" lIns="50800" bIns="50800" rIns="50800"/>
              <a:lstStyle/>
              <a:p>
                <a:pPr algn="ctr">
                  <a:lnSpc>
                    <a:spcPts val="2800"/>
                  </a:lnSpc>
                </a:pPr>
              </a:p>
            </p:txBody>
          </p:sp>
        </p:grpSp>
        <p:sp>
          <p:nvSpPr>
            <p:cNvPr name="TextBox 17" id="17"/>
            <p:cNvSpPr txBox="true"/>
            <p:nvPr/>
          </p:nvSpPr>
          <p:spPr>
            <a:xfrm rot="0">
              <a:off x="59894" y="30960"/>
              <a:ext cx="4058730" cy="515261"/>
            </a:xfrm>
            <a:prstGeom prst="rect">
              <a:avLst/>
            </a:prstGeom>
          </p:spPr>
          <p:txBody>
            <a:bodyPr anchor="t" rtlCol="false" tIns="0" lIns="0" bIns="0" rIns="0">
              <a:spAutoFit/>
            </a:bodyPr>
            <a:lstStyle/>
            <a:p>
              <a:pPr algn="ctr">
                <a:lnSpc>
                  <a:spcPts val="3243"/>
                </a:lnSpc>
                <a:spcBef>
                  <a:spcPct val="0"/>
                </a:spcBef>
              </a:pPr>
              <a:r>
                <a:rPr lang="en-US" b="true" sz="2316" spc="-69">
                  <a:solidFill>
                    <a:srgbClr val="FFFFFF"/>
                  </a:solidFill>
                  <a:latin typeface="Inter Bold"/>
                  <a:ea typeface="Inter Bold"/>
                  <a:cs typeface="Inter Bold"/>
                  <a:sym typeface="Inter Bold"/>
                </a:rPr>
                <a:t>Retain - Giữ lại</a:t>
              </a:r>
            </a:p>
          </p:txBody>
        </p:sp>
      </p:grpSp>
      <p:grpSp>
        <p:nvGrpSpPr>
          <p:cNvPr name="Group 18" id="18"/>
          <p:cNvGrpSpPr/>
          <p:nvPr/>
        </p:nvGrpSpPr>
        <p:grpSpPr>
          <a:xfrm rot="0">
            <a:off x="1470152" y="7260246"/>
            <a:ext cx="3137190" cy="468604"/>
            <a:chOff x="0" y="0"/>
            <a:chExt cx="4182920" cy="624805"/>
          </a:xfrm>
        </p:grpSpPr>
        <p:grpSp>
          <p:nvGrpSpPr>
            <p:cNvPr name="Group 19" id="19"/>
            <p:cNvGrpSpPr/>
            <p:nvPr/>
          </p:nvGrpSpPr>
          <p:grpSpPr>
            <a:xfrm rot="0">
              <a:off x="0" y="0"/>
              <a:ext cx="4182920" cy="624805"/>
              <a:chOff x="0" y="0"/>
              <a:chExt cx="826256" cy="123418"/>
            </a:xfrm>
          </p:grpSpPr>
          <p:sp>
            <p:nvSpPr>
              <p:cNvPr name="Freeform 20" id="20"/>
              <p:cNvSpPr/>
              <p:nvPr/>
            </p:nvSpPr>
            <p:spPr>
              <a:xfrm flipH="false" flipV="false" rot="0">
                <a:off x="0" y="0"/>
                <a:ext cx="826256" cy="123418"/>
              </a:xfrm>
              <a:custGeom>
                <a:avLst/>
                <a:gdLst/>
                <a:ahLst/>
                <a:cxnLst/>
                <a:rect r="r" b="b" t="t" l="l"/>
                <a:pathLst>
                  <a:path h="123418" w="826256">
                    <a:moveTo>
                      <a:pt x="0" y="0"/>
                    </a:moveTo>
                    <a:lnTo>
                      <a:pt x="826256" y="0"/>
                    </a:lnTo>
                    <a:lnTo>
                      <a:pt x="826256" y="123418"/>
                    </a:lnTo>
                    <a:lnTo>
                      <a:pt x="0" y="123418"/>
                    </a:lnTo>
                    <a:close/>
                  </a:path>
                </a:pathLst>
              </a:custGeom>
              <a:solidFill>
                <a:srgbClr val="9D0618"/>
              </a:solidFill>
            </p:spPr>
          </p:sp>
          <p:sp>
            <p:nvSpPr>
              <p:cNvPr name="TextBox 21" id="21"/>
              <p:cNvSpPr txBox="true"/>
              <p:nvPr/>
            </p:nvSpPr>
            <p:spPr>
              <a:xfrm>
                <a:off x="0" y="-47625"/>
                <a:ext cx="826256" cy="171043"/>
              </a:xfrm>
              <a:prstGeom prst="rect">
                <a:avLst/>
              </a:prstGeom>
            </p:spPr>
            <p:txBody>
              <a:bodyPr anchor="ctr" rtlCol="false" tIns="50800" lIns="50800" bIns="50800" rIns="50800"/>
              <a:lstStyle/>
              <a:p>
                <a:pPr algn="ctr">
                  <a:lnSpc>
                    <a:spcPts val="2800"/>
                  </a:lnSpc>
                </a:pPr>
              </a:p>
            </p:txBody>
          </p:sp>
        </p:grpSp>
        <p:sp>
          <p:nvSpPr>
            <p:cNvPr name="TextBox 22" id="22"/>
            <p:cNvSpPr txBox="true"/>
            <p:nvPr/>
          </p:nvSpPr>
          <p:spPr>
            <a:xfrm rot="0">
              <a:off x="59894" y="30960"/>
              <a:ext cx="4058730" cy="515261"/>
            </a:xfrm>
            <a:prstGeom prst="rect">
              <a:avLst/>
            </a:prstGeom>
          </p:spPr>
          <p:txBody>
            <a:bodyPr anchor="t" rtlCol="false" tIns="0" lIns="0" bIns="0" rIns="0">
              <a:spAutoFit/>
            </a:bodyPr>
            <a:lstStyle/>
            <a:p>
              <a:pPr algn="ctr">
                <a:lnSpc>
                  <a:spcPts val="3243"/>
                </a:lnSpc>
                <a:spcBef>
                  <a:spcPct val="0"/>
                </a:spcBef>
              </a:pPr>
              <a:r>
                <a:rPr lang="en-US" b="true" sz="2316" spc="-69">
                  <a:solidFill>
                    <a:srgbClr val="FFFFFF"/>
                  </a:solidFill>
                  <a:latin typeface="Inter Bold"/>
                  <a:ea typeface="Inter Bold"/>
                  <a:cs typeface="Inter Bold"/>
                  <a:sym typeface="Inter Bold"/>
                </a:rPr>
                <a:t>Reuse - Sử dụng lại</a:t>
              </a:r>
            </a:p>
          </p:txBody>
        </p:sp>
      </p:grpSp>
      <p:sp>
        <p:nvSpPr>
          <p:cNvPr name="TextBox 23" id="23"/>
          <p:cNvSpPr txBox="true"/>
          <p:nvPr/>
        </p:nvSpPr>
        <p:spPr>
          <a:xfrm rot="0">
            <a:off x="4958162" y="7460271"/>
            <a:ext cx="8753772" cy="314798"/>
          </a:xfrm>
          <a:prstGeom prst="rect">
            <a:avLst/>
          </a:prstGeom>
        </p:spPr>
        <p:txBody>
          <a:bodyPr anchor="t" rtlCol="false" tIns="0" lIns="0" bIns="0" rIns="0">
            <a:spAutoFit/>
          </a:bodyPr>
          <a:lstStyle/>
          <a:p>
            <a:pPr algn="just" marL="400790" indent="-200395" lvl="1">
              <a:lnSpc>
                <a:spcPts val="2598"/>
              </a:lnSpc>
              <a:spcBef>
                <a:spcPct val="0"/>
              </a:spcBef>
              <a:buFont typeface="Arial"/>
              <a:buChar char="•"/>
            </a:pPr>
            <a:r>
              <a:rPr lang="en-US" sz="1856" spc="-55">
                <a:solidFill>
                  <a:srgbClr val="161616"/>
                </a:solidFill>
                <a:latin typeface="Inter"/>
                <a:ea typeface="Inter"/>
                <a:cs typeface="Inter"/>
                <a:sym typeface="Inter"/>
              </a:rPr>
              <a:t>Ngườ</a:t>
            </a:r>
            <a:r>
              <a:rPr lang="en-US" sz="1856" spc="-55">
                <a:solidFill>
                  <a:srgbClr val="161616"/>
                </a:solidFill>
                <a:latin typeface="Inter"/>
                <a:ea typeface="Inter"/>
                <a:cs typeface="Inter"/>
                <a:sym typeface="Inter"/>
              </a:rPr>
              <a:t>i dùng có quyền sử dụng lại nội dung ở dạng nguyên văn, không thay đổi.</a:t>
            </a:r>
          </a:p>
        </p:txBody>
      </p:sp>
      <p:sp>
        <p:nvSpPr>
          <p:cNvPr name="TextBox 24" id="24"/>
          <p:cNvSpPr txBox="true"/>
          <p:nvPr/>
        </p:nvSpPr>
        <p:spPr>
          <a:xfrm rot="0">
            <a:off x="4958162" y="5399113"/>
            <a:ext cx="8753772" cy="638648"/>
          </a:xfrm>
          <a:prstGeom prst="rect">
            <a:avLst/>
          </a:prstGeom>
        </p:spPr>
        <p:txBody>
          <a:bodyPr anchor="t" rtlCol="false" tIns="0" lIns="0" bIns="0" rIns="0">
            <a:spAutoFit/>
          </a:bodyPr>
          <a:lstStyle/>
          <a:p>
            <a:pPr algn="just" marL="400790" indent="-200395" lvl="1">
              <a:lnSpc>
                <a:spcPts val="2598"/>
              </a:lnSpc>
              <a:buFont typeface="Arial"/>
              <a:buChar char="•"/>
            </a:pPr>
            <a:r>
              <a:rPr lang="en-US" sz="1856" spc="-55">
                <a:solidFill>
                  <a:srgbClr val="161616"/>
                </a:solidFill>
                <a:latin typeface="Inter"/>
                <a:ea typeface="Inter"/>
                <a:cs typeface="Inter"/>
                <a:sym typeface="Inter"/>
              </a:rPr>
              <a:t>Ngườ</a:t>
            </a:r>
            <a:r>
              <a:rPr lang="en-US" sz="1856" spc="-55">
                <a:solidFill>
                  <a:srgbClr val="161616"/>
                </a:solidFill>
                <a:latin typeface="Inter"/>
                <a:ea typeface="Inter"/>
                <a:cs typeface="Inter"/>
                <a:sym typeface="Inter"/>
              </a:rPr>
              <a:t>i dùng có quyền điều chỉnh, sửa đổi hoặc thay đổi nội dung để phù hợp với nhu cầu riêng.</a:t>
            </a:r>
          </a:p>
        </p:txBody>
      </p:sp>
      <p:grpSp>
        <p:nvGrpSpPr>
          <p:cNvPr name="Group 25" id="25"/>
          <p:cNvGrpSpPr/>
          <p:nvPr/>
        </p:nvGrpSpPr>
        <p:grpSpPr>
          <a:xfrm rot="0">
            <a:off x="1470152" y="5199088"/>
            <a:ext cx="3137190" cy="468604"/>
            <a:chOff x="0" y="0"/>
            <a:chExt cx="4182920" cy="624805"/>
          </a:xfrm>
        </p:grpSpPr>
        <p:grpSp>
          <p:nvGrpSpPr>
            <p:cNvPr name="Group 26" id="26"/>
            <p:cNvGrpSpPr/>
            <p:nvPr/>
          </p:nvGrpSpPr>
          <p:grpSpPr>
            <a:xfrm rot="0">
              <a:off x="0" y="0"/>
              <a:ext cx="4182920" cy="624805"/>
              <a:chOff x="0" y="0"/>
              <a:chExt cx="826256" cy="123418"/>
            </a:xfrm>
          </p:grpSpPr>
          <p:sp>
            <p:nvSpPr>
              <p:cNvPr name="Freeform 27" id="27"/>
              <p:cNvSpPr/>
              <p:nvPr/>
            </p:nvSpPr>
            <p:spPr>
              <a:xfrm flipH="false" flipV="false" rot="0">
                <a:off x="0" y="0"/>
                <a:ext cx="826256" cy="123418"/>
              </a:xfrm>
              <a:custGeom>
                <a:avLst/>
                <a:gdLst/>
                <a:ahLst/>
                <a:cxnLst/>
                <a:rect r="r" b="b" t="t" l="l"/>
                <a:pathLst>
                  <a:path h="123418" w="826256">
                    <a:moveTo>
                      <a:pt x="0" y="0"/>
                    </a:moveTo>
                    <a:lnTo>
                      <a:pt x="826256" y="0"/>
                    </a:lnTo>
                    <a:lnTo>
                      <a:pt x="826256" y="123418"/>
                    </a:lnTo>
                    <a:lnTo>
                      <a:pt x="0" y="123418"/>
                    </a:lnTo>
                    <a:close/>
                  </a:path>
                </a:pathLst>
              </a:custGeom>
              <a:solidFill>
                <a:srgbClr val="9D0618"/>
              </a:solidFill>
            </p:spPr>
          </p:sp>
          <p:sp>
            <p:nvSpPr>
              <p:cNvPr name="TextBox 28" id="28"/>
              <p:cNvSpPr txBox="true"/>
              <p:nvPr/>
            </p:nvSpPr>
            <p:spPr>
              <a:xfrm>
                <a:off x="0" y="-47625"/>
                <a:ext cx="826256" cy="171043"/>
              </a:xfrm>
              <a:prstGeom prst="rect">
                <a:avLst/>
              </a:prstGeom>
            </p:spPr>
            <p:txBody>
              <a:bodyPr anchor="ctr" rtlCol="false" tIns="50800" lIns="50800" bIns="50800" rIns="50800"/>
              <a:lstStyle/>
              <a:p>
                <a:pPr algn="ctr">
                  <a:lnSpc>
                    <a:spcPts val="2800"/>
                  </a:lnSpc>
                </a:pPr>
              </a:p>
            </p:txBody>
          </p:sp>
        </p:grpSp>
        <p:sp>
          <p:nvSpPr>
            <p:cNvPr name="TextBox 29" id="29"/>
            <p:cNvSpPr txBox="true"/>
            <p:nvPr/>
          </p:nvSpPr>
          <p:spPr>
            <a:xfrm rot="0">
              <a:off x="59894" y="30960"/>
              <a:ext cx="4058730" cy="515261"/>
            </a:xfrm>
            <a:prstGeom prst="rect">
              <a:avLst/>
            </a:prstGeom>
          </p:spPr>
          <p:txBody>
            <a:bodyPr anchor="t" rtlCol="false" tIns="0" lIns="0" bIns="0" rIns="0">
              <a:spAutoFit/>
            </a:bodyPr>
            <a:lstStyle/>
            <a:p>
              <a:pPr algn="ctr">
                <a:lnSpc>
                  <a:spcPts val="3243"/>
                </a:lnSpc>
                <a:spcBef>
                  <a:spcPct val="0"/>
                </a:spcBef>
              </a:pPr>
              <a:r>
                <a:rPr lang="en-US" b="true" sz="2316" spc="-69">
                  <a:solidFill>
                    <a:srgbClr val="FFFFFF"/>
                  </a:solidFill>
                  <a:latin typeface="Inter Bold"/>
                  <a:ea typeface="Inter Bold"/>
                  <a:cs typeface="Inter Bold"/>
                  <a:sym typeface="Inter Bold"/>
                </a:rPr>
                <a:t>Revise – Làm lại</a:t>
              </a:r>
            </a:p>
          </p:txBody>
        </p:sp>
      </p:grpSp>
      <p:grpSp>
        <p:nvGrpSpPr>
          <p:cNvPr name="Group 30" id="30"/>
          <p:cNvGrpSpPr/>
          <p:nvPr/>
        </p:nvGrpSpPr>
        <p:grpSpPr>
          <a:xfrm rot="0">
            <a:off x="1448829" y="6229667"/>
            <a:ext cx="3137190" cy="468604"/>
            <a:chOff x="0" y="0"/>
            <a:chExt cx="4182920" cy="624805"/>
          </a:xfrm>
        </p:grpSpPr>
        <p:grpSp>
          <p:nvGrpSpPr>
            <p:cNvPr name="Group 31" id="31"/>
            <p:cNvGrpSpPr/>
            <p:nvPr/>
          </p:nvGrpSpPr>
          <p:grpSpPr>
            <a:xfrm rot="0">
              <a:off x="0" y="0"/>
              <a:ext cx="4182920" cy="624805"/>
              <a:chOff x="0" y="0"/>
              <a:chExt cx="826256" cy="123418"/>
            </a:xfrm>
          </p:grpSpPr>
          <p:sp>
            <p:nvSpPr>
              <p:cNvPr name="Freeform 32" id="32"/>
              <p:cNvSpPr/>
              <p:nvPr/>
            </p:nvSpPr>
            <p:spPr>
              <a:xfrm flipH="false" flipV="false" rot="0">
                <a:off x="0" y="0"/>
                <a:ext cx="826256" cy="123418"/>
              </a:xfrm>
              <a:custGeom>
                <a:avLst/>
                <a:gdLst/>
                <a:ahLst/>
                <a:cxnLst/>
                <a:rect r="r" b="b" t="t" l="l"/>
                <a:pathLst>
                  <a:path h="123418" w="826256">
                    <a:moveTo>
                      <a:pt x="0" y="0"/>
                    </a:moveTo>
                    <a:lnTo>
                      <a:pt x="826256" y="0"/>
                    </a:lnTo>
                    <a:lnTo>
                      <a:pt x="826256" y="123418"/>
                    </a:lnTo>
                    <a:lnTo>
                      <a:pt x="0" y="123418"/>
                    </a:lnTo>
                    <a:close/>
                  </a:path>
                </a:pathLst>
              </a:custGeom>
              <a:solidFill>
                <a:srgbClr val="9D0618"/>
              </a:solidFill>
            </p:spPr>
          </p:sp>
          <p:sp>
            <p:nvSpPr>
              <p:cNvPr name="TextBox 33" id="33"/>
              <p:cNvSpPr txBox="true"/>
              <p:nvPr/>
            </p:nvSpPr>
            <p:spPr>
              <a:xfrm>
                <a:off x="0" y="-47625"/>
                <a:ext cx="826256" cy="171043"/>
              </a:xfrm>
              <a:prstGeom prst="rect">
                <a:avLst/>
              </a:prstGeom>
            </p:spPr>
            <p:txBody>
              <a:bodyPr anchor="ctr" rtlCol="false" tIns="50800" lIns="50800" bIns="50800" rIns="50800"/>
              <a:lstStyle/>
              <a:p>
                <a:pPr algn="ctr">
                  <a:lnSpc>
                    <a:spcPts val="2800"/>
                  </a:lnSpc>
                </a:pPr>
              </a:p>
            </p:txBody>
          </p:sp>
        </p:grpSp>
        <p:sp>
          <p:nvSpPr>
            <p:cNvPr name="TextBox 34" id="34"/>
            <p:cNvSpPr txBox="true"/>
            <p:nvPr/>
          </p:nvSpPr>
          <p:spPr>
            <a:xfrm rot="0">
              <a:off x="59894" y="30960"/>
              <a:ext cx="4058730" cy="515261"/>
            </a:xfrm>
            <a:prstGeom prst="rect">
              <a:avLst/>
            </a:prstGeom>
          </p:spPr>
          <p:txBody>
            <a:bodyPr anchor="t" rtlCol="false" tIns="0" lIns="0" bIns="0" rIns="0">
              <a:spAutoFit/>
            </a:bodyPr>
            <a:lstStyle/>
            <a:p>
              <a:pPr algn="ctr">
                <a:lnSpc>
                  <a:spcPts val="3243"/>
                </a:lnSpc>
                <a:spcBef>
                  <a:spcPct val="0"/>
                </a:spcBef>
              </a:pPr>
              <a:r>
                <a:rPr lang="en-US" b="true" sz="2316" spc="-69">
                  <a:solidFill>
                    <a:srgbClr val="FFFFFF"/>
                  </a:solidFill>
                  <a:latin typeface="Inter Bold"/>
                  <a:ea typeface="Inter Bold"/>
                  <a:cs typeface="Inter Bold"/>
                  <a:sym typeface="Inter Bold"/>
                </a:rPr>
                <a:t>Remix – Pha trộn</a:t>
              </a:r>
            </a:p>
          </p:txBody>
        </p:sp>
      </p:grpSp>
      <p:sp>
        <p:nvSpPr>
          <p:cNvPr name="TextBox 35" id="35"/>
          <p:cNvSpPr txBox="true"/>
          <p:nvPr/>
        </p:nvSpPr>
        <p:spPr>
          <a:xfrm rot="0">
            <a:off x="4958162" y="6399280"/>
            <a:ext cx="8753772" cy="638648"/>
          </a:xfrm>
          <a:prstGeom prst="rect">
            <a:avLst/>
          </a:prstGeom>
        </p:spPr>
        <p:txBody>
          <a:bodyPr anchor="t" rtlCol="false" tIns="0" lIns="0" bIns="0" rIns="0">
            <a:spAutoFit/>
          </a:bodyPr>
          <a:lstStyle/>
          <a:p>
            <a:pPr algn="just" marL="400790" indent="-200395" lvl="1">
              <a:lnSpc>
                <a:spcPts val="2598"/>
              </a:lnSpc>
              <a:spcBef>
                <a:spcPct val="0"/>
              </a:spcBef>
              <a:buFont typeface="Arial"/>
              <a:buChar char="•"/>
            </a:pPr>
            <a:r>
              <a:rPr lang="en-US" sz="1856" spc="-55">
                <a:solidFill>
                  <a:srgbClr val="161616"/>
                </a:solidFill>
                <a:latin typeface="Inter"/>
                <a:ea typeface="Inter"/>
                <a:cs typeface="Inter"/>
                <a:sym typeface="Inter"/>
              </a:rPr>
              <a:t>Ngườ</a:t>
            </a:r>
            <a:r>
              <a:rPr lang="en-US" sz="1856" spc="-55">
                <a:solidFill>
                  <a:srgbClr val="161616"/>
                </a:solidFill>
                <a:latin typeface="Inter"/>
                <a:ea typeface="Inter"/>
                <a:cs typeface="Inter"/>
                <a:sym typeface="Inter"/>
              </a:rPr>
              <a:t>i dùng có quyền kết hợp nội dung gốc hoặc nội dung đã sửa đổi với các tài nguyên khác để tạo ra nội dung mới.</a:t>
            </a:r>
          </a:p>
        </p:txBody>
      </p:sp>
      <p:sp>
        <p:nvSpPr>
          <p:cNvPr name="TextBox 36" id="36"/>
          <p:cNvSpPr txBox="true"/>
          <p:nvPr/>
        </p:nvSpPr>
        <p:spPr>
          <a:xfrm rot="0">
            <a:off x="4924933" y="8490850"/>
            <a:ext cx="8753772" cy="638648"/>
          </a:xfrm>
          <a:prstGeom prst="rect">
            <a:avLst/>
          </a:prstGeom>
        </p:spPr>
        <p:txBody>
          <a:bodyPr anchor="t" rtlCol="false" tIns="0" lIns="0" bIns="0" rIns="0">
            <a:spAutoFit/>
          </a:bodyPr>
          <a:lstStyle/>
          <a:p>
            <a:pPr algn="just" marL="400790" indent="-200395" lvl="1">
              <a:lnSpc>
                <a:spcPts val="2598"/>
              </a:lnSpc>
              <a:spcBef>
                <a:spcPct val="0"/>
              </a:spcBef>
              <a:buFont typeface="Arial"/>
              <a:buChar char="•"/>
            </a:pPr>
            <a:r>
              <a:rPr lang="en-US" sz="1856" spc="-55">
                <a:solidFill>
                  <a:srgbClr val="161616"/>
                </a:solidFill>
                <a:latin typeface="Inter"/>
                <a:ea typeface="Inter"/>
                <a:cs typeface="Inter"/>
                <a:sym typeface="Inter"/>
              </a:rPr>
              <a:t>Ngườ</a:t>
            </a:r>
            <a:r>
              <a:rPr lang="en-US" sz="1856" spc="-55">
                <a:solidFill>
                  <a:srgbClr val="161616"/>
                </a:solidFill>
                <a:latin typeface="Inter"/>
                <a:ea typeface="Inter"/>
                <a:cs typeface="Inter"/>
                <a:sym typeface="Inter"/>
              </a:rPr>
              <a:t>i dùng có quyền tạo và chia sẻ các bản sao của nội dung gốc, bản sửa đổi, hoặc bản phối lại nội dung với người khác.</a:t>
            </a:r>
          </a:p>
        </p:txBody>
      </p:sp>
      <p:grpSp>
        <p:nvGrpSpPr>
          <p:cNvPr name="Group 37" id="37"/>
          <p:cNvGrpSpPr/>
          <p:nvPr/>
        </p:nvGrpSpPr>
        <p:grpSpPr>
          <a:xfrm rot="0">
            <a:off x="1470152" y="8290825"/>
            <a:ext cx="3137190" cy="878179"/>
            <a:chOff x="0" y="0"/>
            <a:chExt cx="4182920" cy="1170905"/>
          </a:xfrm>
        </p:grpSpPr>
        <p:grpSp>
          <p:nvGrpSpPr>
            <p:cNvPr name="Group 38" id="38"/>
            <p:cNvGrpSpPr/>
            <p:nvPr/>
          </p:nvGrpSpPr>
          <p:grpSpPr>
            <a:xfrm rot="0">
              <a:off x="0" y="0"/>
              <a:ext cx="4182920" cy="1170905"/>
              <a:chOff x="0" y="0"/>
              <a:chExt cx="826256" cy="231290"/>
            </a:xfrm>
          </p:grpSpPr>
          <p:sp>
            <p:nvSpPr>
              <p:cNvPr name="Freeform 39" id="39"/>
              <p:cNvSpPr/>
              <p:nvPr/>
            </p:nvSpPr>
            <p:spPr>
              <a:xfrm flipH="false" flipV="false" rot="0">
                <a:off x="0" y="0"/>
                <a:ext cx="826256" cy="231290"/>
              </a:xfrm>
              <a:custGeom>
                <a:avLst/>
                <a:gdLst/>
                <a:ahLst/>
                <a:cxnLst/>
                <a:rect r="r" b="b" t="t" l="l"/>
                <a:pathLst>
                  <a:path h="231290" w="826256">
                    <a:moveTo>
                      <a:pt x="0" y="0"/>
                    </a:moveTo>
                    <a:lnTo>
                      <a:pt x="826256" y="0"/>
                    </a:lnTo>
                    <a:lnTo>
                      <a:pt x="826256" y="231290"/>
                    </a:lnTo>
                    <a:lnTo>
                      <a:pt x="0" y="231290"/>
                    </a:lnTo>
                    <a:close/>
                  </a:path>
                </a:pathLst>
              </a:custGeom>
              <a:solidFill>
                <a:srgbClr val="9D0618"/>
              </a:solidFill>
            </p:spPr>
          </p:sp>
          <p:sp>
            <p:nvSpPr>
              <p:cNvPr name="TextBox 40" id="40"/>
              <p:cNvSpPr txBox="true"/>
              <p:nvPr/>
            </p:nvSpPr>
            <p:spPr>
              <a:xfrm>
                <a:off x="0" y="-47625"/>
                <a:ext cx="826256" cy="278915"/>
              </a:xfrm>
              <a:prstGeom prst="rect">
                <a:avLst/>
              </a:prstGeom>
            </p:spPr>
            <p:txBody>
              <a:bodyPr anchor="ctr" rtlCol="false" tIns="50800" lIns="50800" bIns="50800" rIns="50800"/>
              <a:lstStyle/>
              <a:p>
                <a:pPr algn="ctr">
                  <a:lnSpc>
                    <a:spcPts val="2800"/>
                  </a:lnSpc>
                </a:pPr>
              </a:p>
            </p:txBody>
          </p:sp>
        </p:grpSp>
        <p:sp>
          <p:nvSpPr>
            <p:cNvPr name="TextBox 41" id="41"/>
            <p:cNvSpPr txBox="true"/>
            <p:nvPr/>
          </p:nvSpPr>
          <p:spPr>
            <a:xfrm rot="0">
              <a:off x="59894" y="30960"/>
              <a:ext cx="4058730" cy="1061361"/>
            </a:xfrm>
            <a:prstGeom prst="rect">
              <a:avLst/>
            </a:prstGeom>
          </p:spPr>
          <p:txBody>
            <a:bodyPr anchor="t" rtlCol="false" tIns="0" lIns="0" bIns="0" rIns="0">
              <a:spAutoFit/>
            </a:bodyPr>
            <a:lstStyle/>
            <a:p>
              <a:pPr algn="ctr">
                <a:lnSpc>
                  <a:spcPts val="3243"/>
                </a:lnSpc>
                <a:spcBef>
                  <a:spcPct val="0"/>
                </a:spcBef>
              </a:pPr>
              <a:r>
                <a:rPr lang="en-US" b="true" sz="2316" spc="-69">
                  <a:solidFill>
                    <a:srgbClr val="FFFFFF"/>
                  </a:solidFill>
                  <a:latin typeface="Inter Bold"/>
                  <a:ea typeface="Inter Bold"/>
                  <a:cs typeface="Inter Bold"/>
                  <a:sym typeface="Inter Bold"/>
                </a:rPr>
                <a:t>Redistribute -</a:t>
              </a:r>
            </a:p>
            <a:p>
              <a:pPr algn="ctr">
                <a:lnSpc>
                  <a:spcPts val="3243"/>
                </a:lnSpc>
                <a:spcBef>
                  <a:spcPct val="0"/>
                </a:spcBef>
              </a:pPr>
              <a:r>
                <a:rPr lang="en-US" b="true" sz="2316" spc="-69">
                  <a:solidFill>
                    <a:srgbClr val="FFFFFF"/>
                  </a:solidFill>
                  <a:latin typeface="Inter Bold"/>
                  <a:ea typeface="Inter Bold"/>
                  <a:cs typeface="Inter Bold"/>
                  <a:sym typeface="Inter Bold"/>
                </a:rPr>
                <a:t> Phân phối lại</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AutoShape 3" id="3"/>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4" id="4"/>
          <p:cNvSpPr/>
          <p:nvPr/>
        </p:nvSpPr>
        <p:spPr>
          <a:xfrm flipH="false" flipV="false" rot="-5400000">
            <a:off x="15930850" y="2836730"/>
            <a:ext cx="3605815" cy="1802908"/>
          </a:xfrm>
          <a:custGeom>
            <a:avLst/>
            <a:gdLst/>
            <a:ahLst/>
            <a:cxnLst/>
            <a:rect r="r" b="b" t="t" l="l"/>
            <a:pathLst>
              <a:path h="1802908" w="3605815">
                <a:moveTo>
                  <a:pt x="0" y="0"/>
                </a:moveTo>
                <a:lnTo>
                  <a:pt x="3605816" y="0"/>
                </a:lnTo>
                <a:lnTo>
                  <a:pt x="3605816" y="1802907"/>
                </a:lnTo>
                <a:lnTo>
                  <a:pt x="0" y="18029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5721952" y="5541091"/>
            <a:ext cx="188529" cy="3534029"/>
            <a:chOff x="0" y="0"/>
            <a:chExt cx="49654" cy="930773"/>
          </a:xfrm>
        </p:grpSpPr>
        <p:sp>
          <p:nvSpPr>
            <p:cNvPr name="Freeform 6" id="6"/>
            <p:cNvSpPr/>
            <p:nvPr/>
          </p:nvSpPr>
          <p:spPr>
            <a:xfrm flipH="false" flipV="false" rot="0">
              <a:off x="0" y="0"/>
              <a:ext cx="49654" cy="930773"/>
            </a:xfrm>
            <a:custGeom>
              <a:avLst/>
              <a:gdLst/>
              <a:ahLst/>
              <a:cxnLst/>
              <a:rect r="r" b="b" t="t" l="l"/>
              <a:pathLst>
                <a:path h="930773" w="49654">
                  <a:moveTo>
                    <a:pt x="0" y="0"/>
                  </a:moveTo>
                  <a:lnTo>
                    <a:pt x="49654" y="0"/>
                  </a:lnTo>
                  <a:lnTo>
                    <a:pt x="49654" y="930773"/>
                  </a:lnTo>
                  <a:lnTo>
                    <a:pt x="0" y="930773"/>
                  </a:lnTo>
                  <a:close/>
                </a:path>
              </a:pathLst>
            </a:custGeom>
            <a:solidFill>
              <a:srgbClr val="21352E"/>
            </a:solidFill>
          </p:spPr>
        </p:sp>
        <p:sp>
          <p:nvSpPr>
            <p:cNvPr name="TextBox 7" id="7"/>
            <p:cNvSpPr txBox="true"/>
            <p:nvPr/>
          </p:nvSpPr>
          <p:spPr>
            <a:xfrm>
              <a:off x="0" y="-47625"/>
              <a:ext cx="49654" cy="978398"/>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true" flipV="true" rot="-10800000">
            <a:off x="11003229" y="9138758"/>
            <a:ext cx="2296484" cy="1148242"/>
          </a:xfrm>
          <a:custGeom>
            <a:avLst/>
            <a:gdLst/>
            <a:ahLst/>
            <a:cxnLst/>
            <a:rect r="r" b="b" t="t" l="l"/>
            <a:pathLst>
              <a:path h="1148242" w="2296484">
                <a:moveTo>
                  <a:pt x="2296484" y="1148242"/>
                </a:moveTo>
                <a:lnTo>
                  <a:pt x="0" y="1148242"/>
                </a:lnTo>
                <a:lnTo>
                  <a:pt x="0" y="0"/>
                </a:lnTo>
                <a:lnTo>
                  <a:pt x="2296484" y="0"/>
                </a:lnTo>
                <a:lnTo>
                  <a:pt x="2296484" y="1148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710704" y="2904618"/>
            <a:ext cx="5533455" cy="1667131"/>
          </a:xfrm>
          <a:custGeom>
            <a:avLst/>
            <a:gdLst/>
            <a:ahLst/>
            <a:cxnLst/>
            <a:rect r="r" b="b" t="t" l="l"/>
            <a:pathLst>
              <a:path h="1667131" w="5533455">
                <a:moveTo>
                  <a:pt x="0" y="0"/>
                </a:moveTo>
                <a:lnTo>
                  <a:pt x="5533455" y="0"/>
                </a:lnTo>
                <a:lnTo>
                  <a:pt x="5533455" y="1667131"/>
                </a:lnTo>
                <a:lnTo>
                  <a:pt x="0" y="1667131"/>
                </a:lnTo>
                <a:lnTo>
                  <a:pt x="0" y="0"/>
                </a:lnTo>
                <a:close/>
              </a:path>
            </a:pathLst>
          </a:custGeom>
          <a:blipFill>
            <a:blip r:embed="rId4"/>
            <a:stretch>
              <a:fillRect l="-8824" t="-50316" r="-6576" b="-96801"/>
            </a:stretch>
          </a:blipFill>
        </p:spPr>
      </p:sp>
      <p:sp>
        <p:nvSpPr>
          <p:cNvPr name="Freeform 10" id="10"/>
          <p:cNvSpPr/>
          <p:nvPr/>
        </p:nvSpPr>
        <p:spPr>
          <a:xfrm flipH="false" flipV="false" rot="0">
            <a:off x="1028700" y="3640082"/>
            <a:ext cx="770405" cy="770405"/>
          </a:xfrm>
          <a:custGeom>
            <a:avLst/>
            <a:gdLst/>
            <a:ahLst/>
            <a:cxnLst/>
            <a:rect r="r" b="b" t="t" l="l"/>
            <a:pathLst>
              <a:path h="770405" w="770405">
                <a:moveTo>
                  <a:pt x="0" y="0"/>
                </a:moveTo>
                <a:lnTo>
                  <a:pt x="770405" y="0"/>
                </a:lnTo>
                <a:lnTo>
                  <a:pt x="770405" y="770405"/>
                </a:lnTo>
                <a:lnTo>
                  <a:pt x="0" y="7704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028700" y="1394149"/>
            <a:ext cx="7792467" cy="971931"/>
          </a:xfrm>
          <a:prstGeom prst="rect">
            <a:avLst/>
          </a:prstGeom>
        </p:spPr>
        <p:txBody>
          <a:bodyPr anchor="t" rtlCol="false" tIns="0" lIns="0" bIns="0" rIns="0">
            <a:spAutoFit/>
          </a:bodyPr>
          <a:lstStyle/>
          <a:p>
            <a:pPr algn="l" marL="0" indent="0" lvl="0">
              <a:lnSpc>
                <a:spcPts val="5727"/>
              </a:lnSpc>
              <a:spcBef>
                <a:spcPct val="0"/>
              </a:spcBef>
            </a:pPr>
            <a:r>
              <a:rPr lang="en-US" b="true" sz="6900">
                <a:solidFill>
                  <a:srgbClr val="161616"/>
                </a:solidFill>
                <a:latin typeface="Heading Now 31-38 Bold"/>
                <a:ea typeface="Heading Now 31-38 Bold"/>
                <a:cs typeface="Heading Now 31-38 Bold"/>
                <a:sym typeface="Heading Now 31-38 Bold"/>
              </a:rPr>
              <a:t>II. CÁC DẠ</a:t>
            </a:r>
            <a:r>
              <a:rPr lang="en-US" b="true" sz="6900" strike="noStrike" u="none">
                <a:solidFill>
                  <a:srgbClr val="161616"/>
                </a:solidFill>
                <a:latin typeface="Heading Now 31-38 Bold"/>
                <a:ea typeface="Heading Now 31-38 Bold"/>
                <a:cs typeface="Heading Now 31-38 Bold"/>
                <a:sym typeface="Heading Now 31-38 Bold"/>
              </a:rPr>
              <a:t>NG GIẤY PHÉP CỦA OER</a:t>
            </a:r>
            <a:r>
              <a:rPr lang="en-US" b="true" sz="6900" strike="noStrike" u="none">
                <a:solidFill>
                  <a:srgbClr val="161616"/>
                </a:solidFill>
                <a:latin typeface="Heading Now 31-38 Bold"/>
                <a:ea typeface="Heading Now 31-38 Bold"/>
                <a:cs typeface="Heading Now 31-38 Bold"/>
                <a:sym typeface="Heading Now 31-38 Bold"/>
              </a:rPr>
              <a:t> </a:t>
            </a:r>
          </a:p>
        </p:txBody>
      </p:sp>
      <p:sp>
        <p:nvSpPr>
          <p:cNvPr name="TextBox 12" id="12"/>
          <p:cNvSpPr txBox="true"/>
          <p:nvPr/>
        </p:nvSpPr>
        <p:spPr>
          <a:xfrm rot="0">
            <a:off x="1028700" y="2869911"/>
            <a:ext cx="7343569" cy="448310"/>
          </a:xfrm>
          <a:prstGeom prst="rect">
            <a:avLst/>
          </a:prstGeom>
        </p:spPr>
        <p:txBody>
          <a:bodyPr anchor="t" rtlCol="false" tIns="0" lIns="0" bIns="0" rIns="0">
            <a:spAutoFit/>
          </a:bodyPr>
          <a:lstStyle/>
          <a:p>
            <a:pPr algn="l">
              <a:lnSpc>
                <a:spcPts val="3639"/>
              </a:lnSpc>
            </a:pPr>
            <a:r>
              <a:rPr lang="en-US" b="true" sz="2599" spc="-77">
                <a:solidFill>
                  <a:srgbClr val="161616"/>
                </a:solidFill>
                <a:latin typeface="Inter Bold"/>
                <a:ea typeface="Inter Bold"/>
                <a:cs typeface="Inter Bold"/>
                <a:sym typeface="Inter Bold"/>
              </a:rPr>
              <a:t>2.  CÁC GIẤ</a:t>
            </a:r>
            <a:r>
              <a:rPr lang="en-US" b="true" sz="2599" spc="-77">
                <a:solidFill>
                  <a:srgbClr val="161616"/>
                </a:solidFill>
                <a:latin typeface="Inter Bold"/>
                <a:ea typeface="Inter Bold"/>
                <a:cs typeface="Inter Bold"/>
                <a:sym typeface="Inter Bold"/>
              </a:rPr>
              <a:t>Y PHÉP CREATIVE COMMONS</a:t>
            </a:r>
          </a:p>
        </p:txBody>
      </p:sp>
      <p:sp>
        <p:nvSpPr>
          <p:cNvPr name="TextBox 13" id="13"/>
          <p:cNvSpPr txBox="true"/>
          <p:nvPr/>
        </p:nvSpPr>
        <p:spPr>
          <a:xfrm rot="0">
            <a:off x="2340936" y="3547683"/>
            <a:ext cx="7375220" cy="862803"/>
          </a:xfrm>
          <a:prstGeom prst="rect">
            <a:avLst/>
          </a:prstGeom>
        </p:spPr>
        <p:txBody>
          <a:bodyPr anchor="t" rtlCol="false" tIns="0" lIns="0" bIns="0" rIns="0">
            <a:spAutoFit/>
          </a:bodyPr>
          <a:lstStyle/>
          <a:p>
            <a:pPr algn="just">
              <a:lnSpc>
                <a:spcPts val="2318"/>
              </a:lnSpc>
              <a:spcBef>
                <a:spcPct val="0"/>
              </a:spcBef>
            </a:pPr>
            <a:r>
              <a:rPr lang="en-US" sz="1656" spc="-49">
                <a:solidFill>
                  <a:srgbClr val="161616"/>
                </a:solidFill>
                <a:latin typeface="Inter"/>
                <a:ea typeface="Inter"/>
                <a:cs typeface="Inter"/>
                <a:sym typeface="Inter"/>
              </a:rPr>
              <a:t>Giấy phép Creative Commons là giấy phép bản quyền ra đời vào ngày   16/12/2002 bởi Creative Commons, một công ty phi lợi nhuận của Hoa Kỳ thành lập vào năm 2001.</a:t>
            </a:r>
          </a:p>
        </p:txBody>
      </p:sp>
      <p:grpSp>
        <p:nvGrpSpPr>
          <p:cNvPr name="Group 14" id="14"/>
          <p:cNvGrpSpPr/>
          <p:nvPr/>
        </p:nvGrpSpPr>
        <p:grpSpPr>
          <a:xfrm rot="0">
            <a:off x="1028700" y="4745534"/>
            <a:ext cx="9280546" cy="4264143"/>
            <a:chOff x="0" y="0"/>
            <a:chExt cx="12374061" cy="5685525"/>
          </a:xfrm>
        </p:grpSpPr>
        <p:sp>
          <p:nvSpPr>
            <p:cNvPr name="Freeform 15" id="15"/>
            <p:cNvSpPr/>
            <p:nvPr/>
          </p:nvSpPr>
          <p:spPr>
            <a:xfrm flipH="false" flipV="false" rot="0">
              <a:off x="10448" y="45956"/>
              <a:ext cx="1040948" cy="1040948"/>
            </a:xfrm>
            <a:custGeom>
              <a:avLst/>
              <a:gdLst/>
              <a:ahLst/>
              <a:cxnLst/>
              <a:rect r="r" b="b" t="t" l="l"/>
              <a:pathLst>
                <a:path h="1040948" w="1040948">
                  <a:moveTo>
                    <a:pt x="0" y="0"/>
                  </a:moveTo>
                  <a:lnTo>
                    <a:pt x="1040948" y="0"/>
                  </a:lnTo>
                  <a:lnTo>
                    <a:pt x="1040948" y="1040948"/>
                  </a:lnTo>
                  <a:lnTo>
                    <a:pt x="0" y="1040948"/>
                  </a:lnTo>
                  <a:lnTo>
                    <a:pt x="0" y="0"/>
                  </a:lnTo>
                  <a:close/>
                </a:path>
              </a:pathLst>
            </a:custGeom>
            <a:blipFill>
              <a:blip r:embed="rId7"/>
              <a:stretch>
                <a:fillRect l="0" t="0" r="0" b="0"/>
              </a:stretch>
            </a:blipFill>
          </p:spPr>
        </p:sp>
        <p:sp>
          <p:nvSpPr>
            <p:cNvPr name="Freeform 16" id="16"/>
            <p:cNvSpPr/>
            <p:nvPr/>
          </p:nvSpPr>
          <p:spPr>
            <a:xfrm flipH="false" flipV="false" rot="0">
              <a:off x="2726" y="1582478"/>
              <a:ext cx="1042650" cy="1042650"/>
            </a:xfrm>
            <a:custGeom>
              <a:avLst/>
              <a:gdLst/>
              <a:ahLst/>
              <a:cxnLst/>
              <a:rect r="r" b="b" t="t" l="l"/>
              <a:pathLst>
                <a:path h="1042650" w="1042650">
                  <a:moveTo>
                    <a:pt x="0" y="0"/>
                  </a:moveTo>
                  <a:lnTo>
                    <a:pt x="1042650" y="0"/>
                  </a:lnTo>
                  <a:lnTo>
                    <a:pt x="1042650" y="1042650"/>
                  </a:lnTo>
                  <a:lnTo>
                    <a:pt x="0" y="1042650"/>
                  </a:lnTo>
                  <a:lnTo>
                    <a:pt x="0" y="0"/>
                  </a:lnTo>
                  <a:close/>
                </a:path>
              </a:pathLst>
            </a:custGeom>
            <a:blipFill>
              <a:blip r:embed="rId8"/>
              <a:stretch>
                <a:fillRect l="0" t="0" r="0" b="0"/>
              </a:stretch>
            </a:blipFill>
          </p:spPr>
        </p:sp>
        <p:sp>
          <p:nvSpPr>
            <p:cNvPr name="Freeform 17" id="17"/>
            <p:cNvSpPr/>
            <p:nvPr/>
          </p:nvSpPr>
          <p:spPr>
            <a:xfrm flipH="false" flipV="false" rot="0">
              <a:off x="2726" y="3120428"/>
              <a:ext cx="1033535" cy="1033535"/>
            </a:xfrm>
            <a:custGeom>
              <a:avLst/>
              <a:gdLst/>
              <a:ahLst/>
              <a:cxnLst/>
              <a:rect r="r" b="b" t="t" l="l"/>
              <a:pathLst>
                <a:path h="1033535" w="1033535">
                  <a:moveTo>
                    <a:pt x="0" y="0"/>
                  </a:moveTo>
                  <a:lnTo>
                    <a:pt x="1033535" y="0"/>
                  </a:lnTo>
                  <a:lnTo>
                    <a:pt x="1033535" y="1033535"/>
                  </a:lnTo>
                  <a:lnTo>
                    <a:pt x="0" y="1033535"/>
                  </a:lnTo>
                  <a:lnTo>
                    <a:pt x="0" y="0"/>
                  </a:lnTo>
                  <a:close/>
                </a:path>
              </a:pathLst>
            </a:custGeom>
            <a:blipFill>
              <a:blip r:embed="rId9"/>
              <a:stretch>
                <a:fillRect l="0" t="0" r="0" b="0"/>
              </a:stretch>
            </a:blipFill>
          </p:spPr>
        </p:sp>
        <p:sp>
          <p:nvSpPr>
            <p:cNvPr name="Freeform 18" id="18"/>
            <p:cNvSpPr/>
            <p:nvPr/>
          </p:nvSpPr>
          <p:spPr>
            <a:xfrm flipH="false" flipV="false" rot="0">
              <a:off x="0" y="4649263"/>
              <a:ext cx="1036261" cy="1036261"/>
            </a:xfrm>
            <a:custGeom>
              <a:avLst/>
              <a:gdLst/>
              <a:ahLst/>
              <a:cxnLst/>
              <a:rect r="r" b="b" t="t" l="l"/>
              <a:pathLst>
                <a:path h="1036261" w="1036261">
                  <a:moveTo>
                    <a:pt x="0" y="0"/>
                  </a:moveTo>
                  <a:lnTo>
                    <a:pt x="1036261" y="0"/>
                  </a:lnTo>
                  <a:lnTo>
                    <a:pt x="1036261" y="1036262"/>
                  </a:lnTo>
                  <a:lnTo>
                    <a:pt x="0" y="10362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1511828" y="4766817"/>
              <a:ext cx="10862232" cy="753529"/>
            </a:xfrm>
            <a:prstGeom prst="rect">
              <a:avLst/>
            </a:prstGeom>
          </p:spPr>
          <p:txBody>
            <a:bodyPr anchor="t" rtlCol="false" tIns="0" lIns="0" bIns="0" rIns="0">
              <a:spAutoFit/>
            </a:bodyPr>
            <a:lstStyle/>
            <a:p>
              <a:pPr algn="just">
                <a:lnSpc>
                  <a:spcPts val="2318"/>
                </a:lnSpc>
              </a:pPr>
              <a:r>
                <a:rPr lang="en-US" sz="1656" spc="-49">
                  <a:solidFill>
                    <a:srgbClr val="161616"/>
                  </a:solidFill>
                  <a:latin typeface="Inter"/>
                  <a:ea typeface="Inter"/>
                  <a:cs typeface="Inter"/>
                  <a:sym typeface="Inter"/>
                </a:rPr>
                <a:t> </a:t>
              </a:r>
              <a:r>
                <a:rPr lang="en-US" b="true" sz="1656" spc="-49">
                  <a:solidFill>
                    <a:srgbClr val="161616"/>
                  </a:solidFill>
                  <a:latin typeface="Inter Bold"/>
                  <a:ea typeface="Inter Bold"/>
                  <a:cs typeface="Inter Bold"/>
                  <a:sym typeface="Inter Bold"/>
                </a:rPr>
                <a:t>  No derivatives</a:t>
              </a:r>
            </a:p>
            <a:p>
              <a:pPr algn="just" marL="357611" indent="-178806" lvl="1">
                <a:lnSpc>
                  <a:spcPts val="2318"/>
                </a:lnSpc>
                <a:spcBef>
                  <a:spcPct val="0"/>
                </a:spcBef>
                <a:buFont typeface="Arial"/>
                <a:buChar char="•"/>
              </a:pPr>
              <a:r>
                <a:rPr lang="en-US" sz="1656" spc="-49">
                  <a:solidFill>
                    <a:srgbClr val="161616"/>
                  </a:solidFill>
                  <a:latin typeface="Inter"/>
                  <a:ea typeface="Inter"/>
                  <a:cs typeface="Inter"/>
                  <a:sym typeface="Inter"/>
                </a:rPr>
                <a:t>Khô</a:t>
              </a:r>
              <a:r>
                <a:rPr lang="en-US" sz="1656" spc="-49">
                  <a:solidFill>
                    <a:srgbClr val="161616"/>
                  </a:solidFill>
                  <a:latin typeface="Inter"/>
                  <a:ea typeface="Inter"/>
                  <a:cs typeface="Inter"/>
                  <a:sym typeface="Inter"/>
                </a:rPr>
                <a:t>ng được phép tạo tác phẩm phái sinh từ tài nguyên gốc.</a:t>
              </a:r>
            </a:p>
          </p:txBody>
        </p:sp>
        <p:sp>
          <p:nvSpPr>
            <p:cNvPr name="TextBox 20" id="20"/>
            <p:cNvSpPr txBox="true"/>
            <p:nvPr/>
          </p:nvSpPr>
          <p:spPr>
            <a:xfrm rot="0">
              <a:off x="1511828" y="1674279"/>
              <a:ext cx="10862232" cy="1134529"/>
            </a:xfrm>
            <a:prstGeom prst="rect">
              <a:avLst/>
            </a:prstGeom>
          </p:spPr>
          <p:txBody>
            <a:bodyPr anchor="t" rtlCol="false" tIns="0" lIns="0" bIns="0" rIns="0">
              <a:spAutoFit/>
            </a:bodyPr>
            <a:lstStyle/>
            <a:p>
              <a:pPr algn="just">
                <a:lnSpc>
                  <a:spcPts val="2318"/>
                </a:lnSpc>
              </a:pPr>
              <a:r>
                <a:rPr lang="en-US" sz="1656" spc="-49">
                  <a:solidFill>
                    <a:srgbClr val="161616"/>
                  </a:solidFill>
                  <a:latin typeface="Inter"/>
                  <a:ea typeface="Inter"/>
                  <a:cs typeface="Inter"/>
                  <a:sym typeface="Inter"/>
                </a:rPr>
                <a:t>   </a:t>
              </a:r>
              <a:r>
                <a:rPr lang="en-US" b="true" sz="1656" spc="-49">
                  <a:solidFill>
                    <a:srgbClr val="161616"/>
                  </a:solidFill>
                  <a:latin typeface="Inter Bold"/>
                  <a:ea typeface="Inter Bold"/>
                  <a:cs typeface="Inter Bold"/>
                  <a:sym typeface="Inter Bold"/>
                </a:rPr>
                <a:t>Non-commercial</a:t>
              </a:r>
            </a:p>
            <a:p>
              <a:pPr algn="just" marL="357611" indent="-178806" lvl="1">
                <a:lnSpc>
                  <a:spcPts val="2318"/>
                </a:lnSpc>
                <a:buFont typeface="Arial"/>
                <a:buChar char="•"/>
              </a:pPr>
              <a:r>
                <a:rPr lang="en-US" sz="1656" spc="-49">
                  <a:solidFill>
                    <a:srgbClr val="161616"/>
                  </a:solidFill>
                  <a:latin typeface="Inter"/>
                  <a:ea typeface="Inter"/>
                  <a:cs typeface="Inter"/>
                  <a:sym typeface="Inter"/>
                </a:rPr>
                <a:t>Chỉ được sử</a:t>
              </a:r>
              <a:r>
                <a:rPr lang="en-US" sz="1656" spc="-49">
                  <a:solidFill>
                    <a:srgbClr val="161616"/>
                  </a:solidFill>
                  <a:latin typeface="Inter"/>
                  <a:ea typeface="Inter"/>
                  <a:cs typeface="Inter"/>
                  <a:sym typeface="Inter"/>
                </a:rPr>
                <a:t> dụng tài nguyên cho mục đích phi thương mại.</a:t>
              </a:r>
            </a:p>
            <a:p>
              <a:pPr algn="just" marL="357611" indent="-178806" lvl="1">
                <a:lnSpc>
                  <a:spcPts val="2318"/>
                </a:lnSpc>
                <a:spcBef>
                  <a:spcPct val="0"/>
                </a:spcBef>
                <a:buFont typeface="Arial"/>
                <a:buChar char="•"/>
              </a:pPr>
              <a:r>
                <a:rPr lang="en-US" sz="1656" spc="-49">
                  <a:solidFill>
                    <a:srgbClr val="161616"/>
                  </a:solidFill>
                  <a:latin typeface="Inter"/>
                  <a:ea typeface="Inter"/>
                  <a:cs typeface="Inter"/>
                  <a:sym typeface="Inter"/>
                </a:rPr>
                <a:t>Khô</a:t>
              </a:r>
              <a:r>
                <a:rPr lang="en-US" sz="1656" spc="-49">
                  <a:solidFill>
                    <a:srgbClr val="161616"/>
                  </a:solidFill>
                  <a:latin typeface="Inter"/>
                  <a:ea typeface="Inter"/>
                  <a:cs typeface="Inter"/>
                  <a:sym typeface="Inter"/>
                </a:rPr>
                <a:t>ng được dùng để bán hoặc kiếm lợi nhuận trực tiếp từ tài nguyên.</a:t>
              </a:r>
            </a:p>
          </p:txBody>
        </p:sp>
        <p:sp>
          <p:nvSpPr>
            <p:cNvPr name="TextBox 21" id="21"/>
            <p:cNvSpPr txBox="true"/>
            <p:nvPr/>
          </p:nvSpPr>
          <p:spPr>
            <a:xfrm rot="0">
              <a:off x="1511828" y="-47625"/>
              <a:ext cx="10862232" cy="1515529"/>
            </a:xfrm>
            <a:prstGeom prst="rect">
              <a:avLst/>
            </a:prstGeom>
          </p:spPr>
          <p:txBody>
            <a:bodyPr anchor="t" rtlCol="false" tIns="0" lIns="0" bIns="0" rIns="0">
              <a:spAutoFit/>
            </a:bodyPr>
            <a:lstStyle/>
            <a:p>
              <a:pPr algn="just">
                <a:lnSpc>
                  <a:spcPts val="2318"/>
                </a:lnSpc>
              </a:pPr>
              <a:r>
                <a:rPr lang="en-US" sz="1656" spc="-49">
                  <a:solidFill>
                    <a:srgbClr val="161616"/>
                  </a:solidFill>
                  <a:latin typeface="Inter"/>
                  <a:ea typeface="Inter"/>
                  <a:cs typeface="Inter"/>
                  <a:sym typeface="Inter"/>
                </a:rPr>
                <a:t>    </a:t>
              </a:r>
              <a:r>
                <a:rPr lang="en-US" b="true" sz="1656" spc="-49">
                  <a:solidFill>
                    <a:srgbClr val="161616"/>
                  </a:solidFill>
                  <a:latin typeface="Inter Bold"/>
                  <a:ea typeface="Inter Bold"/>
                  <a:cs typeface="Inter Bold"/>
                  <a:sym typeface="Inter Bold"/>
                </a:rPr>
                <a:t>Attribution</a:t>
              </a:r>
            </a:p>
            <a:p>
              <a:pPr algn="just" marL="357611" indent="-178806" lvl="1">
                <a:lnSpc>
                  <a:spcPts val="2318"/>
                </a:lnSpc>
                <a:buFont typeface="Arial"/>
                <a:buChar char="•"/>
              </a:pPr>
              <a:r>
                <a:rPr lang="en-US" sz="1656" spc="-49">
                  <a:solidFill>
                    <a:srgbClr val="161616"/>
                  </a:solidFill>
                  <a:latin typeface="Inter"/>
                  <a:ea typeface="Inter"/>
                  <a:cs typeface="Inter"/>
                  <a:sym typeface="Inter"/>
                </a:rPr>
                <a:t>Ngườ</a:t>
              </a:r>
              <a:r>
                <a:rPr lang="en-US" sz="1656" spc="-49">
                  <a:solidFill>
                    <a:srgbClr val="161616"/>
                  </a:solidFill>
                  <a:latin typeface="Inter"/>
                  <a:ea typeface="Inter"/>
                  <a:cs typeface="Inter"/>
                  <a:sym typeface="Inter"/>
                </a:rPr>
                <a:t>i dùng phải ghi rõ tên tác giả khi sử dụng, sao chép, phân phối hoặc chỉnh sửa nội dung.</a:t>
              </a:r>
            </a:p>
            <a:p>
              <a:pPr algn="just" marL="357611" indent="-178806" lvl="1">
                <a:lnSpc>
                  <a:spcPts val="2318"/>
                </a:lnSpc>
                <a:spcBef>
                  <a:spcPct val="0"/>
                </a:spcBef>
                <a:buFont typeface="Arial"/>
                <a:buChar char="•"/>
              </a:pPr>
              <a:r>
                <a:rPr lang="en-US" sz="1656" spc="-49">
                  <a:solidFill>
                    <a:srgbClr val="161616"/>
                  </a:solidFill>
                  <a:latin typeface="Inter"/>
                  <a:ea typeface="Inter"/>
                  <a:cs typeface="Inter"/>
                  <a:sym typeface="Inter"/>
                </a:rPr>
                <a:t>Đây là thành phần bắt buộc trong tất cả các giấy phép CC</a:t>
              </a:r>
            </a:p>
          </p:txBody>
        </p:sp>
        <p:sp>
          <p:nvSpPr>
            <p:cNvPr name="TextBox 22" id="22"/>
            <p:cNvSpPr txBox="true"/>
            <p:nvPr/>
          </p:nvSpPr>
          <p:spPr>
            <a:xfrm rot="0">
              <a:off x="1511828" y="3129483"/>
              <a:ext cx="10862232" cy="1134529"/>
            </a:xfrm>
            <a:prstGeom prst="rect">
              <a:avLst/>
            </a:prstGeom>
          </p:spPr>
          <p:txBody>
            <a:bodyPr anchor="t" rtlCol="false" tIns="0" lIns="0" bIns="0" rIns="0">
              <a:spAutoFit/>
            </a:bodyPr>
            <a:lstStyle/>
            <a:p>
              <a:pPr algn="just">
                <a:lnSpc>
                  <a:spcPts val="2318"/>
                </a:lnSpc>
              </a:pPr>
              <a:r>
                <a:rPr lang="en-US" b="true" sz="1656" spc="-49">
                  <a:solidFill>
                    <a:srgbClr val="161616"/>
                  </a:solidFill>
                  <a:latin typeface="Inter Bold"/>
                  <a:ea typeface="Inter Bold"/>
                  <a:cs typeface="Inter Bold"/>
                  <a:sym typeface="Inter Bold"/>
                </a:rPr>
                <a:t>    Share alike</a:t>
              </a:r>
            </a:p>
            <a:p>
              <a:pPr algn="just" marL="357611" indent="-178806" lvl="1">
                <a:lnSpc>
                  <a:spcPts val="2318"/>
                </a:lnSpc>
                <a:spcBef>
                  <a:spcPct val="0"/>
                </a:spcBef>
                <a:buFont typeface="Arial"/>
                <a:buChar char="•"/>
              </a:pPr>
              <a:r>
                <a:rPr lang="en-US" sz="1656" spc="-49">
                  <a:solidFill>
                    <a:srgbClr val="161616"/>
                  </a:solidFill>
                  <a:latin typeface="Inter"/>
                  <a:ea typeface="Inter"/>
                  <a:cs typeface="Inter"/>
                  <a:sym typeface="Inter"/>
                </a:rPr>
                <a:t>Nếu</a:t>
              </a:r>
              <a:r>
                <a:rPr lang="en-US" sz="1656" spc="-49">
                  <a:solidFill>
                    <a:srgbClr val="161616"/>
                  </a:solidFill>
                  <a:latin typeface="Inter"/>
                  <a:ea typeface="Inter"/>
                  <a:cs typeface="Inter"/>
                  <a:sym typeface="Inter"/>
                </a:rPr>
                <a:t> người dùng chỉnh sửa, biến đổi hoặc pha trộn tài nguyên, bản</a:t>
              </a:r>
              <a:r>
                <a:rPr lang="en-US" sz="1656" spc="-49">
                  <a:solidFill>
                    <a:srgbClr val="161616"/>
                  </a:solidFill>
                  <a:latin typeface="Inter"/>
                  <a:ea typeface="Inter"/>
                  <a:cs typeface="Inter"/>
                  <a:sym typeface="Inter"/>
                </a:rPr>
                <a:t> mới phải được cấp giấy phép tương tự (CC giống nhau).</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3" id="3"/>
          <p:cNvSpPr/>
          <p:nvPr/>
        </p:nvSpPr>
        <p:spPr>
          <a:xfrm flipH="false" flipV="false" rot="-5400000">
            <a:off x="15930850" y="2836730"/>
            <a:ext cx="3605815" cy="1802908"/>
          </a:xfrm>
          <a:custGeom>
            <a:avLst/>
            <a:gdLst/>
            <a:ahLst/>
            <a:cxnLst/>
            <a:rect r="r" b="b" t="t" l="l"/>
            <a:pathLst>
              <a:path h="1802908" w="3605815">
                <a:moveTo>
                  <a:pt x="0" y="0"/>
                </a:moveTo>
                <a:lnTo>
                  <a:pt x="3605816" y="0"/>
                </a:lnTo>
                <a:lnTo>
                  <a:pt x="3605816" y="1802907"/>
                </a:lnTo>
                <a:lnTo>
                  <a:pt x="0" y="18029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6643775" y="4691628"/>
            <a:ext cx="188529" cy="3534029"/>
            <a:chOff x="0" y="0"/>
            <a:chExt cx="49654" cy="930773"/>
          </a:xfrm>
        </p:grpSpPr>
        <p:sp>
          <p:nvSpPr>
            <p:cNvPr name="Freeform 5" id="5"/>
            <p:cNvSpPr/>
            <p:nvPr/>
          </p:nvSpPr>
          <p:spPr>
            <a:xfrm flipH="false" flipV="false" rot="0">
              <a:off x="0" y="0"/>
              <a:ext cx="49654" cy="930773"/>
            </a:xfrm>
            <a:custGeom>
              <a:avLst/>
              <a:gdLst/>
              <a:ahLst/>
              <a:cxnLst/>
              <a:rect r="r" b="b" t="t" l="l"/>
              <a:pathLst>
                <a:path h="930773" w="49654">
                  <a:moveTo>
                    <a:pt x="0" y="0"/>
                  </a:moveTo>
                  <a:lnTo>
                    <a:pt x="49654" y="0"/>
                  </a:lnTo>
                  <a:lnTo>
                    <a:pt x="49654" y="930773"/>
                  </a:lnTo>
                  <a:lnTo>
                    <a:pt x="0" y="930773"/>
                  </a:lnTo>
                  <a:close/>
                </a:path>
              </a:pathLst>
            </a:custGeom>
            <a:solidFill>
              <a:srgbClr val="21352E"/>
            </a:solidFill>
          </p:spPr>
        </p:sp>
        <p:sp>
          <p:nvSpPr>
            <p:cNvPr name="TextBox 6" id="6"/>
            <p:cNvSpPr txBox="true"/>
            <p:nvPr/>
          </p:nvSpPr>
          <p:spPr>
            <a:xfrm>
              <a:off x="0" y="-47625"/>
              <a:ext cx="49654" cy="978398"/>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true" flipV="true" rot="-10800000">
            <a:off x="9638112" y="9344725"/>
            <a:ext cx="2296484" cy="1148242"/>
          </a:xfrm>
          <a:custGeom>
            <a:avLst/>
            <a:gdLst/>
            <a:ahLst/>
            <a:cxnLst/>
            <a:rect r="r" b="b" t="t" l="l"/>
            <a:pathLst>
              <a:path h="1148242" w="2296484">
                <a:moveTo>
                  <a:pt x="2296484" y="1148242"/>
                </a:moveTo>
                <a:lnTo>
                  <a:pt x="0" y="1148242"/>
                </a:lnTo>
                <a:lnTo>
                  <a:pt x="0" y="0"/>
                </a:lnTo>
                <a:lnTo>
                  <a:pt x="2296484" y="0"/>
                </a:lnTo>
                <a:lnTo>
                  <a:pt x="2296484" y="1148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368819" y="4897202"/>
            <a:ext cx="1840765" cy="644039"/>
          </a:xfrm>
          <a:custGeom>
            <a:avLst/>
            <a:gdLst/>
            <a:ahLst/>
            <a:cxnLst/>
            <a:rect r="r" b="b" t="t" l="l"/>
            <a:pathLst>
              <a:path h="644039" w="1840765">
                <a:moveTo>
                  <a:pt x="0" y="0"/>
                </a:moveTo>
                <a:lnTo>
                  <a:pt x="1840765" y="0"/>
                </a:lnTo>
                <a:lnTo>
                  <a:pt x="1840765" y="644040"/>
                </a:lnTo>
                <a:lnTo>
                  <a:pt x="0" y="644040"/>
                </a:lnTo>
                <a:lnTo>
                  <a:pt x="0" y="0"/>
                </a:lnTo>
                <a:close/>
              </a:path>
            </a:pathLst>
          </a:custGeom>
          <a:blipFill>
            <a:blip r:embed="rId4"/>
            <a:stretch>
              <a:fillRect l="0" t="0" r="0" b="0"/>
            </a:stretch>
          </a:blipFill>
        </p:spPr>
      </p:sp>
      <p:sp>
        <p:nvSpPr>
          <p:cNvPr name="Freeform 9" id="9"/>
          <p:cNvSpPr/>
          <p:nvPr/>
        </p:nvSpPr>
        <p:spPr>
          <a:xfrm flipH="false" flipV="false" rot="0">
            <a:off x="1368819" y="5811913"/>
            <a:ext cx="1840765" cy="644039"/>
          </a:xfrm>
          <a:custGeom>
            <a:avLst/>
            <a:gdLst/>
            <a:ahLst/>
            <a:cxnLst/>
            <a:rect r="r" b="b" t="t" l="l"/>
            <a:pathLst>
              <a:path h="644039" w="1840765">
                <a:moveTo>
                  <a:pt x="0" y="0"/>
                </a:moveTo>
                <a:lnTo>
                  <a:pt x="1840765" y="0"/>
                </a:lnTo>
                <a:lnTo>
                  <a:pt x="1840765" y="644039"/>
                </a:lnTo>
                <a:lnTo>
                  <a:pt x="0" y="644039"/>
                </a:lnTo>
                <a:lnTo>
                  <a:pt x="0" y="0"/>
                </a:lnTo>
                <a:close/>
              </a:path>
            </a:pathLst>
          </a:custGeom>
          <a:blipFill>
            <a:blip r:embed="rId5"/>
            <a:stretch>
              <a:fillRect l="0" t="0" r="0" b="0"/>
            </a:stretch>
          </a:blipFill>
        </p:spPr>
      </p:sp>
      <p:sp>
        <p:nvSpPr>
          <p:cNvPr name="Freeform 10" id="10"/>
          <p:cNvSpPr/>
          <p:nvPr/>
        </p:nvSpPr>
        <p:spPr>
          <a:xfrm flipH="false" flipV="false" rot="0">
            <a:off x="1368819" y="7632911"/>
            <a:ext cx="1840765" cy="644039"/>
          </a:xfrm>
          <a:custGeom>
            <a:avLst/>
            <a:gdLst/>
            <a:ahLst/>
            <a:cxnLst/>
            <a:rect r="r" b="b" t="t" l="l"/>
            <a:pathLst>
              <a:path h="644039" w="1840765">
                <a:moveTo>
                  <a:pt x="0" y="0"/>
                </a:moveTo>
                <a:lnTo>
                  <a:pt x="1840765" y="0"/>
                </a:lnTo>
                <a:lnTo>
                  <a:pt x="1840765" y="644040"/>
                </a:lnTo>
                <a:lnTo>
                  <a:pt x="0" y="644040"/>
                </a:lnTo>
                <a:lnTo>
                  <a:pt x="0" y="0"/>
                </a:lnTo>
                <a:close/>
              </a:path>
            </a:pathLst>
          </a:custGeom>
          <a:blipFill>
            <a:blip r:embed="rId6"/>
            <a:stretch>
              <a:fillRect l="0" t="0" r="0" b="0"/>
            </a:stretch>
          </a:blipFill>
        </p:spPr>
      </p:sp>
      <p:sp>
        <p:nvSpPr>
          <p:cNvPr name="Freeform 11" id="11"/>
          <p:cNvSpPr/>
          <p:nvPr/>
        </p:nvSpPr>
        <p:spPr>
          <a:xfrm flipH="false" flipV="false" rot="0">
            <a:off x="1368819" y="8543410"/>
            <a:ext cx="1840765" cy="644039"/>
          </a:xfrm>
          <a:custGeom>
            <a:avLst/>
            <a:gdLst/>
            <a:ahLst/>
            <a:cxnLst/>
            <a:rect r="r" b="b" t="t" l="l"/>
            <a:pathLst>
              <a:path h="644039" w="1840765">
                <a:moveTo>
                  <a:pt x="0" y="0"/>
                </a:moveTo>
                <a:lnTo>
                  <a:pt x="1840765" y="0"/>
                </a:lnTo>
                <a:lnTo>
                  <a:pt x="1840765" y="644040"/>
                </a:lnTo>
                <a:lnTo>
                  <a:pt x="0" y="644040"/>
                </a:lnTo>
                <a:lnTo>
                  <a:pt x="0" y="0"/>
                </a:lnTo>
                <a:close/>
              </a:path>
            </a:pathLst>
          </a:custGeom>
          <a:blipFill>
            <a:blip r:embed="rId7"/>
            <a:stretch>
              <a:fillRect l="0" t="0" r="0" b="0"/>
            </a:stretch>
          </a:blipFill>
        </p:spPr>
      </p:sp>
      <p:sp>
        <p:nvSpPr>
          <p:cNvPr name="Freeform 12" id="12"/>
          <p:cNvSpPr/>
          <p:nvPr/>
        </p:nvSpPr>
        <p:spPr>
          <a:xfrm flipH="false" flipV="false" rot="0">
            <a:off x="1368819" y="6722412"/>
            <a:ext cx="1840765" cy="644039"/>
          </a:xfrm>
          <a:custGeom>
            <a:avLst/>
            <a:gdLst/>
            <a:ahLst/>
            <a:cxnLst/>
            <a:rect r="r" b="b" t="t" l="l"/>
            <a:pathLst>
              <a:path h="644039" w="1840765">
                <a:moveTo>
                  <a:pt x="0" y="0"/>
                </a:moveTo>
                <a:lnTo>
                  <a:pt x="1840765" y="0"/>
                </a:lnTo>
                <a:lnTo>
                  <a:pt x="1840765" y="644040"/>
                </a:lnTo>
                <a:lnTo>
                  <a:pt x="0" y="644040"/>
                </a:lnTo>
                <a:lnTo>
                  <a:pt x="0" y="0"/>
                </a:lnTo>
                <a:close/>
              </a:path>
            </a:pathLst>
          </a:custGeom>
          <a:blipFill>
            <a:blip r:embed="rId8"/>
            <a:stretch>
              <a:fillRect l="0" t="0" r="0" b="0"/>
            </a:stretch>
          </a:blipFill>
        </p:spPr>
      </p:sp>
      <p:sp>
        <p:nvSpPr>
          <p:cNvPr name="Freeform 13" id="13"/>
          <p:cNvSpPr/>
          <p:nvPr/>
        </p:nvSpPr>
        <p:spPr>
          <a:xfrm flipH="false" flipV="false" rot="0">
            <a:off x="1368819" y="9453909"/>
            <a:ext cx="1840765" cy="644039"/>
          </a:xfrm>
          <a:custGeom>
            <a:avLst/>
            <a:gdLst/>
            <a:ahLst/>
            <a:cxnLst/>
            <a:rect r="r" b="b" t="t" l="l"/>
            <a:pathLst>
              <a:path h="644039" w="1840765">
                <a:moveTo>
                  <a:pt x="0" y="0"/>
                </a:moveTo>
                <a:lnTo>
                  <a:pt x="1840765" y="0"/>
                </a:lnTo>
                <a:lnTo>
                  <a:pt x="1840765" y="644040"/>
                </a:lnTo>
                <a:lnTo>
                  <a:pt x="0" y="644040"/>
                </a:lnTo>
                <a:lnTo>
                  <a:pt x="0" y="0"/>
                </a:lnTo>
                <a:close/>
              </a:path>
            </a:pathLst>
          </a:custGeom>
          <a:blipFill>
            <a:blip r:embed="rId9"/>
            <a:stretch>
              <a:fillRect l="0" t="0" r="0" b="0"/>
            </a:stretch>
          </a:blipFill>
        </p:spPr>
      </p:sp>
      <p:sp>
        <p:nvSpPr>
          <p:cNvPr name="Freeform 14" id="14"/>
          <p:cNvSpPr/>
          <p:nvPr/>
        </p:nvSpPr>
        <p:spPr>
          <a:xfrm flipH="false" flipV="false" rot="0">
            <a:off x="1376232" y="4046463"/>
            <a:ext cx="1825938" cy="645165"/>
          </a:xfrm>
          <a:custGeom>
            <a:avLst/>
            <a:gdLst/>
            <a:ahLst/>
            <a:cxnLst/>
            <a:rect r="r" b="b" t="t" l="l"/>
            <a:pathLst>
              <a:path h="645165" w="1825938">
                <a:moveTo>
                  <a:pt x="0" y="0"/>
                </a:moveTo>
                <a:lnTo>
                  <a:pt x="1825938" y="0"/>
                </a:lnTo>
                <a:lnTo>
                  <a:pt x="1825938" y="645165"/>
                </a:lnTo>
                <a:lnTo>
                  <a:pt x="0" y="645165"/>
                </a:lnTo>
                <a:lnTo>
                  <a:pt x="0" y="0"/>
                </a:lnTo>
                <a:close/>
              </a:path>
            </a:pathLst>
          </a:custGeom>
          <a:blipFill>
            <a:blip r:embed="rId10"/>
            <a:stretch>
              <a:fillRect l="0" t="0" r="0" b="0"/>
            </a:stretch>
          </a:blipFill>
        </p:spPr>
      </p:sp>
      <p:sp>
        <p:nvSpPr>
          <p:cNvPr name="Freeform 15" id="15"/>
          <p:cNvSpPr/>
          <p:nvPr/>
        </p:nvSpPr>
        <p:spPr>
          <a:xfrm flipH="false" flipV="false" rot="0">
            <a:off x="7153351" y="4131206"/>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6" id="16"/>
          <p:cNvSpPr txBox="true"/>
          <p:nvPr/>
        </p:nvSpPr>
        <p:spPr>
          <a:xfrm rot="0">
            <a:off x="990327" y="580834"/>
            <a:ext cx="7792467" cy="971931"/>
          </a:xfrm>
          <a:prstGeom prst="rect">
            <a:avLst/>
          </a:prstGeom>
        </p:spPr>
        <p:txBody>
          <a:bodyPr anchor="t" rtlCol="false" tIns="0" lIns="0" bIns="0" rIns="0">
            <a:spAutoFit/>
          </a:bodyPr>
          <a:lstStyle/>
          <a:p>
            <a:pPr algn="l" marL="0" indent="0" lvl="0">
              <a:lnSpc>
                <a:spcPts val="5727"/>
              </a:lnSpc>
              <a:spcBef>
                <a:spcPct val="0"/>
              </a:spcBef>
            </a:pPr>
            <a:r>
              <a:rPr lang="en-US" b="true" sz="6900">
                <a:solidFill>
                  <a:srgbClr val="161616"/>
                </a:solidFill>
                <a:latin typeface="Heading Now 31-38 Bold"/>
                <a:ea typeface="Heading Now 31-38 Bold"/>
                <a:cs typeface="Heading Now 31-38 Bold"/>
                <a:sym typeface="Heading Now 31-38 Bold"/>
              </a:rPr>
              <a:t>II. CÁC DẠ</a:t>
            </a:r>
            <a:r>
              <a:rPr lang="en-US" b="true" sz="6900" strike="noStrike" u="none">
                <a:solidFill>
                  <a:srgbClr val="161616"/>
                </a:solidFill>
                <a:latin typeface="Heading Now 31-38 Bold"/>
                <a:ea typeface="Heading Now 31-38 Bold"/>
                <a:cs typeface="Heading Now 31-38 Bold"/>
                <a:sym typeface="Heading Now 31-38 Bold"/>
              </a:rPr>
              <a:t>NG GIẤY PHÉP CỦA OER</a:t>
            </a:r>
            <a:r>
              <a:rPr lang="en-US" b="true" sz="6900" strike="noStrike" u="none">
                <a:solidFill>
                  <a:srgbClr val="161616"/>
                </a:solidFill>
                <a:latin typeface="Heading Now 31-38 Bold"/>
                <a:ea typeface="Heading Now 31-38 Bold"/>
                <a:cs typeface="Heading Now 31-38 Bold"/>
                <a:sym typeface="Heading Now 31-38 Bold"/>
              </a:rPr>
              <a:t> </a:t>
            </a:r>
          </a:p>
        </p:txBody>
      </p:sp>
      <p:sp>
        <p:nvSpPr>
          <p:cNvPr name="TextBox 17" id="17"/>
          <p:cNvSpPr txBox="true"/>
          <p:nvPr/>
        </p:nvSpPr>
        <p:spPr>
          <a:xfrm rot="0">
            <a:off x="1072060" y="1725698"/>
            <a:ext cx="7343569" cy="448310"/>
          </a:xfrm>
          <a:prstGeom prst="rect">
            <a:avLst/>
          </a:prstGeom>
        </p:spPr>
        <p:txBody>
          <a:bodyPr anchor="t" rtlCol="false" tIns="0" lIns="0" bIns="0" rIns="0">
            <a:spAutoFit/>
          </a:bodyPr>
          <a:lstStyle/>
          <a:p>
            <a:pPr algn="l">
              <a:lnSpc>
                <a:spcPts val="3639"/>
              </a:lnSpc>
            </a:pPr>
            <a:r>
              <a:rPr lang="en-US" b="true" sz="2599" spc="-77">
                <a:solidFill>
                  <a:srgbClr val="161616"/>
                </a:solidFill>
                <a:latin typeface="Inter Bold"/>
                <a:ea typeface="Inter Bold"/>
                <a:cs typeface="Inter Bold"/>
                <a:sym typeface="Inter Bold"/>
              </a:rPr>
              <a:t>2.  CÁC GIẤ</a:t>
            </a:r>
            <a:r>
              <a:rPr lang="en-US" b="true" sz="2599" spc="-77">
                <a:solidFill>
                  <a:srgbClr val="161616"/>
                </a:solidFill>
                <a:latin typeface="Inter Bold"/>
                <a:ea typeface="Inter Bold"/>
                <a:cs typeface="Inter Bold"/>
                <a:sym typeface="Inter Bold"/>
              </a:rPr>
              <a:t>Y PHÉP CREATIVE COMMONS</a:t>
            </a:r>
          </a:p>
        </p:txBody>
      </p:sp>
      <p:sp>
        <p:nvSpPr>
          <p:cNvPr name="TextBox 18" id="18"/>
          <p:cNvSpPr txBox="true"/>
          <p:nvPr/>
        </p:nvSpPr>
        <p:spPr>
          <a:xfrm rot="0">
            <a:off x="1486806" y="2574058"/>
            <a:ext cx="8692898" cy="372745"/>
          </a:xfrm>
          <a:prstGeom prst="rect">
            <a:avLst/>
          </a:prstGeom>
        </p:spPr>
        <p:txBody>
          <a:bodyPr anchor="t" rtlCol="false" tIns="0" lIns="0" bIns="0" rIns="0">
            <a:spAutoFit/>
          </a:bodyPr>
          <a:lstStyle/>
          <a:p>
            <a:pPr algn="just">
              <a:lnSpc>
                <a:spcPts val="3080"/>
              </a:lnSpc>
              <a:spcBef>
                <a:spcPct val="0"/>
              </a:spcBef>
            </a:pPr>
            <a:r>
              <a:rPr lang="en-US" b="true" sz="2200" spc="-66">
                <a:solidFill>
                  <a:srgbClr val="161616"/>
                </a:solidFill>
                <a:latin typeface="Inter Bold"/>
                <a:ea typeface="Inter Bold"/>
                <a:cs typeface="Inter Bold"/>
                <a:sym typeface="Inter Bold"/>
              </a:rPr>
              <a:t>Các loại giấy phép sử dụng thường xuyên</a:t>
            </a:r>
          </a:p>
        </p:txBody>
      </p:sp>
      <p:sp>
        <p:nvSpPr>
          <p:cNvPr name="TextBox 19" id="19"/>
          <p:cNvSpPr txBox="true"/>
          <p:nvPr/>
        </p:nvSpPr>
        <p:spPr>
          <a:xfrm rot="0">
            <a:off x="8825203" y="3085811"/>
            <a:ext cx="1696294" cy="824865"/>
          </a:xfrm>
          <a:prstGeom prst="rect">
            <a:avLst/>
          </a:prstGeom>
        </p:spPr>
        <p:txBody>
          <a:bodyPr anchor="t" rtlCol="false" tIns="0" lIns="0" bIns="0" rIns="0">
            <a:spAutoFit/>
          </a:bodyPr>
          <a:lstStyle/>
          <a:p>
            <a:pPr algn="l">
              <a:lnSpc>
                <a:spcPts val="3359"/>
              </a:lnSpc>
              <a:spcBef>
                <a:spcPct val="0"/>
              </a:spcBef>
            </a:pPr>
            <a:r>
              <a:rPr lang="en-US" b="true" sz="2400" spc="-72">
                <a:solidFill>
                  <a:srgbClr val="161616"/>
                </a:solidFill>
                <a:latin typeface="Inter Bold"/>
                <a:ea typeface="Inter Bold"/>
                <a:cs typeface="Inter Bold"/>
                <a:sym typeface="Inter Bold"/>
              </a:rPr>
              <a:t>Yêu cầu ghi công TG</a:t>
            </a:r>
          </a:p>
        </p:txBody>
      </p:sp>
      <p:sp>
        <p:nvSpPr>
          <p:cNvPr name="TextBox 20" id="20"/>
          <p:cNvSpPr txBox="true"/>
          <p:nvPr/>
        </p:nvSpPr>
        <p:spPr>
          <a:xfrm rot="0">
            <a:off x="6833881" y="3085811"/>
            <a:ext cx="1581747" cy="824865"/>
          </a:xfrm>
          <a:prstGeom prst="rect">
            <a:avLst/>
          </a:prstGeom>
        </p:spPr>
        <p:txBody>
          <a:bodyPr anchor="t" rtlCol="false" tIns="0" lIns="0" bIns="0" rIns="0">
            <a:spAutoFit/>
          </a:bodyPr>
          <a:lstStyle/>
          <a:p>
            <a:pPr algn="l">
              <a:lnSpc>
                <a:spcPts val="3359"/>
              </a:lnSpc>
              <a:spcBef>
                <a:spcPct val="0"/>
              </a:spcBef>
            </a:pPr>
            <a:r>
              <a:rPr lang="en-US" b="true" sz="2400" spc="-72">
                <a:solidFill>
                  <a:srgbClr val="161616"/>
                </a:solidFill>
                <a:latin typeface="Inter Bold"/>
                <a:ea typeface="Inter Bold"/>
                <a:cs typeface="Inter Bold"/>
                <a:sym typeface="Inter Bold"/>
              </a:rPr>
              <a:t>Sao chép &amp; Xuất bản</a:t>
            </a:r>
          </a:p>
        </p:txBody>
      </p:sp>
      <p:sp>
        <p:nvSpPr>
          <p:cNvPr name="TextBox 21" id="21"/>
          <p:cNvSpPr txBox="true"/>
          <p:nvPr/>
        </p:nvSpPr>
        <p:spPr>
          <a:xfrm rot="0">
            <a:off x="10931072" y="3085811"/>
            <a:ext cx="1622311" cy="824865"/>
          </a:xfrm>
          <a:prstGeom prst="rect">
            <a:avLst/>
          </a:prstGeom>
        </p:spPr>
        <p:txBody>
          <a:bodyPr anchor="t" rtlCol="false" tIns="0" lIns="0" bIns="0" rIns="0">
            <a:spAutoFit/>
          </a:bodyPr>
          <a:lstStyle/>
          <a:p>
            <a:pPr algn="l">
              <a:lnSpc>
                <a:spcPts val="3359"/>
              </a:lnSpc>
              <a:spcBef>
                <a:spcPct val="0"/>
              </a:spcBef>
            </a:pPr>
            <a:r>
              <a:rPr lang="en-US" b="true" sz="2400" spc="-72">
                <a:solidFill>
                  <a:srgbClr val="161616"/>
                </a:solidFill>
                <a:latin typeface="Inter Bold"/>
                <a:ea typeface="Inter Bold"/>
                <a:cs typeface="Inter Bold"/>
                <a:sym typeface="Inter Bold"/>
              </a:rPr>
              <a:t>Sử dụng thương mại</a:t>
            </a:r>
          </a:p>
        </p:txBody>
      </p:sp>
      <p:sp>
        <p:nvSpPr>
          <p:cNvPr name="TextBox 22" id="22"/>
          <p:cNvSpPr txBox="true"/>
          <p:nvPr/>
        </p:nvSpPr>
        <p:spPr>
          <a:xfrm rot="0">
            <a:off x="12962958" y="3170102"/>
            <a:ext cx="1178516" cy="405765"/>
          </a:xfrm>
          <a:prstGeom prst="rect">
            <a:avLst/>
          </a:prstGeom>
        </p:spPr>
        <p:txBody>
          <a:bodyPr anchor="t" rtlCol="false" tIns="0" lIns="0" bIns="0" rIns="0">
            <a:spAutoFit/>
          </a:bodyPr>
          <a:lstStyle/>
          <a:p>
            <a:pPr algn="l">
              <a:lnSpc>
                <a:spcPts val="3359"/>
              </a:lnSpc>
              <a:spcBef>
                <a:spcPct val="0"/>
              </a:spcBef>
            </a:pPr>
            <a:r>
              <a:rPr lang="en-US" b="true" sz="2400" spc="-72">
                <a:solidFill>
                  <a:srgbClr val="161616"/>
                </a:solidFill>
                <a:latin typeface="Inter Bold"/>
                <a:ea typeface="Inter Bold"/>
                <a:cs typeface="Inter Bold"/>
                <a:sym typeface="Inter Bold"/>
              </a:rPr>
              <a:t>Sửa đổi</a:t>
            </a:r>
          </a:p>
        </p:txBody>
      </p:sp>
      <p:sp>
        <p:nvSpPr>
          <p:cNvPr name="TextBox 23" id="23"/>
          <p:cNvSpPr txBox="true"/>
          <p:nvPr/>
        </p:nvSpPr>
        <p:spPr>
          <a:xfrm rot="0">
            <a:off x="14551049" y="3139622"/>
            <a:ext cx="1480249" cy="824865"/>
          </a:xfrm>
          <a:prstGeom prst="rect">
            <a:avLst/>
          </a:prstGeom>
        </p:spPr>
        <p:txBody>
          <a:bodyPr anchor="t" rtlCol="false" tIns="0" lIns="0" bIns="0" rIns="0">
            <a:spAutoFit/>
          </a:bodyPr>
          <a:lstStyle/>
          <a:p>
            <a:pPr algn="l">
              <a:lnSpc>
                <a:spcPts val="3359"/>
              </a:lnSpc>
              <a:spcBef>
                <a:spcPct val="0"/>
              </a:spcBef>
            </a:pPr>
            <a:r>
              <a:rPr lang="en-US" b="true" sz="2400" spc="-72">
                <a:solidFill>
                  <a:srgbClr val="161616"/>
                </a:solidFill>
                <a:latin typeface="Inter Bold"/>
                <a:ea typeface="Inter Bold"/>
                <a:cs typeface="Inter Bold"/>
                <a:sym typeface="Inter Bold"/>
              </a:rPr>
              <a:t>Thay đổi giấy phép</a:t>
            </a:r>
          </a:p>
        </p:txBody>
      </p:sp>
      <p:sp>
        <p:nvSpPr>
          <p:cNvPr name="TextBox 24" id="24"/>
          <p:cNvSpPr txBox="true"/>
          <p:nvPr/>
        </p:nvSpPr>
        <p:spPr>
          <a:xfrm rot="0">
            <a:off x="3642670" y="5007435"/>
            <a:ext cx="2823599" cy="311277"/>
          </a:xfrm>
          <a:prstGeom prst="rect">
            <a:avLst/>
          </a:prstGeom>
        </p:spPr>
        <p:txBody>
          <a:bodyPr anchor="t" rtlCol="false" tIns="0" lIns="0" bIns="0" rIns="0">
            <a:spAutoFit/>
          </a:bodyPr>
          <a:lstStyle/>
          <a:p>
            <a:pPr algn="just">
              <a:lnSpc>
                <a:spcPts val="2304"/>
              </a:lnSpc>
            </a:pPr>
            <a:r>
              <a:rPr lang="en-US" b="true" sz="2400" spc="-72">
                <a:solidFill>
                  <a:srgbClr val="161616"/>
                </a:solidFill>
                <a:latin typeface="Inter Bold"/>
                <a:ea typeface="Inter Bold"/>
                <a:cs typeface="Inter Bold"/>
                <a:sym typeface="Inter Bold"/>
              </a:rPr>
              <a:t>(CC BY)</a:t>
            </a:r>
          </a:p>
        </p:txBody>
      </p:sp>
      <p:sp>
        <p:nvSpPr>
          <p:cNvPr name="TextBox 25" id="25"/>
          <p:cNvSpPr txBox="true"/>
          <p:nvPr/>
        </p:nvSpPr>
        <p:spPr>
          <a:xfrm rot="0">
            <a:off x="3636883" y="6002107"/>
            <a:ext cx="2463098" cy="311277"/>
          </a:xfrm>
          <a:prstGeom prst="rect">
            <a:avLst/>
          </a:prstGeom>
        </p:spPr>
        <p:txBody>
          <a:bodyPr anchor="t" rtlCol="false" tIns="0" lIns="0" bIns="0" rIns="0">
            <a:spAutoFit/>
          </a:bodyPr>
          <a:lstStyle/>
          <a:p>
            <a:pPr algn="just">
              <a:lnSpc>
                <a:spcPts val="2304"/>
              </a:lnSpc>
            </a:pPr>
            <a:r>
              <a:rPr lang="en-US" b="true" sz="2400" spc="-72">
                <a:solidFill>
                  <a:srgbClr val="161616"/>
                </a:solidFill>
                <a:latin typeface="Inter Bold"/>
                <a:ea typeface="Inter Bold"/>
                <a:cs typeface="Inter Bold"/>
                <a:sym typeface="Inter Bold"/>
              </a:rPr>
              <a:t>(CC BY-SA)</a:t>
            </a:r>
          </a:p>
        </p:txBody>
      </p:sp>
      <p:sp>
        <p:nvSpPr>
          <p:cNvPr name="TextBox 26" id="26"/>
          <p:cNvSpPr txBox="true"/>
          <p:nvPr/>
        </p:nvSpPr>
        <p:spPr>
          <a:xfrm rot="0">
            <a:off x="3667125" y="6912606"/>
            <a:ext cx="1862722" cy="311277"/>
          </a:xfrm>
          <a:prstGeom prst="rect">
            <a:avLst/>
          </a:prstGeom>
        </p:spPr>
        <p:txBody>
          <a:bodyPr anchor="t" rtlCol="false" tIns="0" lIns="0" bIns="0" rIns="0">
            <a:spAutoFit/>
          </a:bodyPr>
          <a:lstStyle/>
          <a:p>
            <a:pPr algn="just">
              <a:lnSpc>
                <a:spcPts val="2304"/>
              </a:lnSpc>
            </a:pPr>
            <a:r>
              <a:rPr lang="en-US" b="true" sz="2400" spc="-72">
                <a:solidFill>
                  <a:srgbClr val="161616"/>
                </a:solidFill>
                <a:latin typeface="Inter Bold"/>
                <a:ea typeface="Inter Bold"/>
                <a:cs typeface="Inter Bold"/>
                <a:sym typeface="Inter Bold"/>
              </a:rPr>
              <a:t>(CC BY-ND)</a:t>
            </a:r>
          </a:p>
        </p:txBody>
      </p:sp>
      <p:sp>
        <p:nvSpPr>
          <p:cNvPr name="TextBox 27" id="27"/>
          <p:cNvSpPr txBox="true"/>
          <p:nvPr/>
        </p:nvSpPr>
        <p:spPr>
          <a:xfrm rot="0">
            <a:off x="3636883" y="7823105"/>
            <a:ext cx="1911932" cy="311277"/>
          </a:xfrm>
          <a:prstGeom prst="rect">
            <a:avLst/>
          </a:prstGeom>
        </p:spPr>
        <p:txBody>
          <a:bodyPr anchor="t" rtlCol="false" tIns="0" lIns="0" bIns="0" rIns="0">
            <a:spAutoFit/>
          </a:bodyPr>
          <a:lstStyle/>
          <a:p>
            <a:pPr algn="just">
              <a:lnSpc>
                <a:spcPts val="2304"/>
              </a:lnSpc>
            </a:pPr>
            <a:r>
              <a:rPr lang="en-US" b="true" sz="2400" spc="-72">
                <a:solidFill>
                  <a:srgbClr val="161616"/>
                </a:solidFill>
                <a:latin typeface="Inter Bold"/>
                <a:ea typeface="Inter Bold"/>
                <a:cs typeface="Inter Bold"/>
                <a:sym typeface="Inter Bold"/>
              </a:rPr>
              <a:t>(CC BY-NC)</a:t>
            </a:r>
          </a:p>
        </p:txBody>
      </p:sp>
      <p:sp>
        <p:nvSpPr>
          <p:cNvPr name="TextBox 28" id="28"/>
          <p:cNvSpPr txBox="true"/>
          <p:nvPr/>
        </p:nvSpPr>
        <p:spPr>
          <a:xfrm rot="0">
            <a:off x="3667353" y="8733604"/>
            <a:ext cx="2438415" cy="311277"/>
          </a:xfrm>
          <a:prstGeom prst="rect">
            <a:avLst/>
          </a:prstGeom>
        </p:spPr>
        <p:txBody>
          <a:bodyPr anchor="t" rtlCol="false" tIns="0" lIns="0" bIns="0" rIns="0">
            <a:spAutoFit/>
          </a:bodyPr>
          <a:lstStyle/>
          <a:p>
            <a:pPr algn="just">
              <a:lnSpc>
                <a:spcPts val="2304"/>
              </a:lnSpc>
            </a:pPr>
            <a:r>
              <a:rPr lang="en-US" b="true" sz="2400" spc="-72">
                <a:solidFill>
                  <a:srgbClr val="161616"/>
                </a:solidFill>
                <a:latin typeface="Inter Bold"/>
                <a:ea typeface="Inter Bold"/>
                <a:cs typeface="Inter Bold"/>
                <a:sym typeface="Inter Bold"/>
              </a:rPr>
              <a:t>(CC BY-NC-SA)</a:t>
            </a:r>
          </a:p>
        </p:txBody>
      </p:sp>
      <p:sp>
        <p:nvSpPr>
          <p:cNvPr name="TextBox 29" id="29"/>
          <p:cNvSpPr txBox="true"/>
          <p:nvPr/>
        </p:nvSpPr>
        <p:spPr>
          <a:xfrm rot="0">
            <a:off x="3667353" y="9644103"/>
            <a:ext cx="2798916" cy="311277"/>
          </a:xfrm>
          <a:prstGeom prst="rect">
            <a:avLst/>
          </a:prstGeom>
        </p:spPr>
        <p:txBody>
          <a:bodyPr anchor="t" rtlCol="false" tIns="0" lIns="0" bIns="0" rIns="0">
            <a:spAutoFit/>
          </a:bodyPr>
          <a:lstStyle/>
          <a:p>
            <a:pPr algn="just">
              <a:lnSpc>
                <a:spcPts val="2304"/>
              </a:lnSpc>
            </a:pPr>
            <a:r>
              <a:rPr lang="en-US" b="true" sz="2400" spc="-72">
                <a:solidFill>
                  <a:srgbClr val="161616"/>
                </a:solidFill>
                <a:latin typeface="Inter Bold"/>
                <a:ea typeface="Inter Bold"/>
                <a:cs typeface="Inter Bold"/>
                <a:sym typeface="Inter Bold"/>
              </a:rPr>
              <a:t>(CC BY-NC-ND)</a:t>
            </a:r>
          </a:p>
        </p:txBody>
      </p:sp>
      <p:sp>
        <p:nvSpPr>
          <p:cNvPr name="TextBox 30" id="30"/>
          <p:cNvSpPr txBox="true"/>
          <p:nvPr/>
        </p:nvSpPr>
        <p:spPr>
          <a:xfrm rot="0">
            <a:off x="1486806" y="3234872"/>
            <a:ext cx="1658726" cy="311277"/>
          </a:xfrm>
          <a:prstGeom prst="rect">
            <a:avLst/>
          </a:prstGeom>
        </p:spPr>
        <p:txBody>
          <a:bodyPr anchor="t" rtlCol="false" tIns="0" lIns="0" bIns="0" rIns="0">
            <a:spAutoFit/>
          </a:bodyPr>
          <a:lstStyle/>
          <a:p>
            <a:pPr algn="just">
              <a:lnSpc>
                <a:spcPts val="2304"/>
              </a:lnSpc>
            </a:pPr>
            <a:r>
              <a:rPr lang="en-US" b="true" sz="2400" spc="-72">
                <a:solidFill>
                  <a:srgbClr val="161616"/>
                </a:solidFill>
                <a:latin typeface="Inter Bold"/>
                <a:ea typeface="Inter Bold"/>
                <a:cs typeface="Inter Bold"/>
                <a:sym typeface="Inter Bold"/>
              </a:rPr>
              <a:t>Biểu tượng </a:t>
            </a:r>
          </a:p>
        </p:txBody>
      </p:sp>
      <p:sp>
        <p:nvSpPr>
          <p:cNvPr name="TextBox 31" id="31"/>
          <p:cNvSpPr txBox="true"/>
          <p:nvPr/>
        </p:nvSpPr>
        <p:spPr>
          <a:xfrm rot="0">
            <a:off x="3917057" y="3234872"/>
            <a:ext cx="1658726" cy="311277"/>
          </a:xfrm>
          <a:prstGeom prst="rect">
            <a:avLst/>
          </a:prstGeom>
        </p:spPr>
        <p:txBody>
          <a:bodyPr anchor="t" rtlCol="false" tIns="0" lIns="0" bIns="0" rIns="0">
            <a:spAutoFit/>
          </a:bodyPr>
          <a:lstStyle/>
          <a:p>
            <a:pPr algn="just">
              <a:lnSpc>
                <a:spcPts val="2304"/>
              </a:lnSpc>
            </a:pPr>
            <a:r>
              <a:rPr lang="en-US" b="true" sz="2400" spc="-72">
                <a:solidFill>
                  <a:srgbClr val="161616"/>
                </a:solidFill>
                <a:latin typeface="Inter Bold"/>
                <a:ea typeface="Inter Bold"/>
                <a:cs typeface="Inter Bold"/>
                <a:sym typeface="Inter Bold"/>
              </a:rPr>
              <a:t>Giấy phép</a:t>
            </a:r>
          </a:p>
        </p:txBody>
      </p:sp>
      <p:sp>
        <p:nvSpPr>
          <p:cNvPr name="Freeform 32" id="32"/>
          <p:cNvSpPr/>
          <p:nvPr/>
        </p:nvSpPr>
        <p:spPr>
          <a:xfrm flipH="false" flipV="false" rot="0">
            <a:off x="7153351" y="4981383"/>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3" id="33"/>
          <p:cNvSpPr/>
          <p:nvPr/>
        </p:nvSpPr>
        <p:spPr>
          <a:xfrm flipH="false" flipV="false" rot="0">
            <a:off x="7153351" y="5896094"/>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4" id="34"/>
          <p:cNvSpPr/>
          <p:nvPr/>
        </p:nvSpPr>
        <p:spPr>
          <a:xfrm flipH="false" flipV="false" rot="0">
            <a:off x="7153351" y="6806593"/>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5" id="35"/>
          <p:cNvSpPr/>
          <p:nvPr/>
        </p:nvSpPr>
        <p:spPr>
          <a:xfrm flipH="false" flipV="false" rot="0">
            <a:off x="7153351" y="7717092"/>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6" id="36"/>
          <p:cNvSpPr/>
          <p:nvPr/>
        </p:nvSpPr>
        <p:spPr>
          <a:xfrm flipH="false" flipV="false" rot="0">
            <a:off x="7153351" y="8627591"/>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7" id="37"/>
          <p:cNvSpPr/>
          <p:nvPr/>
        </p:nvSpPr>
        <p:spPr>
          <a:xfrm flipH="false" flipV="false" rot="0">
            <a:off x="7153351" y="9538090"/>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8" id="38"/>
          <p:cNvSpPr/>
          <p:nvPr/>
        </p:nvSpPr>
        <p:spPr>
          <a:xfrm flipH="false" flipV="false" rot="0">
            <a:off x="9265185" y="4959810"/>
            <a:ext cx="478403" cy="475678"/>
          </a:xfrm>
          <a:custGeom>
            <a:avLst/>
            <a:gdLst/>
            <a:ahLst/>
            <a:cxnLst/>
            <a:rect r="r" b="b" t="t" l="l"/>
            <a:pathLst>
              <a:path h="475678" w="478403">
                <a:moveTo>
                  <a:pt x="0" y="0"/>
                </a:moveTo>
                <a:lnTo>
                  <a:pt x="478402" y="0"/>
                </a:lnTo>
                <a:lnTo>
                  <a:pt x="478402" y="475678"/>
                </a:lnTo>
                <a:lnTo>
                  <a:pt x="0" y="47567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9" id="39"/>
          <p:cNvSpPr/>
          <p:nvPr/>
        </p:nvSpPr>
        <p:spPr>
          <a:xfrm flipH="false" flipV="false" rot="0">
            <a:off x="9265185" y="5896094"/>
            <a:ext cx="478403" cy="475678"/>
          </a:xfrm>
          <a:custGeom>
            <a:avLst/>
            <a:gdLst/>
            <a:ahLst/>
            <a:cxnLst/>
            <a:rect r="r" b="b" t="t" l="l"/>
            <a:pathLst>
              <a:path h="475678" w="478403">
                <a:moveTo>
                  <a:pt x="0" y="0"/>
                </a:moveTo>
                <a:lnTo>
                  <a:pt x="478402" y="0"/>
                </a:lnTo>
                <a:lnTo>
                  <a:pt x="478402" y="475678"/>
                </a:lnTo>
                <a:lnTo>
                  <a:pt x="0" y="47567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0" id="40"/>
          <p:cNvSpPr/>
          <p:nvPr/>
        </p:nvSpPr>
        <p:spPr>
          <a:xfrm flipH="false" flipV="false" rot="0">
            <a:off x="9265185" y="6748204"/>
            <a:ext cx="478403" cy="475678"/>
          </a:xfrm>
          <a:custGeom>
            <a:avLst/>
            <a:gdLst/>
            <a:ahLst/>
            <a:cxnLst/>
            <a:rect r="r" b="b" t="t" l="l"/>
            <a:pathLst>
              <a:path h="475678" w="478403">
                <a:moveTo>
                  <a:pt x="0" y="0"/>
                </a:moveTo>
                <a:lnTo>
                  <a:pt x="478402" y="0"/>
                </a:lnTo>
                <a:lnTo>
                  <a:pt x="478402" y="475679"/>
                </a:lnTo>
                <a:lnTo>
                  <a:pt x="0" y="4756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1" id="41"/>
          <p:cNvSpPr/>
          <p:nvPr/>
        </p:nvSpPr>
        <p:spPr>
          <a:xfrm flipH="false" flipV="false" rot="0">
            <a:off x="9265185" y="7737927"/>
            <a:ext cx="478403" cy="475678"/>
          </a:xfrm>
          <a:custGeom>
            <a:avLst/>
            <a:gdLst/>
            <a:ahLst/>
            <a:cxnLst/>
            <a:rect r="r" b="b" t="t" l="l"/>
            <a:pathLst>
              <a:path h="475678" w="478403">
                <a:moveTo>
                  <a:pt x="0" y="0"/>
                </a:moveTo>
                <a:lnTo>
                  <a:pt x="478402" y="0"/>
                </a:lnTo>
                <a:lnTo>
                  <a:pt x="478402" y="475678"/>
                </a:lnTo>
                <a:lnTo>
                  <a:pt x="0" y="47567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2" id="42"/>
          <p:cNvSpPr/>
          <p:nvPr/>
        </p:nvSpPr>
        <p:spPr>
          <a:xfrm flipH="false" flipV="false" rot="0">
            <a:off x="9265185" y="8627591"/>
            <a:ext cx="478403" cy="475678"/>
          </a:xfrm>
          <a:custGeom>
            <a:avLst/>
            <a:gdLst/>
            <a:ahLst/>
            <a:cxnLst/>
            <a:rect r="r" b="b" t="t" l="l"/>
            <a:pathLst>
              <a:path h="475678" w="478403">
                <a:moveTo>
                  <a:pt x="0" y="0"/>
                </a:moveTo>
                <a:lnTo>
                  <a:pt x="478402" y="0"/>
                </a:lnTo>
                <a:lnTo>
                  <a:pt x="478402" y="475678"/>
                </a:lnTo>
                <a:lnTo>
                  <a:pt x="0" y="47567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3" id="43"/>
          <p:cNvSpPr/>
          <p:nvPr/>
        </p:nvSpPr>
        <p:spPr>
          <a:xfrm flipH="false" flipV="false" rot="0">
            <a:off x="9265185" y="9558925"/>
            <a:ext cx="478403" cy="475678"/>
          </a:xfrm>
          <a:custGeom>
            <a:avLst/>
            <a:gdLst/>
            <a:ahLst/>
            <a:cxnLst/>
            <a:rect r="r" b="b" t="t" l="l"/>
            <a:pathLst>
              <a:path h="475678" w="478403">
                <a:moveTo>
                  <a:pt x="0" y="0"/>
                </a:moveTo>
                <a:lnTo>
                  <a:pt x="478402" y="0"/>
                </a:lnTo>
                <a:lnTo>
                  <a:pt x="478402" y="475678"/>
                </a:lnTo>
                <a:lnTo>
                  <a:pt x="0" y="47567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4" id="44"/>
          <p:cNvSpPr/>
          <p:nvPr/>
        </p:nvSpPr>
        <p:spPr>
          <a:xfrm flipH="false" flipV="false" rot="0">
            <a:off x="11405622" y="4131206"/>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5" id="45"/>
          <p:cNvSpPr/>
          <p:nvPr/>
        </p:nvSpPr>
        <p:spPr>
          <a:xfrm flipH="false" flipV="false" rot="0">
            <a:off x="11426379" y="4941818"/>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6" id="46"/>
          <p:cNvSpPr/>
          <p:nvPr/>
        </p:nvSpPr>
        <p:spPr>
          <a:xfrm flipH="false" flipV="false" rot="0">
            <a:off x="11405622" y="5837705"/>
            <a:ext cx="478403" cy="475678"/>
          </a:xfrm>
          <a:custGeom>
            <a:avLst/>
            <a:gdLst/>
            <a:ahLst/>
            <a:cxnLst/>
            <a:rect r="r" b="b" t="t" l="l"/>
            <a:pathLst>
              <a:path h="475678" w="478403">
                <a:moveTo>
                  <a:pt x="0" y="0"/>
                </a:moveTo>
                <a:lnTo>
                  <a:pt x="478403" y="0"/>
                </a:lnTo>
                <a:lnTo>
                  <a:pt x="478403" y="475679"/>
                </a:lnTo>
                <a:lnTo>
                  <a:pt x="0" y="4756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7" id="47"/>
          <p:cNvSpPr/>
          <p:nvPr/>
        </p:nvSpPr>
        <p:spPr>
          <a:xfrm flipH="false" flipV="false" rot="0">
            <a:off x="11405622" y="6748204"/>
            <a:ext cx="478403" cy="475678"/>
          </a:xfrm>
          <a:custGeom>
            <a:avLst/>
            <a:gdLst/>
            <a:ahLst/>
            <a:cxnLst/>
            <a:rect r="r" b="b" t="t" l="l"/>
            <a:pathLst>
              <a:path h="475678" w="478403">
                <a:moveTo>
                  <a:pt x="0" y="0"/>
                </a:moveTo>
                <a:lnTo>
                  <a:pt x="478403" y="0"/>
                </a:lnTo>
                <a:lnTo>
                  <a:pt x="478403" y="475679"/>
                </a:lnTo>
                <a:lnTo>
                  <a:pt x="0" y="4756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8" id="48"/>
          <p:cNvSpPr/>
          <p:nvPr/>
        </p:nvSpPr>
        <p:spPr>
          <a:xfrm flipH="false" flipV="false" rot="0">
            <a:off x="13311518" y="4131206"/>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49" id="49"/>
          <p:cNvSpPr/>
          <p:nvPr/>
        </p:nvSpPr>
        <p:spPr>
          <a:xfrm flipH="false" flipV="false" rot="0">
            <a:off x="13311518" y="4981383"/>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0" id="50"/>
          <p:cNvSpPr/>
          <p:nvPr/>
        </p:nvSpPr>
        <p:spPr>
          <a:xfrm flipH="false" flipV="false" rot="0">
            <a:off x="13311518" y="5896094"/>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1" id="51"/>
          <p:cNvSpPr/>
          <p:nvPr/>
        </p:nvSpPr>
        <p:spPr>
          <a:xfrm flipH="false" flipV="false" rot="0">
            <a:off x="13311518" y="7717092"/>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2" id="52"/>
          <p:cNvSpPr/>
          <p:nvPr/>
        </p:nvSpPr>
        <p:spPr>
          <a:xfrm flipH="false" flipV="false" rot="0">
            <a:off x="13311518" y="8627591"/>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3" id="53"/>
          <p:cNvSpPr/>
          <p:nvPr/>
        </p:nvSpPr>
        <p:spPr>
          <a:xfrm flipH="false" flipV="false" rot="0">
            <a:off x="14977647" y="4131206"/>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54" id="54"/>
          <p:cNvSpPr/>
          <p:nvPr/>
        </p:nvSpPr>
        <p:spPr>
          <a:xfrm flipH="false" flipV="false" rot="0">
            <a:off x="14977647" y="4981383"/>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55" id="55"/>
          <p:cNvSpPr/>
          <p:nvPr/>
        </p:nvSpPr>
        <p:spPr>
          <a:xfrm flipH="false" flipV="false" rot="0">
            <a:off x="14977647" y="6806593"/>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56" id="56"/>
          <p:cNvSpPr/>
          <p:nvPr/>
        </p:nvSpPr>
        <p:spPr>
          <a:xfrm flipH="false" flipV="false" rot="0">
            <a:off x="14977647" y="7717092"/>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57" id="57"/>
          <p:cNvSpPr/>
          <p:nvPr/>
        </p:nvSpPr>
        <p:spPr>
          <a:xfrm flipH="false" flipV="false" rot="0">
            <a:off x="14977647" y="9538090"/>
            <a:ext cx="478403" cy="475678"/>
          </a:xfrm>
          <a:custGeom>
            <a:avLst/>
            <a:gdLst/>
            <a:ahLst/>
            <a:cxnLst/>
            <a:rect r="r" b="b" t="t" l="l"/>
            <a:pathLst>
              <a:path h="475678" w="478403">
                <a:moveTo>
                  <a:pt x="0" y="0"/>
                </a:moveTo>
                <a:lnTo>
                  <a:pt x="478403" y="0"/>
                </a:lnTo>
                <a:lnTo>
                  <a:pt x="478403" y="475678"/>
                </a:lnTo>
                <a:lnTo>
                  <a:pt x="0" y="47567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AutoShape 58" id="58"/>
          <p:cNvSpPr/>
          <p:nvPr/>
        </p:nvSpPr>
        <p:spPr>
          <a:xfrm>
            <a:off x="1368819" y="4794415"/>
            <a:ext cx="14840646" cy="0"/>
          </a:xfrm>
          <a:prstGeom prst="line">
            <a:avLst/>
          </a:prstGeom>
          <a:ln cap="flat" w="38100">
            <a:solidFill>
              <a:srgbClr val="545454"/>
            </a:solidFill>
            <a:prstDash val="lgDash"/>
            <a:headEnd type="none" len="sm" w="sm"/>
            <a:tailEnd type="none" len="sm" w="sm"/>
          </a:ln>
        </p:spPr>
      </p:sp>
      <p:sp>
        <p:nvSpPr>
          <p:cNvPr name="AutoShape 59" id="59"/>
          <p:cNvSpPr/>
          <p:nvPr/>
        </p:nvSpPr>
        <p:spPr>
          <a:xfrm>
            <a:off x="1376232" y="5676577"/>
            <a:ext cx="14840646" cy="0"/>
          </a:xfrm>
          <a:prstGeom prst="line">
            <a:avLst/>
          </a:prstGeom>
          <a:ln cap="flat" w="38100">
            <a:solidFill>
              <a:srgbClr val="545454"/>
            </a:solidFill>
            <a:prstDash val="lgDash"/>
            <a:headEnd type="none" len="sm" w="sm"/>
            <a:tailEnd type="none" len="sm" w="sm"/>
          </a:ln>
        </p:spPr>
      </p:sp>
      <p:sp>
        <p:nvSpPr>
          <p:cNvPr name="AutoShape 60" id="60"/>
          <p:cNvSpPr/>
          <p:nvPr/>
        </p:nvSpPr>
        <p:spPr>
          <a:xfrm>
            <a:off x="1368819" y="6589302"/>
            <a:ext cx="14840646" cy="0"/>
          </a:xfrm>
          <a:prstGeom prst="line">
            <a:avLst/>
          </a:prstGeom>
          <a:ln cap="flat" w="38100">
            <a:solidFill>
              <a:srgbClr val="545454"/>
            </a:solidFill>
            <a:prstDash val="lgDash"/>
            <a:headEnd type="none" len="sm" w="sm"/>
            <a:tailEnd type="none" len="sm" w="sm"/>
          </a:ln>
        </p:spPr>
      </p:sp>
      <p:sp>
        <p:nvSpPr>
          <p:cNvPr name="AutoShape 61" id="61"/>
          <p:cNvSpPr/>
          <p:nvPr/>
        </p:nvSpPr>
        <p:spPr>
          <a:xfrm>
            <a:off x="1376232" y="7499802"/>
            <a:ext cx="14840646" cy="0"/>
          </a:xfrm>
          <a:prstGeom prst="line">
            <a:avLst/>
          </a:prstGeom>
          <a:ln cap="flat" w="38100">
            <a:solidFill>
              <a:srgbClr val="545454"/>
            </a:solidFill>
            <a:prstDash val="lgDash"/>
            <a:headEnd type="none" len="sm" w="sm"/>
            <a:tailEnd type="none" len="sm" w="sm"/>
          </a:ln>
        </p:spPr>
      </p:sp>
      <p:sp>
        <p:nvSpPr>
          <p:cNvPr name="AutoShape 62" id="62"/>
          <p:cNvSpPr/>
          <p:nvPr/>
        </p:nvSpPr>
        <p:spPr>
          <a:xfrm>
            <a:off x="1376232" y="8410301"/>
            <a:ext cx="14840646" cy="0"/>
          </a:xfrm>
          <a:prstGeom prst="line">
            <a:avLst/>
          </a:prstGeom>
          <a:ln cap="flat" w="38100">
            <a:solidFill>
              <a:srgbClr val="545454"/>
            </a:solidFill>
            <a:prstDash val="lgDash"/>
            <a:headEnd type="none" len="sm" w="sm"/>
            <a:tailEnd type="none" len="sm" w="sm"/>
          </a:ln>
        </p:spPr>
      </p:sp>
      <p:sp>
        <p:nvSpPr>
          <p:cNvPr name="AutoShape 63" id="63"/>
          <p:cNvSpPr/>
          <p:nvPr/>
        </p:nvSpPr>
        <p:spPr>
          <a:xfrm>
            <a:off x="1368819" y="9320800"/>
            <a:ext cx="14840646" cy="0"/>
          </a:xfrm>
          <a:prstGeom prst="line">
            <a:avLst/>
          </a:prstGeom>
          <a:ln cap="flat" w="38100">
            <a:solidFill>
              <a:srgbClr val="545454"/>
            </a:solidFill>
            <a:prstDash val="lgDash"/>
            <a:headEnd type="none" len="sm" w="sm"/>
            <a:tailEnd type="none" len="sm" w="sm"/>
          </a:ln>
        </p:spPr>
      </p:sp>
      <p:sp>
        <p:nvSpPr>
          <p:cNvPr name="AutoShape 64" id="64"/>
          <p:cNvSpPr/>
          <p:nvPr/>
        </p:nvSpPr>
        <p:spPr>
          <a:xfrm>
            <a:off x="1376232" y="10231299"/>
            <a:ext cx="14840646" cy="0"/>
          </a:xfrm>
          <a:prstGeom prst="line">
            <a:avLst/>
          </a:prstGeom>
          <a:ln cap="flat" w="38100">
            <a:solidFill>
              <a:srgbClr val="545454"/>
            </a:solidFill>
            <a:prstDash val="lgDash"/>
            <a:headEnd type="none" len="sm" w="sm"/>
            <a:tailEnd type="none" len="sm" w="sm"/>
          </a:ln>
        </p:spPr>
      </p:sp>
      <p:sp>
        <p:nvSpPr>
          <p:cNvPr name="TextBox 65" id="65"/>
          <p:cNvSpPr txBox="true"/>
          <p:nvPr/>
        </p:nvSpPr>
        <p:spPr>
          <a:xfrm rot="0">
            <a:off x="3636883" y="4057768"/>
            <a:ext cx="1658726" cy="597027"/>
          </a:xfrm>
          <a:prstGeom prst="rect">
            <a:avLst/>
          </a:prstGeom>
        </p:spPr>
        <p:txBody>
          <a:bodyPr anchor="t" rtlCol="false" tIns="0" lIns="0" bIns="0" rIns="0">
            <a:spAutoFit/>
          </a:bodyPr>
          <a:lstStyle/>
          <a:p>
            <a:pPr algn="l">
              <a:lnSpc>
                <a:spcPts val="2304"/>
              </a:lnSpc>
            </a:pPr>
            <a:r>
              <a:rPr lang="en-US" sz="2400" spc="-72" b="true">
                <a:solidFill>
                  <a:srgbClr val="161616"/>
                </a:solidFill>
                <a:latin typeface="Inter Bold"/>
                <a:ea typeface="Inter Bold"/>
                <a:cs typeface="Inter Bold"/>
                <a:sym typeface="Inter Bold"/>
              </a:rPr>
              <a:t>Phạm vi công cộng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a:off x="1028700" y="1060396"/>
            <a:ext cx="12982652" cy="0"/>
          </a:xfrm>
          <a:prstGeom prst="line">
            <a:avLst/>
          </a:prstGeom>
          <a:ln cap="flat" w="38100">
            <a:solidFill>
              <a:srgbClr val="9D0618"/>
            </a:solidFill>
            <a:prstDash val="solid"/>
            <a:headEnd type="none" len="sm" w="sm"/>
            <a:tailEnd type="none" len="sm" w="sm"/>
          </a:ln>
        </p:spPr>
      </p:sp>
      <p:grpSp>
        <p:nvGrpSpPr>
          <p:cNvPr name="Group 3" id="3"/>
          <p:cNvGrpSpPr/>
          <p:nvPr/>
        </p:nvGrpSpPr>
        <p:grpSpPr>
          <a:xfrm rot="0">
            <a:off x="-2436897" y="5143500"/>
            <a:ext cx="19696197" cy="4505960"/>
            <a:chOff x="0" y="0"/>
            <a:chExt cx="5187476" cy="1186755"/>
          </a:xfrm>
        </p:grpSpPr>
        <p:sp>
          <p:nvSpPr>
            <p:cNvPr name="Freeform 4" id="4"/>
            <p:cNvSpPr/>
            <p:nvPr/>
          </p:nvSpPr>
          <p:spPr>
            <a:xfrm flipH="false" flipV="false" rot="0">
              <a:off x="0" y="0"/>
              <a:ext cx="5187476" cy="1186755"/>
            </a:xfrm>
            <a:custGeom>
              <a:avLst/>
              <a:gdLst/>
              <a:ahLst/>
              <a:cxnLst/>
              <a:rect r="r" b="b" t="t" l="l"/>
              <a:pathLst>
                <a:path h="1186755" w="5187476">
                  <a:moveTo>
                    <a:pt x="0" y="0"/>
                  </a:moveTo>
                  <a:lnTo>
                    <a:pt x="5187476" y="0"/>
                  </a:lnTo>
                  <a:lnTo>
                    <a:pt x="5187476" y="1186755"/>
                  </a:lnTo>
                  <a:lnTo>
                    <a:pt x="0" y="1186755"/>
                  </a:lnTo>
                  <a:close/>
                </a:path>
              </a:pathLst>
            </a:custGeom>
            <a:solidFill>
              <a:srgbClr val="9D0618"/>
            </a:solidFill>
          </p:spPr>
        </p:sp>
        <p:sp>
          <p:nvSpPr>
            <p:cNvPr name="TextBox 5" id="5"/>
            <p:cNvSpPr txBox="true"/>
            <p:nvPr/>
          </p:nvSpPr>
          <p:spPr>
            <a:xfrm>
              <a:off x="0" y="-47625"/>
              <a:ext cx="5187476" cy="1234380"/>
            </a:xfrm>
            <a:prstGeom prst="rect">
              <a:avLst/>
            </a:prstGeom>
          </p:spPr>
          <p:txBody>
            <a:bodyPr anchor="ctr" rtlCol="false" tIns="50800" lIns="50800" bIns="50800" rIns="50800"/>
            <a:lstStyle/>
            <a:p>
              <a:pPr algn="ctr">
                <a:lnSpc>
                  <a:spcPts val="2800"/>
                </a:lnSpc>
              </a:pPr>
            </a:p>
          </p:txBody>
        </p:sp>
      </p:grpSp>
      <p:sp>
        <p:nvSpPr>
          <p:cNvPr name="AutoShape 6" id="6"/>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7" id="7"/>
          <p:cNvSpPr/>
          <p:nvPr/>
        </p:nvSpPr>
        <p:spPr>
          <a:xfrm flipH="false" flipV="false" rot="-5400000">
            <a:off x="15930850" y="2836730"/>
            <a:ext cx="3605815" cy="1802908"/>
          </a:xfrm>
          <a:custGeom>
            <a:avLst/>
            <a:gdLst/>
            <a:ahLst/>
            <a:cxnLst/>
            <a:rect r="r" b="b" t="t" l="l"/>
            <a:pathLst>
              <a:path h="1802908" w="3605815">
                <a:moveTo>
                  <a:pt x="0" y="0"/>
                </a:moveTo>
                <a:lnTo>
                  <a:pt x="3605816" y="0"/>
                </a:lnTo>
                <a:lnTo>
                  <a:pt x="3605816" y="1802907"/>
                </a:lnTo>
                <a:lnTo>
                  <a:pt x="0" y="18029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8907378" y="2124640"/>
            <a:ext cx="7495682" cy="2299617"/>
            <a:chOff x="0" y="0"/>
            <a:chExt cx="1451317" cy="445253"/>
          </a:xfrm>
        </p:grpSpPr>
        <p:sp>
          <p:nvSpPr>
            <p:cNvPr name="Freeform 9" id="9"/>
            <p:cNvSpPr/>
            <p:nvPr/>
          </p:nvSpPr>
          <p:spPr>
            <a:xfrm flipH="false" flipV="false" rot="0">
              <a:off x="0" y="0"/>
              <a:ext cx="1451317" cy="445253"/>
            </a:xfrm>
            <a:custGeom>
              <a:avLst/>
              <a:gdLst/>
              <a:ahLst/>
              <a:cxnLst/>
              <a:rect r="r" b="b" t="t" l="l"/>
              <a:pathLst>
                <a:path h="445253" w="1451317">
                  <a:moveTo>
                    <a:pt x="0" y="0"/>
                  </a:moveTo>
                  <a:lnTo>
                    <a:pt x="1451317" y="0"/>
                  </a:lnTo>
                  <a:lnTo>
                    <a:pt x="1451317" y="445253"/>
                  </a:lnTo>
                  <a:lnTo>
                    <a:pt x="0" y="445253"/>
                  </a:lnTo>
                  <a:close/>
                </a:path>
              </a:pathLst>
            </a:custGeom>
            <a:blipFill>
              <a:blip r:embed="rId4"/>
              <a:stretch>
                <a:fillRect l="0" t="-47371" r="0" b="-68572"/>
              </a:stretch>
            </a:blipFill>
          </p:spPr>
        </p:sp>
      </p:grpSp>
      <p:grpSp>
        <p:nvGrpSpPr>
          <p:cNvPr name="Group 10" id="10"/>
          <p:cNvGrpSpPr/>
          <p:nvPr/>
        </p:nvGrpSpPr>
        <p:grpSpPr>
          <a:xfrm rot="0">
            <a:off x="966667" y="1279471"/>
            <a:ext cx="5939143" cy="2704878"/>
            <a:chOff x="0" y="0"/>
            <a:chExt cx="7918858" cy="3606504"/>
          </a:xfrm>
        </p:grpSpPr>
        <p:grpSp>
          <p:nvGrpSpPr>
            <p:cNvPr name="Group 11" id="11"/>
            <p:cNvGrpSpPr/>
            <p:nvPr/>
          </p:nvGrpSpPr>
          <p:grpSpPr>
            <a:xfrm rot="0">
              <a:off x="5798222" y="2696044"/>
              <a:ext cx="2120636" cy="486670"/>
              <a:chOff x="0" y="0"/>
              <a:chExt cx="509355" cy="116893"/>
            </a:xfrm>
          </p:grpSpPr>
          <p:sp>
            <p:nvSpPr>
              <p:cNvPr name="Freeform 12" id="12"/>
              <p:cNvSpPr/>
              <p:nvPr/>
            </p:nvSpPr>
            <p:spPr>
              <a:xfrm flipH="false" flipV="false" rot="0">
                <a:off x="0" y="0"/>
                <a:ext cx="509355" cy="116893"/>
              </a:xfrm>
              <a:custGeom>
                <a:avLst/>
                <a:gdLst/>
                <a:ahLst/>
                <a:cxnLst/>
                <a:rect r="r" b="b" t="t" l="l"/>
                <a:pathLst>
                  <a:path h="116893" w="509355">
                    <a:moveTo>
                      <a:pt x="0" y="0"/>
                    </a:moveTo>
                    <a:lnTo>
                      <a:pt x="509355" y="0"/>
                    </a:lnTo>
                    <a:lnTo>
                      <a:pt x="509355" y="116893"/>
                    </a:lnTo>
                    <a:lnTo>
                      <a:pt x="0" y="116893"/>
                    </a:lnTo>
                    <a:close/>
                  </a:path>
                </a:pathLst>
              </a:custGeom>
              <a:solidFill>
                <a:srgbClr val="21352E"/>
              </a:solidFill>
            </p:spPr>
          </p:sp>
          <p:sp>
            <p:nvSpPr>
              <p:cNvPr name="TextBox 13" id="13"/>
              <p:cNvSpPr txBox="true"/>
              <p:nvPr/>
            </p:nvSpPr>
            <p:spPr>
              <a:xfrm>
                <a:off x="0" y="-47625"/>
                <a:ext cx="509355" cy="164518"/>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226654" y="104775"/>
              <a:ext cx="6002027" cy="1808382"/>
            </a:xfrm>
            <a:prstGeom prst="rect">
              <a:avLst/>
            </a:prstGeom>
          </p:spPr>
          <p:txBody>
            <a:bodyPr anchor="t" rtlCol="false" tIns="0" lIns="0" bIns="0" rIns="0">
              <a:spAutoFit/>
            </a:bodyPr>
            <a:lstStyle/>
            <a:p>
              <a:pPr algn="l" marL="0" indent="0" lvl="0">
                <a:lnSpc>
                  <a:spcPts val="7843"/>
                </a:lnSpc>
                <a:spcBef>
                  <a:spcPct val="0"/>
                </a:spcBef>
              </a:pPr>
              <a:r>
                <a:rPr lang="en-US" b="true" sz="9450">
                  <a:solidFill>
                    <a:srgbClr val="161616"/>
                  </a:solidFill>
                  <a:latin typeface="Heading Now 31-38 Bold"/>
                  <a:ea typeface="Heading Now 31-38 Bold"/>
                  <a:cs typeface="Heading Now 31-38 Bold"/>
                  <a:sym typeface="Heading Now 31-38 Bold"/>
                </a:rPr>
                <a:t>III. ƯU ĐIỂM VÀ  </a:t>
              </a:r>
            </a:p>
          </p:txBody>
        </p:sp>
        <p:sp>
          <p:nvSpPr>
            <p:cNvPr name="TextBox 15" id="15"/>
            <p:cNvSpPr txBox="true"/>
            <p:nvPr/>
          </p:nvSpPr>
          <p:spPr>
            <a:xfrm rot="0">
              <a:off x="0" y="1798123"/>
              <a:ext cx="6002027" cy="1808382"/>
            </a:xfrm>
            <a:prstGeom prst="rect">
              <a:avLst/>
            </a:prstGeom>
          </p:spPr>
          <p:txBody>
            <a:bodyPr anchor="t" rtlCol="false" tIns="0" lIns="0" bIns="0" rIns="0">
              <a:spAutoFit/>
            </a:bodyPr>
            <a:lstStyle/>
            <a:p>
              <a:pPr algn="l" marL="0" indent="0" lvl="0">
                <a:lnSpc>
                  <a:spcPts val="7843"/>
                </a:lnSpc>
                <a:spcBef>
                  <a:spcPct val="0"/>
                </a:spcBef>
              </a:pPr>
              <a:r>
                <a:rPr lang="en-US" b="true" sz="9450">
                  <a:solidFill>
                    <a:srgbClr val="161616"/>
                  </a:solidFill>
                  <a:latin typeface="Heading Now 31-38 Bold"/>
                  <a:ea typeface="Heading Now 31-38 Bold"/>
                  <a:cs typeface="Heading Now 31-38 Bold"/>
                  <a:sym typeface="Heading Now 31-38 Bold"/>
                </a:rPr>
                <a:t> THÁCH THỨC </a:t>
              </a:r>
            </a:p>
          </p:txBody>
        </p:sp>
      </p:grpSp>
      <p:sp>
        <p:nvSpPr>
          <p:cNvPr name="TextBox 16" id="16"/>
          <p:cNvSpPr txBox="true"/>
          <p:nvPr/>
        </p:nvSpPr>
        <p:spPr>
          <a:xfrm rot="0">
            <a:off x="517281" y="5896056"/>
            <a:ext cx="16315023" cy="2799159"/>
          </a:xfrm>
          <a:prstGeom prst="rect">
            <a:avLst/>
          </a:prstGeom>
        </p:spPr>
        <p:txBody>
          <a:bodyPr anchor="t" rtlCol="false" tIns="0" lIns="0" bIns="0" rIns="0">
            <a:spAutoFit/>
          </a:bodyPr>
          <a:lstStyle/>
          <a:p>
            <a:pPr algn="just" marL="493931" indent="-246966" lvl="1">
              <a:lnSpc>
                <a:spcPts val="3202"/>
              </a:lnSpc>
              <a:buFont typeface="Arial"/>
              <a:buChar char="•"/>
            </a:pPr>
            <a:r>
              <a:rPr lang="en-US" sz="2287" spc="-68">
                <a:solidFill>
                  <a:srgbClr val="FFFFF6"/>
                </a:solidFill>
                <a:latin typeface="Inter"/>
                <a:ea typeface="Inter"/>
                <a:cs typeface="Inter"/>
                <a:sym typeface="Inter"/>
              </a:rPr>
              <a:t>Mở </a:t>
            </a:r>
            <a:r>
              <a:rPr lang="en-US" sz="2287" spc="-68">
                <a:solidFill>
                  <a:srgbClr val="FFFFF6"/>
                </a:solidFill>
                <a:latin typeface="Inter"/>
                <a:ea typeface="Inter"/>
                <a:cs typeface="Inter"/>
                <a:sym typeface="Inter"/>
              </a:rPr>
              <a:t>rộng khả năng tiếp cận việc học - Có thể truy cập mọi lúc mọi nơi.</a:t>
            </a:r>
          </a:p>
          <a:p>
            <a:pPr algn="just" marL="493931" indent="-246966" lvl="1">
              <a:lnSpc>
                <a:spcPts val="3202"/>
              </a:lnSpc>
              <a:buFont typeface="Arial"/>
              <a:buChar char="•"/>
            </a:pPr>
            <a:r>
              <a:rPr lang="en-US" sz="2287" spc="-68">
                <a:solidFill>
                  <a:srgbClr val="FFFFF6"/>
                </a:solidFill>
                <a:latin typeface="Inter"/>
                <a:ea typeface="Inter"/>
                <a:cs typeface="Inter"/>
                <a:sym typeface="Inter"/>
              </a:rPr>
              <a:t>Cải thiện tài liệu khóa học - Nhiều loại phương tiện được sử dụng để hỗ trợ các phương pháp học tập.</a:t>
            </a:r>
          </a:p>
          <a:p>
            <a:pPr algn="just" marL="493931" indent="-246966" lvl="1">
              <a:lnSpc>
                <a:spcPts val="3202"/>
              </a:lnSpc>
              <a:buFont typeface="Arial"/>
              <a:buChar char="•"/>
            </a:pPr>
            <a:r>
              <a:rPr lang="en-US" sz="2287" spc="-68">
                <a:solidFill>
                  <a:srgbClr val="FFFFF6"/>
                </a:solidFill>
                <a:latin typeface="Inter"/>
                <a:ea typeface="Inter"/>
                <a:cs typeface="Inter"/>
                <a:sym typeface="Inter"/>
              </a:rPr>
              <a:t>Truyền bá thông tin nhanh chóng - Những cuốn sách xuất bản online.</a:t>
            </a:r>
          </a:p>
          <a:p>
            <a:pPr algn="just" marL="493931" indent="-246966" lvl="1">
              <a:lnSpc>
                <a:spcPts val="3202"/>
              </a:lnSpc>
              <a:buFont typeface="Arial"/>
              <a:buChar char="•"/>
            </a:pPr>
            <a:r>
              <a:rPr lang="en-US" sz="2287" spc="-68">
                <a:solidFill>
                  <a:srgbClr val="FFFFF6"/>
                </a:solidFill>
                <a:latin typeface="Inter"/>
                <a:ea typeface="Inter"/>
                <a:cs typeface="Inter"/>
                <a:sym typeface="Inter"/>
              </a:rPr>
              <a:t>Tiết kiệm chi phí cho sinh viên, các nhà giáo dục.</a:t>
            </a:r>
          </a:p>
          <a:p>
            <a:pPr algn="just" marL="493931" indent="-246966" lvl="1">
              <a:lnSpc>
                <a:spcPts val="3202"/>
              </a:lnSpc>
              <a:buFont typeface="Arial"/>
              <a:buChar char="•"/>
            </a:pPr>
            <a:r>
              <a:rPr lang="en-US" sz="2287" spc="-68">
                <a:solidFill>
                  <a:srgbClr val="FFFFF6"/>
                </a:solidFill>
                <a:latin typeface="Inter"/>
                <a:ea typeface="Inter"/>
                <a:cs typeface="Inter"/>
                <a:sym typeface="Inter"/>
              </a:rPr>
              <a:t>Củng cố nền tảng cho khoa học có thể tái tạo và bao quát hơn và nâng cao chất lượng nghiên cứu.</a:t>
            </a:r>
          </a:p>
          <a:p>
            <a:pPr algn="just" marL="493931" indent="-246966" lvl="1">
              <a:lnSpc>
                <a:spcPts val="3202"/>
              </a:lnSpc>
              <a:buFont typeface="Arial"/>
              <a:buChar char="•"/>
            </a:pPr>
            <a:r>
              <a:rPr lang="en-US" sz="2287" spc="-68">
                <a:solidFill>
                  <a:srgbClr val="FFFFF6"/>
                </a:solidFill>
                <a:latin typeface="Inter"/>
                <a:ea typeface="Inter"/>
                <a:cs typeface="Inter"/>
                <a:sym typeface="Inter"/>
              </a:rPr>
              <a:t>Loại bỏ rào cản gia nhập và tạo điều kiện thuận lợi cho sự phát triển nghề nghiệp ở sinh viên.</a:t>
            </a:r>
          </a:p>
          <a:p>
            <a:pPr algn="just" marL="0" indent="0" lvl="0">
              <a:lnSpc>
                <a:spcPts val="3202"/>
              </a:lnSpc>
              <a:spcBef>
                <a:spcPct val="0"/>
              </a:spcBef>
            </a:pPr>
          </a:p>
        </p:txBody>
      </p:sp>
      <p:sp>
        <p:nvSpPr>
          <p:cNvPr name="TextBox 17" id="17"/>
          <p:cNvSpPr txBox="true"/>
          <p:nvPr/>
        </p:nvSpPr>
        <p:spPr>
          <a:xfrm rot="0">
            <a:off x="966667" y="5271851"/>
            <a:ext cx="4013282" cy="504826"/>
          </a:xfrm>
          <a:prstGeom prst="rect">
            <a:avLst/>
          </a:prstGeom>
        </p:spPr>
        <p:txBody>
          <a:bodyPr anchor="t" rtlCol="false" tIns="0" lIns="0" bIns="0" rIns="0">
            <a:spAutoFit/>
          </a:bodyPr>
          <a:lstStyle/>
          <a:p>
            <a:pPr algn="l">
              <a:lnSpc>
                <a:spcPts val="4199"/>
              </a:lnSpc>
            </a:pPr>
            <a:r>
              <a:rPr lang="en-US" b="true" sz="2999" spc="-89">
                <a:solidFill>
                  <a:srgbClr val="FFFFF6"/>
                </a:solidFill>
                <a:latin typeface="Inter Bold"/>
                <a:ea typeface="Inter Bold"/>
                <a:cs typeface="Inter Bold"/>
                <a:sym typeface="Inter Bold"/>
              </a:rPr>
              <a:t>ƯU ĐIỂM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AutoShape 3" id="3"/>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4" id="4"/>
          <p:cNvSpPr/>
          <p:nvPr/>
        </p:nvSpPr>
        <p:spPr>
          <a:xfrm flipH="false" flipV="false" rot="-5400000">
            <a:off x="15930850" y="2836730"/>
            <a:ext cx="3605815" cy="1802908"/>
          </a:xfrm>
          <a:custGeom>
            <a:avLst/>
            <a:gdLst/>
            <a:ahLst/>
            <a:cxnLst/>
            <a:rect r="r" b="b" t="t" l="l"/>
            <a:pathLst>
              <a:path h="1802908" w="3605815">
                <a:moveTo>
                  <a:pt x="0" y="0"/>
                </a:moveTo>
                <a:lnTo>
                  <a:pt x="3605816" y="0"/>
                </a:lnTo>
                <a:lnTo>
                  <a:pt x="3605816" y="1802907"/>
                </a:lnTo>
                <a:lnTo>
                  <a:pt x="0" y="18029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907378" y="2124640"/>
            <a:ext cx="7495682" cy="2299617"/>
            <a:chOff x="0" y="0"/>
            <a:chExt cx="1451317" cy="445253"/>
          </a:xfrm>
        </p:grpSpPr>
        <p:sp>
          <p:nvSpPr>
            <p:cNvPr name="Freeform 6" id="6"/>
            <p:cNvSpPr/>
            <p:nvPr/>
          </p:nvSpPr>
          <p:spPr>
            <a:xfrm flipH="false" flipV="false" rot="0">
              <a:off x="0" y="0"/>
              <a:ext cx="1451317" cy="445253"/>
            </a:xfrm>
            <a:custGeom>
              <a:avLst/>
              <a:gdLst/>
              <a:ahLst/>
              <a:cxnLst/>
              <a:rect r="r" b="b" t="t" l="l"/>
              <a:pathLst>
                <a:path h="445253" w="1451317">
                  <a:moveTo>
                    <a:pt x="0" y="0"/>
                  </a:moveTo>
                  <a:lnTo>
                    <a:pt x="1451317" y="0"/>
                  </a:lnTo>
                  <a:lnTo>
                    <a:pt x="1451317" y="445253"/>
                  </a:lnTo>
                  <a:lnTo>
                    <a:pt x="0" y="445253"/>
                  </a:lnTo>
                  <a:close/>
                </a:path>
              </a:pathLst>
            </a:custGeom>
            <a:blipFill>
              <a:blip r:embed="rId4"/>
              <a:stretch>
                <a:fillRect l="0" t="-51045" r="0" b="-51045"/>
              </a:stretch>
            </a:blipFill>
          </p:spPr>
        </p:sp>
      </p:grpSp>
      <p:sp>
        <p:nvSpPr>
          <p:cNvPr name="TextBox 7" id="7"/>
          <p:cNvSpPr txBox="true"/>
          <p:nvPr/>
        </p:nvSpPr>
        <p:spPr>
          <a:xfrm rot="0">
            <a:off x="1028700" y="5753452"/>
            <a:ext cx="16292633" cy="2789578"/>
          </a:xfrm>
          <a:prstGeom prst="rect">
            <a:avLst/>
          </a:prstGeom>
        </p:spPr>
        <p:txBody>
          <a:bodyPr anchor="t" rtlCol="false" tIns="0" lIns="0" bIns="0" rIns="0">
            <a:spAutoFit/>
          </a:bodyPr>
          <a:lstStyle/>
          <a:p>
            <a:pPr algn="just" marL="494410" indent="-247205" lvl="1">
              <a:lnSpc>
                <a:spcPts val="3205"/>
              </a:lnSpc>
              <a:buFont typeface="Arial"/>
              <a:buChar char="•"/>
            </a:pPr>
            <a:r>
              <a:rPr lang="en-US" sz="2289" spc="-68">
                <a:solidFill>
                  <a:srgbClr val="161616"/>
                </a:solidFill>
                <a:latin typeface="Inter"/>
                <a:ea typeface="Inter"/>
                <a:cs typeface="Inter"/>
                <a:sym typeface="Inter"/>
              </a:rPr>
              <a:t>Mối</a:t>
            </a:r>
            <a:r>
              <a:rPr lang="en-US" sz="2289" spc="-68">
                <a:solidFill>
                  <a:srgbClr val="161616"/>
                </a:solidFill>
                <a:latin typeface="Inter"/>
                <a:ea typeface="Inter"/>
                <a:cs typeface="Inter"/>
                <a:sym typeface="Inter"/>
              </a:rPr>
              <a:t> quan ngại về chất lượng/độ tin cậy - Một số tài liệu trực tuyến có thể được bất kỳ ai chỉnh sửa vào bất kỳ lúc nào.</a:t>
            </a:r>
          </a:p>
          <a:p>
            <a:pPr algn="just" marL="494410" indent="-247205" lvl="1">
              <a:lnSpc>
                <a:spcPts val="3205"/>
              </a:lnSpc>
              <a:buFont typeface="Arial"/>
              <a:buChar char="•"/>
            </a:pPr>
            <a:r>
              <a:rPr lang="en-US" sz="2289" spc="-68">
                <a:solidFill>
                  <a:srgbClr val="161616"/>
                </a:solidFill>
                <a:latin typeface="Inter"/>
                <a:ea typeface="Inter"/>
                <a:cs typeface="Inter"/>
                <a:sym typeface="Inter"/>
              </a:rPr>
              <a:t>Giới hạn bảo vệ quyền sở hữu bản quyền - Giấy phép OER thay đổi "Mọi quyền được bảo lưu" thành "Một số quyền được bảo lưu".</a:t>
            </a:r>
          </a:p>
          <a:p>
            <a:pPr algn="just" marL="494410" indent="-247205" lvl="1">
              <a:lnSpc>
                <a:spcPts val="3205"/>
              </a:lnSpc>
              <a:buFont typeface="Arial"/>
              <a:buChar char="•"/>
            </a:pPr>
            <a:r>
              <a:rPr lang="en-US" sz="2289" spc="-68">
                <a:solidFill>
                  <a:srgbClr val="161616"/>
                </a:solidFill>
                <a:latin typeface="Inter"/>
                <a:ea typeface="Inter"/>
                <a:cs typeface="Inter"/>
                <a:sym typeface="Inter"/>
              </a:rPr>
              <a:t>Các vấn đề về công nghệ - Kết nối internet hay quyền truy cập.</a:t>
            </a:r>
          </a:p>
          <a:p>
            <a:pPr algn="just" marL="494410" indent="-247205" lvl="1">
              <a:lnSpc>
                <a:spcPts val="3205"/>
              </a:lnSpc>
              <a:buFont typeface="Arial"/>
              <a:buChar char="•"/>
            </a:pPr>
            <a:r>
              <a:rPr lang="en-US" sz="2289" spc="-68">
                <a:solidFill>
                  <a:srgbClr val="161616"/>
                </a:solidFill>
                <a:latin typeface="Inter"/>
                <a:ea typeface="Inter"/>
                <a:cs typeface="Inter"/>
                <a:sym typeface="Inter"/>
              </a:rPr>
              <a:t>Ngôn ngữ mà OER được phân phối - Một nhóm nhỏ có hạn chế và khó khăn khi sử dụng ngôn ngữ anh là chủ yếu </a:t>
            </a:r>
          </a:p>
          <a:p>
            <a:pPr algn="just" marL="494410" indent="-247205" lvl="1">
              <a:lnSpc>
                <a:spcPts val="3205"/>
              </a:lnSpc>
              <a:buFont typeface="Arial"/>
              <a:buChar char="•"/>
            </a:pPr>
            <a:r>
              <a:rPr lang="en-US" sz="2289" spc="-68">
                <a:solidFill>
                  <a:srgbClr val="161616"/>
                </a:solidFill>
                <a:latin typeface="Inter"/>
                <a:ea typeface="Inter"/>
                <a:cs typeface="Inter"/>
                <a:sym typeface="Inter"/>
              </a:rPr>
              <a:t>Nhận thức trong các cơ sở giáo dục - Hạn chế việc sử dụng OER cho nghiên cứu, giảng dạy và học tập</a:t>
            </a:r>
          </a:p>
          <a:p>
            <a:pPr algn="just" marL="0" indent="0" lvl="0">
              <a:lnSpc>
                <a:spcPts val="3205"/>
              </a:lnSpc>
              <a:spcBef>
                <a:spcPct val="0"/>
              </a:spcBef>
            </a:pPr>
          </a:p>
        </p:txBody>
      </p:sp>
      <p:sp>
        <p:nvSpPr>
          <p:cNvPr name="Freeform 8" id="8"/>
          <p:cNvSpPr/>
          <p:nvPr/>
        </p:nvSpPr>
        <p:spPr>
          <a:xfrm flipH="true" flipV="true" rot="-10800000">
            <a:off x="9638112" y="9344725"/>
            <a:ext cx="2296484" cy="1148242"/>
          </a:xfrm>
          <a:custGeom>
            <a:avLst/>
            <a:gdLst/>
            <a:ahLst/>
            <a:cxnLst/>
            <a:rect r="r" b="b" t="t" l="l"/>
            <a:pathLst>
              <a:path h="1148242" w="2296484">
                <a:moveTo>
                  <a:pt x="2296484" y="1148242"/>
                </a:moveTo>
                <a:lnTo>
                  <a:pt x="0" y="1148242"/>
                </a:lnTo>
                <a:lnTo>
                  <a:pt x="0" y="0"/>
                </a:lnTo>
                <a:lnTo>
                  <a:pt x="2296484" y="0"/>
                </a:lnTo>
                <a:lnTo>
                  <a:pt x="2296484" y="114824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966667" y="1279471"/>
            <a:ext cx="5939143" cy="2704878"/>
            <a:chOff x="0" y="0"/>
            <a:chExt cx="7918858" cy="3606504"/>
          </a:xfrm>
        </p:grpSpPr>
        <p:grpSp>
          <p:nvGrpSpPr>
            <p:cNvPr name="Group 10" id="10"/>
            <p:cNvGrpSpPr/>
            <p:nvPr/>
          </p:nvGrpSpPr>
          <p:grpSpPr>
            <a:xfrm rot="0">
              <a:off x="5798222" y="2696044"/>
              <a:ext cx="2120636" cy="486670"/>
              <a:chOff x="0" y="0"/>
              <a:chExt cx="509355" cy="116893"/>
            </a:xfrm>
          </p:grpSpPr>
          <p:sp>
            <p:nvSpPr>
              <p:cNvPr name="Freeform 11" id="11"/>
              <p:cNvSpPr/>
              <p:nvPr/>
            </p:nvSpPr>
            <p:spPr>
              <a:xfrm flipH="false" flipV="false" rot="0">
                <a:off x="0" y="0"/>
                <a:ext cx="509355" cy="116893"/>
              </a:xfrm>
              <a:custGeom>
                <a:avLst/>
                <a:gdLst/>
                <a:ahLst/>
                <a:cxnLst/>
                <a:rect r="r" b="b" t="t" l="l"/>
                <a:pathLst>
                  <a:path h="116893" w="509355">
                    <a:moveTo>
                      <a:pt x="0" y="0"/>
                    </a:moveTo>
                    <a:lnTo>
                      <a:pt x="509355" y="0"/>
                    </a:lnTo>
                    <a:lnTo>
                      <a:pt x="509355" y="116893"/>
                    </a:lnTo>
                    <a:lnTo>
                      <a:pt x="0" y="116893"/>
                    </a:lnTo>
                    <a:close/>
                  </a:path>
                </a:pathLst>
              </a:custGeom>
              <a:solidFill>
                <a:srgbClr val="21352E"/>
              </a:solidFill>
            </p:spPr>
          </p:sp>
          <p:sp>
            <p:nvSpPr>
              <p:cNvPr name="TextBox 12" id="12"/>
              <p:cNvSpPr txBox="true"/>
              <p:nvPr/>
            </p:nvSpPr>
            <p:spPr>
              <a:xfrm>
                <a:off x="0" y="-47625"/>
                <a:ext cx="509355" cy="164518"/>
              </a:xfrm>
              <a:prstGeom prst="rect">
                <a:avLst/>
              </a:prstGeom>
            </p:spPr>
            <p:txBody>
              <a:bodyPr anchor="ctr" rtlCol="false" tIns="50800" lIns="50800" bIns="50800" rIns="50800"/>
              <a:lstStyle/>
              <a:p>
                <a:pPr algn="ctr">
                  <a:lnSpc>
                    <a:spcPts val="2800"/>
                  </a:lnSpc>
                </a:pPr>
              </a:p>
            </p:txBody>
          </p:sp>
        </p:grpSp>
        <p:sp>
          <p:nvSpPr>
            <p:cNvPr name="TextBox 13" id="13"/>
            <p:cNvSpPr txBox="true"/>
            <p:nvPr/>
          </p:nvSpPr>
          <p:spPr>
            <a:xfrm rot="0">
              <a:off x="226654" y="104775"/>
              <a:ext cx="6002027" cy="1808382"/>
            </a:xfrm>
            <a:prstGeom prst="rect">
              <a:avLst/>
            </a:prstGeom>
          </p:spPr>
          <p:txBody>
            <a:bodyPr anchor="t" rtlCol="false" tIns="0" lIns="0" bIns="0" rIns="0">
              <a:spAutoFit/>
            </a:bodyPr>
            <a:lstStyle/>
            <a:p>
              <a:pPr algn="l" marL="0" indent="0" lvl="0">
                <a:lnSpc>
                  <a:spcPts val="7843"/>
                </a:lnSpc>
                <a:spcBef>
                  <a:spcPct val="0"/>
                </a:spcBef>
              </a:pPr>
              <a:r>
                <a:rPr lang="en-US" b="true" sz="9450">
                  <a:solidFill>
                    <a:srgbClr val="161616"/>
                  </a:solidFill>
                  <a:latin typeface="Heading Now 31-38 Bold"/>
                  <a:ea typeface="Heading Now 31-38 Bold"/>
                  <a:cs typeface="Heading Now 31-38 Bold"/>
                  <a:sym typeface="Heading Now 31-38 Bold"/>
                </a:rPr>
                <a:t>III. ƯU ĐIỂM VÀ  </a:t>
              </a:r>
            </a:p>
          </p:txBody>
        </p:sp>
        <p:sp>
          <p:nvSpPr>
            <p:cNvPr name="TextBox 14" id="14"/>
            <p:cNvSpPr txBox="true"/>
            <p:nvPr/>
          </p:nvSpPr>
          <p:spPr>
            <a:xfrm rot="0">
              <a:off x="0" y="1798123"/>
              <a:ext cx="6002027" cy="1808382"/>
            </a:xfrm>
            <a:prstGeom prst="rect">
              <a:avLst/>
            </a:prstGeom>
          </p:spPr>
          <p:txBody>
            <a:bodyPr anchor="t" rtlCol="false" tIns="0" lIns="0" bIns="0" rIns="0">
              <a:spAutoFit/>
            </a:bodyPr>
            <a:lstStyle/>
            <a:p>
              <a:pPr algn="l" marL="0" indent="0" lvl="0">
                <a:lnSpc>
                  <a:spcPts val="7843"/>
                </a:lnSpc>
                <a:spcBef>
                  <a:spcPct val="0"/>
                </a:spcBef>
              </a:pPr>
              <a:r>
                <a:rPr lang="en-US" b="true" sz="9450">
                  <a:solidFill>
                    <a:srgbClr val="161616"/>
                  </a:solidFill>
                  <a:latin typeface="Heading Now 31-38 Bold"/>
                  <a:ea typeface="Heading Now 31-38 Bold"/>
                  <a:cs typeface="Heading Now 31-38 Bold"/>
                  <a:sym typeface="Heading Now 31-38 Bold"/>
                </a:rPr>
                <a:t> THÁCH THỨC </a:t>
              </a:r>
            </a:p>
          </p:txBody>
        </p:sp>
      </p:grpSp>
      <p:sp>
        <p:nvSpPr>
          <p:cNvPr name="TextBox 15" id="15"/>
          <p:cNvSpPr txBox="true"/>
          <p:nvPr/>
        </p:nvSpPr>
        <p:spPr>
          <a:xfrm rot="0">
            <a:off x="1368623" y="4881245"/>
            <a:ext cx="4762015" cy="547371"/>
          </a:xfrm>
          <a:prstGeom prst="rect">
            <a:avLst/>
          </a:prstGeom>
        </p:spPr>
        <p:txBody>
          <a:bodyPr anchor="t" rtlCol="false" tIns="0" lIns="0" bIns="0" rIns="0">
            <a:spAutoFit/>
          </a:bodyPr>
          <a:lstStyle/>
          <a:p>
            <a:pPr algn="l">
              <a:lnSpc>
                <a:spcPts val="4479"/>
              </a:lnSpc>
            </a:pPr>
            <a:r>
              <a:rPr lang="en-US" b="true" sz="3199" spc="-95">
                <a:solidFill>
                  <a:srgbClr val="161616"/>
                </a:solidFill>
                <a:latin typeface="Inter Bold"/>
                <a:ea typeface="Inter Bold"/>
                <a:cs typeface="Inter Bold"/>
                <a:sym typeface="Inter Bold"/>
              </a:rPr>
              <a:t>THÁCH THỨC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AutoShape 3" id="3"/>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grpSp>
        <p:nvGrpSpPr>
          <p:cNvPr name="Group 4" id="4"/>
          <p:cNvGrpSpPr/>
          <p:nvPr/>
        </p:nvGrpSpPr>
        <p:grpSpPr>
          <a:xfrm rot="0">
            <a:off x="7600950" y="4822798"/>
            <a:ext cx="9658350" cy="2614449"/>
            <a:chOff x="0" y="0"/>
            <a:chExt cx="2543763" cy="688579"/>
          </a:xfrm>
        </p:grpSpPr>
        <p:sp>
          <p:nvSpPr>
            <p:cNvPr name="Freeform 5" id="5"/>
            <p:cNvSpPr/>
            <p:nvPr/>
          </p:nvSpPr>
          <p:spPr>
            <a:xfrm flipH="false" flipV="false" rot="0">
              <a:off x="0" y="0"/>
              <a:ext cx="2543763" cy="688579"/>
            </a:xfrm>
            <a:custGeom>
              <a:avLst/>
              <a:gdLst/>
              <a:ahLst/>
              <a:cxnLst/>
              <a:rect r="r" b="b" t="t" l="l"/>
              <a:pathLst>
                <a:path h="688579" w="2543763">
                  <a:moveTo>
                    <a:pt x="0" y="0"/>
                  </a:moveTo>
                  <a:lnTo>
                    <a:pt x="2543763" y="0"/>
                  </a:lnTo>
                  <a:lnTo>
                    <a:pt x="2543763" y="688579"/>
                  </a:lnTo>
                  <a:lnTo>
                    <a:pt x="0" y="688579"/>
                  </a:lnTo>
                  <a:close/>
                </a:path>
              </a:pathLst>
            </a:custGeom>
            <a:solidFill>
              <a:srgbClr val="9D0618"/>
            </a:solidFill>
          </p:spPr>
        </p:sp>
        <p:sp>
          <p:nvSpPr>
            <p:cNvPr name="TextBox 6" id="6"/>
            <p:cNvSpPr txBox="true"/>
            <p:nvPr/>
          </p:nvSpPr>
          <p:spPr>
            <a:xfrm>
              <a:off x="0" y="-47625"/>
              <a:ext cx="2543763" cy="736204"/>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5400000">
            <a:off x="14793542" y="4185105"/>
            <a:ext cx="5207098" cy="2603549"/>
          </a:xfrm>
          <a:custGeom>
            <a:avLst/>
            <a:gdLst/>
            <a:ahLst/>
            <a:cxnLst/>
            <a:rect r="r" b="b" t="t" l="l"/>
            <a:pathLst>
              <a:path h="2603549" w="5207098">
                <a:moveTo>
                  <a:pt x="0" y="0"/>
                </a:moveTo>
                <a:lnTo>
                  <a:pt x="5207098" y="0"/>
                </a:lnTo>
                <a:lnTo>
                  <a:pt x="5207098" y="2603549"/>
                </a:lnTo>
                <a:lnTo>
                  <a:pt x="0" y="2603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7026769" y="4325349"/>
            <a:ext cx="204915" cy="2392807"/>
            <a:chOff x="0" y="0"/>
            <a:chExt cx="53969" cy="630204"/>
          </a:xfrm>
        </p:grpSpPr>
        <p:sp>
          <p:nvSpPr>
            <p:cNvPr name="Freeform 9" id="9"/>
            <p:cNvSpPr/>
            <p:nvPr/>
          </p:nvSpPr>
          <p:spPr>
            <a:xfrm flipH="false" flipV="false" rot="0">
              <a:off x="0" y="0"/>
              <a:ext cx="53969" cy="630204"/>
            </a:xfrm>
            <a:custGeom>
              <a:avLst/>
              <a:gdLst/>
              <a:ahLst/>
              <a:cxnLst/>
              <a:rect r="r" b="b" t="t" l="l"/>
              <a:pathLst>
                <a:path h="630204" w="53969">
                  <a:moveTo>
                    <a:pt x="0" y="0"/>
                  </a:moveTo>
                  <a:lnTo>
                    <a:pt x="53969" y="0"/>
                  </a:lnTo>
                  <a:lnTo>
                    <a:pt x="53969" y="630204"/>
                  </a:lnTo>
                  <a:lnTo>
                    <a:pt x="0" y="630204"/>
                  </a:lnTo>
                  <a:close/>
                </a:path>
              </a:pathLst>
            </a:custGeom>
            <a:solidFill>
              <a:srgbClr val="21352E"/>
            </a:solidFill>
          </p:spPr>
        </p:sp>
        <p:sp>
          <p:nvSpPr>
            <p:cNvPr name="TextBox 10" id="10"/>
            <p:cNvSpPr txBox="true"/>
            <p:nvPr/>
          </p:nvSpPr>
          <p:spPr>
            <a:xfrm>
              <a:off x="0" y="-47625"/>
              <a:ext cx="53969" cy="677829"/>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061701" y="8207247"/>
            <a:ext cx="3384386" cy="691661"/>
            <a:chOff x="0" y="0"/>
            <a:chExt cx="891361" cy="182166"/>
          </a:xfrm>
        </p:grpSpPr>
        <p:sp>
          <p:nvSpPr>
            <p:cNvPr name="Freeform 12" id="12"/>
            <p:cNvSpPr/>
            <p:nvPr/>
          </p:nvSpPr>
          <p:spPr>
            <a:xfrm flipH="false" flipV="false" rot="0">
              <a:off x="0" y="0"/>
              <a:ext cx="891361" cy="182166"/>
            </a:xfrm>
            <a:custGeom>
              <a:avLst/>
              <a:gdLst/>
              <a:ahLst/>
              <a:cxnLst/>
              <a:rect r="r" b="b" t="t" l="l"/>
              <a:pathLst>
                <a:path h="182166" w="891361">
                  <a:moveTo>
                    <a:pt x="0" y="0"/>
                  </a:moveTo>
                  <a:lnTo>
                    <a:pt x="891361" y="0"/>
                  </a:lnTo>
                  <a:lnTo>
                    <a:pt x="891361" y="182166"/>
                  </a:lnTo>
                  <a:lnTo>
                    <a:pt x="0" y="182166"/>
                  </a:lnTo>
                  <a:close/>
                </a:path>
              </a:pathLst>
            </a:custGeom>
            <a:solidFill>
              <a:srgbClr val="21352E"/>
            </a:solidFill>
          </p:spPr>
        </p:sp>
        <p:sp>
          <p:nvSpPr>
            <p:cNvPr name="TextBox 13" id="13"/>
            <p:cNvSpPr txBox="true"/>
            <p:nvPr/>
          </p:nvSpPr>
          <p:spPr>
            <a:xfrm>
              <a:off x="0" y="-47625"/>
              <a:ext cx="891361" cy="229791"/>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4011352" y="1960991"/>
            <a:ext cx="3474960" cy="6592087"/>
            <a:chOff x="0" y="0"/>
            <a:chExt cx="812800" cy="1541902"/>
          </a:xfrm>
        </p:grpSpPr>
        <p:sp>
          <p:nvSpPr>
            <p:cNvPr name="Freeform 15" id="15"/>
            <p:cNvSpPr/>
            <p:nvPr/>
          </p:nvSpPr>
          <p:spPr>
            <a:xfrm flipH="false" flipV="false" rot="0">
              <a:off x="0" y="0"/>
              <a:ext cx="812800" cy="1541902"/>
            </a:xfrm>
            <a:custGeom>
              <a:avLst/>
              <a:gdLst/>
              <a:ahLst/>
              <a:cxnLst/>
              <a:rect r="r" b="b" t="t" l="l"/>
              <a:pathLst>
                <a:path h="1541902" w="812800">
                  <a:moveTo>
                    <a:pt x="0" y="0"/>
                  </a:moveTo>
                  <a:lnTo>
                    <a:pt x="812800" y="0"/>
                  </a:lnTo>
                  <a:lnTo>
                    <a:pt x="812800" y="1541902"/>
                  </a:lnTo>
                  <a:lnTo>
                    <a:pt x="0" y="1541902"/>
                  </a:lnTo>
                  <a:close/>
                </a:path>
              </a:pathLst>
            </a:custGeom>
            <a:blipFill>
              <a:blip r:embed="rId4"/>
              <a:stretch>
                <a:fillRect l="-79232" t="0" r="-263222" b="0"/>
              </a:stretch>
            </a:blipFill>
          </p:spPr>
        </p:sp>
      </p:grpSp>
      <p:sp>
        <p:nvSpPr>
          <p:cNvPr name="TextBox 16" id="16"/>
          <p:cNvSpPr txBox="true"/>
          <p:nvPr/>
        </p:nvSpPr>
        <p:spPr>
          <a:xfrm rot="0">
            <a:off x="1109624" y="1367192"/>
            <a:ext cx="12982652" cy="1953831"/>
          </a:xfrm>
          <a:prstGeom prst="rect">
            <a:avLst/>
          </a:prstGeom>
        </p:spPr>
        <p:txBody>
          <a:bodyPr anchor="t" rtlCol="false" tIns="0" lIns="0" bIns="0" rIns="0">
            <a:spAutoFit/>
          </a:bodyPr>
          <a:lstStyle/>
          <a:p>
            <a:pPr algn="l" marL="0" indent="0" lvl="0">
              <a:lnSpc>
                <a:spcPts val="11461"/>
              </a:lnSpc>
              <a:spcBef>
                <a:spcPct val="0"/>
              </a:spcBef>
            </a:pPr>
            <a:r>
              <a:rPr lang="en-US" b="true" sz="13809">
                <a:solidFill>
                  <a:srgbClr val="161616"/>
                </a:solidFill>
                <a:latin typeface="Heading Now 31-38 Bold"/>
                <a:ea typeface="Heading Now 31-38 Bold"/>
                <a:cs typeface="Heading Now 31-38 Bold"/>
                <a:sym typeface="Heading Now 31-38 Bold"/>
              </a:rPr>
              <a:t>IV. CÁC NGHIÊN CỨU VỀ OER</a:t>
            </a:r>
          </a:p>
        </p:txBody>
      </p:sp>
      <p:sp>
        <p:nvSpPr>
          <p:cNvPr name="TextBox 17" id="17"/>
          <p:cNvSpPr txBox="true"/>
          <p:nvPr/>
        </p:nvSpPr>
        <p:spPr>
          <a:xfrm rot="0">
            <a:off x="998044" y="4287249"/>
            <a:ext cx="5352450" cy="1934677"/>
          </a:xfrm>
          <a:prstGeom prst="rect">
            <a:avLst/>
          </a:prstGeom>
        </p:spPr>
        <p:txBody>
          <a:bodyPr anchor="t" rtlCol="false" tIns="0" lIns="0" bIns="0" rIns="0">
            <a:spAutoFit/>
          </a:bodyPr>
          <a:lstStyle/>
          <a:p>
            <a:pPr algn="just">
              <a:lnSpc>
                <a:spcPts val="2564"/>
              </a:lnSpc>
            </a:pPr>
          </a:p>
          <a:p>
            <a:pPr algn="just" marL="395442" indent="-197721" lvl="1">
              <a:lnSpc>
                <a:spcPts val="2564"/>
              </a:lnSpc>
              <a:spcBef>
                <a:spcPct val="0"/>
              </a:spcBef>
              <a:buFont typeface="Arial"/>
              <a:buChar char="•"/>
            </a:pPr>
            <a:r>
              <a:rPr lang="en-US" sz="1831" spc="-54">
                <a:solidFill>
                  <a:srgbClr val="161616"/>
                </a:solidFill>
                <a:latin typeface="Inter"/>
                <a:ea typeface="Inter"/>
                <a:cs typeface="Inter"/>
                <a:sym typeface="Inter"/>
              </a:rPr>
              <a:t>Ngh</a:t>
            </a:r>
            <a:r>
              <a:rPr lang="en-US" sz="1831" spc="-54">
                <a:solidFill>
                  <a:srgbClr val="161616"/>
                </a:solidFill>
                <a:latin typeface="Inter"/>
                <a:ea typeface="Inter"/>
                <a:cs typeface="Inter"/>
                <a:sym typeface="Inter"/>
              </a:rPr>
              <a:t>iên cứu về Tài nguyên Giáo dục Mở (OER) phát triển mạnh trên toàn cầu, trở thành một hướng nghiên cứu nổi bật trong giáo dục.</a:t>
            </a:r>
          </a:p>
          <a:p>
            <a:pPr algn="just" marL="0" indent="0" lvl="0">
              <a:lnSpc>
                <a:spcPts val="2564"/>
              </a:lnSpc>
              <a:spcBef>
                <a:spcPct val="0"/>
              </a:spcBef>
            </a:pPr>
          </a:p>
          <a:p>
            <a:pPr algn="just" marL="0" indent="0" lvl="0">
              <a:lnSpc>
                <a:spcPts val="2564"/>
              </a:lnSpc>
              <a:spcBef>
                <a:spcPct val="0"/>
              </a:spcBef>
            </a:pPr>
          </a:p>
        </p:txBody>
      </p:sp>
      <p:sp>
        <p:nvSpPr>
          <p:cNvPr name="TextBox 18" id="18"/>
          <p:cNvSpPr txBox="true"/>
          <p:nvPr/>
        </p:nvSpPr>
        <p:spPr>
          <a:xfrm rot="0">
            <a:off x="1061701" y="3362298"/>
            <a:ext cx="4176233" cy="1298575"/>
          </a:xfrm>
          <a:prstGeom prst="rect">
            <a:avLst/>
          </a:prstGeom>
        </p:spPr>
        <p:txBody>
          <a:bodyPr anchor="t" rtlCol="false" tIns="0" lIns="0" bIns="0" rIns="0">
            <a:spAutoFit/>
          </a:bodyPr>
          <a:lstStyle/>
          <a:p>
            <a:pPr algn="l">
              <a:lnSpc>
                <a:spcPts val="3499"/>
              </a:lnSpc>
            </a:pPr>
          </a:p>
          <a:p>
            <a:pPr algn="l">
              <a:lnSpc>
                <a:spcPts val="3499"/>
              </a:lnSpc>
            </a:pPr>
            <a:r>
              <a:rPr lang="en-US" sz="2499" spc="-74" b="true">
                <a:solidFill>
                  <a:srgbClr val="161616"/>
                </a:solidFill>
                <a:latin typeface="Inter Bold"/>
                <a:ea typeface="Inter Bold"/>
                <a:cs typeface="Inter Bold"/>
                <a:sym typeface="Inter Bold"/>
              </a:rPr>
              <a:t>Xu</a:t>
            </a:r>
            <a:r>
              <a:rPr lang="en-US" b="true" sz="2499" spc="-74">
                <a:solidFill>
                  <a:srgbClr val="161616"/>
                </a:solidFill>
                <a:latin typeface="Inter Bold"/>
                <a:ea typeface="Inter Bold"/>
                <a:cs typeface="Inter Bold"/>
                <a:sym typeface="Inter Bold"/>
              </a:rPr>
              <a:t> HƯỚNG NGHIÊN CỨU</a:t>
            </a:r>
          </a:p>
          <a:p>
            <a:pPr algn="l">
              <a:lnSpc>
                <a:spcPts val="3499"/>
              </a:lnSpc>
            </a:pPr>
          </a:p>
        </p:txBody>
      </p:sp>
      <p:sp>
        <p:nvSpPr>
          <p:cNvPr name="TextBox 19" id="19"/>
          <p:cNvSpPr txBox="true"/>
          <p:nvPr/>
        </p:nvSpPr>
        <p:spPr>
          <a:xfrm rot="0">
            <a:off x="7546009" y="3273398"/>
            <a:ext cx="5107339" cy="3051175"/>
          </a:xfrm>
          <a:prstGeom prst="rect">
            <a:avLst/>
          </a:prstGeom>
        </p:spPr>
        <p:txBody>
          <a:bodyPr anchor="t" rtlCol="false" tIns="0" lIns="0" bIns="0" rIns="0">
            <a:spAutoFit/>
          </a:bodyPr>
          <a:lstStyle/>
          <a:p>
            <a:pPr algn="l">
              <a:lnSpc>
                <a:spcPts val="3499"/>
              </a:lnSpc>
            </a:pPr>
          </a:p>
          <a:p>
            <a:pPr algn="l">
              <a:lnSpc>
                <a:spcPts val="3499"/>
              </a:lnSpc>
            </a:pPr>
          </a:p>
          <a:p>
            <a:pPr algn="l">
              <a:lnSpc>
                <a:spcPts val="3499"/>
              </a:lnSpc>
            </a:pPr>
            <a:r>
              <a:rPr lang="en-US" b="true" sz="2499" spc="-74">
                <a:solidFill>
                  <a:srgbClr val="161616"/>
                </a:solidFill>
                <a:latin typeface="Inter Bold"/>
                <a:ea typeface="Inter Bold"/>
                <a:cs typeface="Inter Bold"/>
                <a:sym typeface="Inter Bold"/>
              </a:rPr>
              <a:t>K</a:t>
            </a:r>
            <a:r>
              <a:rPr lang="en-US" b="true" sz="2499" spc="-74">
                <a:solidFill>
                  <a:srgbClr val="161616"/>
                </a:solidFill>
                <a:latin typeface="Inter Bold"/>
                <a:ea typeface="Inter Bold"/>
                <a:cs typeface="Inter Bold"/>
                <a:sym typeface="Inter Bold"/>
              </a:rPr>
              <a:t>HUNG LÝ THUYẾT COUP </a:t>
            </a:r>
          </a:p>
          <a:p>
            <a:pPr algn="l">
              <a:lnSpc>
                <a:spcPts val="3499"/>
              </a:lnSpc>
            </a:pPr>
          </a:p>
          <a:p>
            <a:pPr algn="l">
              <a:lnSpc>
                <a:spcPts val="3499"/>
              </a:lnSpc>
            </a:pPr>
          </a:p>
          <a:p>
            <a:pPr algn="l">
              <a:lnSpc>
                <a:spcPts val="3499"/>
              </a:lnSpc>
            </a:pPr>
          </a:p>
          <a:p>
            <a:pPr algn="l">
              <a:lnSpc>
                <a:spcPts val="3499"/>
              </a:lnSpc>
            </a:pPr>
          </a:p>
        </p:txBody>
      </p:sp>
      <p:sp>
        <p:nvSpPr>
          <p:cNvPr name="TextBox 20" id="20"/>
          <p:cNvSpPr txBox="true"/>
          <p:nvPr/>
        </p:nvSpPr>
        <p:spPr>
          <a:xfrm rot="0">
            <a:off x="7879384" y="5235537"/>
            <a:ext cx="5352450" cy="1934677"/>
          </a:xfrm>
          <a:prstGeom prst="rect">
            <a:avLst/>
          </a:prstGeom>
        </p:spPr>
        <p:txBody>
          <a:bodyPr anchor="t" rtlCol="false" tIns="0" lIns="0" bIns="0" rIns="0">
            <a:spAutoFit/>
          </a:bodyPr>
          <a:lstStyle/>
          <a:p>
            <a:pPr algn="just" marL="395442" indent="-197721" lvl="1">
              <a:lnSpc>
                <a:spcPts val="2564"/>
              </a:lnSpc>
              <a:buFont typeface="Arial"/>
              <a:buChar char="•"/>
            </a:pPr>
            <a:r>
              <a:rPr lang="en-US" sz="1831" spc="-54">
                <a:solidFill>
                  <a:srgbClr val="FFFFF6"/>
                </a:solidFill>
                <a:latin typeface="Inter"/>
                <a:ea typeface="Inter"/>
                <a:cs typeface="Inter"/>
                <a:sym typeface="Inter"/>
              </a:rPr>
              <a:t>Đề xuất</a:t>
            </a:r>
            <a:r>
              <a:rPr lang="en-US" sz="1831" spc="-54">
                <a:solidFill>
                  <a:srgbClr val="FFFFF6"/>
                </a:solidFill>
                <a:latin typeface="Inter"/>
                <a:ea typeface="Inter"/>
                <a:cs typeface="Inter"/>
                <a:sym typeface="Inter"/>
              </a:rPr>
              <a:t> phân loại nghiên cứu OER theo Khung COUP với 4 trọng tâm: Chi phí (Cost), Kết quả (Outcomes), Cách sử dụng (Usage), Nhận thức (Perceptions)</a:t>
            </a:r>
          </a:p>
          <a:p>
            <a:pPr algn="just">
              <a:lnSpc>
                <a:spcPts val="2564"/>
              </a:lnSpc>
            </a:pPr>
          </a:p>
          <a:p>
            <a:pPr algn="just">
              <a:lnSpc>
                <a:spcPts val="2564"/>
              </a:lnSpc>
            </a:pPr>
          </a:p>
        </p:txBody>
      </p:sp>
      <p:sp>
        <p:nvSpPr>
          <p:cNvPr name="Freeform 21" id="21"/>
          <p:cNvSpPr/>
          <p:nvPr/>
        </p:nvSpPr>
        <p:spPr>
          <a:xfrm flipH="true" flipV="true" rot="-10800000">
            <a:off x="7646086" y="8898908"/>
            <a:ext cx="3286125" cy="1643062"/>
          </a:xfrm>
          <a:custGeom>
            <a:avLst/>
            <a:gdLst/>
            <a:ahLst/>
            <a:cxnLst/>
            <a:rect r="r" b="b" t="t" l="l"/>
            <a:pathLst>
              <a:path h="1643062" w="3286125">
                <a:moveTo>
                  <a:pt x="3286125" y="1643062"/>
                </a:moveTo>
                <a:lnTo>
                  <a:pt x="0" y="1643062"/>
                </a:lnTo>
                <a:lnTo>
                  <a:pt x="0" y="0"/>
                </a:lnTo>
                <a:lnTo>
                  <a:pt x="3286125" y="0"/>
                </a:lnTo>
                <a:lnTo>
                  <a:pt x="3286125" y="16430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5716160" y="9404565"/>
            <a:ext cx="879894" cy="240871"/>
          </a:xfrm>
          <a:custGeom>
            <a:avLst/>
            <a:gdLst/>
            <a:ahLst/>
            <a:cxnLst/>
            <a:rect r="r" b="b" t="t" l="l"/>
            <a:pathLst>
              <a:path h="240871" w="879894">
                <a:moveTo>
                  <a:pt x="0" y="0"/>
                </a:moveTo>
                <a:lnTo>
                  <a:pt x="879894" y="0"/>
                </a:lnTo>
                <a:lnTo>
                  <a:pt x="879894" y="240870"/>
                </a:lnTo>
                <a:lnTo>
                  <a:pt x="0" y="2408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13972420" y="8962652"/>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4" id="24"/>
          <p:cNvSpPr txBox="true"/>
          <p:nvPr/>
        </p:nvSpPr>
        <p:spPr>
          <a:xfrm rot="0">
            <a:off x="1028700" y="5767745"/>
            <a:ext cx="5352450" cy="2258065"/>
          </a:xfrm>
          <a:prstGeom prst="rect">
            <a:avLst/>
          </a:prstGeom>
        </p:spPr>
        <p:txBody>
          <a:bodyPr anchor="t" rtlCol="false" tIns="0" lIns="0" bIns="0" rIns="0">
            <a:spAutoFit/>
          </a:bodyPr>
          <a:lstStyle/>
          <a:p>
            <a:pPr algn="just">
              <a:lnSpc>
                <a:spcPts val="2564"/>
              </a:lnSpc>
            </a:pPr>
          </a:p>
          <a:p>
            <a:pPr algn="just" marL="395442" indent="-197721" lvl="1">
              <a:lnSpc>
                <a:spcPts val="2564"/>
              </a:lnSpc>
              <a:spcBef>
                <a:spcPct val="0"/>
              </a:spcBef>
              <a:buFont typeface="Arial"/>
              <a:buChar char="•"/>
            </a:pPr>
            <a:r>
              <a:rPr lang="en-US" sz="1831" spc="-54">
                <a:solidFill>
                  <a:srgbClr val="161616"/>
                </a:solidFill>
                <a:latin typeface="Inter"/>
                <a:ea typeface="Inter"/>
                <a:cs typeface="Inter"/>
                <a:sym typeface="Inter"/>
              </a:rPr>
              <a:t>Với các chủ đề n</a:t>
            </a:r>
            <a:r>
              <a:rPr lang="en-US" sz="1831" spc="-54">
                <a:solidFill>
                  <a:srgbClr val="161616"/>
                </a:solidFill>
                <a:latin typeface="Inter"/>
                <a:ea typeface="Inter"/>
                <a:cs typeface="Inter"/>
                <a:sym typeface="Inter"/>
              </a:rPr>
              <a:t>gh</a:t>
            </a:r>
            <a:r>
              <a:rPr lang="en-US" sz="1831" spc="-54">
                <a:solidFill>
                  <a:srgbClr val="161616"/>
                </a:solidFill>
                <a:latin typeface="Inter"/>
                <a:ea typeface="Inter"/>
                <a:cs typeface="Inter"/>
                <a:sym typeface="Inter"/>
              </a:rPr>
              <a:t>iên cứu nổi bật: sách giáo khoa mở, khóa học trực tuyến mở, phần mềm khóa học mở, phần mềm nguồn mở trong giáo dục và học tập xã hội mở.</a:t>
            </a:r>
          </a:p>
          <a:p>
            <a:pPr algn="just" marL="0" indent="0" lvl="0">
              <a:lnSpc>
                <a:spcPts val="2564"/>
              </a:lnSpc>
              <a:spcBef>
                <a:spcPct val="0"/>
              </a:spcBef>
            </a:pPr>
          </a:p>
          <a:p>
            <a:pPr algn="just" marL="0" indent="0" lvl="0">
              <a:lnSpc>
                <a:spcPts val="2564"/>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AutoShape 2" id="2"/>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AutoShape 3" id="3"/>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4" id="4"/>
          <p:cNvSpPr/>
          <p:nvPr/>
        </p:nvSpPr>
        <p:spPr>
          <a:xfrm flipH="false" flipV="false" rot="-5400000">
            <a:off x="14793542" y="4185105"/>
            <a:ext cx="5207098" cy="2603549"/>
          </a:xfrm>
          <a:custGeom>
            <a:avLst/>
            <a:gdLst/>
            <a:ahLst/>
            <a:cxnLst/>
            <a:rect r="r" b="b" t="t" l="l"/>
            <a:pathLst>
              <a:path h="2603549" w="5207098">
                <a:moveTo>
                  <a:pt x="0" y="0"/>
                </a:moveTo>
                <a:lnTo>
                  <a:pt x="5207098" y="0"/>
                </a:lnTo>
                <a:lnTo>
                  <a:pt x="5207098" y="2603549"/>
                </a:lnTo>
                <a:lnTo>
                  <a:pt x="0" y="2603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7646086" y="4355209"/>
            <a:ext cx="10223321" cy="2901271"/>
            <a:chOff x="0" y="0"/>
            <a:chExt cx="2692562" cy="764121"/>
          </a:xfrm>
        </p:grpSpPr>
        <p:sp>
          <p:nvSpPr>
            <p:cNvPr name="Freeform 6" id="6"/>
            <p:cNvSpPr/>
            <p:nvPr/>
          </p:nvSpPr>
          <p:spPr>
            <a:xfrm flipH="false" flipV="false" rot="0">
              <a:off x="0" y="0"/>
              <a:ext cx="2692562" cy="764121"/>
            </a:xfrm>
            <a:custGeom>
              <a:avLst/>
              <a:gdLst/>
              <a:ahLst/>
              <a:cxnLst/>
              <a:rect r="r" b="b" t="t" l="l"/>
              <a:pathLst>
                <a:path h="764121" w="2692562">
                  <a:moveTo>
                    <a:pt x="0" y="0"/>
                  </a:moveTo>
                  <a:lnTo>
                    <a:pt x="2692562" y="0"/>
                  </a:lnTo>
                  <a:lnTo>
                    <a:pt x="2692562" y="764121"/>
                  </a:lnTo>
                  <a:lnTo>
                    <a:pt x="0" y="764121"/>
                  </a:lnTo>
                  <a:close/>
                </a:path>
              </a:pathLst>
            </a:custGeom>
            <a:solidFill>
              <a:srgbClr val="9D0618"/>
            </a:solidFill>
          </p:spPr>
        </p:sp>
        <p:sp>
          <p:nvSpPr>
            <p:cNvPr name="TextBox 7" id="7"/>
            <p:cNvSpPr txBox="true"/>
            <p:nvPr/>
          </p:nvSpPr>
          <p:spPr>
            <a:xfrm>
              <a:off x="0" y="-47625"/>
              <a:ext cx="2692562" cy="811746"/>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7026769" y="4325349"/>
            <a:ext cx="204915" cy="2392807"/>
            <a:chOff x="0" y="0"/>
            <a:chExt cx="53969" cy="630204"/>
          </a:xfrm>
        </p:grpSpPr>
        <p:sp>
          <p:nvSpPr>
            <p:cNvPr name="Freeform 9" id="9"/>
            <p:cNvSpPr/>
            <p:nvPr/>
          </p:nvSpPr>
          <p:spPr>
            <a:xfrm flipH="false" flipV="false" rot="0">
              <a:off x="0" y="0"/>
              <a:ext cx="53969" cy="630204"/>
            </a:xfrm>
            <a:custGeom>
              <a:avLst/>
              <a:gdLst/>
              <a:ahLst/>
              <a:cxnLst/>
              <a:rect r="r" b="b" t="t" l="l"/>
              <a:pathLst>
                <a:path h="630204" w="53969">
                  <a:moveTo>
                    <a:pt x="0" y="0"/>
                  </a:moveTo>
                  <a:lnTo>
                    <a:pt x="53969" y="0"/>
                  </a:lnTo>
                  <a:lnTo>
                    <a:pt x="53969" y="630204"/>
                  </a:lnTo>
                  <a:lnTo>
                    <a:pt x="0" y="630204"/>
                  </a:lnTo>
                  <a:close/>
                </a:path>
              </a:pathLst>
            </a:custGeom>
            <a:solidFill>
              <a:srgbClr val="21352E"/>
            </a:solidFill>
          </p:spPr>
        </p:sp>
        <p:sp>
          <p:nvSpPr>
            <p:cNvPr name="TextBox 10" id="10"/>
            <p:cNvSpPr txBox="true"/>
            <p:nvPr/>
          </p:nvSpPr>
          <p:spPr>
            <a:xfrm>
              <a:off x="0" y="-47625"/>
              <a:ext cx="53969" cy="677829"/>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1192474" y="1411037"/>
            <a:ext cx="12982652" cy="1953831"/>
          </a:xfrm>
          <a:prstGeom prst="rect">
            <a:avLst/>
          </a:prstGeom>
        </p:spPr>
        <p:txBody>
          <a:bodyPr anchor="t" rtlCol="false" tIns="0" lIns="0" bIns="0" rIns="0">
            <a:spAutoFit/>
          </a:bodyPr>
          <a:lstStyle/>
          <a:p>
            <a:pPr algn="l" marL="0" indent="0" lvl="0">
              <a:lnSpc>
                <a:spcPts val="11461"/>
              </a:lnSpc>
              <a:spcBef>
                <a:spcPct val="0"/>
              </a:spcBef>
            </a:pPr>
            <a:r>
              <a:rPr lang="en-US" b="true" sz="13809">
                <a:solidFill>
                  <a:srgbClr val="161616"/>
                </a:solidFill>
                <a:latin typeface="Heading Now 31-38 Bold"/>
                <a:ea typeface="Heading Now 31-38 Bold"/>
                <a:cs typeface="Heading Now 31-38 Bold"/>
                <a:sym typeface="Heading Now 31-38 Bold"/>
              </a:rPr>
              <a:t>IV. CÁC NGHIÊN CỨU VỀ OER</a:t>
            </a:r>
          </a:p>
        </p:txBody>
      </p:sp>
      <p:sp>
        <p:nvSpPr>
          <p:cNvPr name="TextBox 12" id="12"/>
          <p:cNvSpPr txBox="true"/>
          <p:nvPr/>
        </p:nvSpPr>
        <p:spPr>
          <a:xfrm rot="0">
            <a:off x="1009658" y="3950066"/>
            <a:ext cx="5598011" cy="1934281"/>
          </a:xfrm>
          <a:prstGeom prst="rect">
            <a:avLst/>
          </a:prstGeom>
        </p:spPr>
        <p:txBody>
          <a:bodyPr anchor="t" rtlCol="false" tIns="0" lIns="0" bIns="0" rIns="0">
            <a:spAutoFit/>
          </a:bodyPr>
          <a:lstStyle/>
          <a:p>
            <a:pPr algn="just">
              <a:lnSpc>
                <a:spcPts val="2564"/>
              </a:lnSpc>
            </a:pPr>
          </a:p>
          <a:p>
            <a:pPr algn="just" marL="395442" indent="-197721" lvl="1">
              <a:lnSpc>
                <a:spcPts val="2564"/>
              </a:lnSpc>
              <a:buFont typeface="Arial"/>
              <a:buChar char="•"/>
            </a:pPr>
            <a:r>
              <a:rPr lang="en-US" sz="1831" spc="-54">
                <a:solidFill>
                  <a:srgbClr val="161616"/>
                </a:solidFill>
                <a:latin typeface="Inter"/>
                <a:ea typeface="Inter"/>
                <a:cs typeface="Inter"/>
                <a:sym typeface="Inter"/>
              </a:rPr>
              <a:t>Cá</a:t>
            </a:r>
            <a:r>
              <a:rPr lang="en-US" sz="1831" spc="-54">
                <a:solidFill>
                  <a:srgbClr val="161616"/>
                </a:solidFill>
                <a:latin typeface="Inter"/>
                <a:ea typeface="Inter"/>
                <a:cs typeface="Inter"/>
                <a:sym typeface="Inter"/>
              </a:rPr>
              <a:t>c học giả thuộc GO-GN phản hồi phê bình rằng nghiên cứu giáo dục mở còn “thiếu khung lý thuyết”</a:t>
            </a:r>
          </a:p>
          <a:p>
            <a:pPr algn="just" marL="0" indent="0" lvl="0">
              <a:lnSpc>
                <a:spcPts val="2564"/>
              </a:lnSpc>
              <a:spcBef>
                <a:spcPct val="0"/>
              </a:spcBef>
            </a:pPr>
          </a:p>
          <a:p>
            <a:pPr algn="just" marL="0" indent="0" lvl="0">
              <a:lnSpc>
                <a:spcPts val="2564"/>
              </a:lnSpc>
              <a:spcBef>
                <a:spcPct val="0"/>
              </a:spcBef>
            </a:pPr>
          </a:p>
        </p:txBody>
      </p:sp>
      <p:sp>
        <p:nvSpPr>
          <p:cNvPr name="TextBox 13" id="13"/>
          <p:cNvSpPr txBox="true"/>
          <p:nvPr/>
        </p:nvSpPr>
        <p:spPr>
          <a:xfrm rot="0">
            <a:off x="1288338" y="3507743"/>
            <a:ext cx="4176233" cy="12985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ĐÓ</a:t>
            </a:r>
            <a:r>
              <a:rPr lang="en-US" b="true" sz="2499" spc="-74">
                <a:solidFill>
                  <a:srgbClr val="161616"/>
                </a:solidFill>
                <a:latin typeface="Inter Bold"/>
                <a:ea typeface="Inter Bold"/>
                <a:cs typeface="Inter Bold"/>
                <a:sym typeface="Inter Bold"/>
              </a:rPr>
              <a:t>NG GÓP CỦA GO-GN</a:t>
            </a:r>
          </a:p>
          <a:p>
            <a:pPr algn="l">
              <a:lnSpc>
                <a:spcPts val="3499"/>
              </a:lnSpc>
            </a:pPr>
          </a:p>
          <a:p>
            <a:pPr algn="l">
              <a:lnSpc>
                <a:spcPts val="3499"/>
              </a:lnSpc>
            </a:pPr>
          </a:p>
        </p:txBody>
      </p:sp>
      <p:sp>
        <p:nvSpPr>
          <p:cNvPr name="TextBox 14" id="14"/>
          <p:cNvSpPr txBox="true"/>
          <p:nvPr/>
        </p:nvSpPr>
        <p:spPr>
          <a:xfrm rot="0">
            <a:off x="7758669" y="3536912"/>
            <a:ext cx="5593878" cy="173672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T</a:t>
            </a:r>
            <a:r>
              <a:rPr lang="en-US" b="true" sz="2499" spc="-74">
                <a:solidFill>
                  <a:srgbClr val="161616"/>
                </a:solidFill>
                <a:latin typeface="Inter Bold"/>
                <a:ea typeface="Inter Bold"/>
                <a:cs typeface="Inter Bold"/>
                <a:sym typeface="Inter Bold"/>
              </a:rPr>
              <a:t>ỔNG HỢP NGHIÊN CỨU VỀ OER </a:t>
            </a:r>
          </a:p>
          <a:p>
            <a:pPr algn="l">
              <a:lnSpc>
                <a:spcPts val="3499"/>
              </a:lnSpc>
            </a:pPr>
          </a:p>
          <a:p>
            <a:pPr algn="l">
              <a:lnSpc>
                <a:spcPts val="3499"/>
              </a:lnSpc>
            </a:pPr>
          </a:p>
          <a:p>
            <a:pPr algn="l">
              <a:lnSpc>
                <a:spcPts val="3499"/>
              </a:lnSpc>
            </a:pPr>
          </a:p>
        </p:txBody>
      </p:sp>
      <p:sp>
        <p:nvSpPr>
          <p:cNvPr name="TextBox 15" id="15"/>
          <p:cNvSpPr txBox="true"/>
          <p:nvPr/>
        </p:nvSpPr>
        <p:spPr>
          <a:xfrm rot="0">
            <a:off x="8048943" y="4390987"/>
            <a:ext cx="8301405" cy="1934281"/>
          </a:xfrm>
          <a:prstGeom prst="rect">
            <a:avLst/>
          </a:prstGeom>
        </p:spPr>
        <p:txBody>
          <a:bodyPr anchor="t" rtlCol="false" tIns="0" lIns="0" bIns="0" rIns="0">
            <a:spAutoFit/>
          </a:bodyPr>
          <a:lstStyle/>
          <a:p>
            <a:pPr algn="just">
              <a:lnSpc>
                <a:spcPts val="2564"/>
              </a:lnSpc>
            </a:pPr>
          </a:p>
          <a:p>
            <a:pPr algn="just">
              <a:lnSpc>
                <a:spcPts val="2564"/>
              </a:lnSpc>
            </a:pPr>
            <a:r>
              <a:rPr lang="en-US" sz="1831" spc="-54">
                <a:solidFill>
                  <a:srgbClr val="FFFFF6"/>
                </a:solidFill>
                <a:latin typeface="Inter"/>
                <a:ea typeface="Inter"/>
                <a:cs typeface="Inter"/>
                <a:sym typeface="Inter"/>
              </a:rPr>
              <a:t>Hilton</a:t>
            </a:r>
            <a:r>
              <a:rPr lang="en-US" sz="1831" spc="-54">
                <a:solidFill>
                  <a:srgbClr val="FFFFF6"/>
                </a:solidFill>
                <a:latin typeface="Inter"/>
                <a:ea typeface="Inter"/>
                <a:cs typeface="Inter"/>
                <a:sym typeface="Inter"/>
              </a:rPr>
              <a:t> tổng hợ</a:t>
            </a:r>
            <a:r>
              <a:rPr lang="en-US" sz="1831" spc="-54">
                <a:solidFill>
                  <a:srgbClr val="FFFFF6"/>
                </a:solidFill>
                <a:latin typeface="Inter"/>
                <a:ea typeface="Inter"/>
                <a:cs typeface="Inter"/>
                <a:sym typeface="Inter"/>
              </a:rPr>
              <a:t>p các nghiên cứu theo 3 yếu tố: Chi phí – Kết quả – Nhận thức.</a:t>
            </a:r>
          </a:p>
          <a:p>
            <a:pPr algn="just">
              <a:lnSpc>
                <a:spcPts val="2564"/>
              </a:lnSpc>
            </a:pPr>
            <a:r>
              <a:rPr lang="en-US" sz="1831" spc="-54">
                <a:solidFill>
                  <a:srgbClr val="FFFFF6"/>
                </a:solidFill>
                <a:latin typeface="Inter"/>
                <a:ea typeface="Inter"/>
                <a:cs typeface="Inter"/>
                <a:sym typeface="Inter"/>
              </a:rPr>
              <a:t>Phần lớn nghiên cứu (Fischer et al., 2015; Lovett et al., 2008; Petrides et al., 2011) cho thấy OER:</a:t>
            </a:r>
          </a:p>
          <a:p>
            <a:pPr algn="just" marL="395442" indent="-197721" lvl="1">
              <a:lnSpc>
                <a:spcPts val="2564"/>
              </a:lnSpc>
              <a:buFont typeface="Arial"/>
              <a:buChar char="•"/>
            </a:pPr>
            <a:r>
              <a:rPr lang="en-US" sz="1831" spc="-54">
                <a:solidFill>
                  <a:srgbClr val="FFFFF6"/>
                </a:solidFill>
                <a:latin typeface="Inter"/>
                <a:ea typeface="Inter"/>
                <a:cs typeface="Inter"/>
                <a:sym typeface="Inter"/>
              </a:rPr>
              <a:t>Cải thiện kết quả học tập của sinh viên</a:t>
            </a:r>
          </a:p>
          <a:p>
            <a:pPr algn="just" marL="395442" indent="-197721" lvl="1">
              <a:lnSpc>
                <a:spcPts val="2564"/>
              </a:lnSpc>
              <a:buFont typeface="Arial"/>
              <a:buChar char="•"/>
            </a:pPr>
            <a:r>
              <a:rPr lang="en-US" sz="1831" spc="-54">
                <a:solidFill>
                  <a:srgbClr val="FFFFF6"/>
                </a:solidFill>
                <a:latin typeface="Inter"/>
                <a:ea typeface="Inter"/>
                <a:cs typeface="Inter"/>
                <a:sym typeface="Inter"/>
              </a:rPr>
              <a:t>Giảm đáng kể chi phí học liệu, đặc biệt chi phí sách giáo khoa</a:t>
            </a:r>
          </a:p>
        </p:txBody>
      </p:sp>
      <p:sp>
        <p:nvSpPr>
          <p:cNvPr name="Freeform 16" id="16"/>
          <p:cNvSpPr/>
          <p:nvPr/>
        </p:nvSpPr>
        <p:spPr>
          <a:xfrm flipH="true" flipV="true" rot="-10800000">
            <a:off x="8641175" y="8643938"/>
            <a:ext cx="3286125" cy="1643062"/>
          </a:xfrm>
          <a:custGeom>
            <a:avLst/>
            <a:gdLst/>
            <a:ahLst/>
            <a:cxnLst/>
            <a:rect r="r" b="b" t="t" l="l"/>
            <a:pathLst>
              <a:path h="1643062" w="3286125">
                <a:moveTo>
                  <a:pt x="3286125" y="1643062"/>
                </a:moveTo>
                <a:lnTo>
                  <a:pt x="0" y="1643062"/>
                </a:lnTo>
                <a:lnTo>
                  <a:pt x="0" y="0"/>
                </a:lnTo>
                <a:lnTo>
                  <a:pt x="3286125" y="0"/>
                </a:lnTo>
                <a:lnTo>
                  <a:pt x="3286125" y="16430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972420" y="8962652"/>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1040315" y="5430562"/>
            <a:ext cx="5352450" cy="1610497"/>
          </a:xfrm>
          <a:prstGeom prst="rect">
            <a:avLst/>
          </a:prstGeom>
        </p:spPr>
        <p:txBody>
          <a:bodyPr anchor="t" rtlCol="false" tIns="0" lIns="0" bIns="0" rIns="0">
            <a:spAutoFit/>
          </a:bodyPr>
          <a:lstStyle/>
          <a:p>
            <a:pPr algn="just" marL="395442" indent="-197721" lvl="1">
              <a:lnSpc>
                <a:spcPts val="2564"/>
              </a:lnSpc>
              <a:buFont typeface="Arial"/>
              <a:buChar char="•"/>
            </a:pPr>
            <a:r>
              <a:rPr lang="en-US" sz="1831" spc="-54">
                <a:solidFill>
                  <a:srgbClr val="161616"/>
                </a:solidFill>
                <a:latin typeface="Inter"/>
                <a:ea typeface="Inter"/>
                <a:cs typeface="Inter"/>
                <a:sym typeface="Inter"/>
              </a:rPr>
              <a:t>Mở rộn</a:t>
            </a:r>
            <a:r>
              <a:rPr lang="en-US" sz="1831" spc="-54">
                <a:solidFill>
                  <a:srgbClr val="161616"/>
                </a:solidFill>
                <a:latin typeface="Inter"/>
                <a:ea typeface="Inter"/>
                <a:cs typeface="Inter"/>
                <a:sym typeface="Inter"/>
              </a:rPr>
              <a:t>g thảo luậ</a:t>
            </a:r>
            <a:r>
              <a:rPr lang="en-US" sz="1831" spc="-54">
                <a:solidFill>
                  <a:srgbClr val="161616"/>
                </a:solidFill>
                <a:latin typeface="Inter"/>
                <a:ea typeface="Inter"/>
                <a:cs typeface="Inter"/>
                <a:sym typeface="Inter"/>
              </a:rPr>
              <a:t>n về vai trò của OER trong thúc đẩy đa dạng, hòa nhập và công bằng trong giáo dục.</a:t>
            </a:r>
          </a:p>
          <a:p>
            <a:pPr algn="just" marL="0" indent="0" lvl="0">
              <a:lnSpc>
                <a:spcPts val="2564"/>
              </a:lnSpc>
              <a:spcBef>
                <a:spcPct val="0"/>
              </a:spcBef>
            </a:pPr>
          </a:p>
          <a:p>
            <a:pPr algn="just" marL="0" indent="0" lvl="0">
              <a:lnSpc>
                <a:spcPts val="2564"/>
              </a:lnSpc>
              <a:spcBef>
                <a:spcPct val="0"/>
              </a:spcBef>
            </a:pPr>
          </a:p>
        </p:txBody>
      </p:sp>
      <p:sp>
        <p:nvSpPr>
          <p:cNvPr name="TextBox 19" id="19"/>
          <p:cNvSpPr txBox="true"/>
          <p:nvPr/>
        </p:nvSpPr>
        <p:spPr>
          <a:xfrm rot="0">
            <a:off x="1288338" y="6884869"/>
            <a:ext cx="5319331" cy="12985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Ứ</a:t>
            </a:r>
            <a:r>
              <a:rPr lang="en-US" b="true" sz="2499" spc="-74">
                <a:solidFill>
                  <a:srgbClr val="161616"/>
                </a:solidFill>
                <a:latin typeface="Inter Bold"/>
                <a:ea typeface="Inter Bold"/>
                <a:cs typeface="Inter Bold"/>
                <a:sym typeface="Inter Bold"/>
              </a:rPr>
              <a:t>NG DỤNG KHUNG COUP TRONG CÁC BỐI CẢNH QUỐC GIA</a:t>
            </a:r>
          </a:p>
          <a:p>
            <a:pPr algn="l">
              <a:lnSpc>
                <a:spcPts val="3499"/>
              </a:lnSpc>
            </a:pPr>
          </a:p>
        </p:txBody>
      </p:sp>
      <p:sp>
        <p:nvSpPr>
          <p:cNvPr name="TextBox 20" id="20"/>
          <p:cNvSpPr txBox="true"/>
          <p:nvPr/>
        </p:nvSpPr>
        <p:spPr>
          <a:xfrm rot="0">
            <a:off x="1009658" y="7622415"/>
            <a:ext cx="5598011" cy="2258527"/>
          </a:xfrm>
          <a:prstGeom prst="rect">
            <a:avLst/>
          </a:prstGeom>
        </p:spPr>
        <p:txBody>
          <a:bodyPr anchor="t" rtlCol="false" tIns="0" lIns="0" bIns="0" rIns="0">
            <a:spAutoFit/>
          </a:bodyPr>
          <a:lstStyle/>
          <a:p>
            <a:pPr algn="just">
              <a:lnSpc>
                <a:spcPts val="2564"/>
              </a:lnSpc>
            </a:pPr>
          </a:p>
          <a:p>
            <a:pPr algn="just" marL="395442" indent="-197721" lvl="1">
              <a:lnSpc>
                <a:spcPts val="2564"/>
              </a:lnSpc>
              <a:buFont typeface="Arial"/>
              <a:buChar char="•"/>
            </a:pPr>
            <a:r>
              <a:rPr lang="en-US" sz="1831" spc="-54">
                <a:solidFill>
                  <a:srgbClr val="161616"/>
                </a:solidFill>
                <a:latin typeface="Inter"/>
                <a:ea typeface="Inter"/>
                <a:cs typeface="Inter"/>
                <a:sym typeface="Inter"/>
              </a:rPr>
              <a:t>K</a:t>
            </a:r>
            <a:r>
              <a:rPr lang="en-US" sz="1831" spc="-54">
                <a:solidFill>
                  <a:srgbClr val="161616"/>
                </a:solidFill>
                <a:latin typeface="Inter"/>
                <a:ea typeface="Inter"/>
                <a:cs typeface="Inter"/>
                <a:sym typeface="Inter"/>
              </a:rPr>
              <a:t>hu</a:t>
            </a:r>
            <a:r>
              <a:rPr lang="en-US" sz="1831" spc="-54">
                <a:solidFill>
                  <a:srgbClr val="161616"/>
                </a:solidFill>
                <a:latin typeface="Inter"/>
                <a:ea typeface="Inter"/>
                <a:cs typeface="Inter"/>
                <a:sym typeface="Inter"/>
              </a:rPr>
              <a:t>ng</a:t>
            </a:r>
            <a:r>
              <a:rPr lang="en-US" sz="1831" spc="-54">
                <a:solidFill>
                  <a:srgbClr val="161616"/>
                </a:solidFill>
                <a:latin typeface="Inter"/>
                <a:ea typeface="Inter"/>
                <a:cs typeface="Inter"/>
                <a:sym typeface="Inter"/>
              </a:rPr>
              <a:t> </a:t>
            </a:r>
            <a:r>
              <a:rPr lang="en-US" sz="1831" spc="-54">
                <a:solidFill>
                  <a:srgbClr val="161616"/>
                </a:solidFill>
                <a:latin typeface="Inter"/>
                <a:ea typeface="Inter"/>
                <a:cs typeface="Inter"/>
                <a:sym typeface="Inter"/>
              </a:rPr>
              <a:t>C</a:t>
            </a:r>
            <a:r>
              <a:rPr lang="en-US" sz="1831" spc="-54">
                <a:solidFill>
                  <a:srgbClr val="161616"/>
                </a:solidFill>
                <a:latin typeface="Inter"/>
                <a:ea typeface="Inter"/>
                <a:cs typeface="Inter"/>
                <a:sym typeface="Inter"/>
              </a:rPr>
              <a:t>O</a:t>
            </a:r>
            <a:r>
              <a:rPr lang="en-US" sz="1831" spc="-54">
                <a:solidFill>
                  <a:srgbClr val="161616"/>
                </a:solidFill>
                <a:latin typeface="Inter"/>
                <a:ea typeface="Inter"/>
                <a:cs typeface="Inter"/>
                <a:sym typeface="Inter"/>
              </a:rPr>
              <a:t>UP</a:t>
            </a:r>
            <a:r>
              <a:rPr lang="en-US" sz="1831" spc="-54">
                <a:solidFill>
                  <a:srgbClr val="161616"/>
                </a:solidFill>
                <a:latin typeface="Inter"/>
                <a:ea typeface="Inter"/>
                <a:cs typeface="Inter"/>
                <a:sym typeface="Inter"/>
              </a:rPr>
              <a:t> </a:t>
            </a:r>
            <a:r>
              <a:rPr lang="en-US" sz="1831" spc="-54">
                <a:solidFill>
                  <a:srgbClr val="161616"/>
                </a:solidFill>
                <a:latin typeface="Inter"/>
                <a:ea typeface="Inter"/>
                <a:cs typeface="Inter"/>
                <a:sym typeface="Inter"/>
              </a:rPr>
              <a:t>đã được</a:t>
            </a:r>
            <a:r>
              <a:rPr lang="en-US" sz="1831" spc="-54">
                <a:solidFill>
                  <a:srgbClr val="161616"/>
                </a:solidFill>
                <a:latin typeface="Inter"/>
                <a:ea typeface="Inter"/>
                <a:cs typeface="Inter"/>
                <a:sym typeface="Inter"/>
              </a:rPr>
              <a:t> </a:t>
            </a:r>
            <a:r>
              <a:rPr lang="en-US" sz="1831" spc="-54">
                <a:solidFill>
                  <a:srgbClr val="161616"/>
                </a:solidFill>
                <a:latin typeface="Inter"/>
                <a:ea typeface="Inter"/>
                <a:cs typeface="Inter"/>
                <a:sym typeface="Inter"/>
              </a:rPr>
              <a:t>áp</a:t>
            </a:r>
            <a:r>
              <a:rPr lang="en-US" sz="1831" spc="-54">
                <a:solidFill>
                  <a:srgbClr val="161616"/>
                </a:solidFill>
                <a:latin typeface="Inter"/>
                <a:ea typeface="Inter"/>
                <a:cs typeface="Inter"/>
                <a:sym typeface="Inter"/>
              </a:rPr>
              <a:t> d</a:t>
            </a:r>
            <a:r>
              <a:rPr lang="en-US" sz="1831" spc="-54">
                <a:solidFill>
                  <a:srgbClr val="161616"/>
                </a:solidFill>
                <a:latin typeface="Inter"/>
                <a:ea typeface="Inter"/>
                <a:cs typeface="Inter"/>
                <a:sym typeface="Inter"/>
              </a:rPr>
              <a:t>ụng</a:t>
            </a:r>
            <a:r>
              <a:rPr lang="en-US" sz="1831" spc="-54">
                <a:solidFill>
                  <a:srgbClr val="161616"/>
                </a:solidFill>
                <a:latin typeface="Inter"/>
                <a:ea typeface="Inter"/>
                <a:cs typeface="Inter"/>
                <a:sym typeface="Inter"/>
              </a:rPr>
              <a:t> r</a:t>
            </a:r>
            <a:r>
              <a:rPr lang="en-US" sz="1831" spc="-54">
                <a:solidFill>
                  <a:srgbClr val="161616"/>
                </a:solidFill>
                <a:latin typeface="Inter"/>
                <a:ea typeface="Inter"/>
                <a:cs typeface="Inter"/>
                <a:sym typeface="Inter"/>
              </a:rPr>
              <a:t>ộ</a:t>
            </a:r>
            <a:r>
              <a:rPr lang="en-US" sz="1831" spc="-54">
                <a:solidFill>
                  <a:srgbClr val="161616"/>
                </a:solidFill>
                <a:latin typeface="Inter"/>
                <a:ea typeface="Inter"/>
                <a:cs typeface="Inter"/>
                <a:sym typeface="Inter"/>
              </a:rPr>
              <a:t>n</a:t>
            </a:r>
            <a:r>
              <a:rPr lang="en-US" sz="1831" spc="-54">
                <a:solidFill>
                  <a:srgbClr val="161616"/>
                </a:solidFill>
                <a:latin typeface="Inter"/>
                <a:ea typeface="Inter"/>
                <a:cs typeface="Inter"/>
                <a:sym typeface="Inter"/>
              </a:rPr>
              <a:t>g</a:t>
            </a:r>
            <a:r>
              <a:rPr lang="en-US" sz="1831" spc="-54">
                <a:solidFill>
                  <a:srgbClr val="161616"/>
                </a:solidFill>
                <a:latin typeface="Inter"/>
                <a:ea typeface="Inter"/>
                <a:cs typeface="Inter"/>
                <a:sym typeface="Inter"/>
              </a:rPr>
              <a:t> </a:t>
            </a:r>
            <a:r>
              <a:rPr lang="en-US" sz="1831" spc="-54">
                <a:solidFill>
                  <a:srgbClr val="161616"/>
                </a:solidFill>
                <a:latin typeface="Inter"/>
                <a:ea typeface="Inter"/>
                <a:cs typeface="Inter"/>
                <a:sym typeface="Inter"/>
              </a:rPr>
              <a:t>rã</a:t>
            </a:r>
            <a:r>
              <a:rPr lang="en-US" sz="1831" spc="-54">
                <a:solidFill>
                  <a:srgbClr val="161616"/>
                </a:solidFill>
                <a:latin typeface="Inter"/>
                <a:ea typeface="Inter"/>
                <a:cs typeface="Inter"/>
                <a:sym typeface="Inter"/>
              </a:rPr>
              <a:t>i </a:t>
            </a:r>
            <a:r>
              <a:rPr lang="en-US" sz="1831" spc="-54">
                <a:solidFill>
                  <a:srgbClr val="161616"/>
                </a:solidFill>
                <a:latin typeface="Inter"/>
                <a:ea typeface="Inter"/>
                <a:cs typeface="Inter"/>
                <a:sym typeface="Inter"/>
              </a:rPr>
              <a:t>ở</a:t>
            </a:r>
            <a:r>
              <a:rPr lang="en-US" sz="1831" spc="-54">
                <a:solidFill>
                  <a:srgbClr val="161616"/>
                </a:solidFill>
                <a:latin typeface="Inter"/>
                <a:ea typeface="Inter"/>
                <a:cs typeface="Inter"/>
                <a:sym typeface="Inter"/>
              </a:rPr>
              <a:t> nhi</a:t>
            </a:r>
            <a:r>
              <a:rPr lang="en-US" sz="1831" spc="-54">
                <a:solidFill>
                  <a:srgbClr val="161616"/>
                </a:solidFill>
                <a:latin typeface="Inter"/>
                <a:ea typeface="Inter"/>
                <a:cs typeface="Inter"/>
                <a:sym typeface="Inter"/>
              </a:rPr>
              <a:t>ều</a:t>
            </a:r>
            <a:r>
              <a:rPr lang="en-US" sz="1831" spc="-54">
                <a:solidFill>
                  <a:srgbClr val="161616"/>
                </a:solidFill>
                <a:latin typeface="Inter"/>
                <a:ea typeface="Inter"/>
                <a:cs typeface="Inter"/>
                <a:sym typeface="Inter"/>
              </a:rPr>
              <a:t> </a:t>
            </a:r>
            <a:r>
              <a:rPr lang="en-US" sz="1831" spc="-54">
                <a:solidFill>
                  <a:srgbClr val="161616"/>
                </a:solidFill>
                <a:latin typeface="Inter"/>
                <a:ea typeface="Inter"/>
                <a:cs typeface="Inter"/>
                <a:sym typeface="Inter"/>
              </a:rPr>
              <a:t>quố</a:t>
            </a:r>
            <a:r>
              <a:rPr lang="en-US" sz="1831" spc="-54">
                <a:solidFill>
                  <a:srgbClr val="161616"/>
                </a:solidFill>
                <a:latin typeface="Inter"/>
                <a:ea typeface="Inter"/>
                <a:cs typeface="Inter"/>
                <a:sym typeface="Inter"/>
              </a:rPr>
              <a:t>c gi</a:t>
            </a:r>
            <a:r>
              <a:rPr lang="en-US" sz="1831" spc="-54">
                <a:solidFill>
                  <a:srgbClr val="161616"/>
                </a:solidFill>
                <a:latin typeface="Inter"/>
                <a:ea typeface="Inter"/>
                <a:cs typeface="Inter"/>
                <a:sym typeface="Inter"/>
              </a:rPr>
              <a:t>a với các bối cảnh giáo</a:t>
            </a:r>
            <a:r>
              <a:rPr lang="en-US" sz="1831" spc="-54">
                <a:solidFill>
                  <a:srgbClr val="161616"/>
                </a:solidFill>
                <a:latin typeface="Inter"/>
                <a:ea typeface="Inter"/>
                <a:cs typeface="Inter"/>
                <a:sym typeface="Inter"/>
              </a:rPr>
              <a:t> dục khác nhau, chẳ</a:t>
            </a:r>
            <a:r>
              <a:rPr lang="en-US" sz="1831" spc="-54">
                <a:solidFill>
                  <a:srgbClr val="161616"/>
                </a:solidFill>
                <a:latin typeface="Inter"/>
                <a:ea typeface="Inter"/>
                <a:cs typeface="Inter"/>
                <a:sym typeface="Inter"/>
              </a:rPr>
              <a:t>ng</a:t>
            </a:r>
            <a:r>
              <a:rPr lang="en-US" sz="1831" spc="-54">
                <a:solidFill>
                  <a:srgbClr val="161616"/>
                </a:solidFill>
                <a:latin typeface="Inter"/>
                <a:ea typeface="Inter"/>
                <a:cs typeface="Inter"/>
                <a:sym typeface="Inter"/>
              </a:rPr>
              <a:t> hạn</a:t>
            </a:r>
            <a:r>
              <a:rPr lang="en-US" sz="1831" spc="-54">
                <a:solidFill>
                  <a:srgbClr val="161616"/>
                </a:solidFill>
                <a:latin typeface="Inter"/>
                <a:ea typeface="Inter"/>
                <a:cs typeface="Inter"/>
                <a:sym typeface="Inter"/>
              </a:rPr>
              <a:t> như nghiên cứu của Pa</a:t>
            </a:r>
            <a:r>
              <a:rPr lang="en-US" sz="1831" spc="-54">
                <a:solidFill>
                  <a:srgbClr val="161616"/>
                </a:solidFill>
                <a:latin typeface="Inter"/>
                <a:ea typeface="Inter"/>
                <a:cs typeface="Inter"/>
                <a:sym typeface="Inter"/>
              </a:rPr>
              <a:t>n</a:t>
            </a:r>
            <a:r>
              <a:rPr lang="en-US" sz="1831" spc="-54">
                <a:solidFill>
                  <a:srgbClr val="161616"/>
                </a:solidFill>
                <a:latin typeface="Inter"/>
                <a:ea typeface="Inter"/>
                <a:cs typeface="Inter"/>
                <a:sym typeface="Inter"/>
              </a:rPr>
              <a:t>dra</a:t>
            </a:r>
            <a:r>
              <a:rPr lang="en-US" sz="1831" spc="-54">
                <a:solidFill>
                  <a:srgbClr val="161616"/>
                </a:solidFill>
                <a:latin typeface="Inter"/>
                <a:ea typeface="Inter"/>
                <a:cs typeface="Inter"/>
                <a:sym typeface="Inter"/>
              </a:rPr>
              <a:t> </a:t>
            </a:r>
            <a:r>
              <a:rPr lang="en-US" sz="1831" spc="-54">
                <a:solidFill>
                  <a:srgbClr val="161616"/>
                </a:solidFill>
                <a:latin typeface="Inter"/>
                <a:ea typeface="Inter"/>
                <a:cs typeface="Inter"/>
                <a:sym typeface="Inter"/>
              </a:rPr>
              <a:t>&amp; San</a:t>
            </a:r>
            <a:r>
              <a:rPr lang="en-US" sz="1831" spc="-54">
                <a:solidFill>
                  <a:srgbClr val="161616"/>
                </a:solidFill>
                <a:latin typeface="Inter"/>
                <a:ea typeface="Inter"/>
                <a:cs typeface="Inter"/>
                <a:sym typeface="Inter"/>
              </a:rPr>
              <a:t>t</a:t>
            </a:r>
            <a:r>
              <a:rPr lang="en-US" sz="1831" spc="-54">
                <a:solidFill>
                  <a:srgbClr val="161616"/>
                </a:solidFill>
                <a:latin typeface="Inter"/>
                <a:ea typeface="Inter"/>
                <a:cs typeface="Inter"/>
                <a:sym typeface="Inter"/>
              </a:rPr>
              <a:t>os</a:t>
            </a:r>
            <a:r>
              <a:rPr lang="en-US" sz="1831" spc="-54">
                <a:solidFill>
                  <a:srgbClr val="161616"/>
                </a:solidFill>
                <a:latin typeface="Inter"/>
                <a:ea typeface="Inter"/>
                <a:cs typeface="Inter"/>
                <a:sym typeface="Inter"/>
              </a:rPr>
              <a:t>h (</a:t>
            </a:r>
            <a:r>
              <a:rPr lang="en-US" sz="1831" spc="-54">
                <a:solidFill>
                  <a:srgbClr val="161616"/>
                </a:solidFill>
                <a:latin typeface="Inter"/>
                <a:ea typeface="Inter"/>
                <a:cs typeface="Inter"/>
                <a:sym typeface="Inter"/>
              </a:rPr>
              <a:t>2017) ở Ấn Độ hay</a:t>
            </a:r>
            <a:r>
              <a:rPr lang="en-US" sz="1831" spc="-54">
                <a:solidFill>
                  <a:srgbClr val="161616"/>
                </a:solidFill>
                <a:latin typeface="Inter"/>
                <a:ea typeface="Inter"/>
                <a:cs typeface="Inter"/>
                <a:sym typeface="Inter"/>
              </a:rPr>
              <a:t> </a:t>
            </a:r>
            <a:r>
              <a:rPr lang="en-US" sz="1831" spc="-54">
                <a:solidFill>
                  <a:srgbClr val="161616"/>
                </a:solidFill>
                <a:latin typeface="Inter"/>
                <a:ea typeface="Inter"/>
                <a:cs typeface="Inter"/>
                <a:sym typeface="Inter"/>
              </a:rPr>
              <a:t>Afo</a:t>
            </a:r>
            <a:r>
              <a:rPr lang="en-US" sz="1831" spc="-54">
                <a:solidFill>
                  <a:srgbClr val="161616"/>
                </a:solidFill>
                <a:latin typeface="Inter"/>
                <a:ea typeface="Inter"/>
                <a:cs typeface="Inter"/>
                <a:sym typeface="Inter"/>
              </a:rPr>
              <a:t>l</a:t>
            </a:r>
            <a:r>
              <a:rPr lang="en-US" sz="1831" spc="-54">
                <a:solidFill>
                  <a:srgbClr val="161616"/>
                </a:solidFill>
                <a:latin typeface="Inter"/>
                <a:ea typeface="Inter"/>
                <a:cs typeface="Inter"/>
                <a:sym typeface="Inter"/>
              </a:rPr>
              <a:t>abi</a:t>
            </a:r>
            <a:r>
              <a:rPr lang="en-US" sz="1831" spc="-54">
                <a:solidFill>
                  <a:srgbClr val="161616"/>
                </a:solidFill>
                <a:latin typeface="Inter"/>
                <a:ea typeface="Inter"/>
                <a:cs typeface="Inter"/>
                <a:sym typeface="Inter"/>
              </a:rPr>
              <a:t> (</a:t>
            </a:r>
            <a:r>
              <a:rPr lang="en-US" sz="1831" spc="-54">
                <a:solidFill>
                  <a:srgbClr val="161616"/>
                </a:solidFill>
                <a:latin typeface="Inter"/>
                <a:ea typeface="Inter"/>
                <a:cs typeface="Inter"/>
                <a:sym typeface="Inter"/>
              </a:rPr>
              <a:t>2017) tại Nigeria.</a:t>
            </a:r>
          </a:p>
          <a:p>
            <a:pPr algn="just" marL="0" indent="0" lvl="0">
              <a:lnSpc>
                <a:spcPts val="2564"/>
              </a:lnSpc>
              <a:spcBef>
                <a:spcPct val="0"/>
              </a:spcBef>
            </a:pPr>
          </a:p>
          <a:p>
            <a:pPr algn="just" marL="0" indent="0" lvl="0">
              <a:lnSpc>
                <a:spcPts val="2564"/>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TextBox 2" id="2"/>
          <p:cNvSpPr txBox="true"/>
          <p:nvPr/>
        </p:nvSpPr>
        <p:spPr>
          <a:xfrm rot="0">
            <a:off x="1569770" y="767575"/>
            <a:ext cx="16120583" cy="1953831"/>
          </a:xfrm>
          <a:prstGeom prst="rect">
            <a:avLst/>
          </a:prstGeom>
        </p:spPr>
        <p:txBody>
          <a:bodyPr anchor="t" rtlCol="false" tIns="0" lIns="0" bIns="0" rIns="0">
            <a:spAutoFit/>
          </a:bodyPr>
          <a:lstStyle/>
          <a:p>
            <a:pPr algn="ctr" marL="0" indent="0" lvl="0">
              <a:lnSpc>
                <a:spcPts val="11461"/>
              </a:lnSpc>
              <a:spcBef>
                <a:spcPct val="0"/>
              </a:spcBef>
            </a:pPr>
            <a:r>
              <a:rPr lang="en-US" b="true" sz="13809">
                <a:solidFill>
                  <a:srgbClr val="161616"/>
                </a:solidFill>
                <a:latin typeface="Heading Now 31-38 Bold"/>
                <a:ea typeface="Heading Now 31-38 Bold"/>
                <a:cs typeface="Heading Now 31-38 Bold"/>
                <a:sym typeface="Heading Now 31-38 Bold"/>
              </a:rPr>
              <a:t>V. CÁC KHO TÀI NGUYÊN MỞ</a:t>
            </a:r>
          </a:p>
        </p:txBody>
      </p:sp>
      <p:sp>
        <p:nvSpPr>
          <p:cNvPr name="Freeform 3" id="3"/>
          <p:cNvSpPr/>
          <p:nvPr/>
        </p:nvSpPr>
        <p:spPr>
          <a:xfrm flipH="true" flipV="true" rot="-5400000">
            <a:off x="-64534" y="2125463"/>
            <a:ext cx="2296484" cy="1148242"/>
          </a:xfrm>
          <a:custGeom>
            <a:avLst/>
            <a:gdLst/>
            <a:ahLst/>
            <a:cxnLst/>
            <a:rect r="r" b="b" t="t" l="l"/>
            <a:pathLst>
              <a:path h="1148242" w="2296484">
                <a:moveTo>
                  <a:pt x="2296485" y="1148242"/>
                </a:moveTo>
                <a:lnTo>
                  <a:pt x="0" y="1148242"/>
                </a:lnTo>
                <a:lnTo>
                  <a:pt x="0" y="0"/>
                </a:lnTo>
                <a:lnTo>
                  <a:pt x="2296485" y="0"/>
                </a:lnTo>
                <a:lnTo>
                  <a:pt x="2296485" y="1148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5" id="5"/>
          <p:cNvSpPr/>
          <p:nvPr/>
        </p:nvSpPr>
        <p:spPr>
          <a:xfrm flipH="false" flipV="false" rot="-5400000">
            <a:off x="14793542" y="4185105"/>
            <a:ext cx="5207098" cy="2603549"/>
          </a:xfrm>
          <a:custGeom>
            <a:avLst/>
            <a:gdLst/>
            <a:ahLst/>
            <a:cxnLst/>
            <a:rect r="r" b="b" t="t" l="l"/>
            <a:pathLst>
              <a:path h="2603549" w="5207098">
                <a:moveTo>
                  <a:pt x="0" y="0"/>
                </a:moveTo>
                <a:lnTo>
                  <a:pt x="5207098" y="0"/>
                </a:lnTo>
                <a:lnTo>
                  <a:pt x="5207098" y="2603549"/>
                </a:lnTo>
                <a:lnTo>
                  <a:pt x="0" y="2603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2775932" y="838811"/>
            <a:ext cx="1028743" cy="5561433"/>
            <a:chOff x="0" y="0"/>
            <a:chExt cx="270945" cy="1464739"/>
          </a:xfrm>
        </p:grpSpPr>
        <p:sp>
          <p:nvSpPr>
            <p:cNvPr name="Freeform 7" id="7"/>
            <p:cNvSpPr/>
            <p:nvPr/>
          </p:nvSpPr>
          <p:spPr>
            <a:xfrm flipH="false" flipV="false" rot="0">
              <a:off x="0" y="0"/>
              <a:ext cx="270945" cy="1464739"/>
            </a:xfrm>
            <a:custGeom>
              <a:avLst/>
              <a:gdLst/>
              <a:ahLst/>
              <a:cxnLst/>
              <a:rect r="r" b="b" t="t" l="l"/>
              <a:pathLst>
                <a:path h="1464739" w="270945">
                  <a:moveTo>
                    <a:pt x="0" y="0"/>
                  </a:moveTo>
                  <a:lnTo>
                    <a:pt x="270945" y="0"/>
                  </a:lnTo>
                  <a:lnTo>
                    <a:pt x="270945" y="1464739"/>
                  </a:lnTo>
                  <a:lnTo>
                    <a:pt x="0" y="1464739"/>
                  </a:lnTo>
                  <a:close/>
                </a:path>
              </a:pathLst>
            </a:custGeom>
            <a:solidFill>
              <a:srgbClr val="21352E"/>
            </a:solidFill>
          </p:spPr>
        </p:sp>
        <p:sp>
          <p:nvSpPr>
            <p:cNvPr name="TextBox 8" id="8"/>
            <p:cNvSpPr txBox="true"/>
            <p:nvPr/>
          </p:nvSpPr>
          <p:spPr>
            <a:xfrm>
              <a:off x="0" y="-47625"/>
              <a:ext cx="270945" cy="1512364"/>
            </a:xfrm>
            <a:prstGeom prst="rect">
              <a:avLst/>
            </a:prstGeom>
          </p:spPr>
          <p:txBody>
            <a:bodyPr anchor="ctr" rtlCol="false" tIns="50800" lIns="50800" bIns="50800" rIns="50800"/>
            <a:lstStyle/>
            <a:p>
              <a:pPr algn="ctr">
                <a:lnSpc>
                  <a:spcPts val="2800"/>
                </a:lnSpc>
              </a:pPr>
            </a:p>
          </p:txBody>
        </p:sp>
      </p:grpSp>
      <p:sp>
        <p:nvSpPr>
          <p:cNvPr name="Freeform 9" id="9"/>
          <p:cNvSpPr/>
          <p:nvPr/>
        </p:nvSpPr>
        <p:spPr>
          <a:xfrm flipH="false" flipV="false" rot="0">
            <a:off x="1028700" y="4688170"/>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567577" y="4500845"/>
            <a:ext cx="1824439" cy="1824439"/>
          </a:xfrm>
          <a:custGeom>
            <a:avLst/>
            <a:gdLst/>
            <a:ahLst/>
            <a:cxnLst/>
            <a:rect r="r" b="b" t="t" l="l"/>
            <a:pathLst>
              <a:path h="1824439" w="1824439">
                <a:moveTo>
                  <a:pt x="0" y="0"/>
                </a:moveTo>
                <a:lnTo>
                  <a:pt x="1824440" y="0"/>
                </a:lnTo>
                <a:lnTo>
                  <a:pt x="1824440" y="1824439"/>
                </a:lnTo>
                <a:lnTo>
                  <a:pt x="0" y="1824439"/>
                </a:lnTo>
                <a:lnTo>
                  <a:pt x="0" y="0"/>
                </a:lnTo>
                <a:close/>
              </a:path>
            </a:pathLst>
          </a:custGeom>
          <a:blipFill>
            <a:blip r:embed="rId6"/>
            <a:stretch>
              <a:fillRect l="0" t="0" r="0" b="0"/>
            </a:stretch>
          </a:blipFill>
        </p:spPr>
      </p:sp>
      <p:sp>
        <p:nvSpPr>
          <p:cNvPr name="Freeform 11" id="11"/>
          <p:cNvSpPr/>
          <p:nvPr/>
        </p:nvSpPr>
        <p:spPr>
          <a:xfrm flipH="false" flipV="false" rot="0">
            <a:off x="1028700" y="6332988"/>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7151676" y="6325284"/>
            <a:ext cx="656241" cy="656241"/>
          </a:xfrm>
          <a:custGeom>
            <a:avLst/>
            <a:gdLst/>
            <a:ahLst/>
            <a:cxnLst/>
            <a:rect r="r" b="b" t="t" l="l"/>
            <a:pathLst>
              <a:path h="656241" w="656241">
                <a:moveTo>
                  <a:pt x="0" y="0"/>
                </a:moveTo>
                <a:lnTo>
                  <a:pt x="656241" y="0"/>
                </a:lnTo>
                <a:lnTo>
                  <a:pt x="656241" y="656241"/>
                </a:lnTo>
                <a:lnTo>
                  <a:pt x="0" y="656241"/>
                </a:lnTo>
                <a:lnTo>
                  <a:pt x="0" y="0"/>
                </a:lnTo>
                <a:close/>
              </a:path>
            </a:pathLst>
          </a:custGeom>
          <a:blipFill>
            <a:blip r:embed="rId7"/>
            <a:stretch>
              <a:fillRect l="0" t="0" r="0" b="0"/>
            </a:stretch>
          </a:blipFill>
        </p:spPr>
      </p:sp>
      <p:sp>
        <p:nvSpPr>
          <p:cNvPr name="Freeform 13" id="13"/>
          <p:cNvSpPr/>
          <p:nvPr/>
        </p:nvSpPr>
        <p:spPr>
          <a:xfrm flipH="false" flipV="false" rot="0">
            <a:off x="1028700" y="7507955"/>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988061" y="7331302"/>
            <a:ext cx="1265762" cy="862300"/>
          </a:xfrm>
          <a:custGeom>
            <a:avLst/>
            <a:gdLst/>
            <a:ahLst/>
            <a:cxnLst/>
            <a:rect r="r" b="b" t="t" l="l"/>
            <a:pathLst>
              <a:path h="862300" w="1265762">
                <a:moveTo>
                  <a:pt x="0" y="0"/>
                </a:moveTo>
                <a:lnTo>
                  <a:pt x="1265762" y="0"/>
                </a:lnTo>
                <a:lnTo>
                  <a:pt x="1265762" y="862300"/>
                </a:lnTo>
                <a:lnTo>
                  <a:pt x="0" y="862300"/>
                </a:lnTo>
                <a:lnTo>
                  <a:pt x="0" y="0"/>
                </a:lnTo>
                <a:close/>
              </a:path>
            </a:pathLst>
          </a:custGeom>
          <a:blipFill>
            <a:blip r:embed="rId8"/>
            <a:stretch>
              <a:fillRect l="0" t="0" r="0" b="0"/>
            </a:stretch>
          </a:blipFill>
        </p:spPr>
      </p:sp>
      <p:sp>
        <p:nvSpPr>
          <p:cNvPr name="Freeform 15" id="15"/>
          <p:cNvSpPr/>
          <p:nvPr/>
        </p:nvSpPr>
        <p:spPr>
          <a:xfrm flipH="false" flipV="false" rot="0">
            <a:off x="1028700" y="8574255"/>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6801543" y="8546027"/>
            <a:ext cx="1356507" cy="893599"/>
          </a:xfrm>
          <a:custGeom>
            <a:avLst/>
            <a:gdLst/>
            <a:ahLst/>
            <a:cxnLst/>
            <a:rect r="r" b="b" t="t" l="l"/>
            <a:pathLst>
              <a:path h="893599" w="1356507">
                <a:moveTo>
                  <a:pt x="0" y="0"/>
                </a:moveTo>
                <a:lnTo>
                  <a:pt x="1356508" y="0"/>
                </a:lnTo>
                <a:lnTo>
                  <a:pt x="1356508" y="893599"/>
                </a:lnTo>
                <a:lnTo>
                  <a:pt x="0" y="893599"/>
                </a:lnTo>
                <a:lnTo>
                  <a:pt x="0" y="0"/>
                </a:lnTo>
                <a:close/>
              </a:path>
            </a:pathLst>
          </a:custGeom>
          <a:blipFill>
            <a:blip r:embed="rId9"/>
            <a:stretch>
              <a:fillRect l="0" t="0" r="0" b="0"/>
            </a:stretch>
          </a:blipFill>
        </p:spPr>
      </p:sp>
      <p:sp>
        <p:nvSpPr>
          <p:cNvPr name="TextBox 17" id="17"/>
          <p:cNvSpPr txBox="true"/>
          <p:nvPr/>
        </p:nvSpPr>
        <p:spPr>
          <a:xfrm rot="0">
            <a:off x="1569770" y="4627491"/>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OER COMMONS </a:t>
            </a:r>
          </a:p>
        </p:txBody>
      </p:sp>
      <p:sp>
        <p:nvSpPr>
          <p:cNvPr name="TextBox 18" id="18"/>
          <p:cNvSpPr txBox="true"/>
          <p:nvPr/>
        </p:nvSpPr>
        <p:spPr>
          <a:xfrm rot="0">
            <a:off x="1550118" y="5165414"/>
            <a:ext cx="4520902" cy="9631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Mộ</a:t>
            </a:r>
            <a:r>
              <a:rPr lang="en-US" sz="1829" spc="-54">
                <a:solidFill>
                  <a:srgbClr val="161616"/>
                </a:solidFill>
                <a:latin typeface="Inter"/>
                <a:ea typeface="Inter"/>
                <a:cs typeface="Inter"/>
                <a:sym typeface="Inter"/>
              </a:rPr>
              <a:t>t trong những kho OER lớn nhất thế giới, gồm sách giáo khoa mở, bài giảng, mô-đun, video</a:t>
            </a:r>
          </a:p>
        </p:txBody>
      </p:sp>
      <p:sp>
        <p:nvSpPr>
          <p:cNvPr name="TextBox 19" id="19"/>
          <p:cNvSpPr txBox="true"/>
          <p:nvPr/>
        </p:nvSpPr>
        <p:spPr>
          <a:xfrm rot="0">
            <a:off x="846185" y="3384577"/>
            <a:ext cx="5224836" cy="422275"/>
          </a:xfrm>
          <a:prstGeom prst="rect">
            <a:avLst/>
          </a:prstGeom>
        </p:spPr>
        <p:txBody>
          <a:bodyPr anchor="t" rtlCol="false" tIns="0" lIns="0" bIns="0" rIns="0">
            <a:spAutoFit/>
          </a:bodyPr>
          <a:lstStyle/>
          <a:p>
            <a:pPr algn="l">
              <a:lnSpc>
                <a:spcPts val="3499"/>
              </a:lnSpc>
            </a:pPr>
            <a:r>
              <a:rPr lang="en-US" b="true" sz="2499" spc="-74">
                <a:solidFill>
                  <a:srgbClr val="FFFFF6"/>
                </a:solidFill>
                <a:latin typeface="Inter Bold"/>
                <a:ea typeface="Inter Bold"/>
                <a:cs typeface="Inter Bold"/>
                <a:sym typeface="Inter Bold"/>
              </a:rPr>
              <a:t>1.KHO TÀI NGUYÊN OER QUỐC TẾ</a:t>
            </a:r>
          </a:p>
        </p:txBody>
      </p:sp>
      <p:sp>
        <p:nvSpPr>
          <p:cNvPr name="TextBox 20" id="20"/>
          <p:cNvSpPr txBox="true"/>
          <p:nvPr/>
        </p:nvSpPr>
        <p:spPr>
          <a:xfrm rot="0">
            <a:off x="1550118" y="6263927"/>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MIT OPENCOURSEWARE</a:t>
            </a:r>
          </a:p>
        </p:txBody>
      </p:sp>
      <p:sp>
        <p:nvSpPr>
          <p:cNvPr name="TextBox 21" id="21"/>
          <p:cNvSpPr txBox="true"/>
          <p:nvPr/>
        </p:nvSpPr>
        <p:spPr>
          <a:xfrm rot="0">
            <a:off x="1550118" y="6763804"/>
            <a:ext cx="5208740" cy="3154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Hơ</a:t>
            </a:r>
            <a:r>
              <a:rPr lang="en-US" sz="1829" spc="-54">
                <a:solidFill>
                  <a:srgbClr val="161616"/>
                </a:solidFill>
                <a:latin typeface="Inter"/>
                <a:ea typeface="Inter"/>
                <a:cs typeface="Inter"/>
                <a:sym typeface="Inter"/>
              </a:rPr>
              <a:t>n 2.400 học phần miễn phí từ MIT</a:t>
            </a:r>
          </a:p>
        </p:txBody>
      </p:sp>
      <p:sp>
        <p:nvSpPr>
          <p:cNvPr name="TextBox 22" id="22"/>
          <p:cNvSpPr txBox="true"/>
          <p:nvPr/>
        </p:nvSpPr>
        <p:spPr>
          <a:xfrm rot="0">
            <a:off x="1550118" y="7396153"/>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OPENSTAX</a:t>
            </a:r>
          </a:p>
        </p:txBody>
      </p:sp>
      <p:sp>
        <p:nvSpPr>
          <p:cNvPr name="TextBox 23" id="23"/>
          <p:cNvSpPr txBox="true"/>
          <p:nvPr/>
        </p:nvSpPr>
        <p:spPr>
          <a:xfrm rot="0">
            <a:off x="1569770" y="7894628"/>
            <a:ext cx="5208740" cy="298974"/>
          </a:xfrm>
          <a:prstGeom prst="rect">
            <a:avLst/>
          </a:prstGeom>
        </p:spPr>
        <p:txBody>
          <a:bodyPr anchor="t" rtlCol="false" tIns="0" lIns="0" bIns="0" rIns="0">
            <a:spAutoFit/>
          </a:bodyPr>
          <a:lstStyle/>
          <a:p>
            <a:pPr algn="just" marL="0" indent="0" lvl="0">
              <a:lnSpc>
                <a:spcPts val="2421"/>
              </a:lnSpc>
              <a:spcBef>
                <a:spcPct val="0"/>
              </a:spcBef>
            </a:pPr>
            <a:r>
              <a:rPr lang="en-US" sz="1729" spc="-51">
                <a:solidFill>
                  <a:srgbClr val="161616"/>
                </a:solidFill>
                <a:latin typeface="Inter"/>
                <a:ea typeface="Inter"/>
                <a:cs typeface="Inter"/>
                <a:sym typeface="Inter"/>
              </a:rPr>
              <a:t>Sách</a:t>
            </a:r>
            <a:r>
              <a:rPr lang="en-US" sz="1729" spc="-51">
                <a:solidFill>
                  <a:srgbClr val="161616"/>
                </a:solidFill>
                <a:latin typeface="Inter"/>
                <a:ea typeface="Inter"/>
                <a:cs typeface="Inter"/>
                <a:sym typeface="Inter"/>
              </a:rPr>
              <a:t> giáo khoa chất lượng cao, giấy phép CC BY.</a:t>
            </a:r>
          </a:p>
        </p:txBody>
      </p:sp>
      <p:sp>
        <p:nvSpPr>
          <p:cNvPr name="TextBox 24" id="24"/>
          <p:cNvSpPr txBox="true"/>
          <p:nvPr/>
        </p:nvSpPr>
        <p:spPr>
          <a:xfrm rot="0">
            <a:off x="1550118" y="8566394"/>
            <a:ext cx="4211738" cy="369457"/>
          </a:xfrm>
          <a:prstGeom prst="rect">
            <a:avLst/>
          </a:prstGeom>
        </p:spPr>
        <p:txBody>
          <a:bodyPr anchor="t" rtlCol="false" tIns="0" lIns="0" bIns="0" rIns="0">
            <a:spAutoFit/>
          </a:bodyPr>
          <a:lstStyle/>
          <a:p>
            <a:pPr algn="l">
              <a:lnSpc>
                <a:spcPts val="3095"/>
              </a:lnSpc>
            </a:pPr>
            <a:r>
              <a:rPr lang="en-US" b="true" sz="2211" spc="-66">
                <a:solidFill>
                  <a:srgbClr val="161616"/>
                </a:solidFill>
                <a:latin typeface="Inter Bold"/>
                <a:ea typeface="Inter Bold"/>
                <a:cs typeface="Inter Bold"/>
                <a:sym typeface="Inter Bold"/>
              </a:rPr>
              <a:t>COURSERA OPEN / MOOC MỞ</a:t>
            </a:r>
          </a:p>
        </p:txBody>
      </p:sp>
      <p:sp>
        <p:nvSpPr>
          <p:cNvPr name="TextBox 25" id="25"/>
          <p:cNvSpPr txBox="true"/>
          <p:nvPr/>
        </p:nvSpPr>
        <p:spPr>
          <a:xfrm rot="0">
            <a:off x="1573989" y="9084323"/>
            <a:ext cx="5208740" cy="315484"/>
          </a:xfrm>
          <a:prstGeom prst="rect">
            <a:avLst/>
          </a:prstGeom>
        </p:spPr>
        <p:txBody>
          <a:bodyPr anchor="t" rtlCol="false" tIns="0" lIns="0" bIns="0" rIns="0">
            <a:spAutoFit/>
          </a:bodyPr>
          <a:lstStyle/>
          <a:p>
            <a:pPr algn="just">
              <a:lnSpc>
                <a:spcPts val="2561"/>
              </a:lnSpc>
            </a:pPr>
            <a:r>
              <a:rPr lang="en-US" sz="1829" spc="-54">
                <a:solidFill>
                  <a:srgbClr val="161616"/>
                </a:solidFill>
                <a:latin typeface="Inter"/>
                <a:ea typeface="Inter"/>
                <a:cs typeface="Inter"/>
                <a:sym typeface="Inter"/>
              </a:rPr>
              <a:t> </a:t>
            </a:r>
            <a:r>
              <a:rPr lang="en-US" sz="1829" spc="-54">
                <a:solidFill>
                  <a:srgbClr val="161616"/>
                </a:solidFill>
                <a:latin typeface="Inter"/>
                <a:ea typeface="Inter"/>
                <a:cs typeface="Inter"/>
                <a:sym typeface="Inter"/>
              </a:rPr>
              <a:t>Nhiều khóa học miễn phí từ các đại học lớn.</a:t>
            </a:r>
          </a:p>
        </p:txBody>
      </p:sp>
      <p:sp>
        <p:nvSpPr>
          <p:cNvPr name="TextBox 26" id="26"/>
          <p:cNvSpPr txBox="true"/>
          <p:nvPr/>
        </p:nvSpPr>
        <p:spPr>
          <a:xfrm rot="0">
            <a:off x="10272234" y="4627491"/>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EDX OPEN COURSES</a:t>
            </a:r>
          </a:p>
        </p:txBody>
      </p:sp>
      <p:sp>
        <p:nvSpPr>
          <p:cNvPr name="Freeform 27" id="27"/>
          <p:cNvSpPr/>
          <p:nvPr/>
        </p:nvSpPr>
        <p:spPr>
          <a:xfrm flipH="false" flipV="false" rot="0">
            <a:off x="9706118" y="4675116"/>
            <a:ext cx="313082" cy="361596"/>
          </a:xfrm>
          <a:custGeom>
            <a:avLst/>
            <a:gdLst/>
            <a:ahLst/>
            <a:cxnLst/>
            <a:rect r="r" b="b" t="t" l="l"/>
            <a:pathLst>
              <a:path h="361596" w="313082">
                <a:moveTo>
                  <a:pt x="0" y="0"/>
                </a:moveTo>
                <a:lnTo>
                  <a:pt x="313082" y="0"/>
                </a:lnTo>
                <a:lnTo>
                  <a:pt x="313082" y="361595"/>
                </a:lnTo>
                <a:lnTo>
                  <a:pt x="0" y="3615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8" id="28"/>
          <p:cNvSpPr txBox="true"/>
          <p:nvPr/>
        </p:nvSpPr>
        <p:spPr>
          <a:xfrm rot="0">
            <a:off x="10272234" y="5148229"/>
            <a:ext cx="4762015" cy="639202"/>
          </a:xfrm>
          <a:prstGeom prst="rect">
            <a:avLst/>
          </a:prstGeom>
        </p:spPr>
        <p:txBody>
          <a:bodyPr anchor="t" rtlCol="false" tIns="0" lIns="0" bIns="0" rIns="0">
            <a:spAutoFit/>
          </a:bodyPr>
          <a:lstStyle/>
          <a:p>
            <a:pPr algn="just">
              <a:lnSpc>
                <a:spcPts val="2561"/>
              </a:lnSpc>
            </a:pPr>
            <a:r>
              <a:rPr lang="en-US" sz="1829" spc="-54">
                <a:solidFill>
                  <a:srgbClr val="161616"/>
                </a:solidFill>
                <a:latin typeface="Inter"/>
                <a:ea typeface="Inter"/>
                <a:cs typeface="Inter"/>
                <a:sym typeface="Inter"/>
              </a:rPr>
              <a:t>Các</a:t>
            </a:r>
            <a:r>
              <a:rPr lang="en-US" sz="1829" spc="-54">
                <a:solidFill>
                  <a:srgbClr val="161616"/>
                </a:solidFill>
                <a:latin typeface="Inter"/>
                <a:ea typeface="Inter"/>
                <a:cs typeface="Inter"/>
                <a:sym typeface="Inter"/>
              </a:rPr>
              <a:t> khóa học mở từ Harvard, MIT, Berkeley.</a:t>
            </a:r>
          </a:p>
          <a:p>
            <a:pPr algn="just" marL="0" indent="0" lvl="0">
              <a:lnSpc>
                <a:spcPts val="2561"/>
              </a:lnSpc>
              <a:spcBef>
                <a:spcPct val="0"/>
              </a:spcBef>
            </a:pPr>
            <a:r>
              <a:rPr lang="en-US" sz="1829" spc="-54">
                <a:solidFill>
                  <a:srgbClr val="161616"/>
                </a:solidFill>
                <a:latin typeface="Inter"/>
                <a:ea typeface="Inter"/>
                <a:cs typeface="Inter"/>
                <a:sym typeface="Inter"/>
              </a:rPr>
              <a:t>UNESCO OER</a:t>
            </a:r>
          </a:p>
        </p:txBody>
      </p:sp>
      <p:sp>
        <p:nvSpPr>
          <p:cNvPr name="Freeform 29" id="29"/>
          <p:cNvSpPr/>
          <p:nvPr/>
        </p:nvSpPr>
        <p:spPr>
          <a:xfrm flipH="false" flipV="false" rot="0">
            <a:off x="9706118" y="6324606"/>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0" id="30"/>
          <p:cNvSpPr txBox="true"/>
          <p:nvPr/>
        </p:nvSpPr>
        <p:spPr>
          <a:xfrm rot="0">
            <a:off x="10272234" y="6263927"/>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OECD OER REPOSITORY</a:t>
            </a:r>
          </a:p>
        </p:txBody>
      </p:sp>
      <p:sp>
        <p:nvSpPr>
          <p:cNvPr name="TextBox 31" id="31"/>
          <p:cNvSpPr txBox="true"/>
          <p:nvPr/>
        </p:nvSpPr>
        <p:spPr>
          <a:xfrm rot="0">
            <a:off x="10272234" y="6763804"/>
            <a:ext cx="4520902" cy="3154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Báo cáo,</a:t>
            </a:r>
            <a:r>
              <a:rPr lang="en-US" sz="1829" spc="-54">
                <a:solidFill>
                  <a:srgbClr val="161616"/>
                </a:solidFill>
                <a:latin typeface="Inter"/>
                <a:ea typeface="Inter"/>
                <a:cs typeface="Inter"/>
                <a:sym typeface="Inter"/>
              </a:rPr>
              <a:t> nghiên cứu và chính sách về OER.</a:t>
            </a:r>
          </a:p>
        </p:txBody>
      </p:sp>
      <p:sp>
        <p:nvSpPr>
          <p:cNvPr name="Freeform 32" id="32"/>
          <p:cNvSpPr/>
          <p:nvPr/>
        </p:nvSpPr>
        <p:spPr>
          <a:xfrm flipH="false" flipV="false" rot="0">
            <a:off x="9706118" y="7488582"/>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3" id="33"/>
          <p:cNvSpPr txBox="true"/>
          <p:nvPr/>
        </p:nvSpPr>
        <p:spPr>
          <a:xfrm rot="0">
            <a:off x="10272234" y="7396153"/>
            <a:ext cx="4762015" cy="86042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OPENLEARN – THE OPEN UNIVERSITY (UK)</a:t>
            </a:r>
          </a:p>
        </p:txBody>
      </p:sp>
      <p:sp>
        <p:nvSpPr>
          <p:cNvPr name="TextBox 34" id="34"/>
          <p:cNvSpPr txBox="true"/>
          <p:nvPr/>
        </p:nvSpPr>
        <p:spPr>
          <a:xfrm rot="0">
            <a:off x="10272234" y="8332778"/>
            <a:ext cx="4520902" cy="3154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Bài học, video,</a:t>
            </a:r>
            <a:r>
              <a:rPr lang="en-US" sz="1829" spc="-54">
                <a:solidFill>
                  <a:srgbClr val="161616"/>
                </a:solidFill>
                <a:latin typeface="Inter"/>
                <a:ea typeface="Inter"/>
                <a:cs typeface="Inter"/>
                <a:sym typeface="Inter"/>
              </a:rPr>
              <a:t> tài liệu miễn phí.</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TextBox 2" id="2"/>
          <p:cNvSpPr txBox="true"/>
          <p:nvPr/>
        </p:nvSpPr>
        <p:spPr>
          <a:xfrm rot="0">
            <a:off x="1569770" y="767575"/>
            <a:ext cx="16120583" cy="1953831"/>
          </a:xfrm>
          <a:prstGeom prst="rect">
            <a:avLst/>
          </a:prstGeom>
        </p:spPr>
        <p:txBody>
          <a:bodyPr anchor="t" rtlCol="false" tIns="0" lIns="0" bIns="0" rIns="0">
            <a:spAutoFit/>
          </a:bodyPr>
          <a:lstStyle/>
          <a:p>
            <a:pPr algn="ctr" marL="0" indent="0" lvl="0">
              <a:lnSpc>
                <a:spcPts val="11461"/>
              </a:lnSpc>
              <a:spcBef>
                <a:spcPct val="0"/>
              </a:spcBef>
            </a:pPr>
            <a:r>
              <a:rPr lang="en-US" b="true" sz="13809">
                <a:solidFill>
                  <a:srgbClr val="161616"/>
                </a:solidFill>
                <a:latin typeface="Heading Now 31-38 Bold"/>
                <a:ea typeface="Heading Now 31-38 Bold"/>
                <a:cs typeface="Heading Now 31-38 Bold"/>
                <a:sym typeface="Heading Now 31-38 Bold"/>
              </a:rPr>
              <a:t>V. CÁC KHO TÀI NGUYÊN MỞ</a:t>
            </a:r>
          </a:p>
        </p:txBody>
      </p:sp>
      <p:sp>
        <p:nvSpPr>
          <p:cNvPr name="Freeform 3" id="3"/>
          <p:cNvSpPr/>
          <p:nvPr/>
        </p:nvSpPr>
        <p:spPr>
          <a:xfrm flipH="true" flipV="true" rot="-5400000">
            <a:off x="-64534" y="2125463"/>
            <a:ext cx="2296484" cy="1148242"/>
          </a:xfrm>
          <a:custGeom>
            <a:avLst/>
            <a:gdLst/>
            <a:ahLst/>
            <a:cxnLst/>
            <a:rect r="r" b="b" t="t" l="l"/>
            <a:pathLst>
              <a:path h="1148242" w="2296484">
                <a:moveTo>
                  <a:pt x="2296485" y="1148242"/>
                </a:moveTo>
                <a:lnTo>
                  <a:pt x="0" y="1148242"/>
                </a:lnTo>
                <a:lnTo>
                  <a:pt x="0" y="0"/>
                </a:lnTo>
                <a:lnTo>
                  <a:pt x="2296485" y="0"/>
                </a:lnTo>
                <a:lnTo>
                  <a:pt x="2296485" y="1148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grpSp>
        <p:nvGrpSpPr>
          <p:cNvPr name="Group 5" id="5"/>
          <p:cNvGrpSpPr/>
          <p:nvPr/>
        </p:nvGrpSpPr>
        <p:grpSpPr>
          <a:xfrm rot="-5400000">
            <a:off x="3048877" y="565866"/>
            <a:ext cx="979410" cy="6057990"/>
            <a:chOff x="0" y="0"/>
            <a:chExt cx="257952" cy="1595520"/>
          </a:xfrm>
        </p:grpSpPr>
        <p:sp>
          <p:nvSpPr>
            <p:cNvPr name="Freeform 6" id="6"/>
            <p:cNvSpPr/>
            <p:nvPr/>
          </p:nvSpPr>
          <p:spPr>
            <a:xfrm flipH="false" flipV="false" rot="0">
              <a:off x="0" y="0"/>
              <a:ext cx="257952" cy="1595520"/>
            </a:xfrm>
            <a:custGeom>
              <a:avLst/>
              <a:gdLst/>
              <a:ahLst/>
              <a:cxnLst/>
              <a:rect r="r" b="b" t="t" l="l"/>
              <a:pathLst>
                <a:path h="1595520" w="257952">
                  <a:moveTo>
                    <a:pt x="0" y="0"/>
                  </a:moveTo>
                  <a:lnTo>
                    <a:pt x="257952" y="0"/>
                  </a:lnTo>
                  <a:lnTo>
                    <a:pt x="257952" y="1595520"/>
                  </a:lnTo>
                  <a:lnTo>
                    <a:pt x="0" y="1595520"/>
                  </a:lnTo>
                  <a:close/>
                </a:path>
              </a:pathLst>
            </a:custGeom>
            <a:solidFill>
              <a:srgbClr val="21352E"/>
            </a:solidFill>
          </p:spPr>
        </p:sp>
        <p:sp>
          <p:nvSpPr>
            <p:cNvPr name="TextBox 7" id="7"/>
            <p:cNvSpPr txBox="true"/>
            <p:nvPr/>
          </p:nvSpPr>
          <p:spPr>
            <a:xfrm>
              <a:off x="0" y="-47625"/>
              <a:ext cx="257952" cy="1643145"/>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false" flipV="false" rot="0">
            <a:off x="1028700" y="4688170"/>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83709" y="6701182"/>
            <a:ext cx="313082" cy="361596"/>
          </a:xfrm>
          <a:custGeom>
            <a:avLst/>
            <a:gdLst/>
            <a:ahLst/>
            <a:cxnLst/>
            <a:rect r="r" b="b" t="t" l="l"/>
            <a:pathLst>
              <a:path h="361596" w="313082">
                <a:moveTo>
                  <a:pt x="0" y="0"/>
                </a:moveTo>
                <a:lnTo>
                  <a:pt x="313081" y="0"/>
                </a:lnTo>
                <a:lnTo>
                  <a:pt x="313081"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83709" y="8059329"/>
            <a:ext cx="313082" cy="361596"/>
          </a:xfrm>
          <a:custGeom>
            <a:avLst/>
            <a:gdLst/>
            <a:ahLst/>
            <a:cxnLst/>
            <a:rect r="r" b="b" t="t" l="l"/>
            <a:pathLst>
              <a:path h="361596" w="313082">
                <a:moveTo>
                  <a:pt x="0" y="0"/>
                </a:moveTo>
                <a:lnTo>
                  <a:pt x="313081" y="0"/>
                </a:lnTo>
                <a:lnTo>
                  <a:pt x="313081"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9706118" y="3486230"/>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9706118" y="5457953"/>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6778511" y="4688170"/>
            <a:ext cx="1325170" cy="1325170"/>
          </a:xfrm>
          <a:custGeom>
            <a:avLst/>
            <a:gdLst/>
            <a:ahLst/>
            <a:cxnLst/>
            <a:rect r="r" b="b" t="t" l="l"/>
            <a:pathLst>
              <a:path h="1325170" w="1325170">
                <a:moveTo>
                  <a:pt x="0" y="0"/>
                </a:moveTo>
                <a:lnTo>
                  <a:pt x="1325170" y="0"/>
                </a:lnTo>
                <a:lnTo>
                  <a:pt x="1325170" y="1325170"/>
                </a:lnTo>
                <a:lnTo>
                  <a:pt x="0" y="1325170"/>
                </a:lnTo>
                <a:lnTo>
                  <a:pt x="0" y="0"/>
                </a:lnTo>
                <a:close/>
              </a:path>
            </a:pathLst>
          </a:custGeom>
          <a:blipFill>
            <a:blip r:embed="rId6"/>
            <a:stretch>
              <a:fillRect l="0" t="0" r="0" b="0"/>
            </a:stretch>
          </a:blipFill>
        </p:spPr>
      </p:sp>
      <p:sp>
        <p:nvSpPr>
          <p:cNvPr name="Freeform 14" id="14"/>
          <p:cNvSpPr/>
          <p:nvPr/>
        </p:nvSpPr>
        <p:spPr>
          <a:xfrm flipH="false" flipV="false" rot="0">
            <a:off x="6758858" y="6365375"/>
            <a:ext cx="1265728" cy="1265728"/>
          </a:xfrm>
          <a:custGeom>
            <a:avLst/>
            <a:gdLst/>
            <a:ahLst/>
            <a:cxnLst/>
            <a:rect r="r" b="b" t="t" l="l"/>
            <a:pathLst>
              <a:path h="1265728" w="1265728">
                <a:moveTo>
                  <a:pt x="0" y="0"/>
                </a:moveTo>
                <a:lnTo>
                  <a:pt x="1265729" y="0"/>
                </a:lnTo>
                <a:lnTo>
                  <a:pt x="1265729" y="1265728"/>
                </a:lnTo>
                <a:lnTo>
                  <a:pt x="0" y="1265728"/>
                </a:lnTo>
                <a:lnTo>
                  <a:pt x="0" y="0"/>
                </a:lnTo>
                <a:close/>
              </a:path>
            </a:pathLst>
          </a:custGeom>
          <a:blipFill>
            <a:blip r:embed="rId7"/>
            <a:stretch>
              <a:fillRect l="0" t="0" r="0" b="0"/>
            </a:stretch>
          </a:blipFill>
        </p:spPr>
      </p:sp>
      <p:sp>
        <p:nvSpPr>
          <p:cNvPr name="Freeform 15" id="15"/>
          <p:cNvSpPr/>
          <p:nvPr/>
        </p:nvSpPr>
        <p:spPr>
          <a:xfrm flipH="false" flipV="false" rot="0">
            <a:off x="5422701" y="8418536"/>
            <a:ext cx="2672315" cy="834324"/>
          </a:xfrm>
          <a:custGeom>
            <a:avLst/>
            <a:gdLst/>
            <a:ahLst/>
            <a:cxnLst/>
            <a:rect r="r" b="b" t="t" l="l"/>
            <a:pathLst>
              <a:path h="834324" w="2672315">
                <a:moveTo>
                  <a:pt x="0" y="0"/>
                </a:moveTo>
                <a:lnTo>
                  <a:pt x="2672315" y="0"/>
                </a:lnTo>
                <a:lnTo>
                  <a:pt x="2672315" y="834324"/>
                </a:lnTo>
                <a:lnTo>
                  <a:pt x="0" y="834324"/>
                </a:lnTo>
                <a:lnTo>
                  <a:pt x="0" y="0"/>
                </a:lnTo>
                <a:close/>
              </a:path>
            </a:pathLst>
          </a:custGeom>
          <a:blipFill>
            <a:blip r:embed="rId8"/>
            <a:stretch>
              <a:fillRect l="0" t="0" r="0" b="0"/>
            </a:stretch>
          </a:blipFill>
        </p:spPr>
      </p:sp>
      <p:grpSp>
        <p:nvGrpSpPr>
          <p:cNvPr name="Group 16" id="16"/>
          <p:cNvGrpSpPr/>
          <p:nvPr/>
        </p:nvGrpSpPr>
        <p:grpSpPr>
          <a:xfrm rot="-5400000">
            <a:off x="14918717" y="5773742"/>
            <a:ext cx="1321961" cy="5496860"/>
            <a:chOff x="0" y="0"/>
            <a:chExt cx="348171" cy="1447733"/>
          </a:xfrm>
        </p:grpSpPr>
        <p:sp>
          <p:nvSpPr>
            <p:cNvPr name="Freeform 17" id="17"/>
            <p:cNvSpPr/>
            <p:nvPr/>
          </p:nvSpPr>
          <p:spPr>
            <a:xfrm flipH="false" flipV="false" rot="0">
              <a:off x="0" y="0"/>
              <a:ext cx="348171" cy="1447733"/>
            </a:xfrm>
            <a:custGeom>
              <a:avLst/>
              <a:gdLst/>
              <a:ahLst/>
              <a:cxnLst/>
              <a:rect r="r" b="b" t="t" l="l"/>
              <a:pathLst>
                <a:path h="1447733" w="348171">
                  <a:moveTo>
                    <a:pt x="0" y="0"/>
                  </a:moveTo>
                  <a:lnTo>
                    <a:pt x="348171" y="0"/>
                  </a:lnTo>
                  <a:lnTo>
                    <a:pt x="348171" y="1447733"/>
                  </a:lnTo>
                  <a:lnTo>
                    <a:pt x="0" y="1447733"/>
                  </a:lnTo>
                  <a:close/>
                </a:path>
              </a:pathLst>
            </a:custGeom>
            <a:solidFill>
              <a:srgbClr val="21352E"/>
            </a:solidFill>
          </p:spPr>
        </p:sp>
        <p:sp>
          <p:nvSpPr>
            <p:cNvPr name="TextBox 18" id="18"/>
            <p:cNvSpPr txBox="true"/>
            <p:nvPr/>
          </p:nvSpPr>
          <p:spPr>
            <a:xfrm>
              <a:off x="0" y="-47625"/>
              <a:ext cx="348171" cy="1495358"/>
            </a:xfrm>
            <a:prstGeom prst="rect">
              <a:avLst/>
            </a:prstGeom>
          </p:spPr>
          <p:txBody>
            <a:bodyPr anchor="ctr" rtlCol="false" tIns="50800" lIns="50800" bIns="50800" rIns="50800"/>
            <a:lstStyle/>
            <a:p>
              <a:pPr algn="ctr">
                <a:lnSpc>
                  <a:spcPts val="2800"/>
                </a:lnSpc>
              </a:pPr>
            </a:p>
          </p:txBody>
        </p:sp>
      </p:grpSp>
      <p:grpSp>
        <p:nvGrpSpPr>
          <p:cNvPr name="Group 19" id="19"/>
          <p:cNvGrpSpPr/>
          <p:nvPr/>
        </p:nvGrpSpPr>
        <p:grpSpPr>
          <a:xfrm rot="0">
            <a:off x="9067454" y="3847826"/>
            <a:ext cx="156503" cy="4460132"/>
            <a:chOff x="0" y="0"/>
            <a:chExt cx="41219" cy="1174685"/>
          </a:xfrm>
        </p:grpSpPr>
        <p:sp>
          <p:nvSpPr>
            <p:cNvPr name="Freeform 20" id="20"/>
            <p:cNvSpPr/>
            <p:nvPr/>
          </p:nvSpPr>
          <p:spPr>
            <a:xfrm flipH="false" flipV="false" rot="0">
              <a:off x="0" y="0"/>
              <a:ext cx="41219" cy="1174685"/>
            </a:xfrm>
            <a:custGeom>
              <a:avLst/>
              <a:gdLst/>
              <a:ahLst/>
              <a:cxnLst/>
              <a:rect r="r" b="b" t="t" l="l"/>
              <a:pathLst>
                <a:path h="1174685" w="41219">
                  <a:moveTo>
                    <a:pt x="0" y="0"/>
                  </a:moveTo>
                  <a:lnTo>
                    <a:pt x="41219" y="0"/>
                  </a:lnTo>
                  <a:lnTo>
                    <a:pt x="41219" y="1174685"/>
                  </a:lnTo>
                  <a:lnTo>
                    <a:pt x="0" y="1174685"/>
                  </a:lnTo>
                  <a:close/>
                </a:path>
              </a:pathLst>
            </a:custGeom>
            <a:solidFill>
              <a:srgbClr val="21352E"/>
            </a:solidFill>
          </p:spPr>
        </p:sp>
        <p:sp>
          <p:nvSpPr>
            <p:cNvPr name="TextBox 21" id="21"/>
            <p:cNvSpPr txBox="true"/>
            <p:nvPr/>
          </p:nvSpPr>
          <p:spPr>
            <a:xfrm>
              <a:off x="0" y="-47625"/>
              <a:ext cx="41219" cy="1222310"/>
            </a:xfrm>
            <a:prstGeom prst="rect">
              <a:avLst/>
            </a:prstGeom>
          </p:spPr>
          <p:txBody>
            <a:bodyPr anchor="ctr" rtlCol="false" tIns="50800" lIns="50800" bIns="50800" rIns="50800"/>
            <a:lstStyle/>
            <a:p>
              <a:pPr algn="ctr">
                <a:lnSpc>
                  <a:spcPts val="2800"/>
                </a:lnSpc>
              </a:pPr>
            </a:p>
          </p:txBody>
        </p:sp>
      </p:grpSp>
      <p:sp>
        <p:nvSpPr>
          <p:cNvPr name="Freeform 22" id="22"/>
          <p:cNvSpPr/>
          <p:nvPr/>
        </p:nvSpPr>
        <p:spPr>
          <a:xfrm flipH="false" flipV="false" rot="0">
            <a:off x="9706118" y="6581549"/>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5984007" y="6485119"/>
            <a:ext cx="953816" cy="926394"/>
          </a:xfrm>
          <a:custGeom>
            <a:avLst/>
            <a:gdLst/>
            <a:ahLst/>
            <a:cxnLst/>
            <a:rect r="r" b="b" t="t" l="l"/>
            <a:pathLst>
              <a:path h="926394" w="953816">
                <a:moveTo>
                  <a:pt x="0" y="0"/>
                </a:moveTo>
                <a:lnTo>
                  <a:pt x="953816" y="0"/>
                </a:lnTo>
                <a:lnTo>
                  <a:pt x="953816" y="926394"/>
                </a:lnTo>
                <a:lnTo>
                  <a:pt x="0" y="926394"/>
                </a:lnTo>
                <a:lnTo>
                  <a:pt x="0" y="0"/>
                </a:lnTo>
                <a:close/>
              </a:path>
            </a:pathLst>
          </a:custGeom>
          <a:blipFill>
            <a:blip r:embed="rId9"/>
            <a:stretch>
              <a:fillRect l="0" t="0" r="0" b="0"/>
            </a:stretch>
          </a:blipFill>
        </p:spPr>
      </p:sp>
      <p:sp>
        <p:nvSpPr>
          <p:cNvPr name="Freeform 24" id="24"/>
          <p:cNvSpPr/>
          <p:nvPr/>
        </p:nvSpPr>
        <p:spPr>
          <a:xfrm flipH="false" flipV="false" rot="0">
            <a:off x="15907241" y="5243632"/>
            <a:ext cx="1030582" cy="1030582"/>
          </a:xfrm>
          <a:custGeom>
            <a:avLst/>
            <a:gdLst/>
            <a:ahLst/>
            <a:cxnLst/>
            <a:rect r="r" b="b" t="t" l="l"/>
            <a:pathLst>
              <a:path h="1030582" w="1030582">
                <a:moveTo>
                  <a:pt x="0" y="0"/>
                </a:moveTo>
                <a:lnTo>
                  <a:pt x="1030582" y="0"/>
                </a:lnTo>
                <a:lnTo>
                  <a:pt x="1030582" y="1030582"/>
                </a:lnTo>
                <a:lnTo>
                  <a:pt x="0" y="1030582"/>
                </a:lnTo>
                <a:lnTo>
                  <a:pt x="0" y="0"/>
                </a:lnTo>
                <a:close/>
              </a:path>
            </a:pathLst>
          </a:custGeom>
          <a:blipFill>
            <a:blip r:embed="rId10"/>
            <a:stretch>
              <a:fillRect l="0" t="0" r="0" b="0"/>
            </a:stretch>
          </a:blipFill>
        </p:spPr>
      </p:sp>
      <p:sp>
        <p:nvSpPr>
          <p:cNvPr name="TextBox 25" id="25"/>
          <p:cNvSpPr txBox="true"/>
          <p:nvPr/>
        </p:nvSpPr>
        <p:spPr>
          <a:xfrm rot="0">
            <a:off x="1569770" y="4627491"/>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PHET SIMULATIONS</a:t>
            </a:r>
          </a:p>
        </p:txBody>
      </p:sp>
      <p:sp>
        <p:nvSpPr>
          <p:cNvPr name="TextBox 26" id="26"/>
          <p:cNvSpPr txBox="true"/>
          <p:nvPr/>
        </p:nvSpPr>
        <p:spPr>
          <a:xfrm rot="0">
            <a:off x="1550118" y="5165414"/>
            <a:ext cx="4520902" cy="963184"/>
          </a:xfrm>
          <a:prstGeom prst="rect">
            <a:avLst/>
          </a:prstGeom>
        </p:spPr>
        <p:txBody>
          <a:bodyPr anchor="t" rtlCol="false" tIns="0" lIns="0" bIns="0" rIns="0">
            <a:spAutoFit/>
          </a:bodyPr>
          <a:lstStyle/>
          <a:p>
            <a:pPr algn="just">
              <a:lnSpc>
                <a:spcPts val="2561"/>
              </a:lnSpc>
            </a:pPr>
            <a:r>
              <a:rPr lang="en-US" sz="1829" spc="-54">
                <a:solidFill>
                  <a:srgbClr val="161616"/>
                </a:solidFill>
                <a:latin typeface="Inter"/>
                <a:ea typeface="Inter"/>
                <a:cs typeface="Inter"/>
                <a:sym typeface="Inter"/>
              </a:rPr>
              <a:t>Kho</a:t>
            </a:r>
            <a:r>
              <a:rPr lang="en-US" sz="1829" spc="-54">
                <a:solidFill>
                  <a:srgbClr val="161616"/>
                </a:solidFill>
                <a:latin typeface="Inter"/>
                <a:ea typeface="Inter"/>
                <a:cs typeface="Inter"/>
                <a:sym typeface="Inter"/>
              </a:rPr>
              <a:t> mô phỏng khoa học; hơn 1 tỷ lượt sử dụng</a:t>
            </a:r>
          </a:p>
          <a:p>
            <a:pPr algn="just" marL="0" indent="0" lvl="0">
              <a:lnSpc>
                <a:spcPts val="2561"/>
              </a:lnSpc>
              <a:spcBef>
                <a:spcPct val="0"/>
              </a:spcBef>
            </a:pPr>
            <a:r>
              <a:rPr lang="en-US" sz="1829" spc="-54">
                <a:solidFill>
                  <a:srgbClr val="161616"/>
                </a:solidFill>
                <a:latin typeface="Inter"/>
                <a:ea typeface="Inter"/>
                <a:cs typeface="Inter"/>
                <a:sym typeface="Inter"/>
              </a:rPr>
              <a:t>BL_ED4110_0205_W6_Khai thác tài…</a:t>
            </a:r>
          </a:p>
        </p:txBody>
      </p:sp>
      <p:sp>
        <p:nvSpPr>
          <p:cNvPr name="TextBox 27" id="27"/>
          <p:cNvSpPr txBox="true"/>
          <p:nvPr/>
        </p:nvSpPr>
        <p:spPr>
          <a:xfrm rot="0">
            <a:off x="949873" y="3373719"/>
            <a:ext cx="5721393" cy="422275"/>
          </a:xfrm>
          <a:prstGeom prst="rect">
            <a:avLst/>
          </a:prstGeom>
        </p:spPr>
        <p:txBody>
          <a:bodyPr anchor="t" rtlCol="false" tIns="0" lIns="0" bIns="0" rIns="0">
            <a:spAutoFit/>
          </a:bodyPr>
          <a:lstStyle/>
          <a:p>
            <a:pPr algn="l">
              <a:lnSpc>
                <a:spcPts val="3499"/>
              </a:lnSpc>
            </a:pPr>
            <a:r>
              <a:rPr lang="en-US" b="true" sz="2499" spc="-74">
                <a:solidFill>
                  <a:srgbClr val="FFFFF6"/>
                </a:solidFill>
                <a:latin typeface="Inter Bold"/>
                <a:ea typeface="Inter Bold"/>
                <a:cs typeface="Inter Bold"/>
                <a:sym typeface="Inter Bold"/>
              </a:rPr>
              <a:t>2.KHO TÀI NGUYÊN THEO LĨNH VỰC</a:t>
            </a:r>
          </a:p>
        </p:txBody>
      </p:sp>
      <p:sp>
        <p:nvSpPr>
          <p:cNvPr name="TextBox 28" id="28"/>
          <p:cNvSpPr txBox="true"/>
          <p:nvPr/>
        </p:nvSpPr>
        <p:spPr>
          <a:xfrm rot="0">
            <a:off x="1569770" y="6575964"/>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BOOKBOON</a:t>
            </a:r>
          </a:p>
        </p:txBody>
      </p:sp>
      <p:sp>
        <p:nvSpPr>
          <p:cNvPr name="TextBox 29" id="29"/>
          <p:cNvSpPr txBox="true"/>
          <p:nvPr/>
        </p:nvSpPr>
        <p:spPr>
          <a:xfrm rot="0">
            <a:off x="1569770" y="7112539"/>
            <a:ext cx="5208740" cy="3154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Sá</a:t>
            </a:r>
            <a:r>
              <a:rPr lang="en-US" sz="1829" spc="-54">
                <a:solidFill>
                  <a:srgbClr val="161616"/>
                </a:solidFill>
                <a:latin typeface="Inter"/>
                <a:ea typeface="Inter"/>
                <a:cs typeface="Inter"/>
                <a:sym typeface="Inter"/>
              </a:rPr>
              <a:t>ch miễn phí về kinh tế, kỹ thuật, kỹ năng mềm.</a:t>
            </a:r>
          </a:p>
        </p:txBody>
      </p:sp>
      <p:sp>
        <p:nvSpPr>
          <p:cNvPr name="TextBox 30" id="30"/>
          <p:cNvSpPr txBox="true"/>
          <p:nvPr/>
        </p:nvSpPr>
        <p:spPr>
          <a:xfrm rot="0">
            <a:off x="1569770" y="8042804"/>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MERLOT</a:t>
            </a:r>
          </a:p>
        </p:txBody>
      </p:sp>
      <p:sp>
        <p:nvSpPr>
          <p:cNvPr name="TextBox 31" id="31"/>
          <p:cNvSpPr txBox="true"/>
          <p:nvPr/>
        </p:nvSpPr>
        <p:spPr>
          <a:xfrm rot="0">
            <a:off x="1569770" y="8579379"/>
            <a:ext cx="3224268" cy="9631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Tài</a:t>
            </a:r>
            <a:r>
              <a:rPr lang="en-US" sz="1829" spc="-54">
                <a:solidFill>
                  <a:srgbClr val="161616"/>
                </a:solidFill>
                <a:latin typeface="Inter"/>
                <a:ea typeface="Inter"/>
                <a:cs typeface="Inter"/>
                <a:sym typeface="Inter"/>
              </a:rPr>
              <a:t> nguyên mở phong phú cho giáo dục đại học, đặc biệt STEM.</a:t>
            </a:r>
          </a:p>
        </p:txBody>
      </p:sp>
      <p:sp>
        <p:nvSpPr>
          <p:cNvPr name="TextBox 32" id="32"/>
          <p:cNvSpPr txBox="true"/>
          <p:nvPr/>
        </p:nvSpPr>
        <p:spPr>
          <a:xfrm rot="0">
            <a:off x="10312362" y="3425551"/>
            <a:ext cx="5370596"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YOUTUBE CREATIVE COMMONS</a:t>
            </a:r>
          </a:p>
        </p:txBody>
      </p:sp>
      <p:sp>
        <p:nvSpPr>
          <p:cNvPr name="TextBox 33" id="33"/>
          <p:cNvSpPr txBox="true"/>
          <p:nvPr/>
        </p:nvSpPr>
        <p:spPr>
          <a:xfrm rot="0">
            <a:off x="10272234" y="4046466"/>
            <a:ext cx="7656280" cy="963184"/>
          </a:xfrm>
          <a:prstGeom prst="rect">
            <a:avLst/>
          </a:prstGeom>
        </p:spPr>
        <p:txBody>
          <a:bodyPr anchor="t" rtlCol="false" tIns="0" lIns="0" bIns="0" rIns="0">
            <a:spAutoFit/>
          </a:bodyPr>
          <a:lstStyle/>
          <a:p>
            <a:pPr algn="just" marL="394963" indent="-197481" lvl="1">
              <a:lnSpc>
                <a:spcPts val="2561"/>
              </a:lnSpc>
              <a:buFont typeface="Arial"/>
              <a:buChar char="•"/>
            </a:pPr>
            <a:r>
              <a:rPr lang="en-US" sz="1829" spc="-54">
                <a:solidFill>
                  <a:srgbClr val="161616"/>
                </a:solidFill>
                <a:latin typeface="Inter"/>
                <a:ea typeface="Inter"/>
                <a:cs typeface="Inter"/>
                <a:sym typeface="Inter"/>
              </a:rPr>
              <a:t>Kho video CC</a:t>
            </a:r>
            <a:r>
              <a:rPr lang="en-US" sz="1829" spc="-54">
                <a:solidFill>
                  <a:srgbClr val="161616"/>
                </a:solidFill>
                <a:latin typeface="Inter"/>
                <a:ea typeface="Inter"/>
                <a:cs typeface="Inter"/>
                <a:sym typeface="Inter"/>
              </a:rPr>
              <a:t> BY; hơn 49 triệu video CC BY được đề cập trong tài liệu</a:t>
            </a:r>
          </a:p>
          <a:p>
            <a:pPr algn="just">
              <a:lnSpc>
                <a:spcPts val="2561"/>
              </a:lnSpc>
            </a:pPr>
            <a:r>
              <a:rPr lang="en-US" sz="1829" spc="-54">
                <a:solidFill>
                  <a:srgbClr val="161616"/>
                </a:solidFill>
                <a:latin typeface="Inter"/>
                <a:ea typeface="Inter"/>
                <a:cs typeface="Inter"/>
                <a:sym typeface="Inter"/>
              </a:rPr>
              <a:t>       </a:t>
            </a:r>
            <a:r>
              <a:rPr lang="en-US" sz="1829" spc="-54">
                <a:solidFill>
                  <a:srgbClr val="161616"/>
                </a:solidFill>
                <a:latin typeface="Inter"/>
                <a:ea typeface="Inter"/>
                <a:cs typeface="Inter"/>
                <a:sym typeface="Inter"/>
              </a:rPr>
              <a:t>BL_ED4110_0205_W6_Khai thác tài…</a:t>
            </a:r>
          </a:p>
          <a:p>
            <a:pPr algn="just" marL="394963" indent="-197481" lvl="1">
              <a:lnSpc>
                <a:spcPts val="2561"/>
              </a:lnSpc>
              <a:buFont typeface="Arial"/>
              <a:buChar char="•"/>
            </a:pPr>
            <a:r>
              <a:rPr lang="en-US" sz="1829" spc="-54">
                <a:solidFill>
                  <a:srgbClr val="161616"/>
                </a:solidFill>
                <a:latin typeface="Inter"/>
                <a:ea typeface="Inter"/>
                <a:cs typeface="Inter"/>
                <a:sym typeface="Inter"/>
              </a:rPr>
              <a:t> Hỗ trợ chỉnh sửa, tái sử dụng hợp pháp.</a:t>
            </a:r>
          </a:p>
        </p:txBody>
      </p:sp>
      <p:sp>
        <p:nvSpPr>
          <p:cNvPr name="TextBox 34" id="34"/>
          <p:cNvSpPr txBox="true"/>
          <p:nvPr/>
        </p:nvSpPr>
        <p:spPr>
          <a:xfrm rot="0">
            <a:off x="10312362" y="5410328"/>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WIKIMEDIA COMMONS</a:t>
            </a:r>
          </a:p>
        </p:txBody>
      </p:sp>
      <p:sp>
        <p:nvSpPr>
          <p:cNvPr name="TextBox 35" id="35"/>
          <p:cNvSpPr txBox="true"/>
          <p:nvPr/>
        </p:nvSpPr>
        <p:spPr>
          <a:xfrm rot="0">
            <a:off x="10272234" y="5975240"/>
            <a:ext cx="4520902" cy="3154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Báo cáo,</a:t>
            </a:r>
            <a:r>
              <a:rPr lang="en-US" sz="1829" spc="-54">
                <a:solidFill>
                  <a:srgbClr val="161616"/>
                </a:solidFill>
                <a:latin typeface="Inter"/>
                <a:ea typeface="Inter"/>
                <a:cs typeface="Inter"/>
                <a:sym typeface="Inter"/>
              </a:rPr>
              <a:t> nghiên cứu và chính sách về OER.</a:t>
            </a:r>
          </a:p>
        </p:txBody>
      </p:sp>
      <p:sp>
        <p:nvSpPr>
          <p:cNvPr name="TextBox 36" id="36"/>
          <p:cNvSpPr txBox="true"/>
          <p:nvPr/>
        </p:nvSpPr>
        <p:spPr>
          <a:xfrm rot="0">
            <a:off x="13037788" y="8011704"/>
            <a:ext cx="5290340" cy="1298575"/>
          </a:xfrm>
          <a:prstGeom prst="rect">
            <a:avLst/>
          </a:prstGeom>
        </p:spPr>
        <p:txBody>
          <a:bodyPr anchor="t" rtlCol="false" tIns="0" lIns="0" bIns="0" rIns="0">
            <a:spAutoFit/>
          </a:bodyPr>
          <a:lstStyle/>
          <a:p>
            <a:pPr algn="l">
              <a:lnSpc>
                <a:spcPts val="3499"/>
              </a:lnSpc>
            </a:pPr>
            <a:r>
              <a:rPr lang="en-US" b="true" sz="2499" spc="-74">
                <a:solidFill>
                  <a:srgbClr val="FFFFF6"/>
                </a:solidFill>
                <a:latin typeface="Inter Bold"/>
                <a:ea typeface="Inter Bold"/>
                <a:cs typeface="Inter Bold"/>
                <a:sym typeface="Inter Bold"/>
              </a:rPr>
              <a:t>3.KHO VIDEO &amp; ĐA PHƯƠNG TIỆN CÓ GIẤY PHÉP MỞ</a:t>
            </a:r>
          </a:p>
          <a:p>
            <a:pPr algn="l">
              <a:lnSpc>
                <a:spcPts val="3499"/>
              </a:lnSpc>
            </a:pPr>
          </a:p>
        </p:txBody>
      </p:sp>
      <p:sp>
        <p:nvSpPr>
          <p:cNvPr name="TextBox 37" id="37"/>
          <p:cNvSpPr txBox="true"/>
          <p:nvPr/>
        </p:nvSpPr>
        <p:spPr>
          <a:xfrm rot="0">
            <a:off x="10312362" y="6575964"/>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INTERNET ARCHIVE</a:t>
            </a:r>
          </a:p>
        </p:txBody>
      </p:sp>
      <p:sp>
        <p:nvSpPr>
          <p:cNvPr name="TextBox 38" id="38"/>
          <p:cNvSpPr txBox="true"/>
          <p:nvPr/>
        </p:nvSpPr>
        <p:spPr>
          <a:xfrm rot="0">
            <a:off x="10312362" y="7112539"/>
            <a:ext cx="4520902" cy="3154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Sách, video, audio,</a:t>
            </a:r>
            <a:r>
              <a:rPr lang="en-US" sz="1829" spc="-54">
                <a:solidFill>
                  <a:srgbClr val="161616"/>
                </a:solidFill>
                <a:latin typeface="Inter"/>
                <a:ea typeface="Inter"/>
                <a:cs typeface="Inter"/>
                <a:sym typeface="Inter"/>
              </a:rPr>
              <a:t> phần mềm miễn phí.</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TextBox 2" id="2"/>
          <p:cNvSpPr txBox="true"/>
          <p:nvPr/>
        </p:nvSpPr>
        <p:spPr>
          <a:xfrm rot="0">
            <a:off x="1569770" y="767575"/>
            <a:ext cx="16120583" cy="1953831"/>
          </a:xfrm>
          <a:prstGeom prst="rect">
            <a:avLst/>
          </a:prstGeom>
        </p:spPr>
        <p:txBody>
          <a:bodyPr anchor="t" rtlCol="false" tIns="0" lIns="0" bIns="0" rIns="0">
            <a:spAutoFit/>
          </a:bodyPr>
          <a:lstStyle/>
          <a:p>
            <a:pPr algn="ctr" marL="0" indent="0" lvl="0">
              <a:lnSpc>
                <a:spcPts val="11461"/>
              </a:lnSpc>
              <a:spcBef>
                <a:spcPct val="0"/>
              </a:spcBef>
            </a:pPr>
            <a:r>
              <a:rPr lang="en-US" b="true" sz="13809">
                <a:solidFill>
                  <a:srgbClr val="161616"/>
                </a:solidFill>
                <a:latin typeface="Heading Now 31-38 Bold"/>
                <a:ea typeface="Heading Now 31-38 Bold"/>
                <a:cs typeface="Heading Now 31-38 Bold"/>
                <a:sym typeface="Heading Now 31-38 Bold"/>
              </a:rPr>
              <a:t>V. CÁC KHO TÀI NGUYÊN MỞ</a:t>
            </a:r>
          </a:p>
        </p:txBody>
      </p:sp>
      <p:sp>
        <p:nvSpPr>
          <p:cNvPr name="Freeform 3" id="3"/>
          <p:cNvSpPr/>
          <p:nvPr/>
        </p:nvSpPr>
        <p:spPr>
          <a:xfrm flipH="true" flipV="true" rot="-5400000">
            <a:off x="-296194" y="1430481"/>
            <a:ext cx="3223126" cy="1611563"/>
          </a:xfrm>
          <a:custGeom>
            <a:avLst/>
            <a:gdLst/>
            <a:ahLst/>
            <a:cxnLst/>
            <a:rect r="r" b="b" t="t" l="l"/>
            <a:pathLst>
              <a:path h="1611563" w="3223126">
                <a:moveTo>
                  <a:pt x="3223126" y="1611563"/>
                </a:moveTo>
                <a:lnTo>
                  <a:pt x="0" y="1611563"/>
                </a:lnTo>
                <a:lnTo>
                  <a:pt x="0" y="0"/>
                </a:lnTo>
                <a:lnTo>
                  <a:pt x="3223126" y="0"/>
                </a:lnTo>
                <a:lnTo>
                  <a:pt x="3223126" y="161156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5" id="5"/>
          <p:cNvSpPr/>
          <p:nvPr/>
        </p:nvSpPr>
        <p:spPr>
          <a:xfrm flipH="false" flipV="false" rot="0">
            <a:off x="1028700" y="4573544"/>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28700" y="5892057"/>
            <a:ext cx="313082" cy="361596"/>
          </a:xfrm>
          <a:custGeom>
            <a:avLst/>
            <a:gdLst/>
            <a:ahLst/>
            <a:cxnLst/>
            <a:rect r="r" b="b" t="t" l="l"/>
            <a:pathLst>
              <a:path h="361596" w="313082">
                <a:moveTo>
                  <a:pt x="0" y="0"/>
                </a:moveTo>
                <a:lnTo>
                  <a:pt x="313082" y="0"/>
                </a:lnTo>
                <a:lnTo>
                  <a:pt x="313082" y="361595"/>
                </a:lnTo>
                <a:lnTo>
                  <a:pt x="0" y="3615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520138" y="4567017"/>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5400000">
            <a:off x="2409545" y="5490380"/>
            <a:ext cx="1311752" cy="4982522"/>
            <a:chOff x="0" y="0"/>
            <a:chExt cx="345482" cy="1312269"/>
          </a:xfrm>
        </p:grpSpPr>
        <p:sp>
          <p:nvSpPr>
            <p:cNvPr name="Freeform 9" id="9"/>
            <p:cNvSpPr/>
            <p:nvPr/>
          </p:nvSpPr>
          <p:spPr>
            <a:xfrm flipH="false" flipV="false" rot="0">
              <a:off x="0" y="0"/>
              <a:ext cx="345482" cy="1312269"/>
            </a:xfrm>
            <a:custGeom>
              <a:avLst/>
              <a:gdLst/>
              <a:ahLst/>
              <a:cxnLst/>
              <a:rect r="r" b="b" t="t" l="l"/>
              <a:pathLst>
                <a:path h="1312269" w="345482">
                  <a:moveTo>
                    <a:pt x="0" y="0"/>
                  </a:moveTo>
                  <a:lnTo>
                    <a:pt x="345482" y="0"/>
                  </a:lnTo>
                  <a:lnTo>
                    <a:pt x="345482" y="1312269"/>
                  </a:lnTo>
                  <a:lnTo>
                    <a:pt x="0" y="1312269"/>
                  </a:lnTo>
                  <a:close/>
                </a:path>
              </a:pathLst>
            </a:custGeom>
            <a:solidFill>
              <a:srgbClr val="21352E"/>
            </a:solidFill>
          </p:spPr>
        </p:sp>
        <p:sp>
          <p:nvSpPr>
            <p:cNvPr name="TextBox 10" id="10"/>
            <p:cNvSpPr txBox="true"/>
            <p:nvPr/>
          </p:nvSpPr>
          <p:spPr>
            <a:xfrm>
              <a:off x="0" y="-47625"/>
              <a:ext cx="345482" cy="1359894"/>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9082900" y="4453057"/>
            <a:ext cx="61100" cy="4706254"/>
            <a:chOff x="0" y="0"/>
            <a:chExt cx="16092" cy="1239507"/>
          </a:xfrm>
        </p:grpSpPr>
        <p:sp>
          <p:nvSpPr>
            <p:cNvPr name="Freeform 12" id="12"/>
            <p:cNvSpPr/>
            <p:nvPr/>
          </p:nvSpPr>
          <p:spPr>
            <a:xfrm flipH="false" flipV="false" rot="0">
              <a:off x="0" y="0"/>
              <a:ext cx="16092" cy="1239507"/>
            </a:xfrm>
            <a:custGeom>
              <a:avLst/>
              <a:gdLst/>
              <a:ahLst/>
              <a:cxnLst/>
              <a:rect r="r" b="b" t="t" l="l"/>
              <a:pathLst>
                <a:path h="1239507" w="16092">
                  <a:moveTo>
                    <a:pt x="0" y="0"/>
                  </a:moveTo>
                  <a:lnTo>
                    <a:pt x="16092" y="0"/>
                  </a:lnTo>
                  <a:lnTo>
                    <a:pt x="16092" y="1239507"/>
                  </a:lnTo>
                  <a:lnTo>
                    <a:pt x="0" y="1239507"/>
                  </a:lnTo>
                  <a:close/>
                </a:path>
              </a:pathLst>
            </a:custGeom>
            <a:solidFill>
              <a:srgbClr val="21352E"/>
            </a:solidFill>
          </p:spPr>
        </p:sp>
        <p:sp>
          <p:nvSpPr>
            <p:cNvPr name="TextBox 13" id="13"/>
            <p:cNvSpPr txBox="true"/>
            <p:nvPr/>
          </p:nvSpPr>
          <p:spPr>
            <a:xfrm>
              <a:off x="0" y="-47625"/>
              <a:ext cx="16092" cy="128713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9507296" y="5892057"/>
            <a:ext cx="313082" cy="361596"/>
          </a:xfrm>
          <a:custGeom>
            <a:avLst/>
            <a:gdLst/>
            <a:ahLst/>
            <a:cxnLst/>
            <a:rect r="r" b="b" t="t" l="l"/>
            <a:pathLst>
              <a:path h="361596" w="313082">
                <a:moveTo>
                  <a:pt x="0" y="0"/>
                </a:moveTo>
                <a:lnTo>
                  <a:pt x="313082" y="0"/>
                </a:lnTo>
                <a:lnTo>
                  <a:pt x="313082" y="361595"/>
                </a:lnTo>
                <a:lnTo>
                  <a:pt x="0" y="3615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5595599" y="4599651"/>
            <a:ext cx="2929747" cy="963154"/>
          </a:xfrm>
          <a:custGeom>
            <a:avLst/>
            <a:gdLst/>
            <a:ahLst/>
            <a:cxnLst/>
            <a:rect r="r" b="b" t="t" l="l"/>
            <a:pathLst>
              <a:path h="963154" w="2929747">
                <a:moveTo>
                  <a:pt x="0" y="0"/>
                </a:moveTo>
                <a:lnTo>
                  <a:pt x="2929747" y="0"/>
                </a:lnTo>
                <a:lnTo>
                  <a:pt x="2929747" y="963154"/>
                </a:lnTo>
                <a:lnTo>
                  <a:pt x="0" y="963154"/>
                </a:lnTo>
                <a:lnTo>
                  <a:pt x="0" y="0"/>
                </a:lnTo>
                <a:close/>
              </a:path>
            </a:pathLst>
          </a:custGeom>
          <a:blipFill>
            <a:blip r:embed="rId6"/>
            <a:stretch>
              <a:fillRect l="0" t="0" r="0" b="0"/>
            </a:stretch>
          </a:blipFill>
        </p:spPr>
      </p:sp>
      <p:sp>
        <p:nvSpPr>
          <p:cNvPr name="TextBox 16" id="16"/>
          <p:cNvSpPr txBox="true"/>
          <p:nvPr/>
        </p:nvSpPr>
        <p:spPr>
          <a:xfrm rot="0">
            <a:off x="1569770" y="4506338"/>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AEMO </a:t>
            </a:r>
          </a:p>
        </p:txBody>
      </p:sp>
      <p:sp>
        <p:nvSpPr>
          <p:cNvPr name="TextBox 17" id="17"/>
          <p:cNvSpPr txBox="true"/>
          <p:nvPr/>
        </p:nvSpPr>
        <p:spPr>
          <a:xfrm rot="0">
            <a:off x="1550118" y="5043128"/>
            <a:ext cx="3487928" cy="63933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Kho</a:t>
            </a:r>
            <a:r>
              <a:rPr lang="en-US" sz="1829" spc="-54">
                <a:solidFill>
                  <a:srgbClr val="161616"/>
                </a:solidFill>
                <a:latin typeface="Inter"/>
                <a:ea typeface="Inter"/>
                <a:cs typeface="Inter"/>
                <a:sym typeface="Inter"/>
              </a:rPr>
              <a:t> tài nguyên giáo dục mở theo tiêu chuẩn quốc gia Australia.</a:t>
            </a:r>
          </a:p>
        </p:txBody>
      </p:sp>
      <p:sp>
        <p:nvSpPr>
          <p:cNvPr name="TextBox 18" id="18"/>
          <p:cNvSpPr txBox="true"/>
          <p:nvPr/>
        </p:nvSpPr>
        <p:spPr>
          <a:xfrm rot="0">
            <a:off x="1028700" y="7573416"/>
            <a:ext cx="4401014" cy="1298575"/>
          </a:xfrm>
          <a:prstGeom prst="rect">
            <a:avLst/>
          </a:prstGeom>
        </p:spPr>
        <p:txBody>
          <a:bodyPr anchor="t" rtlCol="false" tIns="0" lIns="0" bIns="0" rIns="0">
            <a:spAutoFit/>
          </a:bodyPr>
          <a:lstStyle/>
          <a:p>
            <a:pPr algn="l">
              <a:lnSpc>
                <a:spcPts val="3499"/>
              </a:lnSpc>
            </a:pPr>
            <a:r>
              <a:rPr lang="en-US" b="true" sz="2499" spc="-74">
                <a:solidFill>
                  <a:srgbClr val="FFFFF6"/>
                </a:solidFill>
                <a:latin typeface="Inter Bold"/>
                <a:ea typeface="Inter Bold"/>
                <a:cs typeface="Inter Bold"/>
                <a:sym typeface="Inter Bold"/>
              </a:rPr>
              <a:t>4. KHO TÀI NGUYÊN OER THEO QUỐC GIA</a:t>
            </a:r>
          </a:p>
          <a:p>
            <a:pPr algn="l">
              <a:lnSpc>
                <a:spcPts val="3499"/>
              </a:lnSpc>
            </a:pPr>
          </a:p>
        </p:txBody>
      </p:sp>
      <p:sp>
        <p:nvSpPr>
          <p:cNvPr name="TextBox 19" id="19"/>
          <p:cNvSpPr txBox="true"/>
          <p:nvPr/>
        </p:nvSpPr>
        <p:spPr>
          <a:xfrm rot="0">
            <a:off x="1569770" y="5844432"/>
            <a:ext cx="4762015"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OER EUROPE </a:t>
            </a:r>
          </a:p>
        </p:txBody>
      </p:sp>
      <p:sp>
        <p:nvSpPr>
          <p:cNvPr name="TextBox 20" id="20"/>
          <p:cNvSpPr txBox="true"/>
          <p:nvPr/>
        </p:nvSpPr>
        <p:spPr>
          <a:xfrm rot="0">
            <a:off x="1569770" y="6381007"/>
            <a:ext cx="5208740" cy="3154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K</a:t>
            </a:r>
            <a:r>
              <a:rPr lang="en-US" sz="1829" spc="-54">
                <a:solidFill>
                  <a:srgbClr val="161616"/>
                </a:solidFill>
                <a:latin typeface="Inter"/>
                <a:ea typeface="Inter"/>
                <a:cs typeface="Inter"/>
                <a:sym typeface="Inter"/>
              </a:rPr>
              <a:t>ho tài nguyên mở theo chuẩn châu Âu.</a:t>
            </a:r>
          </a:p>
        </p:txBody>
      </p:sp>
      <p:sp>
        <p:nvSpPr>
          <p:cNvPr name="TextBox 21" id="21"/>
          <p:cNvSpPr txBox="true"/>
          <p:nvPr/>
        </p:nvSpPr>
        <p:spPr>
          <a:xfrm rot="0">
            <a:off x="10163278" y="4519392"/>
            <a:ext cx="5604933"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VIETNAM JOURNALS ONLINE (VJOL)</a:t>
            </a:r>
          </a:p>
        </p:txBody>
      </p:sp>
      <p:sp>
        <p:nvSpPr>
          <p:cNvPr name="TextBox 22" id="22"/>
          <p:cNvSpPr txBox="true"/>
          <p:nvPr/>
        </p:nvSpPr>
        <p:spPr>
          <a:xfrm rot="0">
            <a:off x="10189597" y="5066361"/>
            <a:ext cx="4520902" cy="3154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Tạp chí</a:t>
            </a:r>
            <a:r>
              <a:rPr lang="en-US" sz="1829" spc="-54">
                <a:solidFill>
                  <a:srgbClr val="161616"/>
                </a:solidFill>
                <a:latin typeface="Inter"/>
                <a:ea typeface="Inter"/>
                <a:cs typeface="Inter"/>
                <a:sym typeface="Inter"/>
              </a:rPr>
              <a:t> khoa học mở của Việt Nam</a:t>
            </a:r>
          </a:p>
        </p:txBody>
      </p:sp>
      <p:sp>
        <p:nvSpPr>
          <p:cNvPr name="TextBox 23" id="23"/>
          <p:cNvSpPr txBox="true"/>
          <p:nvPr/>
        </p:nvSpPr>
        <p:spPr>
          <a:xfrm rot="0">
            <a:off x="10189597" y="5844432"/>
            <a:ext cx="5104064"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THƯ VIỆN SỐ BỘ GD&amp;ĐT – VNEID</a:t>
            </a:r>
          </a:p>
        </p:txBody>
      </p:sp>
      <p:sp>
        <p:nvSpPr>
          <p:cNvPr name="TextBox 24" id="24"/>
          <p:cNvSpPr txBox="true"/>
          <p:nvPr/>
        </p:nvSpPr>
        <p:spPr>
          <a:xfrm rot="0">
            <a:off x="10189597" y="6390532"/>
            <a:ext cx="4520902" cy="63933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Các tài nguyên mở do Bộ GD&amp;ĐT</a:t>
            </a:r>
            <a:r>
              <a:rPr lang="en-US" sz="1829" spc="-54">
                <a:solidFill>
                  <a:srgbClr val="161616"/>
                </a:solidFill>
                <a:latin typeface="Inter"/>
                <a:ea typeface="Inter"/>
                <a:cs typeface="Inter"/>
                <a:sym typeface="Inter"/>
              </a:rPr>
              <a:t> và các đơn vị phát triển.</a:t>
            </a:r>
          </a:p>
        </p:txBody>
      </p:sp>
      <p:grpSp>
        <p:nvGrpSpPr>
          <p:cNvPr name="Group 25" id="25"/>
          <p:cNvGrpSpPr/>
          <p:nvPr/>
        </p:nvGrpSpPr>
        <p:grpSpPr>
          <a:xfrm rot="-5400000">
            <a:off x="15290888" y="982373"/>
            <a:ext cx="1011702" cy="4982522"/>
            <a:chOff x="0" y="0"/>
            <a:chExt cx="266456" cy="1312269"/>
          </a:xfrm>
        </p:grpSpPr>
        <p:sp>
          <p:nvSpPr>
            <p:cNvPr name="Freeform 26" id="26"/>
            <p:cNvSpPr/>
            <p:nvPr/>
          </p:nvSpPr>
          <p:spPr>
            <a:xfrm flipH="false" flipV="false" rot="0">
              <a:off x="0" y="0"/>
              <a:ext cx="266456" cy="1312269"/>
            </a:xfrm>
            <a:custGeom>
              <a:avLst/>
              <a:gdLst/>
              <a:ahLst/>
              <a:cxnLst/>
              <a:rect r="r" b="b" t="t" l="l"/>
              <a:pathLst>
                <a:path h="1312269" w="266456">
                  <a:moveTo>
                    <a:pt x="0" y="0"/>
                  </a:moveTo>
                  <a:lnTo>
                    <a:pt x="266456" y="0"/>
                  </a:lnTo>
                  <a:lnTo>
                    <a:pt x="266456" y="1312269"/>
                  </a:lnTo>
                  <a:lnTo>
                    <a:pt x="0" y="1312269"/>
                  </a:lnTo>
                  <a:close/>
                </a:path>
              </a:pathLst>
            </a:custGeom>
            <a:solidFill>
              <a:srgbClr val="21352E"/>
            </a:solidFill>
          </p:spPr>
        </p:sp>
        <p:sp>
          <p:nvSpPr>
            <p:cNvPr name="TextBox 27" id="27"/>
            <p:cNvSpPr txBox="true"/>
            <p:nvPr/>
          </p:nvSpPr>
          <p:spPr>
            <a:xfrm>
              <a:off x="0" y="-47625"/>
              <a:ext cx="266456" cy="1359894"/>
            </a:xfrm>
            <a:prstGeom prst="rect">
              <a:avLst/>
            </a:prstGeom>
          </p:spPr>
          <p:txBody>
            <a:bodyPr anchor="ctr" rtlCol="false" tIns="50800" lIns="50800" bIns="50800" rIns="50800"/>
            <a:lstStyle/>
            <a:p>
              <a:pPr algn="ctr">
                <a:lnSpc>
                  <a:spcPts val="2800"/>
                </a:lnSpc>
              </a:pPr>
            </a:p>
          </p:txBody>
        </p:sp>
      </p:grpSp>
      <p:sp>
        <p:nvSpPr>
          <p:cNvPr name="TextBox 28" id="28"/>
          <p:cNvSpPr txBox="true"/>
          <p:nvPr/>
        </p:nvSpPr>
        <p:spPr>
          <a:xfrm rot="0">
            <a:off x="13537442" y="3233772"/>
            <a:ext cx="5317561" cy="860425"/>
          </a:xfrm>
          <a:prstGeom prst="rect">
            <a:avLst/>
          </a:prstGeom>
        </p:spPr>
        <p:txBody>
          <a:bodyPr anchor="t" rtlCol="false" tIns="0" lIns="0" bIns="0" rIns="0">
            <a:spAutoFit/>
          </a:bodyPr>
          <a:lstStyle/>
          <a:p>
            <a:pPr algn="l">
              <a:lnSpc>
                <a:spcPts val="3499"/>
              </a:lnSpc>
            </a:pPr>
            <a:r>
              <a:rPr lang="en-US" b="true" sz="2499" spc="-74">
                <a:solidFill>
                  <a:srgbClr val="FFFFF6"/>
                </a:solidFill>
                <a:latin typeface="Inter Bold"/>
                <a:ea typeface="Inter Bold"/>
                <a:cs typeface="Inter Bold"/>
                <a:sym typeface="Inter Bold"/>
              </a:rPr>
              <a:t>5.CÁC KHO OER TẠI VIỆT NAM</a:t>
            </a:r>
          </a:p>
          <a:p>
            <a:pPr algn="l">
              <a:lnSpc>
                <a:spcPts val="3499"/>
              </a:lnSpc>
            </a:pPr>
          </a:p>
        </p:txBody>
      </p:sp>
      <p:sp>
        <p:nvSpPr>
          <p:cNvPr name="Freeform 29" id="29"/>
          <p:cNvSpPr/>
          <p:nvPr/>
        </p:nvSpPr>
        <p:spPr>
          <a:xfrm flipH="false" flipV="false" rot="0">
            <a:off x="9507296" y="7436382"/>
            <a:ext cx="313082" cy="361596"/>
          </a:xfrm>
          <a:custGeom>
            <a:avLst/>
            <a:gdLst/>
            <a:ahLst/>
            <a:cxnLst/>
            <a:rect r="r" b="b" t="t" l="l"/>
            <a:pathLst>
              <a:path h="361596" w="313082">
                <a:moveTo>
                  <a:pt x="0" y="0"/>
                </a:moveTo>
                <a:lnTo>
                  <a:pt x="313082" y="0"/>
                </a:lnTo>
                <a:lnTo>
                  <a:pt x="313082" y="361596"/>
                </a:lnTo>
                <a:lnTo>
                  <a:pt x="0" y="361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0" id="30"/>
          <p:cNvSpPr txBox="true"/>
          <p:nvPr/>
        </p:nvSpPr>
        <p:spPr>
          <a:xfrm rot="0">
            <a:off x="10163278" y="7375986"/>
            <a:ext cx="7404310" cy="422275"/>
          </a:xfrm>
          <a:prstGeom prst="rect">
            <a:avLst/>
          </a:prstGeom>
        </p:spPr>
        <p:txBody>
          <a:bodyPr anchor="t" rtlCol="false" tIns="0" lIns="0" bIns="0" rIns="0">
            <a:spAutoFit/>
          </a:bodyPr>
          <a:lstStyle/>
          <a:p>
            <a:pPr algn="l">
              <a:lnSpc>
                <a:spcPts val="3499"/>
              </a:lnSpc>
            </a:pPr>
            <a:r>
              <a:rPr lang="en-US" b="true" sz="2499" spc="-74">
                <a:solidFill>
                  <a:srgbClr val="161616"/>
                </a:solidFill>
                <a:latin typeface="Inter Bold"/>
                <a:ea typeface="Inter Bold"/>
                <a:cs typeface="Inter Bold"/>
                <a:sym typeface="Inter Bold"/>
              </a:rPr>
              <a:t>KHO OER CỦA CÁC TRƯỜNG ĐẠI HỌC VIỆT NAM</a:t>
            </a:r>
          </a:p>
        </p:txBody>
      </p:sp>
      <p:sp>
        <p:nvSpPr>
          <p:cNvPr name="TextBox 31" id="31"/>
          <p:cNvSpPr txBox="true"/>
          <p:nvPr/>
        </p:nvSpPr>
        <p:spPr>
          <a:xfrm rot="0">
            <a:off x="10189597" y="7922086"/>
            <a:ext cx="4520902" cy="31548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Học liệu</a:t>
            </a:r>
            <a:r>
              <a:rPr lang="en-US" sz="1829" spc="-54">
                <a:solidFill>
                  <a:srgbClr val="161616"/>
                </a:solidFill>
                <a:latin typeface="Inter"/>
                <a:ea typeface="Inter"/>
                <a:cs typeface="Inter"/>
                <a:sym typeface="Inter"/>
              </a:rPr>
              <a:t> mở ĐH Mở TP.HCM </a:t>
            </a:r>
          </a:p>
        </p:txBody>
      </p:sp>
      <p:sp>
        <p:nvSpPr>
          <p:cNvPr name="TextBox 32" id="32"/>
          <p:cNvSpPr txBox="true"/>
          <p:nvPr/>
        </p:nvSpPr>
        <p:spPr>
          <a:xfrm rot="0">
            <a:off x="10189597" y="8361395"/>
            <a:ext cx="4520902" cy="639334"/>
          </a:xfrm>
          <a:prstGeom prst="rect">
            <a:avLst/>
          </a:prstGeom>
        </p:spPr>
        <p:txBody>
          <a:bodyPr anchor="t" rtlCol="false" tIns="0" lIns="0" bIns="0" rIns="0">
            <a:spAutoFit/>
          </a:bodyPr>
          <a:lstStyle/>
          <a:p>
            <a:pPr algn="just" marL="0" indent="0" lvl="0">
              <a:lnSpc>
                <a:spcPts val="2561"/>
              </a:lnSpc>
              <a:spcBef>
                <a:spcPct val="0"/>
              </a:spcBef>
            </a:pPr>
            <a:r>
              <a:rPr lang="en-US" sz="1829" spc="-54">
                <a:solidFill>
                  <a:srgbClr val="161616"/>
                </a:solidFill>
                <a:latin typeface="Inter"/>
                <a:ea typeface="Inter"/>
                <a:cs typeface="Inter"/>
                <a:sym typeface="Inter"/>
              </a:rPr>
              <a:t>Một số đơn vị thuộc ĐH Quốc gia Hà Nội có học liệu</a:t>
            </a:r>
            <a:r>
              <a:rPr lang="en-US" sz="1829" spc="-54">
                <a:solidFill>
                  <a:srgbClr val="161616"/>
                </a:solidFill>
                <a:latin typeface="Inter"/>
                <a:ea typeface="Inter"/>
                <a:cs typeface="Inter"/>
                <a:sym typeface="Inter"/>
              </a:rPr>
              <a:t> mở</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grpSp>
        <p:nvGrpSpPr>
          <p:cNvPr name="Group 2" id="2"/>
          <p:cNvGrpSpPr/>
          <p:nvPr/>
        </p:nvGrpSpPr>
        <p:grpSpPr>
          <a:xfrm rot="0">
            <a:off x="-2157965" y="3456680"/>
            <a:ext cx="5112653" cy="4938758"/>
            <a:chOff x="0" y="0"/>
            <a:chExt cx="573022" cy="553532"/>
          </a:xfrm>
        </p:grpSpPr>
        <p:sp>
          <p:nvSpPr>
            <p:cNvPr name="Freeform 3" id="3"/>
            <p:cNvSpPr/>
            <p:nvPr/>
          </p:nvSpPr>
          <p:spPr>
            <a:xfrm flipH="false" flipV="false" rot="0">
              <a:off x="0" y="0"/>
              <a:ext cx="573022" cy="553532"/>
            </a:xfrm>
            <a:custGeom>
              <a:avLst/>
              <a:gdLst/>
              <a:ahLst/>
              <a:cxnLst/>
              <a:rect r="r" b="b" t="t" l="l"/>
              <a:pathLst>
                <a:path h="553532" w="573022">
                  <a:moveTo>
                    <a:pt x="0" y="0"/>
                  </a:moveTo>
                  <a:lnTo>
                    <a:pt x="573022" y="0"/>
                  </a:lnTo>
                  <a:lnTo>
                    <a:pt x="573022" y="553532"/>
                  </a:lnTo>
                  <a:lnTo>
                    <a:pt x="0" y="553532"/>
                  </a:lnTo>
                  <a:close/>
                </a:path>
              </a:pathLst>
            </a:custGeom>
            <a:blipFill>
              <a:blip r:embed="rId2">
                <a:alphaModFix amt="90000"/>
              </a:blip>
              <a:stretch>
                <a:fillRect l="-22383" t="0" r="-22383" b="0"/>
              </a:stretch>
            </a:blipFill>
          </p:spPr>
        </p:sp>
      </p:grpSp>
      <p:sp>
        <p:nvSpPr>
          <p:cNvPr name="AutoShape 4" id="4"/>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AutoShape 5" id="5"/>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6" id="6"/>
          <p:cNvSpPr/>
          <p:nvPr/>
        </p:nvSpPr>
        <p:spPr>
          <a:xfrm flipH="false" flipV="false" rot="-5400000">
            <a:off x="14793542" y="4185105"/>
            <a:ext cx="5207098" cy="2603549"/>
          </a:xfrm>
          <a:custGeom>
            <a:avLst/>
            <a:gdLst/>
            <a:ahLst/>
            <a:cxnLst/>
            <a:rect r="r" b="b" t="t" l="l"/>
            <a:pathLst>
              <a:path h="2603549" w="5207098">
                <a:moveTo>
                  <a:pt x="0" y="0"/>
                </a:moveTo>
                <a:lnTo>
                  <a:pt x="5207098" y="0"/>
                </a:lnTo>
                <a:lnTo>
                  <a:pt x="5207098" y="2603549"/>
                </a:lnTo>
                <a:lnTo>
                  <a:pt x="0" y="26035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3038747" y="4729656"/>
            <a:ext cx="204915" cy="2392807"/>
            <a:chOff x="0" y="0"/>
            <a:chExt cx="53969" cy="630204"/>
          </a:xfrm>
        </p:grpSpPr>
        <p:sp>
          <p:nvSpPr>
            <p:cNvPr name="Freeform 8" id="8"/>
            <p:cNvSpPr/>
            <p:nvPr/>
          </p:nvSpPr>
          <p:spPr>
            <a:xfrm flipH="false" flipV="false" rot="0">
              <a:off x="0" y="0"/>
              <a:ext cx="53969" cy="630204"/>
            </a:xfrm>
            <a:custGeom>
              <a:avLst/>
              <a:gdLst/>
              <a:ahLst/>
              <a:cxnLst/>
              <a:rect r="r" b="b" t="t" l="l"/>
              <a:pathLst>
                <a:path h="630204" w="53969">
                  <a:moveTo>
                    <a:pt x="0" y="0"/>
                  </a:moveTo>
                  <a:lnTo>
                    <a:pt x="53969" y="0"/>
                  </a:lnTo>
                  <a:lnTo>
                    <a:pt x="53969" y="630204"/>
                  </a:lnTo>
                  <a:lnTo>
                    <a:pt x="0" y="630204"/>
                  </a:lnTo>
                  <a:close/>
                </a:path>
              </a:pathLst>
            </a:custGeom>
            <a:solidFill>
              <a:srgbClr val="21352E"/>
            </a:solidFill>
          </p:spPr>
        </p:sp>
        <p:sp>
          <p:nvSpPr>
            <p:cNvPr name="TextBox 9" id="9"/>
            <p:cNvSpPr txBox="true"/>
            <p:nvPr/>
          </p:nvSpPr>
          <p:spPr>
            <a:xfrm>
              <a:off x="0" y="-47625"/>
              <a:ext cx="53969" cy="677829"/>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12719547" y="2930482"/>
            <a:ext cx="1447811" cy="247262"/>
            <a:chOff x="0" y="0"/>
            <a:chExt cx="381317" cy="65123"/>
          </a:xfrm>
        </p:grpSpPr>
        <p:sp>
          <p:nvSpPr>
            <p:cNvPr name="Freeform 11" id="11"/>
            <p:cNvSpPr/>
            <p:nvPr/>
          </p:nvSpPr>
          <p:spPr>
            <a:xfrm flipH="false" flipV="false" rot="0">
              <a:off x="0" y="0"/>
              <a:ext cx="381317" cy="65123"/>
            </a:xfrm>
            <a:custGeom>
              <a:avLst/>
              <a:gdLst/>
              <a:ahLst/>
              <a:cxnLst/>
              <a:rect r="r" b="b" t="t" l="l"/>
              <a:pathLst>
                <a:path h="65123" w="381317">
                  <a:moveTo>
                    <a:pt x="0" y="0"/>
                  </a:moveTo>
                  <a:lnTo>
                    <a:pt x="381317" y="0"/>
                  </a:lnTo>
                  <a:lnTo>
                    <a:pt x="381317" y="65123"/>
                  </a:lnTo>
                  <a:lnTo>
                    <a:pt x="0" y="65123"/>
                  </a:lnTo>
                  <a:close/>
                </a:path>
              </a:pathLst>
            </a:custGeom>
            <a:solidFill>
              <a:srgbClr val="21352E"/>
            </a:solidFill>
          </p:spPr>
        </p:sp>
        <p:sp>
          <p:nvSpPr>
            <p:cNvPr name="TextBox 12" id="12"/>
            <p:cNvSpPr txBox="true"/>
            <p:nvPr/>
          </p:nvSpPr>
          <p:spPr>
            <a:xfrm>
              <a:off x="0" y="-47625"/>
              <a:ext cx="381317" cy="112748"/>
            </a:xfrm>
            <a:prstGeom prst="rect">
              <a:avLst/>
            </a:prstGeom>
          </p:spPr>
          <p:txBody>
            <a:bodyPr anchor="ctr" rtlCol="false" tIns="50800" lIns="50800" bIns="50800" rIns="50800"/>
            <a:lstStyle/>
            <a:p>
              <a:pPr algn="ctr">
                <a:lnSpc>
                  <a:spcPts val="2800"/>
                </a:lnSpc>
              </a:pPr>
            </a:p>
          </p:txBody>
        </p:sp>
      </p:grpSp>
      <p:sp>
        <p:nvSpPr>
          <p:cNvPr name="TextBox 13" id="13"/>
          <p:cNvSpPr txBox="true"/>
          <p:nvPr/>
        </p:nvSpPr>
        <p:spPr>
          <a:xfrm rot="0">
            <a:off x="3535622" y="2384628"/>
            <a:ext cx="8738678" cy="1177432"/>
          </a:xfrm>
          <a:prstGeom prst="rect">
            <a:avLst/>
          </a:prstGeom>
        </p:spPr>
        <p:txBody>
          <a:bodyPr anchor="t" rtlCol="false" tIns="0" lIns="0" bIns="0" rIns="0">
            <a:spAutoFit/>
          </a:bodyPr>
          <a:lstStyle/>
          <a:p>
            <a:pPr algn="ctr" marL="0" indent="0" lvl="0">
              <a:lnSpc>
                <a:spcPts val="6915"/>
              </a:lnSpc>
              <a:spcBef>
                <a:spcPct val="0"/>
              </a:spcBef>
            </a:pPr>
            <a:r>
              <a:rPr lang="en-US" b="true" sz="8331">
                <a:solidFill>
                  <a:srgbClr val="161616"/>
                </a:solidFill>
                <a:latin typeface="Heading Now 31-38 Bold"/>
                <a:ea typeface="Heading Now 31-38 Bold"/>
                <a:cs typeface="Heading Now 31-38 Bold"/>
                <a:sym typeface="Heading Now 31-38 Bold"/>
              </a:rPr>
              <a:t>DANH SÁCH TÀI LIỆU THAM KHẢO</a:t>
            </a:r>
          </a:p>
        </p:txBody>
      </p:sp>
      <p:sp>
        <p:nvSpPr>
          <p:cNvPr name="Freeform 14" id="14"/>
          <p:cNvSpPr/>
          <p:nvPr/>
        </p:nvSpPr>
        <p:spPr>
          <a:xfrm flipH="true" flipV="true" rot="-10800000">
            <a:off x="9008329" y="9008517"/>
            <a:ext cx="3272430" cy="1636215"/>
          </a:xfrm>
          <a:custGeom>
            <a:avLst/>
            <a:gdLst/>
            <a:ahLst/>
            <a:cxnLst/>
            <a:rect r="r" b="b" t="t" l="l"/>
            <a:pathLst>
              <a:path h="1636215" w="3272430">
                <a:moveTo>
                  <a:pt x="3272430" y="1636216"/>
                </a:moveTo>
                <a:lnTo>
                  <a:pt x="0" y="1636216"/>
                </a:lnTo>
                <a:lnTo>
                  <a:pt x="0" y="0"/>
                </a:lnTo>
                <a:lnTo>
                  <a:pt x="3272430" y="0"/>
                </a:lnTo>
                <a:lnTo>
                  <a:pt x="3272430" y="163621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418020" y="1651563"/>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5450301" y="8154568"/>
            <a:ext cx="879894" cy="240871"/>
          </a:xfrm>
          <a:custGeom>
            <a:avLst/>
            <a:gdLst/>
            <a:ahLst/>
            <a:cxnLst/>
            <a:rect r="r" b="b" t="t" l="l"/>
            <a:pathLst>
              <a:path h="240871" w="879894">
                <a:moveTo>
                  <a:pt x="0" y="0"/>
                </a:moveTo>
                <a:lnTo>
                  <a:pt x="879894" y="0"/>
                </a:lnTo>
                <a:lnTo>
                  <a:pt x="879894" y="240870"/>
                </a:lnTo>
                <a:lnTo>
                  <a:pt x="0" y="2408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3695844" y="4851769"/>
            <a:ext cx="11454872" cy="571549"/>
          </a:xfrm>
          <a:prstGeom prst="rect">
            <a:avLst/>
          </a:prstGeom>
        </p:spPr>
        <p:txBody>
          <a:bodyPr anchor="t" rtlCol="false" tIns="0" lIns="0" bIns="0" rIns="0">
            <a:spAutoFit/>
          </a:bodyPr>
          <a:lstStyle/>
          <a:p>
            <a:pPr algn="l">
              <a:lnSpc>
                <a:spcPts val="2261"/>
              </a:lnSpc>
              <a:spcBef>
                <a:spcPct val="0"/>
              </a:spcBef>
            </a:pPr>
            <a:r>
              <a:rPr lang="en-US" sz="1615" spc="-48">
                <a:solidFill>
                  <a:srgbClr val="161616"/>
                </a:solidFill>
                <a:latin typeface="Inter"/>
                <a:ea typeface="Inter"/>
                <a:cs typeface="Inter"/>
                <a:sym typeface="Inter"/>
              </a:rPr>
              <a:t>MIAO, F, MISHRA, S, ORR, D VÀ JANSSEN, B. 2019. HƯỚNG DẪN VỀ PHÁT TRIỂN CHÍNH SÁCH TÀI NGUYÊN GIÁO DỤC MỞ. UNESCO PUBLISHING.</a:t>
            </a:r>
          </a:p>
        </p:txBody>
      </p:sp>
      <p:sp>
        <p:nvSpPr>
          <p:cNvPr name="TextBox 18" id="18"/>
          <p:cNvSpPr txBox="true"/>
          <p:nvPr/>
        </p:nvSpPr>
        <p:spPr>
          <a:xfrm rot="0">
            <a:off x="3679476" y="5600649"/>
            <a:ext cx="11454872" cy="571549"/>
          </a:xfrm>
          <a:prstGeom prst="rect">
            <a:avLst/>
          </a:prstGeom>
        </p:spPr>
        <p:txBody>
          <a:bodyPr anchor="t" rtlCol="false" tIns="0" lIns="0" bIns="0" rIns="0">
            <a:spAutoFit/>
          </a:bodyPr>
          <a:lstStyle/>
          <a:p>
            <a:pPr algn="l">
              <a:lnSpc>
                <a:spcPts val="2261"/>
              </a:lnSpc>
              <a:spcBef>
                <a:spcPct val="0"/>
              </a:spcBef>
            </a:pPr>
            <a:r>
              <a:rPr lang="en-US" sz="1615" spc="-48">
                <a:solidFill>
                  <a:srgbClr val="161616"/>
                </a:solidFill>
                <a:latin typeface="Inter"/>
                <a:ea typeface="Inter"/>
                <a:cs typeface="Inter"/>
                <a:sym typeface="Inter"/>
              </a:rPr>
              <a:t>Atkins, DE; Brown, JS; Hammond, AL (2007). "Tổng quan về phong trào tài nguyên giáo dục mở (OER): Thành tựu, thách thức và cơ hội mới". Báo cáo gửi Quỹ William và Flora Hewlett .</a:t>
            </a:r>
          </a:p>
        </p:txBody>
      </p:sp>
      <p:sp>
        <p:nvSpPr>
          <p:cNvPr name="TextBox 19" id="19"/>
          <p:cNvSpPr txBox="true"/>
          <p:nvPr/>
        </p:nvSpPr>
        <p:spPr>
          <a:xfrm rot="0">
            <a:off x="3679476" y="4390130"/>
            <a:ext cx="5621848" cy="284307"/>
          </a:xfrm>
          <a:prstGeom prst="rect">
            <a:avLst/>
          </a:prstGeom>
        </p:spPr>
        <p:txBody>
          <a:bodyPr anchor="t" rtlCol="false" tIns="0" lIns="0" bIns="0" rIns="0">
            <a:spAutoFit/>
          </a:bodyPr>
          <a:lstStyle/>
          <a:p>
            <a:pPr algn="l">
              <a:lnSpc>
                <a:spcPts val="2261"/>
              </a:lnSpc>
              <a:spcBef>
                <a:spcPct val="0"/>
              </a:spcBef>
            </a:pPr>
            <a:r>
              <a:rPr lang="en-US" sz="1615" spc="-48">
                <a:solidFill>
                  <a:srgbClr val="161616"/>
                </a:solidFill>
                <a:latin typeface="Inter"/>
                <a:ea typeface="Inter"/>
                <a:cs typeface="Inter"/>
                <a:sym typeface="Inter"/>
              </a:rPr>
              <a:t>Open educational resources. </a:t>
            </a:r>
            <a:r>
              <a:rPr lang="en-US" sz="1615" spc="-48">
                <a:solidFill>
                  <a:srgbClr val="161616"/>
                </a:solidFill>
                <a:latin typeface="Inter"/>
                <a:ea typeface="Inter"/>
                <a:cs typeface="Inter"/>
                <a:sym typeface="Inter"/>
              </a:rPr>
              <a:t>In Wikipedia</a:t>
            </a:r>
          </a:p>
        </p:txBody>
      </p:sp>
      <p:sp>
        <p:nvSpPr>
          <p:cNvPr name="TextBox 20" id="20"/>
          <p:cNvSpPr txBox="true"/>
          <p:nvPr/>
        </p:nvSpPr>
        <p:spPr>
          <a:xfrm rot="0">
            <a:off x="3679476" y="6349529"/>
            <a:ext cx="11422136" cy="571549"/>
          </a:xfrm>
          <a:prstGeom prst="rect">
            <a:avLst/>
          </a:prstGeom>
        </p:spPr>
        <p:txBody>
          <a:bodyPr anchor="t" rtlCol="false" tIns="0" lIns="0" bIns="0" rIns="0">
            <a:spAutoFit/>
          </a:bodyPr>
          <a:lstStyle/>
          <a:p>
            <a:pPr algn="l">
              <a:lnSpc>
                <a:spcPts val="2261"/>
              </a:lnSpc>
              <a:spcBef>
                <a:spcPct val="0"/>
              </a:spcBef>
            </a:pPr>
            <a:r>
              <a:rPr lang="en-US" sz="1615" spc="-48">
                <a:solidFill>
                  <a:srgbClr val="161616"/>
                </a:solidFill>
                <a:latin typeface="Inter"/>
                <a:ea typeface="Inter"/>
                <a:cs typeface="Inter"/>
                <a:sym typeface="Inter"/>
              </a:rPr>
              <a:t>Đỗ Văn Hùng (2016). “</a:t>
            </a:r>
            <a:r>
              <a:rPr lang="en-US" sz="1615" spc="-48">
                <a:solidFill>
                  <a:srgbClr val="161616"/>
                </a:solidFill>
                <a:latin typeface="Inter"/>
                <a:ea typeface="Inter"/>
                <a:cs typeface="Inter"/>
                <a:sym typeface="Inter"/>
              </a:rPr>
              <a:t>Tài nguyên giáo dục mở và nhận diện các yếu tố tác động đến việc phát triển tài nguyên giáo dục mở tại Việt Nam”. Tạp chí Thư viện Việt Nam</a:t>
            </a:r>
          </a:p>
        </p:txBody>
      </p:sp>
      <p:sp>
        <p:nvSpPr>
          <p:cNvPr name="TextBox 21" id="21"/>
          <p:cNvSpPr txBox="true"/>
          <p:nvPr/>
        </p:nvSpPr>
        <p:spPr>
          <a:xfrm rot="0">
            <a:off x="3679476" y="7098410"/>
            <a:ext cx="11721721" cy="858791"/>
          </a:xfrm>
          <a:prstGeom prst="rect">
            <a:avLst/>
          </a:prstGeom>
        </p:spPr>
        <p:txBody>
          <a:bodyPr anchor="t" rtlCol="false" tIns="0" lIns="0" bIns="0" rIns="0">
            <a:spAutoFit/>
          </a:bodyPr>
          <a:lstStyle/>
          <a:p>
            <a:pPr algn="l">
              <a:lnSpc>
                <a:spcPts val="2261"/>
              </a:lnSpc>
              <a:spcBef>
                <a:spcPct val="0"/>
              </a:spcBef>
            </a:pPr>
            <a:r>
              <a:rPr lang="en-US" sz="1615" spc="-48">
                <a:solidFill>
                  <a:srgbClr val="161616"/>
                </a:solidFill>
                <a:latin typeface="Inter"/>
                <a:ea typeface="Inter"/>
                <a:cs typeface="Inter"/>
                <a:sym typeface="Inter"/>
              </a:rPr>
              <a:t>SUNY OER SERVICES. CREAT</a:t>
            </a:r>
            <a:r>
              <a:rPr lang="en-US" sz="1615" spc="-48">
                <a:solidFill>
                  <a:srgbClr val="161616"/>
                </a:solidFill>
                <a:latin typeface="Inter"/>
                <a:ea typeface="Inter"/>
                <a:cs typeface="Inter"/>
                <a:sym typeface="Inter"/>
              </a:rPr>
              <a:t>IVE COMMONS LICENSES QUICK REFERENCE (2021). FROM HTTPS://S3- US-WEST-2.AMAZONAWS.COM/COURSES-IMAGES/WP- CONTENT/UPLOADS/SITES/3065/2018/06/23192025/OER CREATIVE COMMONS LICENSES QUICKREF.PDF</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6"/>
        </a:solidFill>
      </p:bgPr>
    </p:bg>
    <p:spTree>
      <p:nvGrpSpPr>
        <p:cNvPr id="1" name=""/>
        <p:cNvGrpSpPr/>
        <p:nvPr/>
      </p:nvGrpSpPr>
      <p:grpSpPr>
        <a:xfrm>
          <a:off x="0" y="0"/>
          <a:ext cx="0" cy="0"/>
          <a:chOff x="0" y="0"/>
          <a:chExt cx="0" cy="0"/>
        </a:xfrm>
      </p:grpSpPr>
      <p:sp>
        <p:nvSpPr>
          <p:cNvPr name="TextBox 2" id="2"/>
          <p:cNvSpPr txBox="true"/>
          <p:nvPr/>
        </p:nvSpPr>
        <p:spPr>
          <a:xfrm rot="0">
            <a:off x="5259097" y="1492126"/>
            <a:ext cx="7769805" cy="7636123"/>
          </a:xfrm>
          <a:prstGeom prst="rect">
            <a:avLst/>
          </a:prstGeom>
        </p:spPr>
        <p:txBody>
          <a:bodyPr anchor="t" rtlCol="false" tIns="0" lIns="0" bIns="0" rIns="0">
            <a:spAutoFit/>
          </a:bodyPr>
          <a:lstStyle/>
          <a:p>
            <a:pPr algn="l" marL="0" indent="0" lvl="0">
              <a:lnSpc>
                <a:spcPts val="25689"/>
              </a:lnSpc>
              <a:spcBef>
                <a:spcPct val="0"/>
              </a:spcBef>
            </a:pPr>
            <a:r>
              <a:rPr lang="en-US" b="true" sz="30951" strike="noStrike" u="none">
                <a:solidFill>
                  <a:srgbClr val="161616"/>
                </a:solidFill>
                <a:latin typeface="Heading Now 31-38 Bold"/>
                <a:ea typeface="Heading Now 31-38 Bold"/>
                <a:cs typeface="Heading Now 31-38 Bold"/>
                <a:sym typeface="Heading Now 31-38 Bold"/>
              </a:rPr>
              <a:t>THANK YOU</a:t>
            </a:r>
          </a:p>
        </p:txBody>
      </p:sp>
      <p:sp>
        <p:nvSpPr>
          <p:cNvPr name="AutoShape 3" id="3"/>
          <p:cNvSpPr/>
          <p:nvPr/>
        </p:nvSpPr>
        <p:spPr>
          <a:xfrm>
            <a:off x="1028700" y="1060396"/>
            <a:ext cx="12982652" cy="0"/>
          </a:xfrm>
          <a:prstGeom prst="line">
            <a:avLst/>
          </a:prstGeom>
          <a:ln cap="flat" w="38100">
            <a:solidFill>
              <a:srgbClr val="9D0618"/>
            </a:solidFill>
            <a:prstDash val="solid"/>
            <a:headEnd type="none" len="sm" w="sm"/>
            <a:tailEnd type="none" len="sm" w="sm"/>
          </a:ln>
        </p:spPr>
      </p:sp>
      <p:sp>
        <p:nvSpPr>
          <p:cNvPr name="AutoShape 4" id="4"/>
          <p:cNvSpPr/>
          <p:nvPr/>
        </p:nvSpPr>
        <p:spPr>
          <a:xfrm flipH="true" flipV="true">
            <a:off x="509587" y="-717113"/>
            <a:ext cx="0" cy="11721225"/>
          </a:xfrm>
          <a:prstGeom prst="line">
            <a:avLst/>
          </a:prstGeom>
          <a:ln cap="flat" w="352425">
            <a:solidFill>
              <a:srgbClr val="9D0618"/>
            </a:solidFill>
            <a:prstDash val="solid"/>
            <a:headEnd type="none" len="sm" w="sm"/>
            <a:tailEnd type="none" len="sm" w="sm"/>
          </a:ln>
        </p:spPr>
      </p:sp>
      <p:sp>
        <p:nvSpPr>
          <p:cNvPr name="Freeform 5" id="5"/>
          <p:cNvSpPr/>
          <p:nvPr/>
        </p:nvSpPr>
        <p:spPr>
          <a:xfrm flipH="false" flipV="false" rot="-5400000">
            <a:off x="14793542" y="4185105"/>
            <a:ext cx="5207098" cy="2603549"/>
          </a:xfrm>
          <a:custGeom>
            <a:avLst/>
            <a:gdLst/>
            <a:ahLst/>
            <a:cxnLst/>
            <a:rect r="r" b="b" t="t" l="l"/>
            <a:pathLst>
              <a:path h="2603549" w="5207098">
                <a:moveTo>
                  <a:pt x="0" y="0"/>
                </a:moveTo>
                <a:lnTo>
                  <a:pt x="5207098" y="0"/>
                </a:lnTo>
                <a:lnTo>
                  <a:pt x="5207098" y="2603549"/>
                </a:lnTo>
                <a:lnTo>
                  <a:pt x="0" y="2603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flipV="true">
            <a:off x="1028700" y="1041427"/>
            <a:ext cx="9525" cy="4225940"/>
          </a:xfrm>
          <a:prstGeom prst="line">
            <a:avLst/>
          </a:prstGeom>
          <a:ln cap="flat" w="38100">
            <a:solidFill>
              <a:srgbClr val="9D0618"/>
            </a:solidFill>
            <a:prstDash val="solid"/>
            <a:headEnd type="none" len="sm" w="sm"/>
            <a:tailEnd type="none" len="sm" w="sm"/>
          </a:ln>
        </p:spPr>
      </p:sp>
      <p:sp>
        <p:nvSpPr>
          <p:cNvPr name="AutoShape 7" id="7"/>
          <p:cNvSpPr/>
          <p:nvPr/>
        </p:nvSpPr>
        <p:spPr>
          <a:xfrm flipH="true" flipV="true">
            <a:off x="1028700" y="5248316"/>
            <a:ext cx="12478155" cy="19050"/>
          </a:xfrm>
          <a:prstGeom prst="line">
            <a:avLst/>
          </a:prstGeom>
          <a:ln cap="flat" w="38100">
            <a:solidFill>
              <a:srgbClr val="9D0618"/>
            </a:solidFill>
            <a:prstDash val="solid"/>
            <a:headEnd type="none" len="sm" w="sm"/>
            <a:tailEnd type="none" len="sm" w="sm"/>
          </a:ln>
        </p:spPr>
      </p:sp>
      <p:sp>
        <p:nvSpPr>
          <p:cNvPr name="AutoShape 8" id="8"/>
          <p:cNvSpPr/>
          <p:nvPr/>
        </p:nvSpPr>
        <p:spPr>
          <a:xfrm flipV="true">
            <a:off x="13487805" y="5248226"/>
            <a:ext cx="0" cy="3072115"/>
          </a:xfrm>
          <a:prstGeom prst="line">
            <a:avLst/>
          </a:prstGeom>
          <a:ln cap="flat" w="38100">
            <a:solidFill>
              <a:srgbClr val="9D0618"/>
            </a:solidFill>
            <a:prstDash val="solid"/>
            <a:headEnd type="none" len="sm" w="sm"/>
            <a:tailEnd type="none" len="sm" w="sm"/>
          </a:ln>
        </p:spPr>
      </p:sp>
      <p:grpSp>
        <p:nvGrpSpPr>
          <p:cNvPr name="Group 9" id="9"/>
          <p:cNvGrpSpPr/>
          <p:nvPr/>
        </p:nvGrpSpPr>
        <p:grpSpPr>
          <a:xfrm rot="0">
            <a:off x="3884354" y="6550488"/>
            <a:ext cx="204915" cy="2392807"/>
            <a:chOff x="0" y="0"/>
            <a:chExt cx="53969" cy="630204"/>
          </a:xfrm>
        </p:grpSpPr>
        <p:sp>
          <p:nvSpPr>
            <p:cNvPr name="Freeform 10" id="10"/>
            <p:cNvSpPr/>
            <p:nvPr/>
          </p:nvSpPr>
          <p:spPr>
            <a:xfrm flipH="false" flipV="false" rot="0">
              <a:off x="0" y="0"/>
              <a:ext cx="53969" cy="630204"/>
            </a:xfrm>
            <a:custGeom>
              <a:avLst/>
              <a:gdLst/>
              <a:ahLst/>
              <a:cxnLst/>
              <a:rect r="r" b="b" t="t" l="l"/>
              <a:pathLst>
                <a:path h="630204" w="53969">
                  <a:moveTo>
                    <a:pt x="0" y="0"/>
                  </a:moveTo>
                  <a:lnTo>
                    <a:pt x="53969" y="0"/>
                  </a:lnTo>
                  <a:lnTo>
                    <a:pt x="53969" y="630204"/>
                  </a:lnTo>
                  <a:lnTo>
                    <a:pt x="0" y="630204"/>
                  </a:lnTo>
                  <a:close/>
                </a:path>
              </a:pathLst>
            </a:custGeom>
            <a:solidFill>
              <a:srgbClr val="21352E"/>
            </a:solidFill>
          </p:spPr>
        </p:sp>
        <p:sp>
          <p:nvSpPr>
            <p:cNvPr name="TextBox 11" id="11"/>
            <p:cNvSpPr txBox="true"/>
            <p:nvPr/>
          </p:nvSpPr>
          <p:spPr>
            <a:xfrm>
              <a:off x="0" y="-47625"/>
              <a:ext cx="53969" cy="677829"/>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12181584" y="4144980"/>
            <a:ext cx="1066917" cy="872925"/>
            <a:chOff x="0" y="0"/>
            <a:chExt cx="280999" cy="229906"/>
          </a:xfrm>
        </p:grpSpPr>
        <p:sp>
          <p:nvSpPr>
            <p:cNvPr name="Freeform 13" id="13"/>
            <p:cNvSpPr/>
            <p:nvPr/>
          </p:nvSpPr>
          <p:spPr>
            <a:xfrm flipH="false" flipV="false" rot="0">
              <a:off x="0" y="0"/>
              <a:ext cx="280999" cy="229906"/>
            </a:xfrm>
            <a:custGeom>
              <a:avLst/>
              <a:gdLst/>
              <a:ahLst/>
              <a:cxnLst/>
              <a:rect r="r" b="b" t="t" l="l"/>
              <a:pathLst>
                <a:path h="229906" w="280999">
                  <a:moveTo>
                    <a:pt x="0" y="0"/>
                  </a:moveTo>
                  <a:lnTo>
                    <a:pt x="280999" y="0"/>
                  </a:lnTo>
                  <a:lnTo>
                    <a:pt x="280999" y="229906"/>
                  </a:lnTo>
                  <a:lnTo>
                    <a:pt x="0" y="229906"/>
                  </a:lnTo>
                  <a:close/>
                </a:path>
              </a:pathLst>
            </a:custGeom>
            <a:solidFill>
              <a:srgbClr val="21352E"/>
            </a:solidFill>
          </p:spPr>
        </p:sp>
        <p:sp>
          <p:nvSpPr>
            <p:cNvPr name="TextBox 14" id="14"/>
            <p:cNvSpPr txBox="true"/>
            <p:nvPr/>
          </p:nvSpPr>
          <p:spPr>
            <a:xfrm>
              <a:off x="0" y="-47625"/>
              <a:ext cx="280999" cy="277531"/>
            </a:xfrm>
            <a:prstGeom prst="rect">
              <a:avLst/>
            </a:prstGeom>
          </p:spPr>
          <p:txBody>
            <a:bodyPr anchor="ctr" rtlCol="false" tIns="50800" lIns="50800" bIns="50800" rIns="50800"/>
            <a:lstStyle/>
            <a:p>
              <a:pPr algn="ctr">
                <a:lnSpc>
                  <a:spcPts val="2800"/>
                </a:lnSpc>
              </a:pPr>
            </a:p>
          </p:txBody>
        </p:sp>
      </p:grpSp>
      <p:sp>
        <p:nvSpPr>
          <p:cNvPr name="Freeform 15" id="15"/>
          <p:cNvSpPr/>
          <p:nvPr/>
        </p:nvSpPr>
        <p:spPr>
          <a:xfrm flipH="true" flipV="true" rot="-5400000">
            <a:off x="467986" y="2461935"/>
            <a:ext cx="2298749" cy="1149374"/>
          </a:xfrm>
          <a:custGeom>
            <a:avLst/>
            <a:gdLst/>
            <a:ahLst/>
            <a:cxnLst/>
            <a:rect r="r" b="b" t="t" l="l"/>
            <a:pathLst>
              <a:path h="1149374" w="2298749">
                <a:moveTo>
                  <a:pt x="2298748" y="1149375"/>
                </a:moveTo>
                <a:lnTo>
                  <a:pt x="0" y="1149375"/>
                </a:lnTo>
                <a:lnTo>
                  <a:pt x="0" y="0"/>
                </a:lnTo>
                <a:lnTo>
                  <a:pt x="2298748" y="0"/>
                </a:lnTo>
                <a:lnTo>
                  <a:pt x="2298748" y="11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3131458" y="8720062"/>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5215423" y="2642460"/>
            <a:ext cx="879894" cy="240871"/>
          </a:xfrm>
          <a:custGeom>
            <a:avLst/>
            <a:gdLst/>
            <a:ahLst/>
            <a:cxnLst/>
            <a:rect r="r" b="b" t="t" l="l"/>
            <a:pathLst>
              <a:path h="240871" w="879894">
                <a:moveTo>
                  <a:pt x="0" y="0"/>
                </a:moveTo>
                <a:lnTo>
                  <a:pt x="879894" y="0"/>
                </a:lnTo>
                <a:lnTo>
                  <a:pt x="879894" y="240871"/>
                </a:lnTo>
                <a:lnTo>
                  <a:pt x="0" y="2408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DAHYsh-vcn4</dc:identifier>
  <dcterms:modified xsi:type="dcterms:W3CDTF">2011-08-01T06:04:30Z</dcterms:modified>
  <cp:revision>1</cp:revision>
  <dc:title>Công Nghệ Dạy Học - OER</dc:title>
</cp:coreProperties>
</file>